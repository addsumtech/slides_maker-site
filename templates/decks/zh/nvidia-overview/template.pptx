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总营收</c:v>
                </c:pt>
              </c:strCache>
            </c:strRef>
          </c:tx>
          <c:spPr>
            <a:solidFill>
              <a:srgbClr val="7C8A92"/>
            </a:solidFill>
            <a:ln w="31750">
              <a:solidFill>
                <a:srgbClr val="7C8A92"/>
              </a:solidFill>
            </a:ln>
          </c:spPr>
          <c:cat>
            <c:strRef>
              <c:f>Sheet1!$A$2:$A$5</c:f>
              <c:strCache>
                <c:ptCount val="4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  <c:pt idx="3">
                  <c:v>FY2026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27.0</c:v>
                </c:pt>
                <c:pt idx="1">
                  <c:v>60.9</c:v>
                </c:pt>
                <c:pt idx="2">
                  <c:v>130.5</c:v>
                </c:pt>
                <c:pt idx="3">
                  <c:v>215.9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数据中心</c:v>
                </c:pt>
              </c:strCache>
            </c:strRef>
          </c:tx>
          <c:spPr>
            <a:solidFill>
              <a:srgbClr val="76B900"/>
            </a:solidFill>
            <a:ln w="31750">
              <a:solidFill>
                <a:srgbClr val="76B900"/>
              </a:solidFill>
            </a:ln>
          </c:spPr>
          <c:cat>
            <c:strRef>
              <c:f>Sheet1!$A$2:$A$5</c:f>
              <c:strCache>
                <c:ptCount val="4"/>
                <c:pt idx="0">
                  <c:v>FY2023</c:v>
                </c:pt>
                <c:pt idx="1">
                  <c:v>FY2024</c:v>
                </c:pt>
                <c:pt idx="2">
                  <c:v>FY2025</c:v>
                </c:pt>
                <c:pt idx="3">
                  <c:v>FY2026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15.0</c:v>
                </c:pt>
                <c:pt idx="1">
                  <c:v>47.5</c:v>
                </c:pt>
                <c:pt idx="2">
                  <c:v>115.2</c:v>
                </c:pt>
                <c:pt idx="3">
                  <c:v>193.7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&quot;$&quot;0&quot;B&quot;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AF2FF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76B900"/>
              </a:solidFill>
            </c:spPr>
          </c:dPt>
          <c:dPt>
            <c:idx val="1"/>
            <c:spPr>
              <a:solidFill>
                <a:srgbClr val="2FB6E6"/>
              </a:solidFill>
            </c:spPr>
          </c:dPt>
          <c:dPt>
            <c:idx val="2"/>
            <c:spPr>
              <a:solidFill>
                <a:srgbClr val="A585F5"/>
              </a:solidFill>
            </c:spPr>
          </c:dPt>
          <c:dPt>
            <c:idx val="3"/>
            <c:spPr>
              <a:solidFill>
                <a:srgbClr val="F2A93B"/>
              </a:solidFill>
            </c:spPr>
          </c:dPt>
          <c:dPt>
            <c:idx val="4"/>
            <c:spPr>
              <a:solidFill>
                <a:srgbClr val="7C8A92"/>
              </a:solidFill>
            </c:spPr>
          </c:dPt>
          <c:cat>
            <c:strRef>
              <c:f>Sheet1!$A$2:$A$6</c:f>
              <c:strCache>
                <c:ptCount val="5"/>
                <c:pt idx="0">
                  <c:v>数据中心</c:v>
                </c:pt>
                <c:pt idx="1">
                  <c:v>游戏</c:v>
                </c:pt>
                <c:pt idx="2">
                  <c:v>专业可视化</c:v>
                </c:pt>
                <c:pt idx="3">
                  <c:v>汽车</c:v>
                </c:pt>
                <c:pt idx="4">
                  <c:v>OEM 及其他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115.2</c:v>
                </c:pt>
                <c:pt idx="1">
                  <c:v>11.4</c:v>
                </c:pt>
                <c:pt idx="2">
                  <c:v>1.9</c:v>
                </c:pt>
                <c:pt idx="3">
                  <c:v>1.7</c:v>
                </c:pt>
                <c:pt idx="4">
                  <c:v>0.3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100">
          <a:solidFill>
            <a:srgbClr val="EAF2FF"/>
          </a:solidFill>
          <a:latin typeface="Arial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32320" y="182879"/>
            <a:ext cx="4937760" cy="4937760"/>
          </a:xfrm>
          <a:prstGeom prst="ellipse">
            <a:avLst/>
          </a:prstGeom>
          <a:gradFill>
            <a:gsLst>
              <a:gs pos="0">
                <a:srgbClr val="76B900">
                  <a:alpha val="26000"/>
                </a:srgbClr>
              </a:gs>
              <a:gs pos="100000">
                <a:srgbClr val="76B9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823960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44584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65208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85832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06456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27080" y="86868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823960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44584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65208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85832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06456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27080" y="12893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23960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44584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65208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85832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06456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27080" y="1709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23960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44584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65208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85832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06456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927080" y="213055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23960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44584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65208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085832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06456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927080" y="2551176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76B900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66928"/>
            <a:ext cx="1369206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85216" y="23317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260">
                <a:solidFill>
                  <a:srgbClr val="76B900"/>
                </a:solidFill>
                <a:latin typeface="Consolas"/>
                <a:ea typeface="Hiragino Sans GB"/>
              </a:rPr>
              <a:t>一份 NVIDIA 公司与产品总览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743200"/>
            <a:ext cx="85953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DF2EE"/>
                </a:solidFill>
                <a:latin typeface="Arial"/>
                <a:ea typeface="Hiragino Sans GB"/>
              </a:rPr>
              <a:t>加速计算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DF2EE"/>
                </a:solidFill>
                <a:latin typeface="Arial"/>
                <a:ea typeface="Hiragino Sans GB"/>
              </a:rPr>
              <a:t>的代名词。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5216" y="4443984"/>
            <a:ext cx="2743200" cy="54864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7120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681728"/>
            <a:ext cx="79552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94A0A2"/>
                </a:solidFill>
                <a:latin typeface="Arial"/>
                <a:ea typeface="Hiragino Sans GB"/>
              </a:rPr>
              <a:t>从一颗图形芯片，到一座 AI 工厂——一览 NVIDIA 的全栈平台、产品线、商业模式与关键数据。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291072"/>
            <a:ext cx="10058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C777B"/>
                </a:solidFill>
                <a:latin typeface="Consolas"/>
                <a:ea typeface="Hiragino Sans GB"/>
              </a:rPr>
              <a:t>数据截至 2026 年 7 月   ·   每一项数字均已对照 NVIDIA 财报、新闻稿与行业研究联网核实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公司概况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一家 33 岁的芯片公司——如今跻身全球市值之巅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63624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517904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成立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755648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1993 年 4 月 5 日 · 加州圣克拉拉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167128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121408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创始人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359152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黄仁勋 · Chris Malachowsky · Curtis Priem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770632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724912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首席执行官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62656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黄仁勋——联合创始人，1993 年至今任总裁兼 CEO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74136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3328416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员工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566160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全球 40,000+ 名员工（FY2026）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977640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931920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169664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无晶圆厂（Fabless）——自研整套计算栈，交由台积电代工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81144"/>
            <a:ext cx="54864" cy="40233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4535424"/>
            <a:ext cx="18745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BE01E"/>
                </a:solidFill>
                <a:latin typeface="Consolas"/>
                <a:ea typeface="Hiragino Sans GB"/>
              </a:rPr>
              <a:t>上市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773168"/>
            <a:ext cx="535838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纳斯达克代码 NVDA · 2024 年纳入道琼斯工业平均指数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1481328"/>
            <a:ext cx="4903927" cy="4224528"/>
          </a:xfrm>
          <a:prstGeom prst="roundRect">
            <a:avLst>
              <a:gd name="adj" fmla="val 2597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31736" y="1700784"/>
            <a:ext cx="43552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0A2"/>
                </a:solidFill>
                <a:latin typeface="Consolas"/>
                <a:ea typeface="Hiragino Sans GB"/>
              </a:rPr>
              <a:t>关键数据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31736" y="1920240"/>
            <a:ext cx="43552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C777B"/>
                </a:solidFill>
                <a:latin typeface="Arial"/>
                <a:ea typeface="Hiragino Sans GB"/>
              </a:rPr>
              <a:t>财年于每年 1 月底结束 · FY2026 结束于 2026 年 1 月 25 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2304288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9BE01E"/>
                </a:solidFill>
                <a:latin typeface="Arial"/>
                <a:ea typeface="Hiragino Sans GB"/>
              </a:rPr>
              <a:t>$215.9B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31736" y="2852928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FY2026 营收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1736" y="3163824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  <a:ea typeface="Hiragino Sans GB"/>
              </a:rPr>
              <a:t>同比 +65%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2803" y="2304288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9BE01E"/>
                </a:solidFill>
                <a:latin typeface="Arial"/>
                <a:ea typeface="Hiragino Sans GB"/>
              </a:rPr>
              <a:t>~$5T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803" y="2852928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市值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2803" y="3163824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  <a:ea typeface="Hiragino Sans GB"/>
              </a:rPr>
              <a:t>全球市值最高的公司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31736" y="3877056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  <a:ea typeface="Hiragino Sans GB"/>
              </a:rPr>
              <a:t>$120.1B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4425696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FY2026 净利润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31736" y="4736592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  <a:ea typeface="Hiragino Sans GB"/>
              </a:rPr>
              <a:t>毛利率 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2803" y="3877056"/>
            <a:ext cx="2049627" cy="56692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  <a:ea typeface="Hiragino Sans GB"/>
              </a:rPr>
              <a:t>$18.5B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2803" y="4425696"/>
            <a:ext cx="204962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FY2026 研发投入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2803" y="4736592"/>
            <a:ext cx="2049627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BE01E"/>
                </a:solidFill>
                <a:latin typeface="Consolas"/>
                <a:ea typeface="Hiragino Sans GB"/>
              </a:rPr>
              <a:t>创新引擎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NVIDIA 卖的是什么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卖的不是一颗芯片，而是整套计算栈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  <a:ea typeface="Hiragino Sans GB"/>
              </a:rPr>
              <a:t>每一层都在下一层之上叠加复利，最终汇成一整套加速计算平台，由同一家厂商整体交付。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03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852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04825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205740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76B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2166762"/>
            <a:ext cx="201899" cy="20189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44752" y="193852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  <a:ea typeface="Hiragino Sans GB"/>
              </a:rPr>
              <a:t>芯片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193852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GPU、CPU（Grace）、DPU、SoC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1567" y="193852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  <a:ea typeface="Hiragino Sans GB"/>
              </a:rPr>
              <a:t>原始算力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76148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87121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" y="288036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erver_76B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2989722"/>
            <a:ext cx="201899" cy="2018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444752" y="276148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  <a:ea typeface="Hiragino Sans GB"/>
              </a:rPr>
              <a:t>系统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276148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DGX 服务器 · GB200 NVL72 机柜级 AI 工厂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1567" y="276148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  <a:ea typeface="Hiragino Sans GB"/>
              </a:rPr>
              <a:t>组装成整机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444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69417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" y="370332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network_76B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034" y="3812682"/>
            <a:ext cx="201899" cy="20189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444752" y="358444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  <a:ea typeface="Hiragino Sans GB"/>
              </a:rPr>
              <a:t>网络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358444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NVLink · Quantum InfiniBand · Spectrum-X 以太网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358444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  <a:ea typeface="Hiragino Sans GB"/>
              </a:rPr>
              <a:t>支撑规模扩展的互连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40740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51713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4672" y="452628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ode_76B9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034" y="4635642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44752" y="440740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  <a:ea typeface="Hiragino Sans GB"/>
              </a:rPr>
              <a:t>软件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50208" y="440740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CUDA · CUDA-X 库 · AI Enterprise · NIM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1567" y="440740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  <a:ea typeface="Hiragino Sans GB"/>
              </a:rPr>
              <a:t>编程模型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230368"/>
            <a:ext cx="11057839" cy="658368"/>
          </a:xfrm>
          <a:prstGeom prst="roundRect">
            <a:avLst>
              <a:gd name="adj" fmla="val 1666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340096"/>
            <a:ext cx="64008" cy="438912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04672" y="5349240"/>
            <a:ext cx="420624" cy="420624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in_76B9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034" y="5458602"/>
            <a:ext cx="201899" cy="2018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444752" y="5230368"/>
            <a:ext cx="2468880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DF2EE"/>
                </a:solidFill>
                <a:latin typeface="Arial"/>
                <a:ea typeface="Hiragino Sans GB"/>
              </a:rPr>
              <a:t>AI 与生态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50208" y="5230368"/>
            <a:ext cx="4931359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框架、基础模型与约 600 万开发者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1567" y="5230368"/>
            <a:ext cx="2542032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C73C"/>
                </a:solidFill>
                <a:latin typeface="Arial"/>
                <a:ea typeface="Hiragino Sans GB"/>
              </a:rPr>
              <a:t>客户构建的基础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里程碑 · 1993–2025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从发明 GPU，到驱动 AI 时代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463747"/>
            <a:ext cx="10362894" cy="21945"/>
          </a:xfrm>
          <a:prstGeom prst="rect">
            <a:avLst/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2104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1993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公司成立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黄仁勋、Malachowsky 与 Priem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83536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7152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1999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152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GeForce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5712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IPO + 首颗「GPU」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34969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48585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8585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CUDA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145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GPU 变得可编程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6402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0018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0018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AlexNet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8578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深度学习跑上 GPU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7835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51451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1451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DGX-1 → OpenAI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0011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首台 AI 超级计算机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9267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2883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2883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收购 Mellanox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1443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布局网络，约 70 亿美元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40700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4316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4316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Hopper H100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62876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生成式 AI 爆发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92133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5749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05749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市值破 1 万亿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4309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首家破万亿的美国芯片商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43566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465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57182" y="3639312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4A0A2"/>
                </a:solidFill>
                <a:latin typeface="Arial"/>
                <a:ea typeface="Hiragino Sans GB"/>
              </a:rPr>
              <a:t>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7182" y="393192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Blackwell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5742" y="4187952"/>
            <a:ext cx="192024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1 拆 10 · 纳入道指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194998" y="33924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08615" y="3035808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6B900"/>
                </a:solidFill>
                <a:latin typeface="Arial"/>
                <a:ea typeface="Hiragino Sans GB"/>
              </a:rPr>
              <a:t>2025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8615" y="2743200"/>
            <a:ext cx="1737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DF2EE"/>
                </a:solidFill>
                <a:latin typeface="Arial"/>
                <a:ea typeface="Hiragino Sans GB"/>
              </a:rPr>
              <a:t>率先破 4 万亿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5735" y="2286000"/>
            <a:ext cx="1920240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全球市值最高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5614416"/>
            <a:ext cx="64008" cy="676656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2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EA9AE"/>
                </a:solidFill>
                <a:latin typeface="Consolas"/>
                <a:ea typeface="Hiragino Sans GB"/>
              </a:rPr>
              <a:t>1993 – 2011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  <a:ea typeface="Hiragino Sans GB"/>
              </a:rPr>
              <a:t>图形时代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面向游戏与可视化的 GPU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506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56506" y="5614416"/>
            <a:ext cx="64008" cy="676656"/>
          </a:xfrm>
          <a:prstGeom prst="rect">
            <a:avLst/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4250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8C8E8"/>
                </a:solidFill>
                <a:latin typeface="Consolas"/>
                <a:ea typeface="Hiragino Sans GB"/>
              </a:rPr>
              <a:t>2006 – 2016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4250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  <a:ea typeface="Hiragino Sans GB"/>
              </a:rPr>
              <a:t>押注并行计算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94250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CUDA 让 GPU 成为 AI 引擎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46084" y="5486400"/>
            <a:ext cx="3478682" cy="932688"/>
          </a:xfrm>
          <a:prstGeom prst="roundRect">
            <a:avLst>
              <a:gd name="adj" fmla="val 1176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46084" y="5614416"/>
            <a:ext cx="64008" cy="67665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83828" y="5623560"/>
            <a:ext cx="3021482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9ACA47"/>
                </a:solidFill>
                <a:latin typeface="Consolas"/>
                <a:ea typeface="Hiragino Sans GB"/>
              </a:rPr>
              <a:t>2016 – 至今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83828" y="5852160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DF2EE"/>
                </a:solidFill>
                <a:latin typeface="Arial"/>
                <a:ea typeface="Hiragino Sans GB"/>
              </a:rPr>
              <a:t>AI 计算时代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83828" y="6108192"/>
            <a:ext cx="302148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数据中心 AI 成为主营业务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AI 拐点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三年，营收暴涨 8 倍——由数据中心驱动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05 / 16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66928" y="1554480"/>
          <a:ext cx="70408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19288" y="1783080"/>
            <a:ext cx="36054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9BE01E"/>
                </a:solidFill>
                <a:latin typeface="Consolas"/>
                <a:ea typeface="Hiragino Sans GB"/>
              </a:rPr>
              <a:t>数据中心营收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9288" y="2066544"/>
            <a:ext cx="3605479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DF2EE"/>
                </a:solidFill>
                <a:latin typeface="Arial"/>
                <a:ea typeface="Hiragino Sans GB"/>
              </a:rPr>
              <a:t>$15B → $194B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670048"/>
            <a:ext cx="3605479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0A2"/>
                </a:solidFill>
                <a:latin typeface="Arial"/>
                <a:ea typeface="Hiragino Sans GB"/>
              </a:rPr>
              <a:t>从 FY2023 到 FY2026，随着数据中心 AI 需求爆发，总营收增长约 8 倍。如今仅数据中心一项，就贡献了公司约 90% 的营收。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8" y="4389120"/>
            <a:ext cx="3605479" cy="822960"/>
          </a:xfrm>
          <a:prstGeom prst="roundRect">
            <a:avLst>
              <a:gd name="adj" fmla="val 11111"/>
            </a:avLst>
          </a:prstGeom>
          <a:solidFill>
            <a:srgbClr val="141A1E"/>
          </a:solidFill>
          <a:ln w="1524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456" y="4389120"/>
            <a:ext cx="3203143" cy="8229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最新：FY2027 Q1（2026 年 4 月）单季营收达 </a:t>
            </a:r>
            <a:r>
              <a:rPr sz="1200" b="1" i="0">
                <a:solidFill>
                  <a:srgbClr val="9BE01E"/>
                </a:solidFill>
                <a:latin typeface="Arial"/>
                <a:ea typeface="Hiragino Sans GB"/>
              </a:rPr>
              <a:t>$81.6B</a:t>
            </a: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，同比 +85%。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自研整套技术栈，代工外包，靠平台变现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06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72768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0E10"/>
                </a:solidFill>
                <a:latin typeface="Arial"/>
                <a:ea typeface="Hiragino Sans GB"/>
              </a:rPr>
              <a:t>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029968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Arial"/>
                <a:ea typeface="Hiragino Sans GB"/>
              </a:rPr>
              <a:t>芯片与系统 (NVIDIA)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55305" y="1572768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6745" y="1700784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制造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6745" y="2029968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  <a:ea typeface="Hiragino Sans GB"/>
              </a:rPr>
              <a:t>晶圆 (台积电代工)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07833" y="2020824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43682" y="1572768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1700784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029968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  <a:ea typeface="Hiragino Sans GB"/>
              </a:rPr>
              <a:t>DGX 与 NVL72 机柜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6210" y="2020824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32060" y="1572768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3500" y="1700784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软件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3500" y="2029968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  <a:ea typeface="Hiragino Sans GB"/>
              </a:rPr>
              <a:t>CUDA 与 AI Enterprise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84588" y="2020824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720437" y="1572768"/>
            <a:ext cx="1904329" cy="896112"/>
          </a:xfrm>
          <a:prstGeom prst="roundRect">
            <a:avLst>
              <a:gd name="adj" fmla="val 1224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1877" y="1700784"/>
            <a:ext cx="172144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部署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1877" y="2029968"/>
            <a:ext cx="172144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Arial"/>
                <a:ea typeface="Hiragino Sans GB"/>
              </a:rPr>
              <a:t>云 · 实验室 · 企业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72965" y="2020824"/>
            <a:ext cx="310896" cy="0"/>
          </a:xfrm>
          <a:prstGeom prst="line">
            <a:avLst/>
          </a:prstGeom>
          <a:ln w="2032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66928" y="2926080"/>
            <a:ext cx="5300319" cy="2057400"/>
          </a:xfrm>
          <a:prstGeom prst="roundRect">
            <a:avLst>
              <a:gd name="adj" fmla="val 5333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314553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BE01E"/>
                </a:solidFill>
                <a:latin typeface="Consolas"/>
                <a:ea typeface="Hiragino Sans GB"/>
              </a:rPr>
              <a:t>如何赚钱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493008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3493008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销售 GPU、整机系统，以及机柜级 AI 工厂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3840480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840480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在硬件之上叠加高毛利的网络与软件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" y="4187952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4187952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软件与服务带来经常性收入（AI Enterprise、授权）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4535424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6B900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8992" y="4535424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每年一代的产品节奏，让平台始终领先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24447" y="2926080"/>
            <a:ext cx="5300319" cy="2057400"/>
          </a:xfrm>
          <a:prstGeom prst="roundRect">
            <a:avLst>
              <a:gd name="adj" fmla="val 5333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8767" y="314553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  <a:ea typeface="Hiragino Sans GB"/>
              </a:rPr>
              <a:t>护城河为何稳固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7055" y="3493008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6511" y="3493008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CUDA 软件近 20 年积累的锁定效应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055" y="3840480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6511" y="3840480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约 600 万开发者，整条 AI 工具链都为 NVIDIA 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7055" y="4187952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6511" y="4187952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对手难以复制的全栈整合能力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7055" y="4535424"/>
            <a:ext cx="1828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585F5"/>
                </a:solidFill>
                <a:latin typeface="Arial"/>
                <a:ea typeface="Hiragino Sans GB"/>
              </a:rPr>
              <a:t>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6511" y="4535424"/>
            <a:ext cx="451393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无晶圆厂模式让资产轻、毛利高（约 71%）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分部营收 · FY2025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数据中心主导营收构成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  <a:ea typeface="Hiragino Sans GB"/>
              </a:rPr>
              <a:t>FY2025（结束于 2025 年 1 月 26 日）——最近一个有完整公开分部拆分的财年。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07 / 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75488" y="1911096"/>
          <a:ext cx="4480560" cy="39776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281988" y="3183940"/>
            <a:ext cx="2867558" cy="11932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EAF2FF"/>
                </a:solidFill>
                <a:latin typeface="Arial"/>
                <a:ea typeface="Hiragino Sans GB"/>
              </a:rPr>
              <a:t>$130.5B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93A6"/>
                </a:solidFill>
                <a:latin typeface="Arial"/>
                <a:ea typeface="Hiragino Sans GB"/>
              </a:rPr>
              <a:t>FY2025 营收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2185416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203704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数据中心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502895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88% 营收占比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87407" y="2185416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$115.2B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0408" y="2816352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550408" y="2880360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898648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游戏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197839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9% 营收占比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87407" y="2880360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$11.4B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50408" y="3511296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50408" y="3575304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3593592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专业可视化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3892783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1.5% 营收占比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7407" y="3575304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$1.9B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0408" y="4206240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50408" y="4270248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4288536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汽车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587727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1.3% 营收占比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87407" y="4270248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$1.7B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50408" y="4901183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550408" y="4965192"/>
            <a:ext cx="109728" cy="566928"/>
          </a:xfrm>
          <a:prstGeom prst="roundRect">
            <a:avLst>
              <a:gd name="adj" fmla="val 33333"/>
            </a:avLst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4983479"/>
            <a:ext cx="4245559" cy="32881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OEM 及其他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5282671"/>
            <a:ext cx="4245559" cy="23810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&lt;1% 营收占比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7407" y="4965192"/>
            <a:ext cx="1737360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$0.3B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50408" y="5596127"/>
            <a:ext cx="6074359" cy="9144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产品线矩阵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四大平台，同一套架构——由软件贯通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08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053431" cy="4572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1746504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erver_76B9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1879640"/>
            <a:ext cx="245790" cy="2457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99616" y="1746504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数据中心与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207568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76B900"/>
                </a:solidFill>
                <a:latin typeface="Consolas"/>
                <a:ea typeface="Hiragino Sans GB"/>
              </a:rPr>
              <a:t>Hopper · Blackwell · GB200 NVL72 · DGX · 网络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569464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  <a:ea typeface="Hiragino Sans GB"/>
              </a:rPr>
              <a:t>AI 工厂——超大规模的训练与推理。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1508760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25031" y="1508760"/>
            <a:ext cx="5053431" cy="45720"/>
          </a:xfrm>
          <a:prstGeom prst="rect">
            <a:avLst/>
          </a:prstGeom>
          <a:solidFill>
            <a:srgbClr val="2FB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4759" y="1746504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amepad_2FB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96" y="1879640"/>
            <a:ext cx="245790" cy="24579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11415" y="1746504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游戏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11415" y="207568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B6E6"/>
                </a:solidFill>
                <a:latin typeface="Consolas"/>
                <a:ea typeface="Hiragino Sans GB"/>
              </a:rPr>
              <a:t>GeForce RTX 50 (Blackwell) · DLSS 4 · GeForce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4759" y="2569464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  <a:ea typeface="Hiragino Sans GB"/>
              </a:rPr>
              <a:t>起家的老本行；实时光线追踪图形。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392424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92424"/>
            <a:ext cx="5053431" cy="45720"/>
          </a:xfrm>
          <a:prstGeom prst="rect">
            <a:avLst/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60" y="3630168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A585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ube_A585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096" y="3763304"/>
            <a:ext cx="245790" cy="24579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99616" y="363016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专业可视化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9616" y="3959352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  <a:ea typeface="Hiragino Sans GB"/>
              </a:rPr>
              <a:t>RTX PRO Blackwell · Omniverse · 数字孪生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453128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  <a:ea typeface="Hiragino Sans GB"/>
              </a:rPr>
              <a:t>设计、仿真与工业『物理 AI』。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8727" y="3392424"/>
            <a:ext cx="5346039" cy="1572768"/>
          </a:xfrm>
          <a:prstGeom prst="roundRect">
            <a:avLst>
              <a:gd name="adj" fmla="val 6976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25031" y="3392424"/>
            <a:ext cx="5053431" cy="4572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34759" y="3630168"/>
            <a:ext cx="512064" cy="512064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ar_F2A93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896" y="3763304"/>
            <a:ext cx="245790" cy="24579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11415" y="3630168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汽车与机器人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1415" y="3959352"/>
            <a:ext cx="415731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93B"/>
                </a:solidFill>
                <a:latin typeface="Consolas"/>
                <a:ea typeface="Hiragino Sans GB"/>
              </a:rPr>
              <a:t>DRIVE (Orin, Thor) · Jetson Thor · Isaac GR00T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4759" y="4453128"/>
            <a:ext cx="48339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  <a:ea typeface="Hiragino Sans GB"/>
              </a:rPr>
              <a:t>自动驾驶汽车与通用机器人。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148072"/>
            <a:ext cx="11057839" cy="603504"/>
          </a:xfrm>
          <a:prstGeom prst="roundRect">
            <a:avLst>
              <a:gd name="adj" fmla="val 18181"/>
            </a:avLst>
          </a:prstGeom>
          <a:solidFill>
            <a:srgbClr val="101A10"/>
          </a:solidFill>
          <a:ln w="1524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8096" y="5248656"/>
            <a:ext cx="402336" cy="402336"/>
          </a:xfrm>
          <a:prstGeom prst="roundRect">
            <a:avLst>
              <a:gd name="adj" fmla="val 24000"/>
            </a:avLst>
          </a:prstGeom>
          <a:noFill/>
          <a:ln w="1905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ode_9BE01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03" y="5353263"/>
            <a:ext cx="193121" cy="193121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353312" y="5148072"/>
            <a:ext cx="29260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BE01E"/>
                </a:solidFill>
                <a:latin typeface="Consolas"/>
                <a:ea typeface="Hiragino Sans GB"/>
              </a:rPr>
              <a:t>CUDA 软件平台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5148072"/>
            <a:ext cx="7034479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DF2EE"/>
                </a:solidFill>
                <a:latin typeface="Arial"/>
                <a:ea typeface="Hiragino Sans GB"/>
              </a:rPr>
              <a:t>同一套编程模型贯穿每一根支柱——把整个产品组合绑在一起的护城河。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支柱一 · 数据中心与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增长引擎：每年一代的 AI 计算节奏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09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Ampere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  <a:ea typeface="Hiragino Sans GB"/>
              </a:rPr>
              <a:t>A100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  <a:ea typeface="Hiragino Sans GB"/>
              </a:rPr>
              <a:t>2020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40675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3827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Hopper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3827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  <a:ea typeface="Hiragino Sans GB"/>
              </a:rPr>
              <a:t>H100 · H200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  <a:ea typeface="Hiragino Sans GB"/>
              </a:rPr>
              <a:t>2022–23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57211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14422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7574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0E10"/>
                </a:solidFill>
                <a:latin typeface="Arial"/>
                <a:ea typeface="Hiragino Sans GB"/>
              </a:rPr>
              <a:t>Blackwell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7574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Consolas"/>
                <a:ea typeface="Hiragino Sans GB"/>
              </a:rPr>
              <a:t>B200 · GB200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4422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  <a:ea typeface="Hiragino Sans GB"/>
              </a:rPr>
              <a:t>2024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30958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88169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321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B0E10"/>
                </a:solidFill>
                <a:latin typeface="Arial"/>
                <a:ea typeface="Hiragino Sans GB"/>
              </a:rPr>
              <a:t>Blackwell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1321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0B0E10"/>
                </a:solidFill>
                <a:latin typeface="Consolas"/>
                <a:ea typeface="Hiragino Sans GB"/>
              </a:rPr>
              <a:t>GB300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169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  <a:ea typeface="Hiragino Sans GB"/>
              </a:rPr>
              <a:t>2025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04705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661916" y="1600200"/>
            <a:ext cx="1962851" cy="914400"/>
          </a:xfrm>
          <a:prstGeom prst="roundRect">
            <a:avLst>
              <a:gd name="adj" fmla="val 12000"/>
            </a:avLst>
          </a:prstGeom>
          <a:solidFill>
            <a:srgbClr val="141A1E"/>
          </a:solidFill>
          <a:ln w="15240">
            <a:solidFill>
              <a:srgbClr val="2A343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5068" y="1719072"/>
            <a:ext cx="1816547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Rubin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5068" y="2002536"/>
            <a:ext cx="181654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0A2"/>
                </a:solidFill>
                <a:latin typeface="Consolas"/>
                <a:ea typeface="Hiragino Sans GB"/>
              </a:rPr>
              <a:t>(H2 2026)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916" y="2569464"/>
            <a:ext cx="1962851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C777B"/>
                </a:solidFill>
                <a:latin typeface="Consolas"/>
                <a:ea typeface="Hiragino Sans GB"/>
              </a:rPr>
              <a:t>路线图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78452" y="2057400"/>
            <a:ext cx="256032" cy="0"/>
          </a:xfrm>
          <a:prstGeom prst="line">
            <a:avLst/>
          </a:prstGeom>
          <a:ln w="19050">
            <a:solidFill>
              <a:srgbClr val="4A56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2898648"/>
            <a:ext cx="110578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A0A2"/>
                </a:solidFill>
                <a:latin typeface="Arial"/>
                <a:ea typeface="Hiragino Sans GB"/>
              </a:rPr>
              <a:t>大约每年一代新架构——每一代都是一整代 AI 算力的跃升。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337560"/>
            <a:ext cx="5300319" cy="1828800"/>
          </a:xfrm>
          <a:prstGeom prst="roundRect">
            <a:avLst>
              <a:gd name="adj" fmla="val 6000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" y="3538728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Consolas"/>
                <a:ea typeface="Hiragino Sans GB"/>
              </a:rPr>
              <a:t>GB200 NVL72 —— 整个机柜就是一块 GPU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3941064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  <a:ea typeface="Hiragino Sans GB"/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01368" y="3968496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块 Blackwell GPU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4325112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  <a:ea typeface="Hiragino Sans GB"/>
              </a:rPr>
              <a:t>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01368" y="4352544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颗 Grace CPU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" y="4709160"/>
            <a:ext cx="868680" cy="310896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9BE01E"/>
                </a:solidFill>
                <a:latin typeface="Arial"/>
                <a:ea typeface="Hiragino Sans GB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01368" y="4736592"/>
            <a:ext cx="3745839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个 NVLink 域——像单块巨型 GPU 一样运作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4447" y="3337560"/>
            <a:ext cx="5300319" cy="1828800"/>
          </a:xfrm>
          <a:prstGeom prst="roundRect">
            <a:avLst>
              <a:gd name="adj" fmla="val 6000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3538728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Consolas"/>
                <a:ea typeface="Hiragino Sans GB"/>
              </a:rPr>
              <a:t>完整的数据中心技术栈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7055" y="3941064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  <a:ea typeface="Hiragino Sans GB"/>
              </a:rPr>
              <a:t>算力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6087" y="3941064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GPU + Grace CPU 超级芯片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17055" y="4325112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  <a:ea typeface="Hiragino Sans GB"/>
              </a:rPr>
              <a:t>系统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6087" y="4325112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DGX 服务器 · DGX SuperPOD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17055" y="4709160"/>
            <a:ext cx="13716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E01E"/>
                </a:solidFill>
                <a:latin typeface="Arial"/>
                <a:ea typeface="Hiragino Sans GB"/>
              </a:rPr>
              <a:t>网络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6087" y="4709160"/>
            <a:ext cx="33343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DF2EE"/>
                </a:solidFill>
                <a:latin typeface="Arial"/>
                <a:ea typeface="Hiragino Sans GB"/>
              </a:rPr>
              <a:t>NVLink · InfiniBand · Spectrum-X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2FB6E6"/>
                </a:solidFill>
                <a:latin typeface="Consolas"/>
                <a:ea typeface="Hiragino Sans GB"/>
              </a:rPr>
              <a:t>&gt;_ 支柱二 · 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GeForce RTX——NVIDIA 的起点，被 AI 重新定义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2FB6E6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10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4572000" cy="3977639"/>
          </a:xfrm>
          <a:prstGeom prst="roundRect">
            <a:avLst>
              <a:gd name="adj" fmla="val 275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77824" y="1755648"/>
            <a:ext cx="566928" cy="566928"/>
          </a:xfrm>
          <a:prstGeom prst="roundRect">
            <a:avLst>
              <a:gd name="adj" fmla="val 24000"/>
            </a:avLst>
          </a:prstGeom>
          <a:noFill/>
          <a:ln w="2286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mepad_2FB6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25" y="1903049"/>
            <a:ext cx="272125" cy="272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77824" y="2514600"/>
            <a:ext cx="395020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0A2"/>
                </a:solidFill>
                <a:latin typeface="Consolas"/>
                <a:ea typeface="Hiragino Sans GB"/>
              </a:rPr>
              <a:t>当前一代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761488"/>
            <a:ext cx="3950208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EDF2EE"/>
                </a:solidFill>
                <a:latin typeface="Arial"/>
                <a:ea typeface="Hiragino Sans GB"/>
              </a:rPr>
              <a:t>GeForce RTX 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10128"/>
            <a:ext cx="395020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FB6E6"/>
                </a:solidFill>
                <a:latin typeface="Arial"/>
                <a:ea typeface="Hiragino Sans GB"/>
              </a:rPr>
              <a:t>「Blackwell」架构 · 2025 年 1 月发布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49040"/>
            <a:ext cx="3950208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RTX 50 系列把 Blackwell 架构带给消费者——旗舰 RTX 5090 领衔全系，实时光线追踪与 AI 渲染贯穿整个产品线。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508760"/>
            <a:ext cx="6028639" cy="3977639"/>
          </a:xfrm>
          <a:prstGeom prst="roundRect">
            <a:avLst>
              <a:gd name="adj" fmla="val 275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1755648"/>
            <a:ext cx="540684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FB6E6"/>
                </a:solidFill>
                <a:latin typeface="Consolas"/>
                <a:ea typeface="Hiragino Sans GB"/>
              </a:rPr>
              <a:t>像素里的 AI —— DLSS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2066544"/>
            <a:ext cx="5406847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DF2EE"/>
                </a:solidFill>
                <a:latin typeface="Arial"/>
                <a:ea typeface="Hiragino Sans GB"/>
              </a:rPr>
              <a:t>深度学习超采样（DLSS）用 AI 生成画面帧。DLSS 4 引入多帧生成——每渲染一帧，最多可再生成三帧 AI 画面。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07024" y="3200400"/>
            <a:ext cx="5406847" cy="960120"/>
          </a:xfrm>
          <a:prstGeom prst="roundRect">
            <a:avLst>
              <a:gd name="adj" fmla="val 11428"/>
            </a:avLst>
          </a:prstGeom>
          <a:solidFill>
            <a:srgbClr val="0E1A20"/>
          </a:solidFill>
          <a:ln w="15240">
            <a:solidFill>
              <a:srgbClr val="2FB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44768" y="3346704"/>
            <a:ext cx="2286000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FB6E6"/>
                </a:solidFill>
                <a:latin typeface="Arial"/>
                <a:ea typeface="Hiragino Sans GB"/>
              </a:rPr>
              <a:t>最高 8×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346704"/>
            <a:ext cx="2919679" cy="6858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借助 DLSS 4 多帧生成实现的帧率提升（NVIDIA，CES 2025）。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7024" y="4389120"/>
            <a:ext cx="5406847" cy="9144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0A2"/>
                </a:solidFill>
                <a:latin typeface="Arial"/>
                <a:ea typeface="Hiragino Sans GB"/>
              </a:rPr>
              <a:t>游戏业务还支撑着 GeForce NOW 云游戏串流，以及 NVIDIA 的实时图形研究——这块渲染试验田，如今正反哺着 AI 与仿真。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A585F5"/>
                </a:solidFill>
                <a:latin typeface="Consolas"/>
                <a:ea typeface="Hiragino Sans GB"/>
              </a:rPr>
              <a:t>&gt;_ 支柱三 · 专业可视化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Omniverse——物理世界数字化的地方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A585F5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  <a:ea typeface="Hiragino Sans GB"/>
              </a:rPr>
              <a:t>RTX PRO 工作站，加上一套面向工业数字孪生与仿真的平台。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11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  <a:ea typeface="Hiragino Sans GB"/>
              </a:rPr>
              <a:t>物理世界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工厂、机器人、城市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36594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A58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6322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B0E10"/>
                </a:solidFill>
                <a:latin typeface="Arial"/>
                <a:ea typeface="Hiragino Sans GB"/>
              </a:rPr>
              <a:t>数字孪生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322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B0E10"/>
                </a:solidFill>
                <a:latin typeface="Arial"/>
                <a:ea typeface="Hiragino Sans GB"/>
              </a:rPr>
              <a:t>在 Omniverse 中构建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18103" y="2711196"/>
            <a:ext cx="381915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23380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3108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  <a:ea typeface="Hiragino Sans GB"/>
              </a:rPr>
              <a:t>仿真并训练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3108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安全地大规模测试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04890" y="2711196"/>
            <a:ext cx="381914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10167" y="2185416"/>
            <a:ext cx="2331720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524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9895" y="2331720"/>
            <a:ext cx="2112263" cy="51206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DF2EE"/>
                </a:solidFill>
                <a:latin typeface="Arial"/>
                <a:ea typeface="Hiragino Sans GB"/>
              </a:rPr>
              <a:t>部署回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9895" y="2788920"/>
            <a:ext cx="211226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4A0A2"/>
                </a:solidFill>
                <a:latin typeface="Arial"/>
                <a:ea typeface="Hiragino Sans GB"/>
              </a:rPr>
              <a:t>真实世界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91676" y="2711196"/>
            <a:ext cx="381915" cy="0"/>
          </a:xfrm>
          <a:prstGeom prst="line">
            <a:avLst/>
          </a:prstGeom>
          <a:ln w="22860">
            <a:solidFill>
              <a:srgbClr val="A585F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276027" y="3236976"/>
            <a:ext cx="0" cy="502920"/>
          </a:xfrm>
          <a:prstGeom prst="line">
            <a:avLst/>
          </a:prstGeom>
          <a:ln w="20320">
            <a:solidFill>
              <a:srgbClr val="A585F5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915667" y="3739896"/>
            <a:ext cx="8360360" cy="0"/>
          </a:xfrm>
          <a:prstGeom prst="line">
            <a:avLst/>
          </a:prstGeom>
          <a:ln w="20320">
            <a:solidFill>
              <a:srgbClr val="A585F5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915667" y="3236976"/>
            <a:ext cx="0" cy="502920"/>
          </a:xfrm>
          <a:prstGeom prst="line">
            <a:avLst/>
          </a:prstGeom>
          <a:ln w="20320">
            <a:solidFill>
              <a:srgbClr val="A585F5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24247" y="3803904"/>
            <a:ext cx="274320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A585F5"/>
                </a:solidFill>
                <a:latin typeface="Arial"/>
                <a:ea typeface="Hiragino Sans GB"/>
              </a:rPr>
              <a:t>持续仿真闭环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197096"/>
            <a:ext cx="5300319" cy="1234440"/>
          </a:xfrm>
          <a:prstGeom prst="roundRect">
            <a:avLst>
              <a:gd name="adj" fmla="val 888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437997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  <a:ea typeface="Hiragino Sans GB"/>
              </a:rPr>
              <a:t>RTX PRO BLACKWELL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672584"/>
            <a:ext cx="47516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面向设计、渲染与仿真的专业 GPU——RTX PRO 6000 配备 96 GB 显存，胜任最庞大的场景与模型。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4447" y="4197096"/>
            <a:ext cx="5300319" cy="1234440"/>
          </a:xfrm>
          <a:prstGeom prst="roundRect">
            <a:avLst>
              <a:gd name="adj" fmla="val 8888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8767" y="4379976"/>
            <a:ext cx="47516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A585F5"/>
                </a:solidFill>
                <a:latin typeface="Consolas"/>
                <a:ea typeface="Hiragino Sans GB"/>
              </a:rPr>
              <a:t>为何重要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98767" y="4672584"/>
            <a:ext cx="47516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DF2EE"/>
                </a:solidFill>
                <a:latin typeface="Arial"/>
                <a:ea typeface="Hiragino Sans GB"/>
              </a:rPr>
              <a:t>数字孪生让工业界在真正动工之前，就先在仿真中测试机器人、工厂与产品——这正是『物理 AI』的基础。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F2A93B"/>
                </a:solidFill>
                <a:latin typeface="Consolas"/>
                <a:ea typeface="Hiragino Sans GB"/>
              </a:rPr>
              <a:t>&gt;_ 支柱四 · 汽车与机器人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一套平台，服务所有会动的机器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F2A93B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12 /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1728216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1901952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bot_F2A9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89" y="204935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55648" y="1819656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Isaac 与 GR00T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167128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  <a:ea typeface="Hiragino Sans GB"/>
              </a:rPr>
              <a:t>机器人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1600200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面向人形与工业机器人的基础模型、仿真与合成数据。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026664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3154680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2688" y="3328416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F2A9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89" y="3475817"/>
            <a:ext cx="272125" cy="27212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55648" y="3246120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Jetson Thor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3593592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  <a:ea typeface="Hiragino Sans GB"/>
              </a:rPr>
              <a:t>边缘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3026664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为边缘自主机器提供 Blackwell 级的端侧算力。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453128"/>
            <a:ext cx="11057839" cy="1170432"/>
          </a:xfrm>
          <a:prstGeom prst="roundRect">
            <a:avLst>
              <a:gd name="adj" fmla="val 937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581144"/>
            <a:ext cx="64008" cy="9144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2688" y="4754880"/>
            <a:ext cx="566928" cy="566928"/>
          </a:xfrm>
          <a:prstGeom prst="roundRect">
            <a:avLst>
              <a:gd name="adj" fmla="val 24000"/>
            </a:avLst>
          </a:prstGeom>
          <a:noFill/>
          <a:ln w="21590">
            <a:solidFill>
              <a:srgbClr val="F2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ar_F2A9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089" y="4902281"/>
            <a:ext cx="272125" cy="27212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55648" y="4672584"/>
            <a:ext cx="274320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F2EE"/>
                </a:solidFill>
                <a:latin typeface="Arial"/>
                <a:ea typeface="Hiragino Sans GB"/>
              </a:rPr>
              <a:t>DRIVE —— Orin 与 Thor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5648" y="5020056"/>
            <a:ext cx="2743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2A93B"/>
                </a:solidFill>
                <a:latin typeface="Consolas"/>
                <a:ea typeface="Hiragino Sans GB"/>
              </a:rPr>
              <a:t>汽车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4453128"/>
            <a:ext cx="6577279" cy="11704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面向辅助与自动驾驶的车载 AI 计算平台；量产合作伙伴包括丰田。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78423"/>
            <a:ext cx="1105783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4A0A2"/>
                </a:solidFill>
                <a:latin typeface="Arial"/>
                <a:ea typeface="Hiragino Sans GB"/>
              </a:rPr>
              <a:t>同一套 CUDA + 仿真底座，从数据中心一路贯穿到机器人——NVIDIA 称之为『物理 AI』。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硬件卖出芯片，软件留住客户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13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8308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50">
                <a:solidFill>
                  <a:srgbClr val="9BE01E"/>
                </a:solidFill>
                <a:latin typeface="Consolas"/>
                <a:ea typeface="Hiragino Sans GB"/>
              </a:rPr>
              <a:t>CUDA · 始于 2006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66544"/>
            <a:ext cx="4846320" cy="9144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EDF2EE"/>
                </a:solidFill>
                <a:latin typeface="Arial"/>
                <a:ea typeface="Hiragino Sans GB"/>
              </a:rPr>
              <a:t>约 600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44368"/>
            <a:ext cx="484632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BE01E"/>
                </a:solidFill>
                <a:latin typeface="Arial"/>
                <a:ea typeface="Hiragino Sans GB"/>
              </a:rPr>
              <a:t>开发者构建于 CUDA 之上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4846320" cy="1371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0A2"/>
                </a:solidFill>
                <a:latin typeface="Arial"/>
                <a:ea typeface="Hiragino Sans GB"/>
              </a:rPr>
              <a:t>近二十年积累的 GPU 加速库、框架优化与工具，覆盖 200 多个国家和地区（NVIDIA，GTC 2025）。每一个主流 AI 框架都在 NVIDIA 上跑得最好，这让迁移代价高昂。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892040"/>
            <a:ext cx="484632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C777B"/>
                </a:solidFill>
                <a:latin typeface="Arial"/>
                <a:ea typeface="Hiragino Sans GB"/>
              </a:rPr>
              <a:t>对手不是没有替代品——AMD ROCm、Intel oneAPI——但没有这套生态。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737360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865376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NIM 与 AI Enterprise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76272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  <a:ea typeface="Hiragino Sans GB"/>
              </a:rPr>
              <a:t>可部署的推理微服务 + 支持服务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61888" y="2670048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798064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CUDA-X 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108960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  <a:ea typeface="Hiragino Sans GB"/>
              </a:rPr>
              <a:t>cuDNN、cuBLAS、NCCL、cuOpt、RAPIDS…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61888" y="3602736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141A1E"/>
          </a:solidFill>
          <a:ln w="13970">
            <a:solidFill>
              <a:srgbClr val="76B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3730752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框架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041648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4A0A2"/>
                </a:solidFill>
                <a:latin typeface="Arial"/>
                <a:ea typeface="Hiragino Sans GB"/>
              </a:rPr>
              <a:t>PyTorch 与 TensorFlow，为 NVIDIA 调优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61888" y="4535424"/>
            <a:ext cx="5662879" cy="786384"/>
          </a:xfrm>
          <a:prstGeom prst="roundRect">
            <a:avLst>
              <a:gd name="adj" fmla="val 11627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4663440"/>
            <a:ext cx="5150815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B0E10"/>
                </a:solidFill>
                <a:latin typeface="Arial"/>
                <a:ea typeface="Hiragino Sans GB"/>
              </a:rPr>
              <a:t>CUDA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974336"/>
            <a:ext cx="5150815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0B0E10"/>
                </a:solidFill>
                <a:latin typeface="Arial"/>
                <a:ea typeface="Hiragino Sans GB"/>
              </a:rPr>
              <a:t>并行计算的基石（2006）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当下一家独大——但真正的挑战者正在成形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54480"/>
            <a:ext cx="56692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BE01E"/>
                </a:solidFill>
                <a:latin typeface="Consolas"/>
                <a:ea typeface="Hiragino Sans GB"/>
              </a:rPr>
              <a:t>市场份额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393192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独立桌面 GPU（Jon Peddie Research，2025 Q4）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414016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414016"/>
            <a:ext cx="3696004" cy="292608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2414016"/>
            <a:ext cx="237744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DF2EE"/>
                </a:solidFill>
                <a:latin typeface="Arial"/>
                <a:ea typeface="Hiragino Sans GB"/>
              </a:rPr>
              <a:t>94</a:t>
            </a:r>
            <a:r>
              <a:rPr sz="1100" b="1" i="0">
                <a:solidFill>
                  <a:srgbClr val="94A0A2"/>
                </a:solidFill>
                <a:latin typeface="Arial"/>
                <a:ea typeface="Hiragino Sans GB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54680"/>
            <a:ext cx="393192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0A2"/>
                </a:solidFill>
                <a:latin typeface="Arial"/>
                <a:ea typeface="Hiragino Sans GB"/>
              </a:rPr>
              <a:t>数据中心 AI 加速器（行业估算）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65576"/>
            <a:ext cx="3931920" cy="292608"/>
          </a:xfrm>
          <a:prstGeom prst="roundRect">
            <a:avLst>
              <a:gd name="adj" fmla="val 50000"/>
            </a:avLst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65576"/>
            <a:ext cx="3342132" cy="292608"/>
          </a:xfrm>
          <a:prstGeom prst="roundRect">
            <a:avLst>
              <a:gd name="adj" fmla="val 50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3465576"/>
            <a:ext cx="1828800" cy="29260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F2EE"/>
                </a:solidFill>
                <a:latin typeface="Arial"/>
                <a:ea typeface="Hiragino Sans GB"/>
              </a:rPr>
              <a:t>~80–90</a:t>
            </a:r>
            <a:r>
              <a:rPr sz="1100" b="1" i="0">
                <a:solidFill>
                  <a:srgbClr val="94A0A2"/>
                </a:solidFill>
                <a:latin typeface="Arial"/>
                <a:ea typeface="Hiragino Sans GB"/>
              </a:rPr>
              <a:t>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40480"/>
            <a:ext cx="566928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6C777B"/>
                </a:solidFill>
                <a:latin typeface="Arial"/>
                <a:ea typeface="Hiragino Sans GB"/>
              </a:rPr>
              <a:t>AI 加速器市场份额为估算值（无干净的公开数字），且预计会随对手放量而回落——因此这里仅作定性呈现。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554480"/>
            <a:ext cx="502279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2A93B"/>
                </a:solidFill>
                <a:latin typeface="Consolas"/>
                <a:ea typeface="Hiragino Sans GB"/>
              </a:rPr>
              <a:t>挑战者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1968" y="2011680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9984" y="2139696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2864" y="2157984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AMD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2864" y="2487168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  <a:ea typeface="Hiragino Sans GB"/>
              </a:rPr>
              <a:t>Instinct MI300X / MI350（数据中心） · Radeon（游戏）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1968" y="3191256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29984" y="3319272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3337560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Intel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3666744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  <a:ea typeface="Hiragino Sans GB"/>
              </a:rPr>
              <a:t>Gaudi 3 AI 加速器 · Arc GPU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1968" y="4370832"/>
            <a:ext cx="5022799" cy="1051560"/>
          </a:xfrm>
          <a:prstGeom prst="roundRect">
            <a:avLst>
              <a:gd name="adj" fmla="val 10434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29984" y="4498848"/>
            <a:ext cx="54864" cy="795527"/>
          </a:xfrm>
          <a:prstGeom prst="rect">
            <a:avLst/>
          </a:prstGeom>
          <a:solidFill>
            <a:srgbClr val="7C8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12864" y="4517136"/>
            <a:ext cx="4474159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DF2EE"/>
                </a:solidFill>
                <a:latin typeface="Arial"/>
                <a:ea typeface="Hiragino Sans GB"/>
              </a:rPr>
              <a:t>自研芯片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2864" y="4846320"/>
            <a:ext cx="447415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4A0A2"/>
                </a:solidFill>
                <a:latin typeface="Arial"/>
                <a:ea typeface="Hiragino Sans GB"/>
              </a:rPr>
              <a:t>Google TPU · AWS Trainium · Microsoft Maia——超大规模云厂商自研芯片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3894" y="310896"/>
            <a:ext cx="1026904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" y="4754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220">
                <a:solidFill>
                  <a:srgbClr val="76B900"/>
                </a:solidFill>
                <a:latin typeface="Consolas"/>
                <a:ea typeface="Hiragino Sans GB"/>
              </a:rPr>
              <a:t>&gt;_ 关键数据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49808"/>
            <a:ext cx="1007028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EDF2EE"/>
                </a:solidFill>
                <a:latin typeface="Arial"/>
                <a:ea typeface="Hiragino Sans GB"/>
              </a:rPr>
              <a:t>六个数字看懂这门生意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" y="1243584"/>
            <a:ext cx="2286000" cy="41148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B0E1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63040"/>
            <a:ext cx="10070287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0A2"/>
                </a:solidFill>
                <a:latin typeface="Arial"/>
                <a:ea typeface="Hiragino Sans GB"/>
              </a:rPr>
              <a:t>2026 财年结束于 2026 年 1 月 25 日 · 最新季度为 FY2027 Q1（2026 年 4 月）。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9224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C777B"/>
                </a:solidFill>
                <a:latin typeface="Consolas"/>
                <a:ea typeface="Hiragino Sans GB"/>
              </a:rPr>
              <a:t>NVIDIA  ·  公司与产品总览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92240"/>
            <a:ext cx="9601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C777B"/>
                </a:solidFill>
                <a:latin typeface="Consolas"/>
                <a:ea typeface="Hiragino Sans GB"/>
              </a:rPr>
              <a:t>15 /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$215.9B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FY2026 营收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同比 +65%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4794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4794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5690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$193.7B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5690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FY2026 数据中心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5690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约占营收 90%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2660" y="1956816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2660" y="2121408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3556" y="2212848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$81.6B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3556" y="2980944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FY2027 Q1 营收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3556" y="3291840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单季，同比 +85%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$120.1B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FY2026 净利润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毛利率约 71%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4794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4794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5690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$18.5B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5690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FY2026 研发投入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5690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创新引擎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2660" y="4005072"/>
            <a:ext cx="3442106" cy="1737360"/>
          </a:xfrm>
          <a:prstGeom prst="roundRect">
            <a:avLst>
              <a:gd name="adj" fmla="val 6315"/>
            </a:avLst>
          </a:prstGeom>
          <a:solidFill>
            <a:srgbClr val="141A1E"/>
          </a:solidFill>
          <a:ln w="12700">
            <a:solidFill>
              <a:srgbClr val="2A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82660" y="4169664"/>
            <a:ext cx="73152" cy="1408176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3556" y="4261104"/>
            <a:ext cx="298490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DF2EE"/>
                </a:solidFill>
                <a:latin typeface="Arial"/>
                <a:ea typeface="Hiragino Sans GB"/>
              </a:rPr>
              <a:t>~$5T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3556" y="5029200"/>
            <a:ext cx="298490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DF2EE"/>
                </a:solidFill>
                <a:latin typeface="Arial"/>
                <a:ea typeface="Hiragino Sans GB"/>
              </a:rPr>
              <a:t>市值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3556" y="5340096"/>
            <a:ext cx="298490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CD53"/>
                </a:solidFill>
                <a:latin typeface="Consolas"/>
                <a:ea typeface="Hiragino Sans GB"/>
              </a:rPr>
              <a:t>全球市值最高的上市公司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2880" y="274319"/>
            <a:ext cx="5120640" cy="4754880"/>
          </a:xfrm>
          <a:prstGeom prst="ellipse">
            <a:avLst/>
          </a:prstGeom>
          <a:gradFill>
            <a:gsLst>
              <a:gs pos="0">
                <a:srgbClr val="76B900">
                  <a:alpha val="22000"/>
                </a:srgbClr>
              </a:gs>
              <a:gs pos="100000">
                <a:srgbClr val="76B9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052560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45752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38944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32136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25328" y="822960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0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45752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38944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32136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625328" y="1216152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52560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45752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38944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32136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625328" y="1609344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45752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838944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232136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625328" y="2002536"/>
            <a:ext cx="256032" cy="256032"/>
          </a:xfrm>
          <a:prstGeom prst="roundRect">
            <a:avLst>
              <a:gd name="adj" fmla="val 28000"/>
            </a:avLst>
          </a:prstGeom>
          <a:solidFill>
            <a:srgbClr val="76B90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 titl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66928"/>
            <a:ext cx="1300745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5216" y="210312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60">
                <a:solidFill>
                  <a:srgbClr val="9BE01E"/>
                </a:solidFill>
                <a:latin typeface="Consolas"/>
                <a:ea typeface="Hiragino Sans GB"/>
              </a:rPr>
              <a:t>一句话总结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487168"/>
            <a:ext cx="1060704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EDF2EE"/>
                </a:solidFill>
                <a:latin typeface="Arial"/>
                <a:ea typeface="Hiragino Sans GB"/>
              </a:rPr>
              <a:t>一套平台——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EDF2EE"/>
                </a:solidFill>
                <a:latin typeface="Arial"/>
                <a:ea typeface="Hiragino Sans GB"/>
              </a:rPr>
              <a:t>从图形，到 AI 工厂。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" y="4224528"/>
            <a:ext cx="2743200" cy="54864"/>
          </a:xfrm>
          <a:prstGeom prst="rect">
            <a:avLst/>
          </a:prstGeom>
          <a:gradFill rotWithShape="1">
            <a:gsLst>
              <a:gs pos="0">
                <a:srgbClr val="76B900"/>
              </a:gs>
              <a:gs pos="100000">
                <a:srgbClr val="07120B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462272"/>
            <a:ext cx="859536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0A2"/>
                </a:solidFill>
                <a:latin typeface="Arial"/>
                <a:ea typeface="Hiragino Sans GB"/>
              </a:rPr>
              <a:t>芯片 · 系统 · 网络 · 软件 · 生态——作为同一套不断复利的加速计算平台整体交付。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678424"/>
            <a:ext cx="11057839" cy="10972"/>
          </a:xfrm>
          <a:prstGeom prst="rect">
            <a:avLst/>
          </a:prstGeom>
          <a:solidFill>
            <a:srgbClr val="283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06440"/>
            <a:ext cx="1828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BE01E"/>
                </a:solidFill>
                <a:latin typeface="Consolas"/>
                <a:ea typeface="Hiragino Sans GB"/>
              </a:rPr>
              <a:t>来源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38528" y="5788152"/>
            <a:ext cx="968623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4A0A2"/>
                </a:solidFill>
                <a:latin typeface="Arial"/>
                <a:ea typeface="Hiragino Sans GB"/>
              </a:rPr>
              <a:t>NVIDIA FY2024–FY2026 业绩与 10-K 文件（SEC） · Q1 FY2027 8-K · NVIDIA Newsroom（Blackwell、GB200 NVL72、DRIVE、Jetson Thor） · GTC 2025 主题演讲 · Jon Peddie Research 2025 Q4 · CompaniesMarketCap · CNBC。 数据截至 2026 年 7 月；均已对照一手来源核实。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