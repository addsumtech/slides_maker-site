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市值 ($万亿)</c:v>
                </c:pt>
              </c:strCache>
            </c:strRef>
          </c:tx>
          <c:spPr>
            <a:solidFill>
              <a:srgbClr val="76B900"/>
            </a:solidFill>
            <a:ln w="31750">
              <a:solidFill>
                <a:srgbClr val="76B900"/>
              </a:solidFill>
            </a:ln>
          </c:spPr>
          <c:dPt>
            <c:idx val="0"/>
            <c:spPr>
              <a:solidFill>
                <a:srgbClr val="8A93A6"/>
              </a:solidFill>
            </c:spPr>
          </c:dPt>
          <c:dPt>
            <c:idx val="1"/>
            <c:spPr>
              <a:solidFill>
                <a:srgbClr val="8A93A6"/>
              </a:solidFill>
            </c:spPr>
          </c:dPt>
          <c:dPt>
            <c:idx val="2"/>
            <c:spPr>
              <a:solidFill>
                <a:srgbClr val="8A93A6"/>
              </a:solidFill>
            </c:spPr>
          </c:dPt>
          <c:dPt>
            <c:idx val="3"/>
            <c:spPr>
              <a:solidFill>
                <a:srgbClr val="8A93A6"/>
              </a:solidFill>
            </c:spPr>
          </c:dPt>
          <c:dPt>
            <c:idx val="4"/>
            <c:spPr>
              <a:solidFill>
                <a:srgbClr val="76B900"/>
              </a:solidFill>
            </c:spPr>
          </c:dPt>
          <c:cat>
            <c:strRef>
              <c:f>Sheet1!$A$2:$A$6</c:f>
              <c:strCache>
                <c:ptCount val="5"/>
                <c:pt idx="0">
                  <c:v>2023.06</c:v>
                </c:pt>
                <c:pt idx="1">
                  <c:v>2024.02</c:v>
                </c:pt>
                <c:pt idx="2">
                  <c:v>2024.06</c:v>
                </c:pt>
                <c:pt idx="3">
                  <c:v>2025.07</c:v>
                </c:pt>
                <c:pt idx="4">
                  <c:v>2025.10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elvetica Neu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A3555"/>
              </a:solidFill>
            </a:ln>
          </c:spPr>
        </c:majorGridlines>
        <c:numFmt formatCode="&quot;$&quot;0&quot;T&quot;" sourceLinked="0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elvetica Neue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AF2FF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总营收 ($B)</c:v>
                </c:pt>
              </c:strCache>
            </c:strRef>
          </c:tx>
          <c:spPr>
            <a:solidFill>
              <a:srgbClr val="76B900"/>
            </a:solidFill>
            <a:ln w="31750">
              <a:solidFill>
                <a:srgbClr val="76B900"/>
              </a:solidFill>
            </a:ln>
          </c:spPr>
          <c:dPt>
            <c:idx val="0"/>
            <c:spPr>
              <a:solidFill>
                <a:srgbClr val="8A93A6"/>
              </a:solidFill>
            </c:spPr>
          </c:dPt>
          <c:dPt>
            <c:idx val="1"/>
            <c:spPr>
              <a:solidFill>
                <a:srgbClr val="8A93A6"/>
              </a:solidFill>
            </c:spPr>
          </c:dPt>
          <c:dPt>
            <c:idx val="2"/>
            <c:spPr>
              <a:solidFill>
                <a:srgbClr val="8A93A6"/>
              </a:solidFill>
            </c:spPr>
          </c:dPt>
          <c:dPt>
            <c:idx val="3"/>
            <c:spPr>
              <a:solidFill>
                <a:srgbClr val="76B900"/>
              </a:solidFill>
            </c:spPr>
          </c:dPt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27.0</c:v>
                </c:pt>
                <c:pt idx="1">
                  <c:v>60.9</c:v>
                </c:pt>
                <c:pt idx="2">
                  <c:v>130.5</c:v>
                </c:pt>
                <c:pt idx="3">
                  <c:v>215.9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elvetica Neu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A3555"/>
              </a:solidFill>
            </a:ln>
          </c:spPr>
        </c:majorGridlines>
        <c:numFmt formatCode="&quot;$&quot;0&quot;B&quot;" sourceLinked="0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elvetica Neue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AF2FF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76B900"/>
              </a:solidFill>
            </c:spPr>
          </c:dPt>
          <c:dPt>
            <c:idx val="1"/>
            <c:spPr>
              <a:solidFill>
                <a:srgbClr val="8FA6B8"/>
              </a:solidFill>
            </c:spPr>
          </c:dPt>
          <c:dPt>
            <c:idx val="2"/>
            <c:spPr>
              <a:solidFill>
                <a:srgbClr val="5AC8E0"/>
              </a:solidFill>
            </c:spPr>
          </c:dPt>
          <c:dPt>
            <c:idx val="3"/>
            <c:spPr>
              <a:solidFill>
                <a:srgbClr val="B99AE8"/>
              </a:solidFill>
            </c:spPr>
          </c:dPt>
          <c:cat>
            <c:strRef>
              <c:f>Sheet1!$A$2:$A$5</c:f>
              <c:strCache>
                <c:ptCount val="4"/>
                <c:pt idx="0">
                  <c:v>数据中心</c:v>
                </c:pt>
                <c:pt idx="1">
                  <c:v>游戏</c:v>
                </c:pt>
                <c:pt idx="2">
                  <c:v>专业可视化</c:v>
                </c:pt>
                <c:pt idx="3">
                  <c:v>汽车与机器人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193.7</c:v>
                </c:pt>
                <c:pt idx="1">
                  <c:v>16.0</c:v>
                </c:pt>
                <c:pt idx="2">
                  <c:v>3.2</c:v>
                </c:pt>
                <c:pt idx="3">
                  <c:v>2.3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EAF2FF"/>
              </a:solidFill>
              <a:latin typeface="Hiragino Sans GB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EAF2FF"/>
          </a:solidFill>
          <a:latin typeface="Hiragino Sans GB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87568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0176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2784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5392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0608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43216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35824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8432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13648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0"/>
            <a:ext cx="10972" cy="5143500"/>
          </a:xfrm>
          <a:prstGeom prst="rect">
            <a:avLst/>
          </a:prstGeom>
          <a:solidFill>
            <a:srgbClr val="18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18288" cy="5143500"/>
          </a:xfrm>
          <a:prstGeom prst="rect">
            <a:avLst/>
          </a:prstGeom>
          <a:solidFill>
            <a:srgbClr val="22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860110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9326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C63F"/>
                </a:solidFill>
                <a:latin typeface="Menlo"/>
                <a:ea typeface="Hiragino Sans GB"/>
              </a:rPr>
              <a:t>COMPANY &amp; PRODUCT OVERVIEW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37360"/>
            <a:ext cx="7680960" cy="1737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6200" b="1" i="0">
                <a:solidFill>
                  <a:srgbClr val="8CC63F"/>
                </a:solidFill>
                <a:latin typeface="Helvetica Neue"/>
                <a:ea typeface="Hiragino Sans GB"/>
              </a:rPr>
              <a:t>NVIDIA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AF0EC"/>
                </a:solidFill>
                <a:latin typeface="Hiragino Sans GB"/>
                <a:ea typeface="Hiragino Sans GB"/>
              </a:rPr>
              <a:t>公司与产品概览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46704"/>
            <a:ext cx="128016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29584"/>
            <a:ext cx="73152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4A29B"/>
                </a:solidFill>
                <a:latin typeface="Hiragino Sans GB"/>
                <a:ea typeface="Hiragino Sans GB"/>
              </a:rPr>
              <a:t>加速计算与人工智能的引擎——从图形芯片到全球 AI 基础设施的中枢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21031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AF0EC"/>
                </a:solidFill>
                <a:latin typeface="Helvetica Neue"/>
                <a:ea typeface="Hiragino Sans GB"/>
              </a:rPr>
              <a:t>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08576"/>
            <a:ext cx="2103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创立于加州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4315968"/>
            <a:ext cx="10972" cy="475488"/>
          </a:xfrm>
          <a:prstGeom prst="rect">
            <a:avLst/>
          </a:prstGeom>
          <a:solidFill>
            <a:srgbClr val="2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224528"/>
            <a:ext cx="21031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AF0EC"/>
                </a:solidFill>
                <a:latin typeface="Helvetica Neue"/>
                <a:ea typeface="Hiragino Sans GB"/>
              </a:rPr>
              <a:t>~$5万亿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608576"/>
            <a:ext cx="2103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全球市值第一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1808" y="4315968"/>
            <a:ext cx="10972" cy="475488"/>
          </a:xfrm>
          <a:prstGeom prst="rect">
            <a:avLst/>
          </a:prstGeom>
          <a:solidFill>
            <a:srgbClr val="2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224528"/>
            <a:ext cx="21031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AF0EC"/>
                </a:solidFill>
                <a:latin typeface="Helvetica Neue"/>
                <a:ea typeface="Hiragino Sans GB"/>
              </a:rPr>
              <a:t>~90%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08576"/>
            <a:ext cx="2103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数据中心营收占比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9452"/>
            <a:ext cx="6400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A64"/>
                </a:solidFill>
                <a:latin typeface="Menlo"/>
                <a:ea typeface="Hiragino Sans GB"/>
              </a:rPr>
              <a:t>截至 2026 年 7 月  ·  所有数字经公开来源核实，来源见文末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01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公司概况 /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全球最有价值的公司，以加速计算重塑产业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02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1463039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9343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27631"/>
            <a:ext cx="199339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29B"/>
                </a:solidFill>
                <a:latin typeface="Hiragino Sans GB"/>
                <a:ea typeface="Hiragino Sans GB"/>
              </a:rPr>
              <a:t>FY2026 营收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920239"/>
            <a:ext cx="2011680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F0EC"/>
                </a:solidFill>
                <a:latin typeface="Helvetica Neue"/>
                <a:ea typeface="Hiragino Sans GB"/>
              </a:rPr>
              <a:t>$215.9B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468879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C63F"/>
                </a:solidFill>
                <a:latin typeface="Hiragino Sans GB"/>
                <a:ea typeface="Hiragino Sans GB"/>
              </a:rPr>
              <a:t>同比 +65%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463039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609343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627631"/>
            <a:ext cx="199339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29B"/>
                </a:solidFill>
                <a:latin typeface="Hiragino Sans GB"/>
                <a:ea typeface="Hiragino Sans GB"/>
              </a:rPr>
              <a:t>市值 · 2025-10 首破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1920239"/>
            <a:ext cx="2011680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F0EC"/>
                </a:solidFill>
                <a:latin typeface="Helvetica Neue"/>
                <a:ea typeface="Hiragino Sans GB"/>
              </a:rPr>
              <a:t>~$5 万亿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68879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C63F"/>
                </a:solidFill>
                <a:latin typeface="Hiragino Sans GB"/>
                <a:ea typeface="Hiragino Sans GB"/>
              </a:rPr>
              <a:t>全球第一，超微软 / 苹果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463039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609343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627631"/>
            <a:ext cx="199339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29B"/>
                </a:solidFill>
                <a:latin typeface="Hiragino Sans GB"/>
                <a:ea typeface="Hiragino Sans GB"/>
              </a:rPr>
              <a:t>毛利率 · 近季度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920239"/>
            <a:ext cx="2011680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F0EC"/>
                </a:solidFill>
                <a:latin typeface="Helvetica Neue"/>
                <a:ea typeface="Hiragino Sans GB"/>
              </a:rPr>
              <a:t>~75%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468879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6B8"/>
                </a:solidFill>
                <a:latin typeface="Hiragino Sans GB"/>
                <a:ea typeface="Hiragino Sans GB"/>
              </a:rPr>
              <a:t>FY2026 全年 71.1%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108959"/>
            <a:ext cx="1691639" cy="1467612"/>
          </a:xfrm>
          <a:prstGeom prst="roundRect">
            <a:avLst>
              <a:gd name="adj" fmla="val 7476"/>
            </a:avLst>
          </a:prstGeom>
          <a:solidFill>
            <a:srgbClr val="141B18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7824" y="33467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2420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" y="3465575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7824" y="3790187"/>
            <a:ext cx="12344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4A29B"/>
                </a:solidFill>
                <a:latin typeface="Hiragino Sans GB"/>
                <a:ea typeface="Hiragino Sans GB"/>
              </a:rPr>
              <a:t>总部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046220"/>
            <a:ext cx="123443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加州 Santa Clara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3108959"/>
            <a:ext cx="1691639" cy="1467612"/>
          </a:xfrm>
          <a:prstGeom prst="roundRect">
            <a:avLst>
              <a:gd name="adj" fmla="val 7476"/>
            </a:avLst>
          </a:prstGeom>
          <a:solidFill>
            <a:srgbClr val="141B18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35224" y="33467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2420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3465575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5224" y="3790187"/>
            <a:ext cx="12344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4A29B"/>
                </a:solidFill>
                <a:latin typeface="Hiragino Sans GB"/>
                <a:ea typeface="Hiragino Sans GB"/>
              </a:rPr>
              <a:t>员工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4" y="4046220"/>
            <a:ext cx="123443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约 4.2 万人 · FY2026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3108959"/>
            <a:ext cx="1691639" cy="1467612"/>
          </a:xfrm>
          <a:prstGeom prst="roundRect">
            <a:avLst>
              <a:gd name="adj" fmla="val 7476"/>
            </a:avLst>
          </a:prstGeom>
          <a:solidFill>
            <a:srgbClr val="141B18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92624" y="33467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2420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465575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2624" y="3790187"/>
            <a:ext cx="12344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4A29B"/>
                </a:solidFill>
                <a:latin typeface="Hiragino Sans GB"/>
                <a:ea typeface="Hiragino Sans GB"/>
              </a:rPr>
              <a:t>创始人 / CEO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4046220"/>
            <a:ext cx="123443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黄仁勋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3108959"/>
            <a:ext cx="1691639" cy="1467612"/>
          </a:xfrm>
          <a:prstGeom prst="roundRect">
            <a:avLst>
              <a:gd name="adj" fmla="val 7476"/>
            </a:avLst>
          </a:prstGeom>
          <a:solidFill>
            <a:srgbClr val="141B18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50024" y="33467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2420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3465575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50024" y="3790187"/>
            <a:ext cx="12344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4A29B"/>
                </a:solidFill>
                <a:latin typeface="Hiragino Sans GB"/>
                <a:ea typeface="Hiragino Sans GB"/>
              </a:rPr>
              <a:t>身份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0024" y="4046220"/>
            <a:ext cx="123443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全球市值第一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02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商业本质 /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三次身份跃迁：从显卡公司到 AI 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03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19" y="1783079"/>
            <a:ext cx="2468880" cy="1325880"/>
          </a:xfrm>
          <a:prstGeom prst="roundRect">
            <a:avLst>
              <a:gd name="adj" fmla="val 8275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19" y="1783079"/>
            <a:ext cx="2468880" cy="64008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5" y="2002535"/>
            <a:ext cx="20299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AF0EC"/>
                </a:solidFill>
                <a:latin typeface="Hiragino Sans GB"/>
                <a:ea typeface="Hiragino Sans GB"/>
              </a:rPr>
              <a:t>图形显卡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5" y="2386584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6B8"/>
                </a:solidFill>
                <a:latin typeface="Menlo"/>
                <a:ea typeface="Hiragino Sans GB"/>
              </a:rPr>
              <a:t>1993–2006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5" y="2660903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GeForce · 3D 图形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7" y="2189987"/>
            <a:ext cx="603504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CC63F"/>
                </a:solidFill>
                <a:latin typeface="Helvetica Neue"/>
                <a:ea typeface="Hiragino Sans GB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59" y="1783079"/>
            <a:ext cx="2468880" cy="1325880"/>
          </a:xfrm>
          <a:prstGeom prst="roundRect">
            <a:avLst>
              <a:gd name="adj" fmla="val 8275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59" y="1783079"/>
            <a:ext cx="2468880" cy="64008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5" y="2002535"/>
            <a:ext cx="20299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AF0EC"/>
                </a:solidFill>
                <a:latin typeface="Hiragino Sans GB"/>
                <a:ea typeface="Hiragino Sans GB"/>
              </a:rPr>
              <a:t>加速计算平台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386584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AC8E0"/>
                </a:solidFill>
                <a:latin typeface="Menlo"/>
                <a:ea typeface="Hiragino Sans GB"/>
              </a:rPr>
              <a:t>2006–2016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5" y="2660903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CUDA · GPU 通用计算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189987"/>
            <a:ext cx="603504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CC63F"/>
                </a:solidFill>
                <a:latin typeface="Helvetica Neue"/>
                <a:ea typeface="Hiragino Sans GB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399" y="1783079"/>
            <a:ext cx="2468880" cy="1325880"/>
          </a:xfrm>
          <a:prstGeom prst="roundRect">
            <a:avLst>
              <a:gd name="adj" fmla="val 8275"/>
            </a:avLst>
          </a:prstGeom>
          <a:solidFill>
            <a:srgbClr val="18241A"/>
          </a:solidFill>
          <a:ln w="2032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399" y="1783079"/>
            <a:ext cx="2468880" cy="6400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5" y="2002535"/>
            <a:ext cx="20299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AF0EC"/>
                </a:solidFill>
                <a:latin typeface="Hiragino Sans GB"/>
                <a:ea typeface="Hiragino Sans GB"/>
              </a:rPr>
              <a:t>AI 基础设施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5" y="2386584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6B900"/>
                </a:solidFill>
                <a:latin typeface="Menlo"/>
                <a:ea typeface="Hiragino Sans GB"/>
              </a:rPr>
              <a:t>2016–至今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5" y="2660903"/>
            <a:ext cx="202996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数据中心 · AI 工厂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66159"/>
            <a:ext cx="7863840" cy="841248"/>
          </a:xfrm>
          <a:prstGeom prst="roundRect">
            <a:avLst>
              <a:gd name="adj" fmla="val 13043"/>
            </a:avLst>
          </a:prstGeom>
          <a:solidFill>
            <a:srgbClr val="11201A"/>
          </a:solidFill>
          <a:ln w="12700">
            <a:solidFill>
              <a:srgbClr val="2C4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3675887"/>
            <a:ext cx="64008" cy="621792"/>
          </a:xfrm>
          <a:prstGeom prst="roundRect">
            <a:avLst>
              <a:gd name="adj" fmla="val 42857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566159"/>
            <a:ext cx="7315200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C63F"/>
                </a:solidFill>
                <a:latin typeface="Menlo"/>
                <a:ea typeface="Hiragino Sans GB"/>
              </a:rPr>
              <a:t>要义    </a:t>
            </a:r>
            <a:r>
              <a:rPr sz="1350" b="0" i="0">
                <a:solidFill>
                  <a:srgbClr val="EAF0EC"/>
                </a:solidFill>
                <a:latin typeface="Hiragino Sans GB"/>
                <a:ea typeface="Hiragino Sans GB"/>
              </a:rPr>
              <a:t>数据中心已占营收约 90%——NVIDIA 已从「卖显卡」演变为向全球提供 AI 算力基础设施的核心供应商。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03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发展里程碑 /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三十年长跑，在 AI 时代加速冲顶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04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" y="3189427"/>
            <a:ext cx="7635240" cy="21945"/>
          </a:xfrm>
          <a:prstGeom prst="rect">
            <a:avLst/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" y="3364991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1993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" y="365759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公司成立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" y="3913631"/>
            <a:ext cx="16002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黄仁勋等三人创立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62832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6468" y="2761487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1999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468" y="246887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GeForce 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028" y="2011679"/>
            <a:ext cx="1600200" cy="45720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IPO 上市 · 号称首款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3581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7217" y="3364991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2006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7217" y="365759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CUDA 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5777" y="3913631"/>
            <a:ext cx="16002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开启 GPU 通用计算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44329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7965" y="2761487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2012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7965" y="246887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AlexNet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6525" y="2011679"/>
            <a:ext cx="1600200" cy="45720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深度学习拐点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5078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8714" y="3364991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8714" y="365759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收购 Mellanox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7274" y="3913631"/>
            <a:ext cx="16002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约 $70 亿 · 补齐网络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5826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99462" y="2761487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9462" y="246887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Hopper H100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8022" y="2011679"/>
            <a:ext cx="1600200" cy="45720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生成式 AI 主力芯片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16575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A4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0211" y="3364991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  <a:ea typeface="Hiragino Sans GB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0211" y="365759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Blackwell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771" y="3913631"/>
            <a:ext cx="16002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GTC 发布 · 纳入道指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7323" y="3118103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59" y="2761487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B900"/>
                </a:solidFill>
                <a:latin typeface="Helvetica Neue"/>
                <a:ea typeface="Hiragino Sans GB"/>
              </a:rPr>
              <a:t>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59" y="2468879"/>
            <a:ext cx="14173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elvetica Neue"/>
                <a:ea typeface="Hiragino Sans GB"/>
              </a:rPr>
              <a:t>市值破 $5万亿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2011679"/>
            <a:ext cx="1600200" cy="45720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全球首家 · 7 月先破 $4T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04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市值攀登 /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两年半，从 $1 万亿冲上 $5 万亿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05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554479"/>
          <a:ext cx="5079344" cy="29489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085184" y="1554479"/>
            <a:ext cx="2418735" cy="1371600"/>
          </a:xfrm>
          <a:prstGeom prst="roundRect">
            <a:avLst>
              <a:gd name="adj" fmla="val 8000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5184" y="1700783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2928" y="1719071"/>
            <a:ext cx="2034687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29B"/>
                </a:solidFill>
                <a:latin typeface="Hiragino Sans GB"/>
                <a:ea typeface="Hiragino Sans GB"/>
              </a:rPr>
              <a:t>达成用时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4640" y="2011679"/>
            <a:ext cx="2052975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EC"/>
                </a:solidFill>
                <a:latin typeface="Helvetica Neue"/>
                <a:ea typeface="Hiragino Sans GB"/>
              </a:rPr>
              <a:t>~28</a:t>
            </a:r>
            <a:r>
              <a:rPr sz="1428" b="1" i="0">
                <a:solidFill>
                  <a:srgbClr val="8CC63F"/>
                </a:solidFill>
                <a:latin typeface="Helvetica Neue"/>
                <a:ea typeface="Hiragino Sans GB"/>
              </a:rPr>
              <a:t>  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2928" y="2584704"/>
            <a:ext cx="201639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C63F"/>
                </a:solidFill>
                <a:latin typeface="Hiragino Sans GB"/>
                <a:ea typeface="Hiragino Sans GB"/>
              </a:rPr>
              <a:t>$1万亿 → $5万亿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5184" y="3108959"/>
            <a:ext cx="2418735" cy="1554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全球首家突破 $5 万亿市值的公司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（2025 年 10 月 29 日）；如今稳居全球市值第一，领先微软、苹果与 Alphabet。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05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关键数字 / 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一屏看懂 NVIDIA 的量级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06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1627631"/>
            <a:ext cx="365760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73935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FY2026 营收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66543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EC"/>
                </a:solidFill>
                <a:latin typeface="Helvetica Neue"/>
                <a:ea typeface="Hiragino Sans GB"/>
              </a:rPr>
              <a:t>$215.9B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6416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C63F"/>
                </a:solidFill>
                <a:latin typeface="Hiragino Sans GB"/>
                <a:ea typeface="Hiragino Sans GB"/>
              </a:rPr>
              <a:t>同比 +65%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737359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627631"/>
            <a:ext cx="365760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773935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数据中心营收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066543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EC"/>
                </a:solidFill>
                <a:latin typeface="Helvetica Neue"/>
                <a:ea typeface="Hiragino Sans GB"/>
              </a:rPr>
              <a:t>$193.7B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566416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C63F"/>
                </a:solidFill>
                <a:latin typeface="Hiragino Sans GB"/>
                <a:ea typeface="Hiragino Sans GB"/>
              </a:rPr>
              <a:t>约占总营收 90%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737359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27631"/>
            <a:ext cx="365760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773935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净利润 · GAAP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66543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EC"/>
                </a:solidFill>
                <a:latin typeface="Helvetica Neue"/>
                <a:ea typeface="Hiragino Sans GB"/>
              </a:rPr>
              <a:t>$120.1B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566416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C63F"/>
                </a:solidFill>
                <a:latin typeface="Hiragino Sans GB"/>
                <a:ea typeface="Hiragino Sans GB"/>
              </a:rPr>
              <a:t>FY2026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1737359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1627631"/>
            <a:ext cx="365760" cy="45720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773935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毛利率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066543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AF0EC"/>
                </a:solidFill>
                <a:latin typeface="Helvetica Neue"/>
                <a:ea typeface="Hiragino Sans GB"/>
              </a:rPr>
              <a:t>~75%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627375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6B8"/>
                </a:solidFill>
                <a:latin typeface="Hiragino Sans GB"/>
                <a:ea typeface="Hiragino Sans GB"/>
              </a:rPr>
              <a:t>近季度水平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145535"/>
            <a:ext cx="365760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39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市值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84447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AF0EC"/>
                </a:solidFill>
                <a:latin typeface="Helvetica Neue"/>
                <a:ea typeface="Hiragino Sans GB"/>
              </a:rPr>
              <a:t>~$5万亿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53839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C63F"/>
                </a:solidFill>
                <a:latin typeface="Hiragino Sans GB"/>
                <a:ea typeface="Hiragino Sans GB"/>
              </a:rPr>
              <a:t>全球第一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3255263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97480" y="3145535"/>
            <a:ext cx="365760" cy="45720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3291839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CUDA 开发者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3584447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EC"/>
                </a:solidFill>
                <a:latin typeface="Helvetica Neue"/>
                <a:ea typeface="Hiragino Sans GB"/>
              </a:rPr>
              <a:t>6M+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175760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C8E0"/>
                </a:solidFill>
                <a:latin typeface="Hiragino Sans GB"/>
                <a:ea typeface="Hiragino Sans GB"/>
              </a:rPr>
              <a:t>软件生态护城河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255263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3145535"/>
            <a:ext cx="365760" cy="45720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291839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AI GPU 份额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584447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elvetica Neue"/>
                <a:ea typeface="Hiragino Sans GB"/>
              </a:rPr>
              <a:t>~80–90%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023359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6B8"/>
                </a:solidFill>
                <a:latin typeface="Hiragino Sans GB"/>
                <a:ea typeface="Hiragino Sans GB"/>
              </a:rPr>
              <a:t>分析师估计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255263"/>
            <a:ext cx="10972" cy="1078992"/>
          </a:xfrm>
          <a:prstGeom prst="rect">
            <a:avLst/>
          </a:prstGeom>
          <a:solidFill>
            <a:srgbClr val="22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12280" y="3145535"/>
            <a:ext cx="365760" cy="45720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3291839"/>
            <a:ext cx="1691639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29B"/>
                </a:solidFill>
                <a:latin typeface="Hiragino Sans GB"/>
                <a:ea typeface="Hiragino Sans GB"/>
              </a:rPr>
              <a:t>全球员工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584447"/>
            <a:ext cx="1691639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EC"/>
                </a:solidFill>
                <a:latin typeface="Helvetica Neue"/>
                <a:ea typeface="Hiragino Sans GB"/>
              </a:rPr>
              <a:t>~4.2万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084319"/>
            <a:ext cx="16916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6B8"/>
                </a:solidFill>
                <a:latin typeface="Hiragino Sans GB"/>
                <a:ea typeface="Hiragino Sans GB"/>
              </a:rPr>
              <a:t>FY2026 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571999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A64"/>
                </a:solidFill>
                <a:latin typeface="Hiragino Sans GB"/>
                <a:ea typeface="Hiragino Sans GB"/>
              </a:rPr>
              <a:t>除市值外均为 NVIDIA 财年数据（FY2026 截至 2026 年 1 月）；份额与员工数为估计 / 近似值。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06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营收增长 /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三年约 8 倍增长，数据中心是引擎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07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554479"/>
          <a:ext cx="4998719" cy="29489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6004560" y="1700784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0592" y="1600199"/>
            <a:ext cx="22433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生成式 AI 需求</a:t>
            </a:r>
            <a:r>
              <a:rPr sz="1300" b="0" i="0">
                <a:solidFill>
                  <a:srgbClr val="94A29B"/>
                </a:solidFill>
                <a:latin typeface="Hiragino Sans GB"/>
                <a:ea typeface="Hiragino Sans GB"/>
              </a:rPr>
              <a:t>  自 FY2024 起爆发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4560" y="2359151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0592" y="2258568"/>
            <a:ext cx="22433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数据中心</a:t>
            </a:r>
            <a:r>
              <a:rPr sz="1300" b="0" i="0">
                <a:solidFill>
                  <a:srgbClr val="94A29B"/>
                </a:solidFill>
                <a:latin typeface="Hiragino Sans GB"/>
                <a:ea typeface="Hiragino Sans GB"/>
              </a:rPr>
              <a:t>  从约 40% 升至约 90% 营收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4560" y="3017519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0592" y="2916935"/>
            <a:ext cx="22433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EC"/>
                </a:solidFill>
                <a:latin typeface="Hiragino Sans GB"/>
                <a:ea typeface="Hiragino Sans GB"/>
              </a:rPr>
              <a:t>FY2026 +65%</a:t>
            </a:r>
            <a:r>
              <a:rPr sz="1300" b="0" i="0">
                <a:solidFill>
                  <a:srgbClr val="94A29B"/>
                </a:solidFill>
                <a:latin typeface="Hiragino Sans GB"/>
                <a:ea typeface="Hiragino Sans GB"/>
              </a:rPr>
              <a:t>  最新季度同比 +85%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4560" y="3717036"/>
            <a:ext cx="2499359" cy="786384"/>
          </a:xfrm>
          <a:prstGeom prst="roundRect">
            <a:avLst>
              <a:gd name="adj" fmla="val 13953"/>
            </a:avLst>
          </a:prstGeom>
          <a:solidFill>
            <a:srgbClr val="11201A"/>
          </a:solidFill>
          <a:ln w="12700">
            <a:solidFill>
              <a:srgbClr val="2C4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4016" y="3717036"/>
            <a:ext cx="2097023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29B"/>
                </a:solidFill>
                <a:latin typeface="Hiragino Sans GB"/>
                <a:ea typeface="Hiragino Sans GB"/>
              </a:rPr>
              <a:t>单位为 NVIDIA 财年营收；</a:t>
            </a:r>
            <a:r>
              <a:rPr sz="1050" b="1" i="0">
                <a:solidFill>
                  <a:srgbClr val="8CC63F"/>
                </a:solidFill>
                <a:latin typeface="Hiragino Sans GB"/>
                <a:ea typeface="Hiragino Sans GB"/>
              </a:rPr>
              <a:t>FY2026 = 截至 2026-01。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07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营收结构 /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数据中心一柱擎天，占营收约九成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08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508759"/>
          <a:ext cx="3927565" cy="29032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47041" y="2437790"/>
            <a:ext cx="2513642" cy="87096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2FF"/>
                </a:solidFill>
                <a:latin typeface="Hiragino Sans GB"/>
                <a:ea typeface="Hiragino Sans GB"/>
              </a:rPr>
              <a:t>~90%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Hiragino Sans GB"/>
                <a:ea typeface="Hiragino Sans GB"/>
              </a:rPr>
              <a:t>数据中心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3405" y="1618487"/>
            <a:ext cx="146304" cy="457200"/>
          </a:xfrm>
          <a:prstGeom prst="roundRect">
            <a:avLst>
              <a:gd name="adj" fmla="val 25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7725" y="1563623"/>
            <a:ext cx="210747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EC"/>
                </a:solidFill>
                <a:latin typeface="Hiragino Sans GB"/>
                <a:ea typeface="Hiragino Sans GB"/>
              </a:rPr>
              <a:t>数据中心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7725" y="1837943"/>
            <a:ext cx="210747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29B"/>
                </a:solidFill>
                <a:latin typeface="Hiragino Sans GB"/>
                <a:ea typeface="Hiragino Sans GB"/>
              </a:rPr>
              <a:t>FY2026 · 同比 +68%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00199"/>
            <a:ext cx="137160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AF0EC"/>
                </a:solidFill>
                <a:latin typeface="Helvetica Neue"/>
                <a:ea typeface="Hiragino Sans GB"/>
              </a:rPr>
              <a:t>$193.7B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3405" y="2276856"/>
            <a:ext cx="146304" cy="457200"/>
          </a:xfrm>
          <a:prstGeom prst="roundRect">
            <a:avLst>
              <a:gd name="adj" fmla="val 25000"/>
            </a:avLst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7725" y="2221991"/>
            <a:ext cx="210747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EC"/>
                </a:solidFill>
                <a:latin typeface="Hiragino Sans GB"/>
                <a:ea typeface="Hiragino Sans GB"/>
              </a:rPr>
              <a:t>游戏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7725" y="2496311"/>
            <a:ext cx="210747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29B"/>
                </a:solidFill>
                <a:latin typeface="Hiragino Sans GB"/>
                <a:ea typeface="Hiragino Sans GB"/>
              </a:rPr>
              <a:t>FY2026 · 同比 +41%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58568"/>
            <a:ext cx="137160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AF0EC"/>
                </a:solidFill>
                <a:latin typeface="Helvetica Neue"/>
                <a:ea typeface="Hiragino Sans GB"/>
              </a:rPr>
              <a:t>$16.0B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3405" y="2935224"/>
            <a:ext cx="146304" cy="457200"/>
          </a:xfrm>
          <a:prstGeom prst="roundRect">
            <a:avLst>
              <a:gd name="adj" fmla="val 25000"/>
            </a:avLst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7725" y="2880360"/>
            <a:ext cx="210747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EC"/>
                </a:solidFill>
                <a:latin typeface="Hiragino Sans GB"/>
                <a:ea typeface="Hiragino Sans GB"/>
              </a:rPr>
              <a:t>专业可视化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7725" y="3154679"/>
            <a:ext cx="210747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29B"/>
                </a:solidFill>
                <a:latin typeface="Hiragino Sans GB"/>
                <a:ea typeface="Hiragino Sans GB"/>
              </a:rPr>
              <a:t>FY2026 · 同比 +70%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16936"/>
            <a:ext cx="137160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AF0EC"/>
                </a:solidFill>
                <a:latin typeface="Helvetica Neue"/>
                <a:ea typeface="Hiragino Sans GB"/>
              </a:rPr>
              <a:t>$3.2B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3405" y="3593591"/>
            <a:ext cx="146304" cy="457200"/>
          </a:xfrm>
          <a:prstGeom prst="roundRect">
            <a:avLst>
              <a:gd name="adj" fmla="val 25000"/>
            </a:avLst>
          </a:prstGeom>
          <a:solidFill>
            <a:srgbClr val="B99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7725" y="3538727"/>
            <a:ext cx="210747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EC"/>
                </a:solidFill>
                <a:latin typeface="Hiragino Sans GB"/>
                <a:ea typeface="Hiragino Sans GB"/>
              </a:rPr>
              <a:t>汽车与机器人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7725" y="3813048"/>
            <a:ext cx="210747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29B"/>
                </a:solidFill>
                <a:latin typeface="Hiragino Sans GB"/>
                <a:ea typeface="Hiragino Sans GB"/>
              </a:rPr>
              <a:t>FY2026 · 同比 +39%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575303"/>
            <a:ext cx="137160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AF0EC"/>
                </a:solidFill>
                <a:latin typeface="Helvetica Neue"/>
                <a:ea typeface="Hiragino Sans GB"/>
              </a:rPr>
              <a:t>$2.3B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08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产品线矩阵 /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五大产品线，围绕加速计算展开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09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1508759"/>
            <a:ext cx="3145536" cy="3067812"/>
          </a:xfrm>
          <a:prstGeom prst="roundRect">
            <a:avLst>
              <a:gd name="adj" fmla="val 3576"/>
            </a:avLst>
          </a:prstGeom>
          <a:solidFill>
            <a:srgbClr val="15221A"/>
          </a:solidFill>
          <a:ln w="17780">
            <a:solidFill>
              <a:srgbClr val="2E4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83079"/>
            <a:ext cx="603504" cy="603504"/>
          </a:xfrm>
          <a:prstGeom prst="roundRect">
            <a:avLst>
              <a:gd name="adj" fmla="val 24000"/>
            </a:avLst>
          </a:prstGeom>
          <a:gradFill>
            <a:gsLst>
              <a:gs pos="100000">
                <a:srgbClr val="74">
                  <a:alpha val="100000"/>
                </a:srgbClr>
              </a:gs>
              <a:gs pos="100000">
                <a:srgbClr val="36">
                  <a:alpha val="10000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1939991"/>
            <a:ext cx="289681" cy="2896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560320"/>
            <a:ext cx="25968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AF0EC"/>
                </a:solidFill>
                <a:latin typeface="Hiragino Sans GB"/>
                <a:ea typeface="Hiragino Sans GB"/>
              </a:rPr>
              <a:t>数据中心与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79"/>
            <a:ext cx="259689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C63F"/>
                </a:solidFill>
                <a:latin typeface="Hiragino Sans GB"/>
                <a:ea typeface="Hiragino Sans GB"/>
              </a:rPr>
              <a:t>核心引擎 · 约 90% 营收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38143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337559"/>
            <a:ext cx="234086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iragino Sans GB"/>
                <a:ea typeface="Hiragino Sans GB"/>
              </a:rPr>
              <a:t>Blackwell / Hopper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822191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21607"/>
            <a:ext cx="234086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iragino Sans GB"/>
                <a:ea typeface="Hiragino Sans GB"/>
              </a:rPr>
              <a:t>GB200 / GB300 NVL72 机架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206239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05655"/>
            <a:ext cx="234086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EC"/>
                </a:solidFill>
                <a:latin typeface="Hiragino Sans GB"/>
                <a:ea typeface="Hiragino Sans GB"/>
              </a:rPr>
              <a:t>NVLink · InfiniBand · Spectrum-X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1508759"/>
            <a:ext cx="2103120" cy="1405890"/>
          </a:xfrm>
          <a:prstGeom prst="roundRect">
            <a:avLst>
              <a:gd name="adj" fmla="val 78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1728215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B18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847087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64608" y="1746503"/>
            <a:ext cx="1097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游戏 GeForce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457450"/>
            <a:ext cx="1700784" cy="36576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RTX 50 系列 · DLSS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2347722"/>
            <a:ext cx="457200" cy="32004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1508759"/>
            <a:ext cx="2103120" cy="1405890"/>
          </a:xfrm>
          <a:prstGeom prst="roundRect">
            <a:avLst>
              <a:gd name="adj" fmla="val 78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0256" y="1728215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B18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m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847087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23760" y="1746503"/>
            <a:ext cx="1097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专业可视化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6" y="2457450"/>
            <a:ext cx="1700784" cy="36576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RTX PRO · Omniverse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0256" y="2347722"/>
            <a:ext cx="457200" cy="32004"/>
          </a:xfrm>
          <a:prstGeom prst="rect">
            <a:avLst/>
          </a:prstGeom>
          <a:solidFill>
            <a:srgbClr val="B99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41648" y="3170682"/>
            <a:ext cx="2103120" cy="1405890"/>
          </a:xfrm>
          <a:prstGeom prst="roundRect">
            <a:avLst>
              <a:gd name="adj" fmla="val 78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61104" y="3390137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B18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3509009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64608" y="3408426"/>
            <a:ext cx="1097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汽车 DRIVE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1104" y="4119372"/>
            <a:ext cx="1700784" cy="36576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DRIVE Thor 自动驾驶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4009644"/>
            <a:ext cx="457200" cy="32004"/>
          </a:xfrm>
          <a:prstGeom prst="rect">
            <a:avLst/>
          </a:prstGeom>
          <a:solidFill>
            <a:srgbClr val="7E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3170682"/>
            <a:ext cx="2103120" cy="1405890"/>
          </a:xfrm>
          <a:prstGeom prst="roundRect">
            <a:avLst>
              <a:gd name="adj" fmla="val 78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0256" y="3390137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B18"/>
          </a:solidFill>
          <a:ln w="2032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3509009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23760" y="3408426"/>
            <a:ext cx="1097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软件生态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4119372"/>
            <a:ext cx="1700784" cy="365760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CUDA · AI Enterprise · NIM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0256" y="4009644"/>
            <a:ext cx="457200" cy="32004"/>
          </a:xfrm>
          <a:prstGeom prst="rect">
            <a:avLst/>
          </a:prstGeom>
          <a:solidFill>
            <a:srgbClr val="4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09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数据中心 /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交付的不是芯片，而是整座「AI 工厂」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10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1508759"/>
            <a:ext cx="4010600" cy="638937"/>
          </a:xfrm>
          <a:prstGeom prst="roundRect">
            <a:avLst>
              <a:gd name="adj" fmla="val 17173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18487"/>
            <a:ext cx="82296" cy="419481"/>
          </a:xfrm>
          <a:prstGeom prst="roundRect">
            <a:avLst>
              <a:gd name="adj" fmla="val 44444"/>
            </a:avLst>
          </a:prstGeom>
          <a:solidFill>
            <a:srgbClr val="4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600199"/>
            <a:ext cx="137160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软件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600199"/>
            <a:ext cx="245612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CUDA · AI Enterprise · NIM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94001"/>
            <a:ext cx="4010600" cy="638937"/>
          </a:xfrm>
          <a:prstGeom prst="roundRect">
            <a:avLst>
              <a:gd name="adj" fmla="val 17173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403729"/>
            <a:ext cx="82296" cy="419481"/>
          </a:xfrm>
          <a:prstGeom prst="roundRect">
            <a:avLst>
              <a:gd name="adj" fmla="val 44444"/>
            </a:avLst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85441"/>
            <a:ext cx="137160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385441"/>
            <a:ext cx="245612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NVLink · InfiniBand · Spectrum-X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79241"/>
            <a:ext cx="4010600" cy="638937"/>
          </a:xfrm>
          <a:prstGeom prst="roundRect">
            <a:avLst>
              <a:gd name="adj" fmla="val 17173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188970"/>
            <a:ext cx="82296" cy="419481"/>
          </a:xfrm>
          <a:prstGeom prst="roundRect">
            <a:avLst>
              <a:gd name="adj" fmla="val 44444"/>
            </a:avLst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0682"/>
            <a:ext cx="137160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170682"/>
            <a:ext cx="245612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GB300 NVL72 机架 · DGX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64483"/>
            <a:ext cx="4010600" cy="638937"/>
          </a:xfrm>
          <a:prstGeom prst="roundRect">
            <a:avLst>
              <a:gd name="adj" fmla="val 17173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974211"/>
            <a:ext cx="82296" cy="419481"/>
          </a:xfrm>
          <a:prstGeom prst="roundRect">
            <a:avLst>
              <a:gd name="adj" fmla="val 44444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5923"/>
            <a:ext cx="137160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芯片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55923"/>
            <a:ext cx="2456120" cy="45605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Blackwell · Hopper · Rubin(路线图)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21707"/>
            <a:ext cx="4010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A64"/>
                </a:solidFill>
                <a:latin typeface="Hiragino Sans GB"/>
                <a:ea typeface="Hiragino Sans GB"/>
              </a:rPr>
              <a:t>四层自上而下构成一体化 AI 计算平台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6440" y="1609343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2472" y="1508759"/>
            <a:ext cx="323144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当前旗舰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Blackwell Ultra — GB300 NVL72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6440" y="2176272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2472" y="2075688"/>
            <a:ext cx="323144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在售上代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Hopper H100 / H200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6440" y="2743200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2472" y="2642616"/>
            <a:ext cx="323144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路线图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Vera Rubin，规划于 2026 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6440" y="3310128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2472" y="3209544"/>
            <a:ext cx="323144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网络创纪录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最新季度约 $110 亿，同比暴涨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16440" y="3877055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2472" y="3776472"/>
            <a:ext cx="323144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CEO 口径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至 2026 年底 AI 芯片订单 $5000 亿+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10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其他业务 / BEYOND 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数据中心之外，三条增长曲线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11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1554479"/>
            <a:ext cx="2377440" cy="2948940"/>
          </a:xfrm>
          <a:prstGeom prst="roundRect">
            <a:avLst>
              <a:gd name="adj" fmla="val 4615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828799"/>
            <a:ext cx="566928" cy="566928"/>
          </a:xfrm>
          <a:prstGeom prst="roundRect">
            <a:avLst>
              <a:gd name="adj" fmla="val 24000"/>
            </a:avLst>
          </a:prstGeom>
          <a:gradFill>
            <a:gsLst>
              <a:gs pos="100000">
                <a:srgbClr val="200">
                  <a:alpha val="100000"/>
                </a:srgbClr>
              </a:gs>
              <a:gs pos="100000">
                <a:srgbClr val="32">
                  <a:alpha val="10000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1976201"/>
            <a:ext cx="272125" cy="27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257860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AF0EC"/>
                </a:solidFill>
                <a:latin typeface="Hiragino Sans GB"/>
                <a:ea typeface="Hiragino Sans GB"/>
              </a:rPr>
              <a:t>游戏 GeForce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1"/>
            <a:ext cx="186537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C8E0"/>
                </a:solidFill>
                <a:latin typeface="Hiragino Sans GB"/>
                <a:ea typeface="Hiragino Sans GB"/>
              </a:rPr>
              <a:t>$16.0B · +41%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255263"/>
            <a:ext cx="1865376" cy="12801"/>
          </a:xfrm>
          <a:prstGeom prst="rect">
            <a:avLst/>
          </a:prstGeom>
          <a:solidFill>
            <a:srgbClr val="2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483863"/>
            <a:ext cx="91440" cy="36576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92424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RTX 50 系列（Blackwell）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67912"/>
            <a:ext cx="91440" cy="36576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76472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RTX 5090：32GB GDDR7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51960"/>
            <a:ext cx="91440" cy="36576"/>
          </a:xfrm>
          <a:prstGeom prst="rect">
            <a:avLst/>
          </a:prstGeom>
          <a:solidFill>
            <a:srgbClr val="5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60520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DLSS 4 多帧生成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554479"/>
            <a:ext cx="2377440" cy="2948940"/>
          </a:xfrm>
          <a:prstGeom prst="roundRect">
            <a:avLst>
              <a:gd name="adj" fmla="val 4615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9312" y="1828799"/>
            <a:ext cx="566928" cy="566928"/>
          </a:xfrm>
          <a:prstGeom prst="roundRect">
            <a:avLst>
              <a:gd name="adj" fmla="val 24000"/>
            </a:avLst>
          </a:prstGeom>
          <a:gradFill>
            <a:gsLst>
              <a:gs pos="100000">
                <a:srgbClr val="156">
                  <a:alpha val="100000"/>
                </a:srgbClr>
              </a:gs>
              <a:gs pos="100000">
                <a:srgbClr val="32">
                  <a:alpha val="10000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713" y="1976201"/>
            <a:ext cx="272125" cy="2721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39312" y="257860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AF0EC"/>
                </a:solidFill>
                <a:latin typeface="Hiragino Sans GB"/>
                <a:ea typeface="Hiragino Sans GB"/>
              </a:rPr>
              <a:t>汽车 DRIVE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2907791"/>
            <a:ext cx="186537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E9CE0"/>
                </a:solidFill>
                <a:latin typeface="Hiragino Sans GB"/>
                <a:ea typeface="Hiragino Sans GB"/>
              </a:rPr>
              <a:t>并入「汽车与机器人」$2.3B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9312" y="3255263"/>
            <a:ext cx="1865376" cy="12801"/>
          </a:xfrm>
          <a:prstGeom prst="rect">
            <a:avLst/>
          </a:prstGeom>
          <a:solidFill>
            <a:srgbClr val="2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483863"/>
            <a:ext cx="91440" cy="36576"/>
          </a:xfrm>
          <a:prstGeom prst="rect">
            <a:avLst/>
          </a:prstGeom>
          <a:solidFill>
            <a:srgbClr val="7E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392424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DRIVE Thor 计算平台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867912"/>
            <a:ext cx="91440" cy="36576"/>
          </a:xfrm>
          <a:prstGeom prst="rect">
            <a:avLst/>
          </a:prstGeom>
          <a:solidFill>
            <a:srgbClr val="7E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776472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客户：奔驰 · 捷豹路虎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251960"/>
            <a:ext cx="91440" cy="36576"/>
          </a:xfrm>
          <a:prstGeom prst="rect">
            <a:avLst/>
          </a:prstGeom>
          <a:solidFill>
            <a:srgbClr val="7E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160520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比亚迪 · 小鹏等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554479"/>
            <a:ext cx="2377440" cy="2948940"/>
          </a:xfrm>
          <a:prstGeom prst="roundRect">
            <a:avLst>
              <a:gd name="adj" fmla="val 4615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82512" y="1828799"/>
            <a:ext cx="566928" cy="566928"/>
          </a:xfrm>
          <a:prstGeom prst="roundRect">
            <a:avLst>
              <a:gd name="adj" fmla="val 24000"/>
            </a:avLst>
          </a:prstGeom>
          <a:gradFill>
            <a:gsLst>
              <a:gs pos="100000">
                <a:srgbClr val="154">
                  <a:alpha val="100000"/>
                </a:srgbClr>
              </a:gs>
              <a:gs pos="100000">
                <a:srgbClr val="32">
                  <a:alpha val="10000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913" y="1976201"/>
            <a:ext cx="272125" cy="2721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82512" y="257860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AF0EC"/>
                </a:solidFill>
                <a:latin typeface="Hiragino Sans GB"/>
                <a:ea typeface="Hiragino Sans GB"/>
              </a:rPr>
              <a:t>机器人与边缘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907791"/>
            <a:ext cx="186537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9AE8"/>
                </a:solidFill>
                <a:latin typeface="Hiragino Sans GB"/>
                <a:ea typeface="Hiragino Sans GB"/>
              </a:rPr>
              <a:t>面向物理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255263"/>
            <a:ext cx="1865376" cy="12801"/>
          </a:xfrm>
          <a:prstGeom prst="rect">
            <a:avLst/>
          </a:prstGeom>
          <a:solidFill>
            <a:srgbClr val="2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483863"/>
            <a:ext cx="91440" cy="36576"/>
          </a:xfrm>
          <a:prstGeom prst="rect">
            <a:avLst/>
          </a:prstGeom>
          <a:solidFill>
            <a:srgbClr val="B99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392424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Jetson Thor（2025 量产）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67912"/>
            <a:ext cx="91440" cy="36576"/>
          </a:xfrm>
          <a:prstGeom prst="rect">
            <a:avLst/>
          </a:prstGeom>
          <a:solidFill>
            <a:srgbClr val="B99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776472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Isaac 机器人平台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251960"/>
            <a:ext cx="91440" cy="36576"/>
          </a:xfrm>
          <a:prstGeom prst="rect">
            <a:avLst/>
          </a:prstGeom>
          <a:solidFill>
            <a:srgbClr val="B99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160520"/>
            <a:ext cx="173736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29B"/>
                </a:solidFill>
                <a:latin typeface="Hiragino Sans GB"/>
                <a:ea typeface="Hiragino Sans GB"/>
              </a:rPr>
              <a:t>Omniverse 数字孪生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11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软件护城河 / CUDA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真正的护城河是 CUDA 软件生态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12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14400" y="1383030"/>
            <a:ext cx="3108960" cy="3108960"/>
          </a:xfrm>
          <a:prstGeom prst="ellipse">
            <a:avLst/>
          </a:prstGeom>
          <a:solidFill>
            <a:srgbClr val="DDEEB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1767078"/>
            <a:ext cx="2340864" cy="2340864"/>
          </a:xfrm>
          <a:prstGeom prst="ellipse">
            <a:avLst/>
          </a:prstGeom>
          <a:solidFill>
            <a:srgbClr val="BFDE87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82496" y="2151126"/>
            <a:ext cx="1572768" cy="1572768"/>
          </a:xfrm>
          <a:prstGeom prst="ellipse">
            <a:avLst/>
          </a:prstGeom>
          <a:solidFill>
            <a:srgbClr val="A0CF4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66544" y="2535174"/>
            <a:ext cx="804671" cy="804671"/>
          </a:xfrm>
          <a:prstGeom prst="ellipse">
            <a:avLst/>
          </a:prstGeom>
          <a:solidFill>
            <a:srgbClr val="82BF17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428750"/>
            <a:ext cx="23774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710"/>
                </a:solidFill>
                <a:latin typeface="Helvetica Neue"/>
                <a:ea typeface="Hiragino Sans GB"/>
              </a:rPr>
              <a:t>开发者生态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12798"/>
            <a:ext cx="23774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710"/>
                </a:solidFill>
                <a:latin typeface="Helvetica Neue"/>
                <a:ea typeface="Hiragino Sans GB"/>
              </a:rPr>
              <a:t>AI 平台 / 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96846"/>
            <a:ext cx="23774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710"/>
                </a:solidFill>
                <a:latin typeface="Helvetica Neue"/>
                <a:ea typeface="Hiragino Sans GB"/>
              </a:rPr>
              <a:t>加速库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91206"/>
            <a:ext cx="23774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1710"/>
                </a:solidFill>
                <a:latin typeface="Helvetica Neue"/>
                <a:ea typeface="Hiragino Sans GB"/>
              </a:rPr>
              <a:t>CUDA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63039"/>
            <a:ext cx="3840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8CC63F"/>
                </a:solidFill>
                <a:latin typeface="Helvetica Neue"/>
                <a:ea typeface="Hiragino Sans GB"/>
              </a:rPr>
              <a:t>6M+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04287"/>
            <a:ext cx="3840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29B"/>
                </a:solidFill>
                <a:latin typeface="Hiragino Sans GB"/>
                <a:ea typeface="Hiragino Sans GB"/>
              </a:rPr>
              <a:t>全球 CUDA 开发者（2025–2026）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670048"/>
            <a:ext cx="786384" cy="4114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980944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2880360"/>
            <a:ext cx="358444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二十年积累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自 2006 年起构建的库与工具链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621023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3520439"/>
            <a:ext cx="358444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高转换成本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迁移到其他硬件需重写与重调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261103"/>
            <a:ext cx="128016" cy="457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4160520"/>
            <a:ext cx="358444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EC"/>
                </a:solidFill>
                <a:latin typeface="Hiragino Sans GB"/>
                <a:ea typeface="Hiragino Sans GB"/>
              </a:rPr>
              <a:t>全栈闭环</a:t>
            </a: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  从芯片到 AI Enterprise / NIM 微服务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12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商业模式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无晶圆厂全栈 + 自我强化的增长飞轮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13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572767"/>
            <a:ext cx="3657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A6B8"/>
                </a:solidFill>
                <a:latin typeface="Hiragino Sans GB"/>
                <a:ea typeface="Hiragino Sans GB"/>
              </a:rPr>
              <a:t>价值链 · 无晶圆厂全栈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01951"/>
            <a:ext cx="1265529" cy="804672"/>
          </a:xfrm>
          <a:prstGeom prst="roundRect">
            <a:avLst>
              <a:gd name="adj" fmla="val 13636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901951"/>
            <a:ext cx="1082649" cy="8046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1710"/>
                </a:solidFill>
                <a:latin typeface="Hiragino Sans GB"/>
                <a:ea typeface="Hiragino Sans GB"/>
              </a:rPr>
              <a:t>芯片设计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9657" y="1901951"/>
            <a:ext cx="1265529" cy="804672"/>
          </a:xfrm>
          <a:prstGeom prst="roundRect">
            <a:avLst>
              <a:gd name="adj" fmla="val 13636"/>
            </a:avLst>
          </a:prstGeom>
          <a:solidFill>
            <a:srgbClr val="1A2420"/>
          </a:solidFill>
          <a:ln w="17780">
            <a:solidFill>
              <a:srgbClr val="8F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097" y="1901951"/>
            <a:ext cx="1082649" cy="8046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晶圆代工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42185" y="2304287"/>
            <a:ext cx="310896" cy="0"/>
          </a:xfrm>
          <a:prstGeom prst="line">
            <a:avLst/>
          </a:prstGeom>
          <a:ln w="25400">
            <a:solidFill>
              <a:srgbClr val="8FA6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39235" y="1901951"/>
            <a:ext cx="1265529" cy="804672"/>
          </a:xfrm>
          <a:prstGeom prst="roundRect">
            <a:avLst>
              <a:gd name="adj" fmla="val 13636"/>
            </a:avLst>
          </a:prstGeom>
          <a:solidFill>
            <a:srgbClr val="1A2420"/>
          </a:solidFill>
          <a:ln w="17780">
            <a:solidFill>
              <a:srgbClr val="8F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0675" y="1901951"/>
            <a:ext cx="1082649" cy="8046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系统与网络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1763" y="2304287"/>
            <a:ext cx="310896" cy="0"/>
          </a:xfrm>
          <a:prstGeom prst="line">
            <a:avLst/>
          </a:prstGeom>
          <a:ln w="25400">
            <a:solidFill>
              <a:srgbClr val="8FA6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88812" y="1901951"/>
            <a:ext cx="1265529" cy="804672"/>
          </a:xfrm>
          <a:prstGeom prst="roundRect">
            <a:avLst>
              <a:gd name="adj" fmla="val 13636"/>
            </a:avLst>
          </a:prstGeom>
          <a:solidFill>
            <a:srgbClr val="1A2420"/>
          </a:solidFill>
          <a:ln w="17780">
            <a:solidFill>
              <a:srgbClr val="8F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0252" y="1901951"/>
            <a:ext cx="1082649" cy="8046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软件与生态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1340" y="2304287"/>
            <a:ext cx="310896" cy="0"/>
          </a:xfrm>
          <a:prstGeom prst="line">
            <a:avLst/>
          </a:prstGeom>
          <a:ln w="25400">
            <a:solidFill>
              <a:srgbClr val="8FA6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38390" y="1901951"/>
            <a:ext cx="1265529" cy="804672"/>
          </a:xfrm>
          <a:prstGeom prst="roundRect">
            <a:avLst>
              <a:gd name="adj" fmla="val 13636"/>
            </a:avLst>
          </a:prstGeom>
          <a:solidFill>
            <a:srgbClr val="1A2420"/>
          </a:solidFill>
          <a:ln w="17780">
            <a:solidFill>
              <a:srgbClr val="8F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1901951"/>
            <a:ext cx="1082649" cy="8046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AI 工厂交付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90918" y="2304287"/>
            <a:ext cx="310896" cy="0"/>
          </a:xfrm>
          <a:prstGeom prst="line">
            <a:avLst/>
          </a:prstGeom>
          <a:ln w="25400">
            <a:solidFill>
              <a:srgbClr val="8FA6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2798063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C63F"/>
                </a:solidFill>
                <a:latin typeface="Hiragino Sans GB"/>
                <a:ea typeface="Hiragino Sans GB"/>
              </a:rPr>
              <a:t>设计与软件</a:t>
            </a:r>
            <a:r>
              <a:rPr sz="1100" b="0" i="0">
                <a:solidFill>
                  <a:srgbClr val="94A29B"/>
                </a:solidFill>
                <a:latin typeface="Hiragino Sans GB"/>
                <a:ea typeface="Hiragino Sans GB"/>
              </a:rPr>
              <a:t>自研，制造外包台积电——聚焦架构与生态，芯片设计为价值链起点（绿色）。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00399"/>
            <a:ext cx="3657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C63F"/>
                </a:solidFill>
                <a:latin typeface="Hiragino Sans GB"/>
                <a:ea typeface="Hiragino Sans GB"/>
              </a:rPr>
              <a:t>增长飞轮 · 自我强化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29583"/>
            <a:ext cx="1623060" cy="749808"/>
          </a:xfrm>
          <a:prstGeom prst="roundRect">
            <a:avLst>
              <a:gd name="adj" fmla="val 14634"/>
            </a:avLst>
          </a:prstGeom>
          <a:solidFill>
            <a:srgbClr val="1A242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529583"/>
            <a:ext cx="144018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装机规模 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20339" y="3529583"/>
            <a:ext cx="1623060" cy="749808"/>
          </a:xfrm>
          <a:prstGeom prst="roundRect">
            <a:avLst>
              <a:gd name="adj" fmla="val 14634"/>
            </a:avLst>
          </a:prstGeom>
          <a:solidFill>
            <a:srgbClr val="1A242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1779" y="3529583"/>
            <a:ext cx="144018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开发者与生态 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99715" y="3904487"/>
            <a:ext cx="384048" cy="0"/>
          </a:xfrm>
          <a:prstGeom prst="line">
            <a:avLst/>
          </a:prstGeom>
          <a:ln w="2540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00600" y="3529583"/>
            <a:ext cx="1623060" cy="749808"/>
          </a:xfrm>
          <a:prstGeom prst="roundRect">
            <a:avLst>
              <a:gd name="adj" fmla="val 14634"/>
            </a:avLst>
          </a:prstGeom>
          <a:solidFill>
            <a:srgbClr val="1A242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529583"/>
            <a:ext cx="144018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软件价值 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79976" y="3904487"/>
            <a:ext cx="384048" cy="0"/>
          </a:xfrm>
          <a:prstGeom prst="line">
            <a:avLst/>
          </a:prstGeom>
          <a:ln w="2540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80859" y="3529583"/>
            <a:ext cx="1623060" cy="749808"/>
          </a:xfrm>
          <a:prstGeom prst="roundRect">
            <a:avLst>
              <a:gd name="adj" fmla="val 14634"/>
            </a:avLst>
          </a:prstGeom>
          <a:solidFill>
            <a:srgbClr val="1A242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2299" y="3529583"/>
            <a:ext cx="144018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EC"/>
                </a:solidFill>
                <a:latin typeface="Hiragino Sans GB"/>
                <a:ea typeface="Hiragino Sans GB"/>
              </a:rPr>
              <a:t>平台优势 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60236" y="3904487"/>
            <a:ext cx="384047" cy="0"/>
          </a:xfrm>
          <a:prstGeom prst="line">
            <a:avLst/>
          </a:prstGeom>
          <a:ln w="2540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92390" y="4279392"/>
            <a:ext cx="0" cy="256032"/>
          </a:xfrm>
          <a:prstGeom prst="line">
            <a:avLst/>
          </a:prstGeom>
          <a:ln w="19050">
            <a:solidFill>
              <a:srgbClr val="8CC63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451610" y="4535424"/>
            <a:ext cx="6240780" cy="0"/>
          </a:xfrm>
          <a:prstGeom prst="line">
            <a:avLst/>
          </a:prstGeom>
          <a:ln w="19050">
            <a:solidFill>
              <a:srgbClr val="8CC63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51610" y="4279392"/>
            <a:ext cx="0" cy="256032"/>
          </a:xfrm>
          <a:prstGeom prst="line">
            <a:avLst/>
          </a:prstGeom>
          <a:ln w="19050">
            <a:solidFill>
              <a:srgbClr val="8CC63F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49039" y="4297679"/>
            <a:ext cx="16459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Hiragino Sans GB"/>
                <a:ea typeface="Hiragino Sans GB"/>
              </a:rPr>
              <a:t>更多采购 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13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竞争位置 /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AI 芯片市场一家独大，长期变量在云厂自研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14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554479"/>
            <a:ext cx="5486400" cy="31089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AI GPU / 加速器市场份额（分析师估计）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65375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1A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865375"/>
            <a:ext cx="4663440" cy="384048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65375"/>
            <a:ext cx="2194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AF0EC"/>
                </a:solidFill>
                <a:latin typeface="Helvetica Neue"/>
                <a:ea typeface="Hiragino Sans GB"/>
              </a:rPr>
              <a:t>~80–90%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50591"/>
            <a:ext cx="2377440" cy="1321308"/>
          </a:xfrm>
          <a:prstGeom prst="roundRect">
            <a:avLst>
              <a:gd name="adj" fmla="val 83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50591"/>
            <a:ext cx="2377440" cy="54864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51760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AMD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035808"/>
            <a:ext cx="1975104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A6B8"/>
                </a:solidFill>
                <a:latin typeface="Hiragino Sans GB"/>
                <a:ea typeface="Hiragino Sans GB"/>
              </a:rPr>
              <a:t>Instinct MI300 / MI350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314700"/>
            <a:ext cx="1975104" cy="40233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29B"/>
                </a:solidFill>
                <a:latin typeface="Hiragino Sans GB"/>
                <a:ea typeface="Hiragino Sans GB"/>
              </a:rPr>
              <a:t>最大商用挑战者，份额约个位数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450591"/>
            <a:ext cx="2377440" cy="1321308"/>
          </a:xfrm>
          <a:prstGeom prst="roundRect">
            <a:avLst>
              <a:gd name="adj" fmla="val 8304"/>
            </a:avLst>
          </a:prstGeom>
          <a:solidFill>
            <a:srgbClr val="1A2420"/>
          </a:solidFill>
          <a:ln w="12700">
            <a:solidFill>
              <a:srgbClr val="28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2450591"/>
            <a:ext cx="2377440" cy="54864"/>
          </a:xfrm>
          <a:prstGeom prst="rect">
            <a:avLst/>
          </a:prstGeom>
          <a:solidFill>
            <a:srgbClr val="8F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651760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3035808"/>
            <a:ext cx="1975104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A6B8"/>
                </a:solidFill>
                <a:latin typeface="Hiragino Sans GB"/>
                <a:ea typeface="Hiragino Sans GB"/>
              </a:rPr>
              <a:t>Gaudi 加速器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314700"/>
            <a:ext cx="1975104" cy="40233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29B"/>
                </a:solidFill>
                <a:latin typeface="Hiragino Sans GB"/>
                <a:ea typeface="Hiragino Sans GB"/>
              </a:rPr>
              <a:t>份额较小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450591"/>
            <a:ext cx="2377440" cy="1321308"/>
          </a:xfrm>
          <a:prstGeom prst="roundRect">
            <a:avLst>
              <a:gd name="adj" fmla="val 8304"/>
            </a:avLst>
          </a:prstGeom>
          <a:solidFill>
            <a:srgbClr val="1A2420"/>
          </a:solidFill>
          <a:ln w="12700">
            <a:solidFill>
              <a:srgbClr val="3A3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450591"/>
            <a:ext cx="2377440" cy="54864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651760"/>
            <a:ext cx="197510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EC"/>
                </a:solidFill>
                <a:latin typeface="Hiragino Sans GB"/>
                <a:ea typeface="Hiragino Sans GB"/>
              </a:rPr>
              <a:t>云厂自研 ASIC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035808"/>
            <a:ext cx="1975104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94A"/>
                </a:solidFill>
                <a:latin typeface="Hiragino Sans GB"/>
                <a:ea typeface="Hiragino Sans GB"/>
              </a:rPr>
              <a:t>TPU · Trainium · Maia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314700"/>
            <a:ext cx="1975104" cy="40233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29B"/>
                </a:solidFill>
                <a:latin typeface="Hiragino Sans GB"/>
                <a:ea typeface="Hiragino Sans GB"/>
              </a:rPr>
              <a:t>长期最大变量，分流部分需求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36491"/>
            <a:ext cx="7863840" cy="621792"/>
          </a:xfrm>
          <a:prstGeom prst="roundRect">
            <a:avLst>
              <a:gd name="adj" fmla="val 17647"/>
            </a:avLst>
          </a:prstGeom>
          <a:solidFill>
            <a:srgbClr val="11201A"/>
          </a:solidFill>
          <a:ln w="12700">
            <a:solidFill>
              <a:srgbClr val="2C4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046220"/>
            <a:ext cx="64008" cy="402336"/>
          </a:xfrm>
          <a:prstGeom prst="roundRect">
            <a:avLst>
              <a:gd name="adj" fmla="val 42857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36491"/>
            <a:ext cx="7315200" cy="6217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C63F"/>
                </a:solidFill>
                <a:latin typeface="Menlo"/>
                <a:ea typeface="Hiragino Sans GB"/>
              </a:rPr>
              <a:t>护城河    </a:t>
            </a:r>
            <a:r>
              <a:rPr sz="1250" b="0" i="0">
                <a:solidFill>
                  <a:srgbClr val="EAF0EC"/>
                </a:solidFill>
                <a:latin typeface="Hiragino Sans GB"/>
                <a:ea typeface="Hiragino Sans GB"/>
              </a:rPr>
              <a:t>领先来自 CUDA 全栈生态与系统级整合，而非单颗芯片；份额为第三方估计，NVIDIA 未公布官方数字。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// </a:t>
            </a:r>
            <a:r>
              <a:rPr sz="1050" b="1" i="0">
                <a:solidFill>
                  <a:srgbClr val="8CC63F"/>
                </a:solidFill>
                <a:latin typeface="Menlo"/>
                <a:ea typeface="Hiragino Sans GB"/>
              </a:rPr>
              <a:t>14</a:t>
            </a:r>
            <a:r>
              <a:rPr sz="1050" b="0" i="0">
                <a:solidFill>
                  <a:srgbClr val="94A29B"/>
                </a:solidFill>
                <a:latin typeface="Menlo"/>
                <a:ea typeface="Hiragino Sans GB"/>
              </a:rPr>
              <a:t>   ·   风险与挑战 /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73152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F0EC"/>
                </a:solidFill>
                <a:latin typeface="Hiragino Sans GB"/>
                <a:ea typeface="Hiragino Sans GB"/>
              </a:rPr>
              <a:t>高速增长背后的四道现实挑战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52143"/>
            <a:ext cx="786384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741164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7740"/>
            <a:ext cx="4114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A64"/>
                </a:solidFill>
                <a:latin typeface="Menlo"/>
                <a:ea typeface="Hiragino Sans GB"/>
              </a:rPr>
              <a:t>NVIDIA 公司与产品概览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77740"/>
            <a:ext cx="914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29B"/>
                </a:solidFill>
                <a:latin typeface="Menlo"/>
                <a:ea typeface="Hiragino Sans GB"/>
              </a:rPr>
              <a:t>15 / 16</a:t>
            </a:r>
          </a:p>
        </p:txBody>
      </p:sp>
      <p:pic>
        <p:nvPicPr>
          <p:cNvPr id="9" name="Picture 8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28" y="384048"/>
            <a:ext cx="661623" cy="182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1591627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1E1A10"/>
          </a:solidFill>
          <a:ln w="20320">
            <a:solidFill>
              <a:srgbClr val="4A3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6" y="1724764"/>
            <a:ext cx="245790" cy="2457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1572767"/>
            <a:ext cx="2834640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EC"/>
                </a:solidFill>
                <a:latin typeface="Hiragino Sans GB"/>
                <a:ea typeface="Hiragino Sans GB"/>
              </a:rPr>
              <a:t>中国与出口管制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78365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2816" y="178365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2" y="178365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572767"/>
            <a:ext cx="3566159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29B"/>
                </a:solidFill>
                <a:latin typeface="Hiragino Sans GB"/>
                <a:ea typeface="Hiragino Sans GB"/>
              </a:rPr>
              <a:t>H20 芯片减记 $45 亿，数据中心对华收入近乎归零；受出口管制影响最直接。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13990"/>
            <a:ext cx="7863840" cy="10972"/>
          </a:xfrm>
          <a:prstGeom prst="rect">
            <a:avLst/>
          </a:prstGeom>
          <a:solidFill>
            <a:srgbClr val="24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32429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1E1A10"/>
          </a:solidFill>
          <a:ln w="20320">
            <a:solidFill>
              <a:srgbClr val="4A3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s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6" y="2457427"/>
            <a:ext cx="245790" cy="2457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2305431"/>
            <a:ext cx="2834640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EC"/>
                </a:solidFill>
                <a:latin typeface="Hiragino Sans GB"/>
                <a:ea typeface="Hiragino Sans GB"/>
              </a:rPr>
              <a:t>客户高度集中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51631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42816" y="251631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251631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A3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305431"/>
            <a:ext cx="3566159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29B"/>
                </a:solidFill>
                <a:latin typeface="Hiragino Sans GB"/>
                <a:ea typeface="Hiragino Sans GB"/>
              </a:rPr>
              <a:t>少数超大规模云厂贡献了大部分数据中心营收，需求波动敏感。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46653"/>
            <a:ext cx="7863840" cy="10972"/>
          </a:xfrm>
          <a:prstGeom prst="rect">
            <a:avLst/>
          </a:prstGeom>
          <a:solidFill>
            <a:srgbClr val="24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056953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1E1A10"/>
          </a:solidFill>
          <a:ln w="20320">
            <a:solidFill>
              <a:srgbClr val="4A3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pu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16" y="3190090"/>
            <a:ext cx="245790" cy="2457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3038094"/>
            <a:ext cx="2834640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EC"/>
                </a:solidFill>
                <a:latin typeface="Hiragino Sans GB"/>
                <a:ea typeface="Hiragino Sans GB"/>
              </a:rPr>
              <a:t>自研芯片竞争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324897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42816" y="324897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2272" y="324897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A3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038094"/>
            <a:ext cx="3566159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29B"/>
                </a:solidFill>
                <a:latin typeface="Hiragino Sans GB"/>
                <a:ea typeface="Hiragino Sans GB"/>
              </a:rPr>
              <a:t>Google TPU / AWS Trainium / Microsoft Maia 等长期分流部分需求。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679316"/>
            <a:ext cx="7863840" cy="10972"/>
          </a:xfrm>
          <a:prstGeom prst="rect">
            <a:avLst/>
          </a:prstGeom>
          <a:solidFill>
            <a:srgbClr val="24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378961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1E1A10"/>
          </a:solidFill>
          <a:ln w="20320">
            <a:solidFill>
              <a:srgbClr val="4A3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op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216" y="3922753"/>
            <a:ext cx="245790" cy="2457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3770756"/>
            <a:ext cx="2834640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EC"/>
                </a:solidFill>
                <a:latin typeface="Hiragino Sans GB"/>
                <a:ea typeface="Hiragino Sans GB"/>
              </a:rPr>
              <a:t>AI 资本开支周期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39816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42816" y="39816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62272" y="39816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A3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3770756"/>
            <a:ext cx="3566159" cy="54978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29B"/>
                </a:solidFill>
                <a:latin typeface="Hiragino Sans GB"/>
                <a:ea typeface="Hiragino Sans GB"/>
              </a:rPr>
              <a:t>若行业需求正常化，或引发「AI 泡沫」与资本开支回落担忧。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75403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A64"/>
                </a:solidFill>
                <a:latin typeface="Hiragino Sans GB"/>
                <a:ea typeface="Hiragino Sans GB"/>
              </a:rPr>
              <a:t>● 强度为定性判断（琥珀点越多越突出），非量化评级。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0"/>
            <a:ext cx="10972" cy="5143500"/>
          </a:xfrm>
          <a:prstGeom prst="rect">
            <a:avLst/>
          </a:prstGeom>
          <a:solidFill>
            <a:srgbClr val="10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79394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C63F"/>
                </a:solidFill>
                <a:latin typeface="Menlo"/>
                <a:ea typeface="Hiragino Sans GB"/>
              </a:rPr>
              <a:t>小结 /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EC"/>
                </a:solidFill>
                <a:latin typeface="Hiragino Sans GB"/>
                <a:ea typeface="Hiragino Sans GB"/>
              </a:rPr>
              <a:t>从图形芯片，到全球 AI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CC63F"/>
                </a:solidFill>
                <a:latin typeface="Hiragino Sans GB"/>
                <a:ea typeface="Hiragino Sans GB"/>
              </a:rPr>
              <a:t>基础设施的中枢。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24912"/>
            <a:ext cx="128016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26080"/>
            <a:ext cx="76809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29B"/>
                </a:solidFill>
                <a:latin typeface="Hiragino Sans GB"/>
                <a:ea typeface="Hiragino Sans GB"/>
              </a:rPr>
              <a:t>全栈平台 × CUDA 生态飞轮，支撑 ~90% 数据中心营收与全球第一市值；变量在于出口管制、客户集中与云厂自研芯片。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39312"/>
            <a:ext cx="7863840" cy="10972"/>
          </a:xfrm>
          <a:prstGeom prst="rect">
            <a:avLst/>
          </a:prstGeom>
          <a:solidFill>
            <a:srgbClr val="1E2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67328"/>
            <a:ext cx="2286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CC63F"/>
                </a:solidFill>
                <a:latin typeface="Menlo"/>
                <a:ea typeface="Hiragino Sans GB"/>
              </a:rPr>
              <a:t>数据来源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01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NVIDIA 投资者关系 / 新闻稿：FY2026 全年及 Q1 FY2027 财报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02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SEC 10-K / 10-Q / 8-K 文件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608576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03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CNBC · Reuters · Forbes：$5 万亿市值里程碑（2025-10-29）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023360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04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Al Jazeera · CNBC：$4 万亿（2025-07-09）；S&amp;P Global：纳入道指（2024-11）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315968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05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NVIDIA 开发者 / 产品页：CUDA · Blackwell · DRIVE · Omniverse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608576"/>
            <a:ext cx="374903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CC63F"/>
                </a:solidFill>
                <a:latin typeface="Menlo"/>
                <a:ea typeface="Hiragino Sans GB"/>
              </a:rPr>
              <a:t>06  </a:t>
            </a:r>
            <a:r>
              <a:rPr sz="850" b="0" i="0">
                <a:solidFill>
                  <a:srgbClr val="94A29B"/>
                </a:solidFill>
                <a:latin typeface="Hiragino Sans GB"/>
                <a:ea typeface="Hiragino Sans GB"/>
              </a:rPr>
              <a:t>AI GPU 市场份额为第三方分析师估计，非 NVIDIA 官方数字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41164"/>
            <a:ext cx="2286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A64"/>
                </a:solidFill>
                <a:latin typeface="Menlo"/>
                <a:ea typeface="Hiragino Sans GB"/>
              </a:rPr>
              <a:t>截至 2026 年 7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