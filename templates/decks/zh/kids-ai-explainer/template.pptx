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3F72235-69F0-4A9B-BBD9-B5FAA00CD4C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开场：小朋友们好！今天我们要认识一个新朋友，它叫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。先别急着记定义，我们一起玩着搞懂它。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0CA1EBB-7BEE-4BDD-953A-9E5AF29DE53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先看看今天要去的五站：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藏在哪、它怎么学习、它会什么又不会什么、我们怎么和它相处、还有安全小提醒。跟着小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出发吧！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96C9668-81FB-49E9-BDFC-6CCE872D587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问问同学们：早上到现在，你用过哪些东西？语音音箱、刷的短视频、拍照、翻译、游戏、地图——这些背后都有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。它其实离我们很近。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D80816C-D0EC-4F15-AA96-903EFA18B19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那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到底是什么？它是一种电脑程序，不像计算器只会算固定的题；它能看很多例子，自己找规律，学会一项本领。记住这三步：看例子、找规律、学本领。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5C5E2C3-A765-43E6-9FE9-8AE29AA70F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打个比方：你小时候是怎么认识‘猫’的？是看了好多好多猫，慢慢记住了猫的样子。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也一样，看成千上万张猫的照片，自己学会认猫。没人告诉它猫有胡须和尾巴哦。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0DD9432-AA68-4D35-9B28-95616D4A02C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而且它会‘练习’：先猜一猜，有人告诉它对不对，它就改一改，再来一次。就像学骑自行车，练得越多越稳。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练得越多，也就越准。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EB4EEAA-CCC4-4E03-B7D8-8533E3FBC83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有很多超能力：记性特别好、算得飞快、重复一万遍也不累、还能在一大堆东西里找出相似的规律。这些它比我们厉害多啦。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B560DAC-8D65-4C43-8733-19FF2B8C443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但是它也有短板：它会犯错，还会很有把握地说错话——比如‘恐龙住在南极’，说得像真的一样，其实是编的。所以它说的话，我们要自己动脑想一想。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EC3452-2D33-4AF0-8495-397871749DB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怎么和它相处呢？第一，把问题说清楚；第二，答案自己检查；第三，拿不准就问老师和爸妈；第四，你才是小主人，最后由你来做决定。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A50C60-B615-4862-A1CF-BA6E9A4DA54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安全最重要：可以用它查资料、练英语、找灵感；但别把真名、家住哪、密码告诉它；遇到不舒服的内容，马上告诉大人；重要的事别一个人偷偷决定。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32BC54F-44F0-4B0F-AD9C-61CC9DED5B4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我们把今天串一串：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住在生活里、靠例子学习、很能干但也会错、要当好帮手你来做主、还要护好自己的小秘密。你都学会啦！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8FAAA4E-9D21-4911-A178-9E9E08DF085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最后送大家一句话：工具再聪明，做决定的还是你。带着好奇心，去发现更多有意思的事情吧！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AC28CBD-4E95-4B77-8B53-56439D68291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179F4C-7873-478D-B354-221E810DAD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EFA17B-DEAD-4B25-8E9E-01DA65BC23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3F140F-53DA-4B21-9357-4423F0F60A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5E805B-7B3A-4938-8A0A-DC82D69B0A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A9627A-454D-48C5-BD0B-C7BFE59B00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04B484-3F0A-4DFB-A0F7-620D4001D9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4A1A9E-C678-4351-A430-43CEE12F70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F3E8A0-B601-41F8-9545-F9130A74CB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A488B4-7856-40F8-89DC-39394CC4F6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17616E-225F-4B51-AAA0-8069B27969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4954A9-D91F-4170-B2D5-D4A7596048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image" Target="../media/image14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5.png"/><Relationship Id="rId9" Type="http://schemas.openxmlformats.org/officeDocument/2006/relationships/image" Target="../media/image15.png"/><Relationship Id="rId10" Type="http://schemas.openxmlformats.org/officeDocument/2006/relationships/image" Target="../media/image15.png"/><Relationship Id="rId11" Type="http://schemas.openxmlformats.org/officeDocument/2006/relationships/image" Target="../media/image15.png"/><Relationship Id="rId12" Type="http://schemas.openxmlformats.org/officeDocument/2006/relationships/image" Target="../media/image15.png"/><Relationship Id="rId13" Type="http://schemas.openxmlformats.org/officeDocument/2006/relationships/image" Target="../media/image15.png"/><Relationship Id="rId14" Type="http://schemas.openxmlformats.org/officeDocument/2006/relationships/image" Target="../media/image15.png"/><Relationship Id="rId15" Type="http://schemas.openxmlformats.org/officeDocument/2006/relationships/slideLayout" Target="../slideLayouts/slideLayout9.xml"/><Relationship Id="rId1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5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image" Target="../media/image24.png"/><Relationship Id="rId6" Type="http://schemas.openxmlformats.org/officeDocument/2006/relationships/image" Target="../media/image24.png"/><Relationship Id="rId7" Type="http://schemas.openxmlformats.org/officeDocument/2006/relationships/image" Target="../media/image24.png"/><Relationship Id="rId8" Type="http://schemas.openxmlformats.org/officeDocument/2006/relationships/image" Target="../media/image24.pn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Sun 2"/>
          <p:cNvSpPr/>
          <p:nvPr/>
        </p:nvSpPr>
        <p:spPr>
          <a:xfrm>
            <a:off x="594360" y="411480"/>
            <a:ext cx="914040" cy="91404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Cloud 3"/>
          <p:cNvSpPr/>
          <p:nvPr/>
        </p:nvSpPr>
        <p:spPr>
          <a:xfrm>
            <a:off x="5669280" y="502920"/>
            <a:ext cx="1554120" cy="868320"/>
          </a:xfrm>
          <a:prstGeom prst="cloud">
            <a:avLst/>
          </a:prstGeom>
          <a:solidFill>
            <a:srgbClr val="FFFFFF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Cloud 4"/>
          <p:cNvSpPr/>
          <p:nvPr/>
        </p:nvSpPr>
        <p:spPr>
          <a:xfrm>
            <a:off x="7680960" y="1371600"/>
            <a:ext cx="1371240" cy="776880"/>
          </a:xfrm>
          <a:prstGeom prst="cloud">
            <a:avLst/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4-Point Star 5"/>
          <p:cNvSpPr/>
          <p:nvPr/>
        </p:nvSpPr>
        <p:spPr>
          <a:xfrm>
            <a:off x="2807280" y="338400"/>
            <a:ext cx="237240" cy="237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5-Point Star 6"/>
          <p:cNvSpPr/>
          <p:nvPr/>
        </p:nvSpPr>
        <p:spPr>
          <a:xfrm>
            <a:off x="4069080" y="685800"/>
            <a:ext cx="273960" cy="2739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Heart 7"/>
          <p:cNvSpPr/>
          <p:nvPr/>
        </p:nvSpPr>
        <p:spPr>
          <a:xfrm>
            <a:off x="8275320" y="50292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Oval 8"/>
          <p:cNvSpPr/>
          <p:nvPr/>
        </p:nvSpPr>
        <p:spPr>
          <a:xfrm>
            <a:off x="2121480" y="148140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4-Point Star 9"/>
          <p:cNvSpPr/>
          <p:nvPr/>
        </p:nvSpPr>
        <p:spPr>
          <a:xfrm>
            <a:off x="5029200" y="2743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Rounded Rectangle 11"/>
          <p:cNvSpPr/>
          <p:nvPr/>
        </p:nvSpPr>
        <p:spPr>
          <a:xfrm>
            <a:off x="6839280" y="1720440"/>
            <a:ext cx="128520" cy="6444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Oval 12"/>
          <p:cNvSpPr/>
          <p:nvPr/>
        </p:nvSpPr>
        <p:spPr>
          <a:xfrm>
            <a:off x="6710400" y="1483920"/>
            <a:ext cx="386280" cy="3862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4-Point Star 13"/>
          <p:cNvSpPr/>
          <p:nvPr/>
        </p:nvSpPr>
        <p:spPr>
          <a:xfrm>
            <a:off x="6796440" y="1569960"/>
            <a:ext cx="214560" cy="21456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14"/>
          <p:cNvSpPr/>
          <p:nvPr/>
        </p:nvSpPr>
        <p:spPr>
          <a:xfrm>
            <a:off x="567900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Rounded Rectangle 15"/>
          <p:cNvSpPr/>
          <p:nvPr/>
        </p:nvSpPr>
        <p:spPr>
          <a:xfrm>
            <a:off x="7935120" y="3009600"/>
            <a:ext cx="192960" cy="4723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16"/>
          <p:cNvSpPr/>
          <p:nvPr/>
        </p:nvSpPr>
        <p:spPr>
          <a:xfrm>
            <a:off x="5829480" y="2322000"/>
            <a:ext cx="2148480" cy="18475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Rounded Rectangle 17"/>
          <p:cNvSpPr/>
          <p:nvPr/>
        </p:nvSpPr>
        <p:spPr>
          <a:xfrm>
            <a:off x="6087240" y="2716200"/>
            <a:ext cx="1632600" cy="1145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Oval 18"/>
          <p:cNvSpPr/>
          <p:nvPr/>
        </p:nvSpPr>
        <p:spPr>
          <a:xfrm>
            <a:off x="639936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Oval 19"/>
          <p:cNvSpPr/>
          <p:nvPr/>
        </p:nvSpPr>
        <p:spPr>
          <a:xfrm>
            <a:off x="648072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Oval 20"/>
          <p:cNvSpPr/>
          <p:nvPr/>
        </p:nvSpPr>
        <p:spPr>
          <a:xfrm>
            <a:off x="646596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Oval 21"/>
          <p:cNvSpPr/>
          <p:nvPr/>
        </p:nvSpPr>
        <p:spPr>
          <a:xfrm>
            <a:off x="7117920" y="3052440"/>
            <a:ext cx="289800" cy="2898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Oval 22"/>
          <p:cNvSpPr/>
          <p:nvPr/>
        </p:nvSpPr>
        <p:spPr>
          <a:xfrm>
            <a:off x="7199280" y="3151080"/>
            <a:ext cx="127440" cy="127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Oval 23"/>
          <p:cNvSpPr/>
          <p:nvPr/>
        </p:nvSpPr>
        <p:spPr>
          <a:xfrm>
            <a:off x="7184520" y="3119040"/>
            <a:ext cx="63360" cy="633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Oval 24"/>
          <p:cNvSpPr/>
          <p:nvPr/>
        </p:nvSpPr>
        <p:spPr>
          <a:xfrm>
            <a:off x="636840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Oval 25"/>
          <p:cNvSpPr/>
          <p:nvPr/>
        </p:nvSpPr>
        <p:spPr>
          <a:xfrm>
            <a:off x="7202880" y="3354840"/>
            <a:ext cx="236160" cy="236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Arc 26"/>
          <p:cNvSpPr/>
          <p:nvPr/>
        </p:nvSpPr>
        <p:spPr>
          <a:xfrm>
            <a:off x="6581520" y="3202920"/>
            <a:ext cx="644400" cy="6444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9550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ounded Rectangle 27"/>
          <p:cNvSpPr/>
          <p:nvPr/>
        </p:nvSpPr>
        <p:spPr>
          <a:xfrm>
            <a:off x="6151680" y="4127040"/>
            <a:ext cx="1503720" cy="9021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28"/>
          <p:cNvSpPr/>
          <p:nvPr/>
        </p:nvSpPr>
        <p:spPr>
          <a:xfrm rot="20400000">
            <a:off x="5807520" y="416988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ounded Rectangle 29"/>
          <p:cNvSpPr/>
          <p:nvPr/>
        </p:nvSpPr>
        <p:spPr>
          <a:xfrm rot="2700000">
            <a:off x="7548120" y="3783240"/>
            <a:ext cx="429480" cy="1929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4-Point Star 30"/>
          <p:cNvSpPr/>
          <p:nvPr/>
        </p:nvSpPr>
        <p:spPr>
          <a:xfrm>
            <a:off x="5706000" y="2185560"/>
            <a:ext cx="200880" cy="20088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ounded Rectangle 31"/>
          <p:cNvSpPr/>
          <p:nvPr/>
        </p:nvSpPr>
        <p:spPr>
          <a:xfrm>
            <a:off x="713160" y="1847160"/>
            <a:ext cx="2651400" cy="4568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13160" y="1847160"/>
            <a:ext cx="2651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C0453B"/>
                </a:solidFill>
                <a:effectLst/>
                <a:uFillTx/>
                <a:latin typeface="Arial Rounded MT Bold"/>
                <a:ea typeface="Hiragino Sans GB"/>
              </a:rPr>
              <a:t>写给小朋友的第一堂课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3"/>
          <p:cNvSpPr/>
          <p:nvPr/>
        </p:nvSpPr>
        <p:spPr>
          <a:xfrm>
            <a:off x="640080" y="2395800"/>
            <a:ext cx="5668920" cy="118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62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什么是 </a:t>
            </a:r>
            <a:r>
              <a:rPr lang="en-US" sz="62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</a:t>
            </a:r>
            <a:r>
              <a:rPr lang="zh-CN" sz="62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？</a:t>
            </a:r>
            <a:endParaRPr lang="en-US" sz="6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4"/>
          <p:cNvSpPr/>
          <p:nvPr/>
        </p:nvSpPr>
        <p:spPr>
          <a:xfrm>
            <a:off x="749880" y="361188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zh-CN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一起认识我们身边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zh-CN" sz="18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这个聪明的小帮手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</a:t>
            </a:r>
            <a:r>
              <a:rPr lang="zh-CN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示例模板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567000" y="457200"/>
            <a:ext cx="109692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1005840" y="45720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出发啦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今天的 </a:t>
            </a: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探险地图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585360" y="162756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</a:pPr>
            <a:r>
              <a:rPr lang="zh-CN" sz="14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跟着小 </a:t>
            </a:r>
            <a:r>
              <a:rPr lang="en-US" sz="14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AI</a:t>
            </a:r>
            <a:r>
              <a:rPr lang="zh-CN" sz="14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，一站一站往前走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Oval 12"/>
          <p:cNvSpPr/>
          <p:nvPr/>
        </p:nvSpPr>
        <p:spPr>
          <a:xfrm>
            <a:off x="18061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Oval 13"/>
          <p:cNvSpPr/>
          <p:nvPr/>
        </p:nvSpPr>
        <p:spPr>
          <a:xfrm>
            <a:off x="201456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Oval 14"/>
          <p:cNvSpPr/>
          <p:nvPr/>
        </p:nvSpPr>
        <p:spPr>
          <a:xfrm>
            <a:off x="222300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Oval 15"/>
          <p:cNvSpPr/>
          <p:nvPr/>
        </p:nvSpPr>
        <p:spPr>
          <a:xfrm>
            <a:off x="24314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Oval 16"/>
          <p:cNvSpPr/>
          <p:nvPr/>
        </p:nvSpPr>
        <p:spPr>
          <a:xfrm>
            <a:off x="26398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Oval 17"/>
          <p:cNvSpPr/>
          <p:nvPr/>
        </p:nvSpPr>
        <p:spPr>
          <a:xfrm>
            <a:off x="28483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Oval 18"/>
          <p:cNvSpPr/>
          <p:nvPr/>
        </p:nvSpPr>
        <p:spPr>
          <a:xfrm>
            <a:off x="33606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Oval 19"/>
          <p:cNvSpPr/>
          <p:nvPr/>
        </p:nvSpPr>
        <p:spPr>
          <a:xfrm>
            <a:off x="357804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Oval 20"/>
          <p:cNvSpPr/>
          <p:nvPr/>
        </p:nvSpPr>
        <p:spPr>
          <a:xfrm>
            <a:off x="379584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Oval 21"/>
          <p:cNvSpPr/>
          <p:nvPr/>
        </p:nvSpPr>
        <p:spPr>
          <a:xfrm>
            <a:off x="401328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Oval 22"/>
          <p:cNvSpPr/>
          <p:nvPr/>
        </p:nvSpPr>
        <p:spPr>
          <a:xfrm>
            <a:off x="42310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Oval 23"/>
          <p:cNvSpPr/>
          <p:nvPr/>
        </p:nvSpPr>
        <p:spPr>
          <a:xfrm>
            <a:off x="444852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Oval 24"/>
          <p:cNvSpPr/>
          <p:nvPr/>
        </p:nvSpPr>
        <p:spPr>
          <a:xfrm>
            <a:off x="496080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Oval 25"/>
          <p:cNvSpPr/>
          <p:nvPr/>
        </p:nvSpPr>
        <p:spPr>
          <a:xfrm>
            <a:off x="517824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Oval 26"/>
          <p:cNvSpPr/>
          <p:nvPr/>
        </p:nvSpPr>
        <p:spPr>
          <a:xfrm>
            <a:off x="53960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Oval 27"/>
          <p:cNvSpPr/>
          <p:nvPr/>
        </p:nvSpPr>
        <p:spPr>
          <a:xfrm>
            <a:off x="561348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Oval 28"/>
          <p:cNvSpPr/>
          <p:nvPr/>
        </p:nvSpPr>
        <p:spPr>
          <a:xfrm>
            <a:off x="58312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Oval 29"/>
          <p:cNvSpPr/>
          <p:nvPr/>
        </p:nvSpPr>
        <p:spPr>
          <a:xfrm>
            <a:off x="604872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Oval 30"/>
          <p:cNvSpPr/>
          <p:nvPr/>
        </p:nvSpPr>
        <p:spPr>
          <a:xfrm>
            <a:off x="6561000" y="266544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Oval 31"/>
          <p:cNvSpPr/>
          <p:nvPr/>
        </p:nvSpPr>
        <p:spPr>
          <a:xfrm>
            <a:off x="6751080" y="28116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Oval 32"/>
          <p:cNvSpPr/>
          <p:nvPr/>
        </p:nvSpPr>
        <p:spPr>
          <a:xfrm>
            <a:off x="6941160" y="295812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Oval 33"/>
          <p:cNvSpPr/>
          <p:nvPr/>
        </p:nvSpPr>
        <p:spPr>
          <a:xfrm>
            <a:off x="7131240" y="310428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Oval 34"/>
          <p:cNvSpPr/>
          <p:nvPr/>
        </p:nvSpPr>
        <p:spPr>
          <a:xfrm>
            <a:off x="7321680" y="325080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Oval 35"/>
          <p:cNvSpPr/>
          <p:nvPr/>
        </p:nvSpPr>
        <p:spPr>
          <a:xfrm>
            <a:off x="7511760" y="3396960"/>
            <a:ext cx="100080" cy="100080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Oval 36"/>
          <p:cNvSpPr/>
          <p:nvPr/>
        </p:nvSpPr>
        <p:spPr>
          <a:xfrm>
            <a:off x="1179720" y="3191400"/>
            <a:ext cx="840960" cy="8409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8" name="Picture 37" descr="map-pin.png"/>
          <p:cNvPicPr/>
          <p:nvPr/>
        </p:nvPicPr>
        <p:blipFill>
          <a:blip r:embed="rId1"/>
          <a:stretch/>
        </p:blipFill>
        <p:spPr>
          <a:xfrm>
            <a:off x="139896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Oval 38"/>
          <p:cNvSpPr/>
          <p:nvPr/>
        </p:nvSpPr>
        <p:spPr>
          <a:xfrm>
            <a:off x="171000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9"/>
          <p:cNvSpPr/>
          <p:nvPr/>
        </p:nvSpPr>
        <p:spPr>
          <a:xfrm>
            <a:off x="171000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40"/>
          <p:cNvSpPr/>
          <p:nvPr/>
        </p:nvSpPr>
        <p:spPr>
          <a:xfrm>
            <a:off x="64008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藏在生活里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Oval 41"/>
          <p:cNvSpPr/>
          <p:nvPr/>
        </p:nvSpPr>
        <p:spPr>
          <a:xfrm>
            <a:off x="2734200" y="2459880"/>
            <a:ext cx="840960" cy="8409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42" descr="lightbulb.png"/>
          <p:cNvPicPr/>
          <p:nvPr/>
        </p:nvPicPr>
        <p:blipFill>
          <a:blip r:embed="rId2"/>
          <a:stretch/>
        </p:blipFill>
        <p:spPr>
          <a:xfrm>
            <a:off x="29534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Oval 43"/>
          <p:cNvSpPr/>
          <p:nvPr/>
        </p:nvSpPr>
        <p:spPr>
          <a:xfrm>
            <a:off x="32644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44"/>
          <p:cNvSpPr/>
          <p:nvPr/>
        </p:nvSpPr>
        <p:spPr>
          <a:xfrm>
            <a:off x="32644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5"/>
          <p:cNvSpPr/>
          <p:nvPr/>
        </p:nvSpPr>
        <p:spPr>
          <a:xfrm>
            <a:off x="21945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它怎么学习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Oval 46"/>
          <p:cNvSpPr/>
          <p:nvPr/>
        </p:nvSpPr>
        <p:spPr>
          <a:xfrm>
            <a:off x="4334400" y="3191400"/>
            <a:ext cx="840960" cy="840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47" descr="gauge.png"/>
          <p:cNvPicPr/>
          <p:nvPr/>
        </p:nvPicPr>
        <p:blipFill>
          <a:blip r:embed="rId3"/>
          <a:stretch/>
        </p:blipFill>
        <p:spPr>
          <a:xfrm>
            <a:off x="455364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Oval 48"/>
          <p:cNvSpPr/>
          <p:nvPr/>
        </p:nvSpPr>
        <p:spPr>
          <a:xfrm>
            <a:off x="486468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49"/>
          <p:cNvSpPr/>
          <p:nvPr/>
        </p:nvSpPr>
        <p:spPr>
          <a:xfrm>
            <a:off x="486468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50"/>
          <p:cNvSpPr/>
          <p:nvPr/>
        </p:nvSpPr>
        <p:spPr>
          <a:xfrm>
            <a:off x="379476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会什么不会什么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Oval 51"/>
          <p:cNvSpPr/>
          <p:nvPr/>
        </p:nvSpPr>
        <p:spPr>
          <a:xfrm>
            <a:off x="5934600" y="2459880"/>
            <a:ext cx="840960" cy="84096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3" name="Picture 52" descr="chat-text.png"/>
          <p:cNvPicPr/>
          <p:nvPr/>
        </p:nvPicPr>
        <p:blipFill>
          <a:blip r:embed="rId4"/>
          <a:stretch/>
        </p:blipFill>
        <p:spPr>
          <a:xfrm>
            <a:off x="6153840" y="267912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Oval 53"/>
          <p:cNvSpPr/>
          <p:nvPr/>
        </p:nvSpPr>
        <p:spPr>
          <a:xfrm>
            <a:off x="6464880" y="240480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54"/>
          <p:cNvSpPr/>
          <p:nvPr/>
        </p:nvSpPr>
        <p:spPr>
          <a:xfrm>
            <a:off x="6464880" y="2404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55"/>
          <p:cNvSpPr/>
          <p:nvPr/>
        </p:nvSpPr>
        <p:spPr>
          <a:xfrm>
            <a:off x="5394960" y="20390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怎么和它相处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56"/>
          <p:cNvSpPr/>
          <p:nvPr/>
        </p:nvSpPr>
        <p:spPr>
          <a:xfrm>
            <a:off x="7397640" y="3191400"/>
            <a:ext cx="840960" cy="8409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8" name="Picture 57" descr="shield-check.png"/>
          <p:cNvPicPr/>
          <p:nvPr/>
        </p:nvPicPr>
        <p:blipFill>
          <a:blip r:embed="rId5"/>
          <a:stretch/>
        </p:blipFill>
        <p:spPr>
          <a:xfrm>
            <a:off x="7616880" y="3410640"/>
            <a:ext cx="4021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Oval 58"/>
          <p:cNvSpPr/>
          <p:nvPr/>
        </p:nvSpPr>
        <p:spPr>
          <a:xfrm>
            <a:off x="7927920" y="313632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7927920" y="3136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60"/>
          <p:cNvSpPr/>
          <p:nvPr/>
        </p:nvSpPr>
        <p:spPr>
          <a:xfrm>
            <a:off x="6858000" y="412380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安全小提醒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61"/>
          <p:cNvSpPr/>
          <p:nvPr/>
        </p:nvSpPr>
        <p:spPr>
          <a:xfrm>
            <a:off x="689760" y="2568960"/>
            <a:ext cx="46800" cy="2354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Oval 62"/>
          <p:cNvSpPr/>
          <p:nvPr/>
        </p:nvSpPr>
        <p:spPr>
          <a:xfrm>
            <a:off x="642600" y="2482560"/>
            <a:ext cx="141120" cy="14112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4-Point Star 63"/>
          <p:cNvSpPr/>
          <p:nvPr/>
        </p:nvSpPr>
        <p:spPr>
          <a:xfrm>
            <a:off x="673920" y="2513880"/>
            <a:ext cx="78120" cy="781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ounded Rectangle 64"/>
          <p:cNvSpPr/>
          <p:nvPr/>
        </p:nvSpPr>
        <p:spPr>
          <a:xfrm>
            <a:off x="26496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ounded Rectangle 65"/>
          <p:cNvSpPr/>
          <p:nvPr/>
        </p:nvSpPr>
        <p:spPr>
          <a:xfrm>
            <a:off x="1090800" y="3040920"/>
            <a:ext cx="70560" cy="172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ounded Rectangle 66"/>
          <p:cNvSpPr/>
          <p:nvPr/>
        </p:nvSpPr>
        <p:spPr>
          <a:xfrm>
            <a:off x="320040" y="2789280"/>
            <a:ext cx="785880" cy="67608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Rounded Rectangle 67"/>
          <p:cNvSpPr/>
          <p:nvPr/>
        </p:nvSpPr>
        <p:spPr>
          <a:xfrm>
            <a:off x="414360" y="2933280"/>
            <a:ext cx="597240" cy="4190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Oval 68"/>
          <p:cNvSpPr/>
          <p:nvPr/>
        </p:nvSpPr>
        <p:spPr>
          <a:xfrm>
            <a:off x="5288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Oval 69"/>
          <p:cNvSpPr/>
          <p:nvPr/>
        </p:nvSpPr>
        <p:spPr>
          <a:xfrm>
            <a:off x="55836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Oval 70"/>
          <p:cNvSpPr/>
          <p:nvPr/>
        </p:nvSpPr>
        <p:spPr>
          <a:xfrm>
            <a:off x="55296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Oval 71"/>
          <p:cNvSpPr/>
          <p:nvPr/>
        </p:nvSpPr>
        <p:spPr>
          <a:xfrm>
            <a:off x="791640" y="3056400"/>
            <a:ext cx="105840" cy="1058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880" rIns="90000" bIns="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Oval 72"/>
          <p:cNvSpPr/>
          <p:nvPr/>
        </p:nvSpPr>
        <p:spPr>
          <a:xfrm>
            <a:off x="821520" y="3092400"/>
            <a:ext cx="46440" cy="464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Oval 73"/>
          <p:cNvSpPr/>
          <p:nvPr/>
        </p:nvSpPr>
        <p:spPr>
          <a:xfrm>
            <a:off x="816120" y="3080880"/>
            <a:ext cx="23040" cy="23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440" rIns="90000" bIns="-28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Oval 74"/>
          <p:cNvSpPr/>
          <p:nvPr/>
        </p:nvSpPr>
        <p:spPr>
          <a:xfrm>
            <a:off x="51732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Oval 75"/>
          <p:cNvSpPr/>
          <p:nvPr/>
        </p:nvSpPr>
        <p:spPr>
          <a:xfrm>
            <a:off x="822600" y="3166920"/>
            <a:ext cx="86040" cy="86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840" rIns="90000" bIns="15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Arc 76"/>
          <p:cNvSpPr/>
          <p:nvPr/>
        </p:nvSpPr>
        <p:spPr>
          <a:xfrm>
            <a:off x="595440" y="3111480"/>
            <a:ext cx="235440" cy="2354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950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ounded Rectangle 5"/>
          <p:cNvSpPr/>
          <p:nvPr/>
        </p:nvSpPr>
        <p:spPr>
          <a:xfrm>
            <a:off x="567000" y="457200"/>
            <a:ext cx="197460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1005840" y="457200"/>
            <a:ext cx="197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① AI </a:t>
            </a:r>
            <a:r>
              <a:rPr lang="zh-CN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在生活里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就藏在你每天用的东西里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Oval 19"/>
          <p:cNvSpPr/>
          <p:nvPr/>
        </p:nvSpPr>
        <p:spPr>
          <a:xfrm>
            <a:off x="821376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Oval 22"/>
          <p:cNvSpPr/>
          <p:nvPr/>
        </p:nvSpPr>
        <p:spPr>
          <a:xfrm>
            <a:off x="8473680" y="1017000"/>
            <a:ext cx="45720" cy="457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240" rIns="90000" bIns="-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Arc 26"/>
          <p:cNvSpPr/>
          <p:nvPr/>
        </p:nvSpPr>
        <p:spPr>
          <a:xfrm>
            <a:off x="8250120" y="1036080"/>
            <a:ext cx="232920" cy="23292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4544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ounded Rectangle 27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28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29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zh-CN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发现了吗  </a:t>
            </a: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这些东西背后，都住着一个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—— </a:t>
            </a: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它离你其实很近。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30"/>
          <p:cNvSpPr/>
          <p:nvPr/>
        </p:nvSpPr>
        <p:spPr>
          <a:xfrm>
            <a:off x="567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31"/>
          <p:cNvSpPr/>
          <p:nvPr/>
        </p:nvSpPr>
        <p:spPr>
          <a:xfrm>
            <a:off x="76824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9" name="Picture 32" descr="microphone.png"/>
          <p:cNvPicPr/>
          <p:nvPr/>
        </p:nvPicPr>
        <p:blipFill>
          <a:blip r:embed="rId1"/>
          <a:stretch/>
        </p:blipFill>
        <p:spPr>
          <a:xfrm>
            <a:off x="929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33"/>
          <p:cNvSpPr/>
          <p:nvPr/>
        </p:nvSpPr>
        <p:spPr>
          <a:xfrm>
            <a:off x="1572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语音助手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34"/>
          <p:cNvSpPr/>
          <p:nvPr/>
        </p:nvSpPr>
        <p:spPr>
          <a:xfrm>
            <a:off x="1572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你说话，它就懂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35"/>
          <p:cNvSpPr/>
          <p:nvPr/>
        </p:nvSpPr>
        <p:spPr>
          <a:xfrm>
            <a:off x="343800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36"/>
          <p:cNvSpPr/>
          <p:nvPr/>
        </p:nvSpPr>
        <p:spPr>
          <a:xfrm>
            <a:off x="3639240" y="195912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4" name="Picture 37" descr="play-circle.png"/>
          <p:cNvPicPr/>
          <p:nvPr/>
        </p:nvPicPr>
        <p:blipFill>
          <a:blip r:embed="rId2"/>
          <a:stretch/>
        </p:blipFill>
        <p:spPr>
          <a:xfrm>
            <a:off x="380016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38"/>
          <p:cNvSpPr/>
          <p:nvPr/>
        </p:nvSpPr>
        <p:spPr>
          <a:xfrm>
            <a:off x="444384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视频推荐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39"/>
          <p:cNvSpPr/>
          <p:nvPr/>
        </p:nvSpPr>
        <p:spPr>
          <a:xfrm>
            <a:off x="444384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猜你爱看什么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40"/>
          <p:cNvSpPr/>
          <p:nvPr/>
        </p:nvSpPr>
        <p:spPr>
          <a:xfrm>
            <a:off x="6309360" y="188352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Oval 41"/>
          <p:cNvSpPr/>
          <p:nvPr/>
        </p:nvSpPr>
        <p:spPr>
          <a:xfrm>
            <a:off x="6510600" y="195912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42" descr="camera.png"/>
          <p:cNvPicPr/>
          <p:nvPr/>
        </p:nvPicPr>
        <p:blipFill>
          <a:blip r:embed="rId3"/>
          <a:stretch/>
        </p:blipFill>
        <p:spPr>
          <a:xfrm>
            <a:off x="6671520" y="212004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3"/>
          <p:cNvSpPr/>
          <p:nvPr/>
        </p:nvSpPr>
        <p:spPr>
          <a:xfrm>
            <a:off x="7315200" y="201384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拍照美颜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44"/>
          <p:cNvSpPr/>
          <p:nvPr/>
        </p:nvSpPr>
        <p:spPr>
          <a:xfrm>
            <a:off x="7315200" y="23616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自动认出人脸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45"/>
          <p:cNvSpPr/>
          <p:nvPr/>
        </p:nvSpPr>
        <p:spPr>
          <a:xfrm>
            <a:off x="567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Oval 46"/>
          <p:cNvSpPr/>
          <p:nvPr/>
        </p:nvSpPr>
        <p:spPr>
          <a:xfrm>
            <a:off x="76824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4" name="Picture 47" descr="translate.png"/>
          <p:cNvPicPr/>
          <p:nvPr/>
        </p:nvPicPr>
        <p:blipFill>
          <a:blip r:embed="rId4"/>
          <a:stretch/>
        </p:blipFill>
        <p:spPr>
          <a:xfrm>
            <a:off x="929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Box 48"/>
          <p:cNvSpPr/>
          <p:nvPr/>
        </p:nvSpPr>
        <p:spPr>
          <a:xfrm>
            <a:off x="1572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翻译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9"/>
          <p:cNvSpPr/>
          <p:nvPr/>
        </p:nvSpPr>
        <p:spPr>
          <a:xfrm>
            <a:off x="1572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中英随时切换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50"/>
          <p:cNvSpPr/>
          <p:nvPr/>
        </p:nvSpPr>
        <p:spPr>
          <a:xfrm>
            <a:off x="343800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51"/>
          <p:cNvSpPr/>
          <p:nvPr/>
        </p:nvSpPr>
        <p:spPr>
          <a:xfrm>
            <a:off x="3639240" y="3061080"/>
            <a:ext cx="731160" cy="73116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29" name="Picture 52" descr="game-controller.png"/>
          <p:cNvPicPr/>
          <p:nvPr/>
        </p:nvPicPr>
        <p:blipFill>
          <a:blip r:embed="rId5"/>
          <a:stretch/>
        </p:blipFill>
        <p:spPr>
          <a:xfrm>
            <a:off x="380016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TextBox 53"/>
          <p:cNvSpPr/>
          <p:nvPr/>
        </p:nvSpPr>
        <p:spPr>
          <a:xfrm>
            <a:off x="444384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游戏对手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54"/>
          <p:cNvSpPr/>
          <p:nvPr/>
        </p:nvSpPr>
        <p:spPr>
          <a:xfrm>
            <a:off x="444384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会陪你过关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55"/>
          <p:cNvSpPr/>
          <p:nvPr/>
        </p:nvSpPr>
        <p:spPr>
          <a:xfrm>
            <a:off x="6309360" y="2985480"/>
            <a:ext cx="2614680" cy="882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Oval 56"/>
          <p:cNvSpPr/>
          <p:nvPr/>
        </p:nvSpPr>
        <p:spPr>
          <a:xfrm>
            <a:off x="6510600" y="3061080"/>
            <a:ext cx="731160" cy="73116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4" name="Picture 57" descr="map-pin.png"/>
          <p:cNvPicPr/>
          <p:nvPr/>
        </p:nvPicPr>
        <p:blipFill>
          <a:blip r:embed="rId6"/>
          <a:stretch/>
        </p:blipFill>
        <p:spPr>
          <a:xfrm>
            <a:off x="6671520" y="322200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Box 58"/>
          <p:cNvSpPr/>
          <p:nvPr/>
        </p:nvSpPr>
        <p:spPr>
          <a:xfrm>
            <a:off x="7315200" y="3115800"/>
            <a:ext cx="15357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地图导航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59"/>
          <p:cNvSpPr/>
          <p:nvPr/>
        </p:nvSpPr>
        <p:spPr>
          <a:xfrm>
            <a:off x="7315200" y="3463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帮你找近路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Rounded Rectangle 5"/>
          <p:cNvSpPr/>
          <p:nvPr/>
        </p:nvSpPr>
        <p:spPr>
          <a:xfrm>
            <a:off x="567000" y="457200"/>
            <a:ext cx="197460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1005840" y="457200"/>
            <a:ext cx="197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那，它到底是什么？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是会从例子里学本领的电脑帮手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60336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Oval 12"/>
          <p:cNvSpPr/>
          <p:nvPr/>
        </p:nvSpPr>
        <p:spPr>
          <a:xfrm>
            <a:off x="1408320" y="2039040"/>
            <a:ext cx="822600" cy="8226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9" name="Picture 13" descr="images.png"/>
          <p:cNvPicPr/>
          <p:nvPr/>
        </p:nvPicPr>
        <p:blipFill>
          <a:blip r:embed="rId1"/>
          <a:stretch/>
        </p:blipFill>
        <p:spPr>
          <a:xfrm>
            <a:off x="158940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Box 14"/>
          <p:cNvSpPr/>
          <p:nvPr/>
        </p:nvSpPr>
        <p:spPr>
          <a:xfrm>
            <a:off x="69480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看很多例子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5"/>
          <p:cNvSpPr/>
          <p:nvPr/>
        </p:nvSpPr>
        <p:spPr>
          <a:xfrm>
            <a:off x="71316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300"/>
              </a:spcAft>
            </a:pPr>
            <a:r>
              <a:rPr lang="zh-CN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成千上万张图片、文字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ight Arrow 16"/>
          <p:cNvSpPr/>
          <p:nvPr/>
        </p:nvSpPr>
        <p:spPr>
          <a:xfrm>
            <a:off x="319140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Rounded Rectangle 17"/>
          <p:cNvSpPr/>
          <p:nvPr/>
        </p:nvSpPr>
        <p:spPr>
          <a:xfrm>
            <a:off x="360288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Oval 18"/>
          <p:cNvSpPr/>
          <p:nvPr/>
        </p:nvSpPr>
        <p:spPr>
          <a:xfrm>
            <a:off x="4407480" y="2039040"/>
            <a:ext cx="822600" cy="822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55" name="Picture 19" descr="magic-wand.png"/>
          <p:cNvPicPr/>
          <p:nvPr/>
        </p:nvPicPr>
        <p:blipFill>
          <a:blip r:embed="rId2"/>
          <a:stretch/>
        </p:blipFill>
        <p:spPr>
          <a:xfrm>
            <a:off x="458856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Box 20"/>
          <p:cNvSpPr/>
          <p:nvPr/>
        </p:nvSpPr>
        <p:spPr>
          <a:xfrm>
            <a:off x="369432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自己找规律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1"/>
          <p:cNvSpPr/>
          <p:nvPr/>
        </p:nvSpPr>
        <p:spPr>
          <a:xfrm>
            <a:off x="371232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300"/>
              </a:spcAft>
            </a:pPr>
            <a:r>
              <a:rPr lang="zh-CN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没人一条条教它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ight Arrow 22"/>
          <p:cNvSpPr/>
          <p:nvPr/>
        </p:nvSpPr>
        <p:spPr>
          <a:xfrm>
            <a:off x="6190560" y="2597040"/>
            <a:ext cx="255600" cy="23724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Rounded Rectangle 23"/>
          <p:cNvSpPr/>
          <p:nvPr/>
        </p:nvSpPr>
        <p:spPr>
          <a:xfrm>
            <a:off x="6602040" y="1938600"/>
            <a:ext cx="2431800" cy="1554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Oval 24"/>
          <p:cNvSpPr/>
          <p:nvPr/>
        </p:nvSpPr>
        <p:spPr>
          <a:xfrm>
            <a:off x="7406640" y="203904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61" name="Picture 25" descr="medal.png"/>
          <p:cNvPicPr/>
          <p:nvPr/>
        </p:nvPicPr>
        <p:blipFill>
          <a:blip r:embed="rId3"/>
          <a:stretch/>
        </p:blipFill>
        <p:spPr>
          <a:xfrm>
            <a:off x="7587720" y="222012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Box 26"/>
          <p:cNvSpPr/>
          <p:nvPr/>
        </p:nvSpPr>
        <p:spPr>
          <a:xfrm>
            <a:off x="6693480" y="2871360"/>
            <a:ext cx="22489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学会一项本领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7"/>
          <p:cNvSpPr/>
          <p:nvPr/>
        </p:nvSpPr>
        <p:spPr>
          <a:xfrm>
            <a:off x="6711840" y="3182040"/>
            <a:ext cx="2212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300"/>
              </a:spcAft>
            </a:pPr>
            <a:r>
              <a:rPr lang="zh-CN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比如认出图里的小猫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28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Rectangle 29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30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zh-CN" sz="11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所以呢  </a:t>
            </a:r>
            <a:r>
              <a:rPr lang="en-US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更像见多识广的小朋友，不是只会背公式的计算器。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567000" y="457200"/>
            <a:ext cx="153576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7"/>
          <p:cNvSpPr/>
          <p:nvPr/>
        </p:nvSpPr>
        <p:spPr>
          <a:xfrm>
            <a:off x="1005840" y="457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打个比方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它靠看很多例子学，就像你认小猫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zh-CN" sz="110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关键  </a:t>
            </a: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没人教它猫有胡须和尾巴 —— 是它自己从好多例子里看出来的。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ounded Rectangle 14"/>
          <p:cNvSpPr/>
          <p:nvPr/>
        </p:nvSpPr>
        <p:spPr>
          <a:xfrm>
            <a:off x="36576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Rounded Rectangle 15"/>
          <p:cNvSpPr/>
          <p:nvPr/>
        </p:nvSpPr>
        <p:spPr>
          <a:xfrm>
            <a:off x="54864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16"/>
          <p:cNvSpPr/>
          <p:nvPr/>
        </p:nvSpPr>
        <p:spPr>
          <a:xfrm>
            <a:off x="54864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你怎么认识“猫”？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Oval 17"/>
          <p:cNvSpPr/>
          <p:nvPr/>
        </p:nvSpPr>
        <p:spPr>
          <a:xfrm>
            <a:off x="704160" y="248724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4" name="Picture 18" descr="cat.png"/>
          <p:cNvPicPr/>
          <p:nvPr/>
        </p:nvPicPr>
        <p:blipFill>
          <a:blip r:embed="rId1"/>
          <a:stretch/>
        </p:blipFill>
        <p:spPr>
          <a:xfrm>
            <a:off x="80460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Oval 19"/>
          <p:cNvSpPr/>
          <p:nvPr/>
        </p:nvSpPr>
        <p:spPr>
          <a:xfrm>
            <a:off x="1435680" y="2487240"/>
            <a:ext cx="456840" cy="4568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6" name="Picture 20" descr="cat.png"/>
          <p:cNvPicPr/>
          <p:nvPr/>
        </p:nvPicPr>
        <p:blipFill>
          <a:blip r:embed="rId2"/>
          <a:stretch/>
        </p:blipFill>
        <p:spPr>
          <a:xfrm>
            <a:off x="153612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Oval 21"/>
          <p:cNvSpPr/>
          <p:nvPr/>
        </p:nvSpPr>
        <p:spPr>
          <a:xfrm>
            <a:off x="2167200" y="2487240"/>
            <a:ext cx="456840" cy="45684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Picture 22" descr="cat.png"/>
          <p:cNvPicPr/>
          <p:nvPr/>
        </p:nvPicPr>
        <p:blipFill>
          <a:blip r:embed="rId3"/>
          <a:stretch/>
        </p:blipFill>
        <p:spPr>
          <a:xfrm>
            <a:off x="2267640" y="25876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Oval 23"/>
          <p:cNvSpPr/>
          <p:nvPr/>
        </p:nvSpPr>
        <p:spPr>
          <a:xfrm>
            <a:off x="1069920" y="3035880"/>
            <a:ext cx="456840" cy="45684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Picture 24" descr="cat.png"/>
          <p:cNvPicPr/>
          <p:nvPr/>
        </p:nvPicPr>
        <p:blipFill>
          <a:blip r:embed="rId4"/>
          <a:stretch/>
        </p:blipFill>
        <p:spPr>
          <a:xfrm>
            <a:off x="117036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Oval 25"/>
          <p:cNvSpPr/>
          <p:nvPr/>
        </p:nvSpPr>
        <p:spPr>
          <a:xfrm>
            <a:off x="1801440" y="30358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Picture 26" descr="cat.png"/>
          <p:cNvPicPr/>
          <p:nvPr/>
        </p:nvPicPr>
        <p:blipFill>
          <a:blip r:embed="rId5"/>
          <a:stretch/>
        </p:blipFill>
        <p:spPr>
          <a:xfrm>
            <a:off x="190188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Oval 27"/>
          <p:cNvSpPr/>
          <p:nvPr/>
        </p:nvSpPr>
        <p:spPr>
          <a:xfrm>
            <a:off x="2532960" y="3035880"/>
            <a:ext cx="456840" cy="45684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4" name="Picture 28" descr="cat.png"/>
          <p:cNvPicPr/>
          <p:nvPr/>
        </p:nvPicPr>
        <p:blipFill>
          <a:blip r:embed="rId6"/>
          <a:stretch/>
        </p:blipFill>
        <p:spPr>
          <a:xfrm>
            <a:off x="2633400" y="31363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TextBox 29"/>
          <p:cNvSpPr/>
          <p:nvPr/>
        </p:nvSpPr>
        <p:spPr>
          <a:xfrm>
            <a:off x="54864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看过好多好多猫 → 记住了“猫的样子”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30"/>
          <p:cNvSpPr/>
          <p:nvPr/>
        </p:nvSpPr>
        <p:spPr>
          <a:xfrm>
            <a:off x="4754880" y="1874520"/>
            <a:ext cx="4023000" cy="1947240"/>
          </a:xfrm>
          <a:prstGeom prst="roundRect">
            <a:avLst>
              <a:gd name="adj" fmla="val 16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ounded Rectangle 31"/>
          <p:cNvSpPr/>
          <p:nvPr/>
        </p:nvSpPr>
        <p:spPr>
          <a:xfrm>
            <a:off x="4937760" y="2039040"/>
            <a:ext cx="3657240" cy="38376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32"/>
          <p:cNvSpPr/>
          <p:nvPr/>
        </p:nvSpPr>
        <p:spPr>
          <a:xfrm>
            <a:off x="4937760" y="2039040"/>
            <a:ext cx="3657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135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怎么认识“猫”？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ounded Rectangle 33"/>
          <p:cNvSpPr/>
          <p:nvPr/>
        </p:nvSpPr>
        <p:spPr>
          <a:xfrm>
            <a:off x="53218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0" name="Picture 34" descr="cat_3D9BE9.png"/>
          <p:cNvPicPr/>
          <p:nvPr/>
        </p:nvPicPr>
        <p:blipFill>
          <a:blip r:embed="rId7"/>
          <a:stretch/>
        </p:blipFill>
        <p:spPr>
          <a:xfrm>
            <a:off x="53949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Rounded Rectangle 35"/>
          <p:cNvSpPr/>
          <p:nvPr/>
        </p:nvSpPr>
        <p:spPr>
          <a:xfrm>
            <a:off x="58338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2" name="Picture 36" descr="cat_3D9BE9.png"/>
          <p:cNvPicPr/>
          <p:nvPr/>
        </p:nvPicPr>
        <p:blipFill>
          <a:blip r:embed="rId8"/>
          <a:stretch/>
        </p:blipFill>
        <p:spPr>
          <a:xfrm>
            <a:off x="59068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Rounded Rectangle 37"/>
          <p:cNvSpPr/>
          <p:nvPr/>
        </p:nvSpPr>
        <p:spPr>
          <a:xfrm>
            <a:off x="634608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4" name="Picture 38" descr="cat_3D9BE9.png"/>
          <p:cNvPicPr/>
          <p:nvPr/>
        </p:nvPicPr>
        <p:blipFill>
          <a:blip r:embed="rId9"/>
          <a:stretch/>
        </p:blipFill>
        <p:spPr>
          <a:xfrm>
            <a:off x="641916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Rounded Rectangle 39"/>
          <p:cNvSpPr/>
          <p:nvPr/>
        </p:nvSpPr>
        <p:spPr>
          <a:xfrm>
            <a:off x="6858000" y="258768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6" name="Picture 40" descr="cat_3D9BE9.png"/>
          <p:cNvPicPr/>
          <p:nvPr/>
        </p:nvPicPr>
        <p:blipFill>
          <a:blip r:embed="rId10"/>
          <a:stretch/>
        </p:blipFill>
        <p:spPr>
          <a:xfrm>
            <a:off x="6931080" y="26607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Rounded Rectangle 41"/>
          <p:cNvSpPr/>
          <p:nvPr/>
        </p:nvSpPr>
        <p:spPr>
          <a:xfrm>
            <a:off x="53218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Picture 42" descr="cat_3D9BE9.png"/>
          <p:cNvPicPr/>
          <p:nvPr/>
        </p:nvPicPr>
        <p:blipFill>
          <a:blip r:embed="rId11"/>
          <a:stretch/>
        </p:blipFill>
        <p:spPr>
          <a:xfrm>
            <a:off x="53949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Rounded Rectangle 43"/>
          <p:cNvSpPr/>
          <p:nvPr/>
        </p:nvSpPr>
        <p:spPr>
          <a:xfrm>
            <a:off x="58338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0" name="Picture 44" descr="cat_3D9BE9.png"/>
          <p:cNvPicPr/>
          <p:nvPr/>
        </p:nvPicPr>
        <p:blipFill>
          <a:blip r:embed="rId12"/>
          <a:stretch/>
        </p:blipFill>
        <p:spPr>
          <a:xfrm>
            <a:off x="59068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Rounded Rectangle 45"/>
          <p:cNvSpPr/>
          <p:nvPr/>
        </p:nvSpPr>
        <p:spPr>
          <a:xfrm>
            <a:off x="634608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2" name="Picture 46" descr="cat_3D9BE9.png"/>
          <p:cNvPicPr/>
          <p:nvPr/>
        </p:nvPicPr>
        <p:blipFill>
          <a:blip r:embed="rId13"/>
          <a:stretch/>
        </p:blipFill>
        <p:spPr>
          <a:xfrm>
            <a:off x="641916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Rounded Rectangle 47"/>
          <p:cNvSpPr/>
          <p:nvPr/>
        </p:nvSpPr>
        <p:spPr>
          <a:xfrm>
            <a:off x="6858000" y="3081600"/>
            <a:ext cx="383760" cy="383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4" name="Picture 48" descr="cat_3D9BE9.png"/>
          <p:cNvPicPr/>
          <p:nvPr/>
        </p:nvPicPr>
        <p:blipFill>
          <a:blip r:embed="rId14"/>
          <a:stretch/>
        </p:blipFill>
        <p:spPr>
          <a:xfrm>
            <a:off x="6931080" y="31546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49"/>
          <p:cNvSpPr/>
          <p:nvPr/>
        </p:nvSpPr>
        <p:spPr>
          <a:xfrm>
            <a:off x="4937760" y="33649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1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看过成千上万张照片 → 学会了认“猫”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Oval 50"/>
          <p:cNvSpPr/>
          <p:nvPr/>
        </p:nvSpPr>
        <p:spPr>
          <a:xfrm>
            <a:off x="4288680" y="2565000"/>
            <a:ext cx="566640" cy="56664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51"/>
          <p:cNvSpPr/>
          <p:nvPr/>
        </p:nvSpPr>
        <p:spPr>
          <a:xfrm>
            <a:off x="4288680" y="25650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=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Rounded Rectangle 5"/>
          <p:cNvSpPr/>
          <p:nvPr/>
        </p:nvSpPr>
        <p:spPr>
          <a:xfrm>
            <a:off x="567000" y="457200"/>
            <a:ext cx="1682280" cy="36540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1005840" y="45720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FFC93C"/>
                </a:solidFill>
                <a:effectLst/>
                <a:uFillTx/>
                <a:latin typeface="Arial Rounded MT Bold"/>
                <a:ea typeface="Hiragino Sans GB"/>
              </a:rPr>
              <a:t>② 再多说一点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看得越多、练得越多，它就越准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328" name="Connector 11"/>
          <p:cNvCxnSpPr/>
          <p:nvPr/>
        </p:nvCxnSpPr>
        <p:spPr>
          <a:xfrm>
            <a:off x="340920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29" name="Connector 12"/>
          <p:cNvCxnSpPr/>
          <p:nvPr/>
        </p:nvCxnSpPr>
        <p:spPr>
          <a:xfrm flipH="1">
            <a:off x="340920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0" name="Connector 13"/>
          <p:cNvCxnSpPr/>
          <p:nvPr/>
        </p:nvCxnSpPr>
        <p:spPr>
          <a:xfrm flipH="1" flipV="1">
            <a:off x="1795320" y="368352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cxnSp>
        <p:nvCxnSpPr>
          <p:cNvPr id="331" name="Connector 14"/>
          <p:cNvCxnSpPr/>
          <p:nvPr/>
        </p:nvCxnSpPr>
        <p:spPr>
          <a:xfrm flipV="1">
            <a:off x="1795320" y="2069640"/>
            <a:ext cx="556200" cy="556200"/>
          </a:xfrm>
          <a:prstGeom prst="straightConnector1">
            <a:avLst/>
          </a:prstGeom>
          <a:ln w="27940">
            <a:solidFill>
              <a:srgbClr val="8C86A8"/>
            </a:solidFill>
            <a:round/>
            <a:tailEnd len="med" type="triangle" w="med"/>
          </a:ln>
        </p:spPr>
      </p:cxnSp>
      <p:sp>
        <p:nvSpPr>
          <p:cNvPr id="332" name="Rounded Rectangle 15"/>
          <p:cNvSpPr/>
          <p:nvPr/>
        </p:nvSpPr>
        <p:spPr>
          <a:xfrm>
            <a:off x="2855160" y="2557440"/>
            <a:ext cx="50040" cy="2520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Oval 16"/>
          <p:cNvSpPr/>
          <p:nvPr/>
        </p:nvSpPr>
        <p:spPr>
          <a:xfrm>
            <a:off x="2804760" y="2464920"/>
            <a:ext cx="151200" cy="1512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4-Point Star 17"/>
          <p:cNvSpPr/>
          <p:nvPr/>
        </p:nvSpPr>
        <p:spPr>
          <a:xfrm>
            <a:off x="2838240" y="2498400"/>
            <a:ext cx="83880" cy="838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240" rIns="90000" bIns="-30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Rounded Rectangle 18"/>
          <p:cNvSpPr/>
          <p:nvPr/>
        </p:nvSpPr>
        <p:spPr>
          <a:xfrm>
            <a:off x="2400840" y="3062160"/>
            <a:ext cx="75240" cy="1846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Rounded Rectangle 19"/>
          <p:cNvSpPr/>
          <p:nvPr/>
        </p:nvSpPr>
        <p:spPr>
          <a:xfrm>
            <a:off x="3284280" y="3062160"/>
            <a:ext cx="75240" cy="1846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ounded Rectangle 20"/>
          <p:cNvSpPr/>
          <p:nvPr/>
        </p:nvSpPr>
        <p:spPr>
          <a:xfrm>
            <a:off x="2459880" y="2792880"/>
            <a:ext cx="840960" cy="72324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ounded Rectangle 21"/>
          <p:cNvSpPr/>
          <p:nvPr/>
        </p:nvSpPr>
        <p:spPr>
          <a:xfrm>
            <a:off x="2560680" y="2947320"/>
            <a:ext cx="639000" cy="4482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Oval 22"/>
          <p:cNvSpPr/>
          <p:nvPr/>
        </p:nvSpPr>
        <p:spPr>
          <a:xfrm>
            <a:off x="2683080" y="3078720"/>
            <a:ext cx="113040" cy="1130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4920" rIns="90000" bIns="34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Oval 23"/>
          <p:cNvSpPr/>
          <p:nvPr/>
        </p:nvSpPr>
        <p:spPr>
          <a:xfrm>
            <a:off x="2714760" y="3117600"/>
            <a:ext cx="49680" cy="496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Oval 24"/>
          <p:cNvSpPr/>
          <p:nvPr/>
        </p:nvSpPr>
        <p:spPr>
          <a:xfrm>
            <a:off x="2709000" y="310500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720" rIns="90000" bIns="-27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25"/>
          <p:cNvSpPr/>
          <p:nvPr/>
        </p:nvSpPr>
        <p:spPr>
          <a:xfrm>
            <a:off x="2964240" y="3078720"/>
            <a:ext cx="113040" cy="11304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4920" rIns="90000" bIns="34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Oval 26"/>
          <p:cNvSpPr/>
          <p:nvPr/>
        </p:nvSpPr>
        <p:spPr>
          <a:xfrm>
            <a:off x="2995920" y="3117600"/>
            <a:ext cx="49680" cy="4968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Oval 27"/>
          <p:cNvSpPr/>
          <p:nvPr/>
        </p:nvSpPr>
        <p:spPr>
          <a:xfrm>
            <a:off x="2990520" y="310500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720" rIns="90000" bIns="-27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Oval 28"/>
          <p:cNvSpPr/>
          <p:nvPr/>
        </p:nvSpPr>
        <p:spPr>
          <a:xfrm>
            <a:off x="2670840" y="3197160"/>
            <a:ext cx="92160" cy="92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0520" rIns="90000" bIns="20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Oval 29"/>
          <p:cNvSpPr/>
          <p:nvPr/>
        </p:nvSpPr>
        <p:spPr>
          <a:xfrm>
            <a:off x="2997360" y="3197160"/>
            <a:ext cx="92160" cy="921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0520" rIns="90000" bIns="20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Arc 30"/>
          <p:cNvSpPr/>
          <p:nvPr/>
        </p:nvSpPr>
        <p:spPr>
          <a:xfrm>
            <a:off x="2754000" y="3137760"/>
            <a:ext cx="252000" cy="2520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738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Oval 31"/>
          <p:cNvSpPr/>
          <p:nvPr/>
        </p:nvSpPr>
        <p:spPr>
          <a:xfrm>
            <a:off x="2432160" y="1536120"/>
            <a:ext cx="895680" cy="895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9" name="Picture 32" descr="lightbulb.png"/>
          <p:cNvPicPr/>
          <p:nvPr/>
        </p:nvPicPr>
        <p:blipFill>
          <a:blip r:embed="rId1"/>
          <a:stretch/>
        </p:blipFill>
        <p:spPr>
          <a:xfrm>
            <a:off x="2629440" y="173340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TextBox 33"/>
          <p:cNvSpPr/>
          <p:nvPr/>
        </p:nvSpPr>
        <p:spPr>
          <a:xfrm>
            <a:off x="2011680" y="245988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猜一猜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Oval 34"/>
          <p:cNvSpPr/>
          <p:nvPr/>
        </p:nvSpPr>
        <p:spPr>
          <a:xfrm>
            <a:off x="3803760" y="2706480"/>
            <a:ext cx="895680" cy="8956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2" name="Picture 35" descr="check-circle.png"/>
          <p:cNvPicPr/>
          <p:nvPr/>
        </p:nvPicPr>
        <p:blipFill>
          <a:blip r:embed="rId2"/>
          <a:stretch/>
        </p:blipFill>
        <p:spPr>
          <a:xfrm>
            <a:off x="40010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36"/>
          <p:cNvSpPr/>
          <p:nvPr/>
        </p:nvSpPr>
        <p:spPr>
          <a:xfrm>
            <a:off x="33832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看对不对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Oval 37"/>
          <p:cNvSpPr/>
          <p:nvPr/>
        </p:nvSpPr>
        <p:spPr>
          <a:xfrm>
            <a:off x="2432160" y="3877200"/>
            <a:ext cx="895680" cy="8956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5" name="Picture 38" descr="wrench.png"/>
          <p:cNvPicPr/>
          <p:nvPr/>
        </p:nvPicPr>
        <p:blipFill>
          <a:blip r:embed="rId3"/>
          <a:stretch/>
        </p:blipFill>
        <p:spPr>
          <a:xfrm>
            <a:off x="2629440" y="407412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Box 39"/>
          <p:cNvSpPr/>
          <p:nvPr/>
        </p:nvSpPr>
        <p:spPr>
          <a:xfrm>
            <a:off x="2011680" y="480060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改进一下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Oval 40"/>
          <p:cNvSpPr/>
          <p:nvPr/>
        </p:nvSpPr>
        <p:spPr>
          <a:xfrm>
            <a:off x="1060560" y="2706480"/>
            <a:ext cx="895680" cy="8956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58" name="Picture 41" descr="arrows-clockwise.png"/>
          <p:cNvPicPr/>
          <p:nvPr/>
        </p:nvPicPr>
        <p:blipFill>
          <a:blip r:embed="rId4"/>
          <a:stretch/>
        </p:blipFill>
        <p:spPr>
          <a:xfrm>
            <a:off x="1257840" y="2903760"/>
            <a:ext cx="501480" cy="5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TextBox 42"/>
          <p:cNvSpPr/>
          <p:nvPr/>
        </p:nvSpPr>
        <p:spPr>
          <a:xfrm>
            <a:off x="640080" y="3630240"/>
            <a:ext cx="1737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再来一次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ounded Rectangle 43"/>
          <p:cNvSpPr/>
          <p:nvPr/>
        </p:nvSpPr>
        <p:spPr>
          <a:xfrm>
            <a:off x="5074920" y="1965960"/>
            <a:ext cx="3565800" cy="2102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Oval 44"/>
          <p:cNvSpPr/>
          <p:nvPr/>
        </p:nvSpPr>
        <p:spPr>
          <a:xfrm>
            <a:off x="5257800" y="2185560"/>
            <a:ext cx="767880" cy="767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62" name="Picture 45" descr="target.png"/>
          <p:cNvPicPr/>
          <p:nvPr/>
        </p:nvPicPr>
        <p:blipFill>
          <a:blip r:embed="rId5"/>
          <a:stretch/>
        </p:blipFill>
        <p:spPr>
          <a:xfrm>
            <a:off x="5426640" y="2354400"/>
            <a:ext cx="429840" cy="42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Box 46"/>
          <p:cNvSpPr/>
          <p:nvPr/>
        </p:nvSpPr>
        <p:spPr>
          <a:xfrm>
            <a:off x="6135480" y="2277000"/>
            <a:ext cx="237708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就像你学骑自行车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47"/>
          <p:cNvSpPr/>
          <p:nvPr/>
        </p:nvSpPr>
        <p:spPr>
          <a:xfrm>
            <a:off x="6135480" y="264276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zh-CN" sz="120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一开始会歪会摔，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0000"/>
              </a:lnSpc>
              <a:spcAft>
                <a:spcPts val="300"/>
              </a:spcAft>
            </a:pPr>
            <a:r>
              <a:rPr lang="zh-CN" sz="120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多练几次就稳稳的。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48"/>
          <p:cNvSpPr/>
          <p:nvPr/>
        </p:nvSpPr>
        <p:spPr>
          <a:xfrm>
            <a:off x="5385960" y="3337560"/>
            <a:ext cx="3108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也一样：先猜一猜，再听听对不对，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300"/>
              </a:spcAft>
            </a:pPr>
            <a:r>
              <a:rPr lang="zh-CN" sz="120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然后改一改再来，练得越多就越准。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0" name="Rounded Rectangle 5"/>
          <p:cNvSpPr/>
          <p:nvPr/>
        </p:nvSpPr>
        <p:spPr>
          <a:xfrm>
            <a:off x="567000" y="457200"/>
            <a:ext cx="1828440" cy="365400"/>
          </a:xfrm>
          <a:prstGeom prst="roundRect">
            <a:avLst>
              <a:gd name="adj" fmla="val 50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7"/>
          <p:cNvSpPr/>
          <p:nvPr/>
        </p:nvSpPr>
        <p:spPr>
          <a:xfrm>
            <a:off x="1005840" y="4572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3FC79A"/>
                </a:solidFill>
                <a:effectLst/>
                <a:uFillTx/>
                <a:latin typeface="Arial Rounded MT Bold"/>
                <a:ea typeface="Hiragino Sans GB"/>
              </a:rPr>
              <a:t>③ 它很会做的事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记性好、算得快、不喊累，它超厉害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Rounded Rectangle 11"/>
          <p:cNvSpPr/>
          <p:nvPr/>
        </p:nvSpPr>
        <p:spPr>
          <a:xfrm>
            <a:off x="8343360" y="499680"/>
            <a:ext cx="46440" cy="2329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7" name="Oval 12"/>
          <p:cNvSpPr/>
          <p:nvPr/>
        </p:nvSpPr>
        <p:spPr>
          <a:xfrm>
            <a:off x="8296920" y="414360"/>
            <a:ext cx="139680" cy="1396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4-Point Star 13"/>
          <p:cNvSpPr/>
          <p:nvPr/>
        </p:nvSpPr>
        <p:spPr>
          <a:xfrm>
            <a:off x="8327880" y="445320"/>
            <a:ext cx="77400" cy="77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960" rIns="90000" bIns="-30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ounded Rectangle 14"/>
          <p:cNvSpPr/>
          <p:nvPr/>
        </p:nvSpPr>
        <p:spPr>
          <a:xfrm>
            <a:off x="792360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Rounded Rectangle 15"/>
          <p:cNvSpPr/>
          <p:nvPr/>
        </p:nvSpPr>
        <p:spPr>
          <a:xfrm>
            <a:off x="8739720" y="966240"/>
            <a:ext cx="69480" cy="1706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Rounded Rectangle 16"/>
          <p:cNvSpPr/>
          <p:nvPr/>
        </p:nvSpPr>
        <p:spPr>
          <a:xfrm>
            <a:off x="7978320" y="717480"/>
            <a:ext cx="776880" cy="66816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Rounded Rectangle 17"/>
          <p:cNvSpPr/>
          <p:nvPr/>
        </p:nvSpPr>
        <p:spPr>
          <a:xfrm>
            <a:off x="8071560" y="860040"/>
            <a:ext cx="590400" cy="41400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Oval 18"/>
          <p:cNvSpPr/>
          <p:nvPr/>
        </p:nvSpPr>
        <p:spPr>
          <a:xfrm>
            <a:off x="818424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Oval 19"/>
          <p:cNvSpPr/>
          <p:nvPr/>
        </p:nvSpPr>
        <p:spPr>
          <a:xfrm>
            <a:off x="820548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Oval 20"/>
          <p:cNvSpPr/>
          <p:nvPr/>
        </p:nvSpPr>
        <p:spPr>
          <a:xfrm>
            <a:off x="820836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Oval 21"/>
          <p:cNvSpPr/>
          <p:nvPr/>
        </p:nvSpPr>
        <p:spPr>
          <a:xfrm>
            <a:off x="8444160" y="981360"/>
            <a:ext cx="104400" cy="1044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9160" rIns="90000" bIns="29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Oval 22"/>
          <p:cNvSpPr/>
          <p:nvPr/>
        </p:nvSpPr>
        <p:spPr>
          <a:xfrm>
            <a:off x="8465400" y="1008720"/>
            <a:ext cx="62640" cy="6264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60" rIns="90000" bIns="-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Oval 23"/>
          <p:cNvSpPr/>
          <p:nvPr/>
        </p:nvSpPr>
        <p:spPr>
          <a:xfrm>
            <a:off x="8468280" y="1005480"/>
            <a:ext cx="22680" cy="22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0" rIns="90000" bIns="-288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Oval 24"/>
          <p:cNvSpPr/>
          <p:nvPr/>
        </p:nvSpPr>
        <p:spPr>
          <a:xfrm>
            <a:off x="817308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Oval 25"/>
          <p:cNvSpPr/>
          <p:nvPr/>
        </p:nvSpPr>
        <p:spPr>
          <a:xfrm>
            <a:off x="8475120" y="1090800"/>
            <a:ext cx="84960" cy="8496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5480" rIns="90000" bIns="15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Oval 26"/>
          <p:cNvSpPr/>
          <p:nvPr/>
        </p:nvSpPr>
        <p:spPr>
          <a:xfrm>
            <a:off x="8312400" y="1121400"/>
            <a:ext cx="108360" cy="10836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1680" rIns="90000" bIns="31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Oval 27"/>
          <p:cNvSpPr/>
          <p:nvPr/>
        </p:nvSpPr>
        <p:spPr>
          <a:xfrm>
            <a:off x="8339400" y="1148760"/>
            <a:ext cx="54000" cy="540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Rounded Rectangle 28"/>
          <p:cNvSpPr/>
          <p:nvPr/>
        </p:nvSpPr>
        <p:spPr>
          <a:xfrm>
            <a:off x="56700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Rounded Rectangle 29"/>
          <p:cNvSpPr/>
          <p:nvPr/>
        </p:nvSpPr>
        <p:spPr>
          <a:xfrm>
            <a:off x="69480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Oval 30"/>
          <p:cNvSpPr/>
          <p:nvPr/>
        </p:nvSpPr>
        <p:spPr>
          <a:xfrm>
            <a:off x="86868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Picture 31" descr="brain.png"/>
          <p:cNvPicPr/>
          <p:nvPr/>
        </p:nvPicPr>
        <p:blipFill>
          <a:blip r:embed="rId1"/>
          <a:stretch/>
        </p:blipFill>
        <p:spPr>
          <a:xfrm>
            <a:off x="104976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Box 32"/>
          <p:cNvSpPr/>
          <p:nvPr/>
        </p:nvSpPr>
        <p:spPr>
          <a:xfrm>
            <a:off x="177408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记性超好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3"/>
          <p:cNvSpPr/>
          <p:nvPr/>
        </p:nvSpPr>
        <p:spPr>
          <a:xfrm>
            <a:off x="177408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看过的东西都能记住，海量也不怕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ounded Rectangle 34"/>
          <p:cNvSpPr/>
          <p:nvPr/>
        </p:nvSpPr>
        <p:spPr>
          <a:xfrm>
            <a:off x="4773240" y="187452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0" name="Rounded Rectangle 35"/>
          <p:cNvSpPr/>
          <p:nvPr/>
        </p:nvSpPr>
        <p:spPr>
          <a:xfrm>
            <a:off x="4901040" y="202068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Oval 36"/>
          <p:cNvSpPr/>
          <p:nvPr/>
        </p:nvSpPr>
        <p:spPr>
          <a:xfrm>
            <a:off x="5074920" y="205740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2" name="Picture 37" descr="lightning.png"/>
          <p:cNvPicPr/>
          <p:nvPr/>
        </p:nvPicPr>
        <p:blipFill>
          <a:blip r:embed="rId2"/>
          <a:stretch/>
        </p:blipFill>
        <p:spPr>
          <a:xfrm>
            <a:off x="5256000" y="223848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TextBox 38"/>
          <p:cNvSpPr/>
          <p:nvPr/>
        </p:nvSpPr>
        <p:spPr>
          <a:xfrm>
            <a:off x="5980320" y="213048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算得飞快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39"/>
          <p:cNvSpPr/>
          <p:nvPr/>
        </p:nvSpPr>
        <p:spPr>
          <a:xfrm>
            <a:off x="5980320" y="251460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一眨眼就算完好多好多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ounded Rectangle 40"/>
          <p:cNvSpPr/>
          <p:nvPr/>
        </p:nvSpPr>
        <p:spPr>
          <a:xfrm>
            <a:off x="56700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Rounded Rectangle 41"/>
          <p:cNvSpPr/>
          <p:nvPr/>
        </p:nvSpPr>
        <p:spPr>
          <a:xfrm>
            <a:off x="69480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Oval 42"/>
          <p:cNvSpPr/>
          <p:nvPr/>
        </p:nvSpPr>
        <p:spPr>
          <a:xfrm>
            <a:off x="86868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08" name="Picture 43" descr="infinity.png"/>
          <p:cNvPicPr/>
          <p:nvPr/>
        </p:nvPicPr>
        <p:blipFill>
          <a:blip r:embed="rId3"/>
          <a:stretch/>
        </p:blipFill>
        <p:spPr>
          <a:xfrm>
            <a:off x="104976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44"/>
          <p:cNvSpPr/>
          <p:nvPr/>
        </p:nvSpPr>
        <p:spPr>
          <a:xfrm>
            <a:off x="177408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不知疲倦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45"/>
          <p:cNvSpPr/>
          <p:nvPr/>
        </p:nvSpPr>
        <p:spPr>
          <a:xfrm>
            <a:off x="177408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同一件事重复一万遍也不喊累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46"/>
          <p:cNvSpPr/>
          <p:nvPr/>
        </p:nvSpPr>
        <p:spPr>
          <a:xfrm>
            <a:off x="4773240" y="3300840"/>
            <a:ext cx="3949920" cy="1188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ounded Rectangle 47"/>
          <p:cNvSpPr/>
          <p:nvPr/>
        </p:nvSpPr>
        <p:spPr>
          <a:xfrm>
            <a:off x="4901040" y="3447360"/>
            <a:ext cx="100080" cy="89568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Oval 48"/>
          <p:cNvSpPr/>
          <p:nvPr/>
        </p:nvSpPr>
        <p:spPr>
          <a:xfrm>
            <a:off x="5074920" y="3483720"/>
            <a:ext cx="822600" cy="82260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4" name="Picture 49" descr="magnifying-glass.png"/>
          <p:cNvPicPr/>
          <p:nvPr/>
        </p:nvPicPr>
        <p:blipFill>
          <a:blip r:embed="rId4"/>
          <a:stretch/>
        </p:blipFill>
        <p:spPr>
          <a:xfrm>
            <a:off x="5256000" y="3664800"/>
            <a:ext cx="46044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Box 50"/>
          <p:cNvSpPr/>
          <p:nvPr/>
        </p:nvSpPr>
        <p:spPr>
          <a:xfrm>
            <a:off x="5980320" y="3557160"/>
            <a:ext cx="2624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6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找规律高手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51"/>
          <p:cNvSpPr/>
          <p:nvPr/>
        </p:nvSpPr>
        <p:spPr>
          <a:xfrm>
            <a:off x="5980320" y="3940920"/>
            <a:ext cx="2578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一大堆里也能挑出相似的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8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9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Rounded Rectangle 5"/>
          <p:cNvSpPr/>
          <p:nvPr/>
        </p:nvSpPr>
        <p:spPr>
          <a:xfrm>
            <a:off x="567000" y="457200"/>
            <a:ext cx="182844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7"/>
          <p:cNvSpPr/>
          <p:nvPr/>
        </p:nvSpPr>
        <p:spPr>
          <a:xfrm>
            <a:off x="1005840" y="45720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③ 它不太会的事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它会犯错，还会一本正经地说错话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7" name="Rounded Rectangle 11"/>
          <p:cNvSpPr/>
          <p:nvPr/>
        </p:nvSpPr>
        <p:spPr>
          <a:xfrm>
            <a:off x="567000" y="4050720"/>
            <a:ext cx="8046360" cy="497880"/>
          </a:xfrm>
          <a:prstGeom prst="roundRect">
            <a:avLst>
              <a:gd name="adj" fmla="val 8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8" name="Rectangle 12"/>
          <p:cNvSpPr/>
          <p:nvPr/>
        </p:nvSpPr>
        <p:spPr>
          <a:xfrm>
            <a:off x="567000" y="4090680"/>
            <a:ext cx="63720" cy="41832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Box 13"/>
          <p:cNvSpPr/>
          <p:nvPr/>
        </p:nvSpPr>
        <p:spPr>
          <a:xfrm>
            <a:off x="786240" y="4050720"/>
            <a:ext cx="764388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8000"/>
              </a:lnSpc>
            </a:pPr>
            <a:r>
              <a:rPr lang="zh-CN" sz="110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记住  </a:t>
            </a: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它说的话，要自己动脑想一想 —— 拿不准，就问问大人。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14"/>
          <p:cNvSpPr/>
          <p:nvPr/>
        </p:nvSpPr>
        <p:spPr>
          <a:xfrm>
            <a:off x="906480" y="1897920"/>
            <a:ext cx="51840" cy="2602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Oval 15"/>
          <p:cNvSpPr/>
          <p:nvPr/>
        </p:nvSpPr>
        <p:spPr>
          <a:xfrm>
            <a:off x="854640" y="1802160"/>
            <a:ext cx="155880" cy="15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4-Point Star 16"/>
          <p:cNvSpPr/>
          <p:nvPr/>
        </p:nvSpPr>
        <p:spPr>
          <a:xfrm>
            <a:off x="889200" y="1837080"/>
            <a:ext cx="86400" cy="8640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Rounded Rectangle 17"/>
          <p:cNvSpPr/>
          <p:nvPr/>
        </p:nvSpPr>
        <p:spPr>
          <a:xfrm>
            <a:off x="43740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4" name="Rounded Rectangle 18"/>
          <p:cNvSpPr/>
          <p:nvPr/>
        </p:nvSpPr>
        <p:spPr>
          <a:xfrm>
            <a:off x="1349640" y="2419200"/>
            <a:ext cx="77760" cy="1908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Rounded Rectangle 19"/>
          <p:cNvSpPr/>
          <p:nvPr/>
        </p:nvSpPr>
        <p:spPr>
          <a:xfrm>
            <a:off x="498240" y="2140920"/>
            <a:ext cx="868320" cy="74664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6" name="Rounded Rectangle 20"/>
          <p:cNvSpPr/>
          <p:nvPr/>
        </p:nvSpPr>
        <p:spPr>
          <a:xfrm>
            <a:off x="602640" y="2300400"/>
            <a:ext cx="659880" cy="46296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Oval 21"/>
          <p:cNvSpPr/>
          <p:nvPr/>
        </p:nvSpPr>
        <p:spPr>
          <a:xfrm>
            <a:off x="72864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Oval 22"/>
          <p:cNvSpPr/>
          <p:nvPr/>
        </p:nvSpPr>
        <p:spPr>
          <a:xfrm>
            <a:off x="76176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9" name="Oval 23"/>
          <p:cNvSpPr/>
          <p:nvPr/>
        </p:nvSpPr>
        <p:spPr>
          <a:xfrm>
            <a:off x="75564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0" name="Oval 24"/>
          <p:cNvSpPr/>
          <p:nvPr/>
        </p:nvSpPr>
        <p:spPr>
          <a:xfrm>
            <a:off x="1019160" y="2436120"/>
            <a:ext cx="117000" cy="11700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8160" rIns="9000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Oval 25"/>
          <p:cNvSpPr/>
          <p:nvPr/>
        </p:nvSpPr>
        <p:spPr>
          <a:xfrm>
            <a:off x="1052280" y="2476080"/>
            <a:ext cx="51120" cy="5112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2" name="Oval 26"/>
          <p:cNvSpPr/>
          <p:nvPr/>
        </p:nvSpPr>
        <p:spPr>
          <a:xfrm>
            <a:off x="1046160" y="2463120"/>
            <a:ext cx="25560" cy="255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Oval 27"/>
          <p:cNvSpPr/>
          <p:nvPr/>
        </p:nvSpPr>
        <p:spPr>
          <a:xfrm>
            <a:off x="71604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4" name="Oval 28"/>
          <p:cNvSpPr/>
          <p:nvPr/>
        </p:nvSpPr>
        <p:spPr>
          <a:xfrm>
            <a:off x="1053720" y="2558520"/>
            <a:ext cx="95040" cy="95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2680" rIns="90000" bIns="226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Arc 29"/>
          <p:cNvSpPr/>
          <p:nvPr/>
        </p:nvSpPr>
        <p:spPr>
          <a:xfrm>
            <a:off x="802440" y="2497320"/>
            <a:ext cx="260280" cy="26028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86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6" name="Rounded Rectangle 30"/>
          <p:cNvSpPr/>
          <p:nvPr/>
        </p:nvSpPr>
        <p:spPr>
          <a:xfrm>
            <a:off x="1508760" y="2020680"/>
            <a:ext cx="2932560" cy="868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cap="rnd" w="27940">
            <a:solidFill>
              <a:srgbClr val="FF6B6B"/>
            </a:solidFill>
            <a:round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Oval 31"/>
          <p:cNvSpPr/>
          <p:nvPr/>
        </p:nvSpPr>
        <p:spPr>
          <a:xfrm>
            <a:off x="1398960" y="2559240"/>
            <a:ext cx="145800" cy="145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8" name="Oval 32"/>
          <p:cNvSpPr/>
          <p:nvPr/>
        </p:nvSpPr>
        <p:spPr>
          <a:xfrm>
            <a:off x="1490400" y="2650680"/>
            <a:ext cx="91080" cy="91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33"/>
          <p:cNvSpPr/>
          <p:nvPr/>
        </p:nvSpPr>
        <p:spPr>
          <a:xfrm>
            <a:off x="1710000" y="2112120"/>
            <a:ext cx="2530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en-US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“恐龙现在还住在南极哦！”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Oval 34"/>
          <p:cNvSpPr/>
          <p:nvPr/>
        </p:nvSpPr>
        <p:spPr>
          <a:xfrm>
            <a:off x="1545480" y="2615040"/>
            <a:ext cx="383760" cy="38376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1" name="Picture 35" descr="x.png"/>
          <p:cNvPicPr/>
          <p:nvPr/>
        </p:nvPicPr>
        <p:blipFill>
          <a:blip r:embed="rId1"/>
          <a:stretch/>
        </p:blipFill>
        <p:spPr>
          <a:xfrm>
            <a:off x="1629720" y="2699640"/>
            <a:ext cx="214560" cy="21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TextBox 36"/>
          <p:cNvSpPr/>
          <p:nvPr/>
        </p:nvSpPr>
        <p:spPr>
          <a:xfrm>
            <a:off x="502920" y="3337560"/>
            <a:ext cx="3938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它说得很有把握，其实是编的 ——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300"/>
              </a:spcAft>
            </a:pPr>
            <a:r>
              <a:rPr lang="zh-CN" sz="11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大人管这叫“一本正经地胡说”。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ounded Rectangle 37"/>
          <p:cNvSpPr/>
          <p:nvPr/>
        </p:nvSpPr>
        <p:spPr>
          <a:xfrm>
            <a:off x="4853160" y="187452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Oval 38"/>
          <p:cNvSpPr/>
          <p:nvPr/>
        </p:nvSpPr>
        <p:spPr>
          <a:xfrm>
            <a:off x="5045040" y="189288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55" name="Picture 39" descr="x-circle.png"/>
          <p:cNvPicPr/>
          <p:nvPr/>
        </p:nvPicPr>
        <p:blipFill>
          <a:blip r:embed="rId2"/>
          <a:stretch/>
        </p:blipFill>
        <p:spPr>
          <a:xfrm>
            <a:off x="5161680" y="200952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Box 40"/>
          <p:cNvSpPr/>
          <p:nvPr/>
        </p:nvSpPr>
        <p:spPr>
          <a:xfrm>
            <a:off x="5694120" y="1865520"/>
            <a:ext cx="29923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其实没“真的懂”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41"/>
          <p:cNvSpPr/>
          <p:nvPr/>
        </p:nvSpPr>
        <p:spPr>
          <a:xfrm>
            <a:off x="5694120" y="218556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只是在找相似，没真的明白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ounded Rectangle 42"/>
          <p:cNvSpPr/>
          <p:nvPr/>
        </p:nvSpPr>
        <p:spPr>
          <a:xfrm>
            <a:off x="4853160" y="258768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9" name="Oval 43"/>
          <p:cNvSpPr/>
          <p:nvPr/>
        </p:nvSpPr>
        <p:spPr>
          <a:xfrm>
            <a:off x="5045040" y="260604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0" name="Picture 44" descr="x-circle.png"/>
          <p:cNvPicPr/>
          <p:nvPr/>
        </p:nvPicPr>
        <p:blipFill>
          <a:blip r:embed="rId3"/>
          <a:stretch/>
        </p:blipFill>
        <p:spPr>
          <a:xfrm>
            <a:off x="5161680" y="272268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Box 45"/>
          <p:cNvSpPr/>
          <p:nvPr/>
        </p:nvSpPr>
        <p:spPr>
          <a:xfrm>
            <a:off x="5694120" y="2578680"/>
            <a:ext cx="29923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遇到没见过的会想当然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46"/>
          <p:cNvSpPr/>
          <p:nvPr/>
        </p:nvSpPr>
        <p:spPr>
          <a:xfrm>
            <a:off x="5694120" y="289872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碰到新鲜事，容易猜错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Rounded Rectangle 47"/>
          <p:cNvSpPr/>
          <p:nvPr/>
        </p:nvSpPr>
        <p:spPr>
          <a:xfrm>
            <a:off x="4853160" y="3300840"/>
            <a:ext cx="3924720" cy="566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Oval 48"/>
          <p:cNvSpPr/>
          <p:nvPr/>
        </p:nvSpPr>
        <p:spPr>
          <a:xfrm>
            <a:off x="5045040" y="3319200"/>
            <a:ext cx="529920" cy="529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Picture 49" descr="x-circle.png"/>
          <p:cNvPicPr/>
          <p:nvPr/>
        </p:nvPicPr>
        <p:blipFill>
          <a:blip r:embed="rId4"/>
          <a:stretch/>
        </p:blipFill>
        <p:spPr>
          <a:xfrm>
            <a:off x="5161680" y="3435840"/>
            <a:ext cx="296640" cy="2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Box 50"/>
          <p:cNvSpPr/>
          <p:nvPr/>
        </p:nvSpPr>
        <p:spPr>
          <a:xfrm>
            <a:off x="5694120" y="3291840"/>
            <a:ext cx="299232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没有常识和真感情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51"/>
          <p:cNvSpPr/>
          <p:nvPr/>
        </p:nvSpPr>
        <p:spPr>
          <a:xfrm>
            <a:off x="5694120" y="3611880"/>
            <a:ext cx="29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050" b="0" u="none" strike="noStrike">
                <a:solidFill>
                  <a:srgbClr val="6B6685"/>
                </a:solidFill>
                <a:effectLst/>
                <a:uFillTx/>
                <a:latin typeface="Arial Rounded MT Bold"/>
                <a:ea typeface="Hiragino Sans GB"/>
              </a:rPr>
              <a:t>不懂你为什么不开心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9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1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2" name="Rounded Rectangle 5"/>
          <p:cNvSpPr/>
          <p:nvPr/>
        </p:nvSpPr>
        <p:spPr>
          <a:xfrm>
            <a:off x="567000" y="457200"/>
            <a:ext cx="1682280" cy="365400"/>
          </a:xfrm>
          <a:prstGeom prst="roundRect">
            <a:avLst>
              <a:gd name="adj" fmla="val 50000"/>
            </a:avLst>
          </a:prstGeom>
          <a:solidFill>
            <a:srgbClr val="EFEA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3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Box 7"/>
          <p:cNvSpPr/>
          <p:nvPr/>
        </p:nvSpPr>
        <p:spPr>
          <a:xfrm>
            <a:off x="1005840" y="457200"/>
            <a:ext cx="1682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9B7EDE"/>
                </a:solidFill>
                <a:effectLst/>
                <a:uFillTx/>
                <a:latin typeface="Arial Rounded MT Bold"/>
                <a:ea typeface="Hiragino Sans GB"/>
              </a:rPr>
              <a:t>④ 相处小妙招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说清楚、多检查、你做主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8" name="Rounded Rectangle 11"/>
          <p:cNvSpPr/>
          <p:nvPr/>
        </p:nvSpPr>
        <p:spPr>
          <a:xfrm>
            <a:off x="8296200" y="513000"/>
            <a:ext cx="48960" cy="2466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Oval 12"/>
          <p:cNvSpPr/>
          <p:nvPr/>
        </p:nvSpPr>
        <p:spPr>
          <a:xfrm>
            <a:off x="8246880" y="422280"/>
            <a:ext cx="147600" cy="1476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4-Point Star 13"/>
          <p:cNvSpPr/>
          <p:nvPr/>
        </p:nvSpPr>
        <p:spPr>
          <a:xfrm>
            <a:off x="8280000" y="455400"/>
            <a:ext cx="82080" cy="820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0600" rIns="90000" bIns="-30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1" name="Rounded Rectangle 14"/>
          <p:cNvSpPr/>
          <p:nvPr/>
        </p:nvSpPr>
        <p:spPr>
          <a:xfrm>
            <a:off x="7851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Rounded Rectangle 15"/>
          <p:cNvSpPr/>
          <p:nvPr/>
        </p:nvSpPr>
        <p:spPr>
          <a:xfrm>
            <a:off x="8715960" y="1006920"/>
            <a:ext cx="7380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Rounded Rectangle 16"/>
          <p:cNvSpPr/>
          <p:nvPr/>
        </p:nvSpPr>
        <p:spPr>
          <a:xfrm>
            <a:off x="7909560" y="743400"/>
            <a:ext cx="822600" cy="7074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4" name="Rounded Rectangle 17"/>
          <p:cNvSpPr/>
          <p:nvPr/>
        </p:nvSpPr>
        <p:spPr>
          <a:xfrm>
            <a:off x="8008200" y="894240"/>
            <a:ext cx="624960" cy="43848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5" name="Oval 18"/>
          <p:cNvSpPr/>
          <p:nvPr/>
        </p:nvSpPr>
        <p:spPr>
          <a:xfrm>
            <a:off x="81277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Oval 19"/>
          <p:cNvSpPr/>
          <p:nvPr/>
        </p:nvSpPr>
        <p:spPr>
          <a:xfrm>
            <a:off x="815904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7" name="Oval 20"/>
          <p:cNvSpPr/>
          <p:nvPr/>
        </p:nvSpPr>
        <p:spPr>
          <a:xfrm>
            <a:off x="81532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8" name="Oval 21"/>
          <p:cNvSpPr/>
          <p:nvPr/>
        </p:nvSpPr>
        <p:spPr>
          <a:xfrm>
            <a:off x="8403120" y="1023120"/>
            <a:ext cx="110880" cy="1108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3480" rIns="90000" bIns="33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9" name="Oval 22"/>
          <p:cNvSpPr/>
          <p:nvPr/>
        </p:nvSpPr>
        <p:spPr>
          <a:xfrm>
            <a:off x="8434080" y="1060920"/>
            <a:ext cx="48600" cy="486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0080" rIns="90000" bIns="-10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Oval 23"/>
          <p:cNvSpPr/>
          <p:nvPr/>
        </p:nvSpPr>
        <p:spPr>
          <a:xfrm>
            <a:off x="8428680" y="1048680"/>
            <a:ext cx="24120" cy="2412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360" rIns="90000" bIns="-27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Oval 24"/>
          <p:cNvSpPr/>
          <p:nvPr/>
        </p:nvSpPr>
        <p:spPr>
          <a:xfrm>
            <a:off x="811584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25"/>
          <p:cNvSpPr/>
          <p:nvPr/>
        </p:nvSpPr>
        <p:spPr>
          <a:xfrm>
            <a:off x="8435520" y="1139040"/>
            <a:ext cx="90000" cy="9000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Arc 26"/>
          <p:cNvSpPr/>
          <p:nvPr/>
        </p:nvSpPr>
        <p:spPr>
          <a:xfrm>
            <a:off x="8197560" y="1080720"/>
            <a:ext cx="246600" cy="2466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6576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Rounded Rectangle 27"/>
          <p:cNvSpPr/>
          <p:nvPr/>
        </p:nvSpPr>
        <p:spPr>
          <a:xfrm>
            <a:off x="603360" y="188352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28"/>
          <p:cNvSpPr/>
          <p:nvPr/>
        </p:nvSpPr>
        <p:spPr>
          <a:xfrm>
            <a:off x="75888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TextBox 29"/>
          <p:cNvSpPr/>
          <p:nvPr/>
        </p:nvSpPr>
        <p:spPr>
          <a:xfrm>
            <a:off x="758880" y="188352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Oval 30"/>
          <p:cNvSpPr/>
          <p:nvPr/>
        </p:nvSpPr>
        <p:spPr>
          <a:xfrm>
            <a:off x="1380600" y="1956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98" name="Picture 31" descr="chat-text.png"/>
          <p:cNvPicPr/>
          <p:nvPr/>
        </p:nvPicPr>
        <p:blipFill>
          <a:blip r:embed="rId1"/>
          <a:stretch/>
        </p:blipFill>
        <p:spPr>
          <a:xfrm>
            <a:off x="1481400" y="20574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TextBox 32"/>
          <p:cNvSpPr/>
          <p:nvPr/>
        </p:nvSpPr>
        <p:spPr>
          <a:xfrm>
            <a:off x="2020680" y="188352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把问题说清楚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Rounded Rectangle 33"/>
          <p:cNvSpPr/>
          <p:nvPr/>
        </p:nvSpPr>
        <p:spPr>
          <a:xfrm>
            <a:off x="3849480" y="203004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34"/>
          <p:cNvSpPr/>
          <p:nvPr/>
        </p:nvSpPr>
        <p:spPr>
          <a:xfrm>
            <a:off x="4060080" y="188352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说得越明白，它帮得越好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35"/>
          <p:cNvSpPr/>
          <p:nvPr/>
        </p:nvSpPr>
        <p:spPr>
          <a:xfrm>
            <a:off x="603360" y="265176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36"/>
          <p:cNvSpPr/>
          <p:nvPr/>
        </p:nvSpPr>
        <p:spPr>
          <a:xfrm>
            <a:off x="75888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TextBox 37"/>
          <p:cNvSpPr/>
          <p:nvPr/>
        </p:nvSpPr>
        <p:spPr>
          <a:xfrm>
            <a:off x="758880" y="265176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Oval 38"/>
          <p:cNvSpPr/>
          <p:nvPr/>
        </p:nvSpPr>
        <p:spPr>
          <a:xfrm>
            <a:off x="1380600" y="272484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06" name="Picture 39" descr="magnifying-glass.png"/>
          <p:cNvPicPr/>
          <p:nvPr/>
        </p:nvPicPr>
        <p:blipFill>
          <a:blip r:embed="rId2"/>
          <a:stretch/>
        </p:blipFill>
        <p:spPr>
          <a:xfrm>
            <a:off x="1481400" y="282564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Box 40"/>
          <p:cNvSpPr/>
          <p:nvPr/>
        </p:nvSpPr>
        <p:spPr>
          <a:xfrm>
            <a:off x="2020680" y="265176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答案自己检查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Rounded Rectangle 41"/>
          <p:cNvSpPr/>
          <p:nvPr/>
        </p:nvSpPr>
        <p:spPr>
          <a:xfrm>
            <a:off x="3849480" y="279792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Box 42"/>
          <p:cNvSpPr/>
          <p:nvPr/>
        </p:nvSpPr>
        <p:spPr>
          <a:xfrm>
            <a:off x="4060080" y="265176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动动脑，别照单全收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ounded Rectangle 43"/>
          <p:cNvSpPr/>
          <p:nvPr/>
        </p:nvSpPr>
        <p:spPr>
          <a:xfrm>
            <a:off x="603360" y="342000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44"/>
          <p:cNvSpPr/>
          <p:nvPr/>
        </p:nvSpPr>
        <p:spPr>
          <a:xfrm>
            <a:off x="75888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TextBox 45"/>
          <p:cNvSpPr/>
          <p:nvPr/>
        </p:nvSpPr>
        <p:spPr>
          <a:xfrm>
            <a:off x="758880" y="342000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Oval 46"/>
          <p:cNvSpPr/>
          <p:nvPr/>
        </p:nvSpPr>
        <p:spPr>
          <a:xfrm>
            <a:off x="1380600" y="349308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14" name="Picture 47" descr="users-three.png"/>
          <p:cNvPicPr/>
          <p:nvPr/>
        </p:nvPicPr>
        <p:blipFill>
          <a:blip r:embed="rId3"/>
          <a:stretch/>
        </p:blipFill>
        <p:spPr>
          <a:xfrm>
            <a:off x="1481400" y="35935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TextBox 48"/>
          <p:cNvSpPr/>
          <p:nvPr/>
        </p:nvSpPr>
        <p:spPr>
          <a:xfrm>
            <a:off x="2020680" y="342000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拿不准问大人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Rounded Rectangle 49"/>
          <p:cNvSpPr/>
          <p:nvPr/>
        </p:nvSpPr>
        <p:spPr>
          <a:xfrm>
            <a:off x="3849480" y="356616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Box 50"/>
          <p:cNvSpPr/>
          <p:nvPr/>
        </p:nvSpPr>
        <p:spPr>
          <a:xfrm>
            <a:off x="4060080" y="342000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重要的事找老师和爸妈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ounded Rectangle 51"/>
          <p:cNvSpPr/>
          <p:nvPr/>
        </p:nvSpPr>
        <p:spPr>
          <a:xfrm>
            <a:off x="603360" y="4187880"/>
            <a:ext cx="7360560" cy="603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52"/>
          <p:cNvSpPr/>
          <p:nvPr/>
        </p:nvSpPr>
        <p:spPr>
          <a:xfrm>
            <a:off x="75888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53"/>
          <p:cNvSpPr/>
          <p:nvPr/>
        </p:nvSpPr>
        <p:spPr>
          <a:xfrm>
            <a:off x="758880" y="4187880"/>
            <a:ext cx="456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Oval 54"/>
          <p:cNvSpPr/>
          <p:nvPr/>
        </p:nvSpPr>
        <p:spPr>
          <a:xfrm>
            <a:off x="1380600" y="4260960"/>
            <a:ext cx="456840" cy="45684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Picture 55" descr="crown.png"/>
          <p:cNvPicPr/>
          <p:nvPr/>
        </p:nvPicPr>
        <p:blipFill>
          <a:blip r:embed="rId4"/>
          <a:stretch/>
        </p:blipFill>
        <p:spPr>
          <a:xfrm>
            <a:off x="1481400" y="43617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Box 56"/>
          <p:cNvSpPr/>
          <p:nvPr/>
        </p:nvSpPr>
        <p:spPr>
          <a:xfrm>
            <a:off x="2020680" y="4187880"/>
            <a:ext cx="2468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15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你才是小主人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ounded Rectangle 57"/>
          <p:cNvSpPr/>
          <p:nvPr/>
        </p:nvSpPr>
        <p:spPr>
          <a:xfrm>
            <a:off x="3849480" y="4334400"/>
            <a:ext cx="19800" cy="310680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58"/>
          <p:cNvSpPr/>
          <p:nvPr/>
        </p:nvSpPr>
        <p:spPr>
          <a:xfrm>
            <a:off x="4060080" y="4187880"/>
            <a:ext cx="3748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最后由你来做决定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8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9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Rounded Rectangle 5"/>
          <p:cNvSpPr/>
          <p:nvPr/>
        </p:nvSpPr>
        <p:spPr>
          <a:xfrm>
            <a:off x="567000" y="457200"/>
            <a:ext cx="1535760" cy="36540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1005840" y="457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en-US" sz="1250" b="1" u="none" strike="noStrike">
                <a:solidFill>
                  <a:srgbClr val="FF6B6B"/>
                </a:solidFill>
                <a:effectLst/>
                <a:uFillTx/>
                <a:latin typeface="Arial Rounded MT Bold"/>
                <a:ea typeface="Hiragino Sans GB"/>
              </a:rPr>
              <a:t>⑤ 安全第一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秘密不告诉它，拿不准就问大人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6" name="Rounded Rectangle 11"/>
          <p:cNvSpPr/>
          <p:nvPr/>
        </p:nvSpPr>
        <p:spPr>
          <a:xfrm>
            <a:off x="36576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E2F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Rounded Rectangle 12"/>
          <p:cNvSpPr/>
          <p:nvPr/>
        </p:nvSpPr>
        <p:spPr>
          <a:xfrm>
            <a:off x="54864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38" name="Picture 13" descr="check-fat.png"/>
          <p:cNvPicPr/>
          <p:nvPr/>
        </p:nvPicPr>
        <p:blipFill>
          <a:blip r:embed="rId1"/>
          <a:stretch/>
        </p:blipFill>
        <p:spPr>
          <a:xfrm>
            <a:off x="67680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Box 14"/>
          <p:cNvSpPr/>
          <p:nvPr/>
        </p:nvSpPr>
        <p:spPr>
          <a:xfrm>
            <a:off x="104256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可以放心做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Oval 15"/>
          <p:cNvSpPr/>
          <p:nvPr/>
        </p:nvSpPr>
        <p:spPr>
          <a:xfrm>
            <a:off x="603360" y="277992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1" name="Picture 16" descr="check-fat.png"/>
          <p:cNvPicPr/>
          <p:nvPr/>
        </p:nvPicPr>
        <p:blipFill>
          <a:blip r:embed="rId2"/>
          <a:stretch/>
        </p:blipFill>
        <p:spPr>
          <a:xfrm>
            <a:off x="69192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Box 17"/>
          <p:cNvSpPr/>
          <p:nvPr/>
        </p:nvSpPr>
        <p:spPr>
          <a:xfrm>
            <a:off x="111564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用它查资料、练英语、找灵感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603360" y="340164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4" name="Picture 19" descr="check-fat.png"/>
          <p:cNvPicPr/>
          <p:nvPr/>
        </p:nvPicPr>
        <p:blipFill>
          <a:blip r:embed="rId3"/>
          <a:stretch/>
        </p:blipFill>
        <p:spPr>
          <a:xfrm>
            <a:off x="69192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Box 20"/>
          <p:cNvSpPr/>
          <p:nvPr/>
        </p:nvSpPr>
        <p:spPr>
          <a:xfrm>
            <a:off x="111564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遇到不舒服的内容，马上告诉大人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603360" y="4023360"/>
            <a:ext cx="402120" cy="40212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47" name="Picture 22" descr="check-fat.png"/>
          <p:cNvPicPr/>
          <p:nvPr/>
        </p:nvPicPr>
        <p:blipFill>
          <a:blip r:embed="rId4"/>
          <a:stretch/>
        </p:blipFill>
        <p:spPr>
          <a:xfrm>
            <a:off x="69192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TextBox 23"/>
          <p:cNvSpPr/>
          <p:nvPr/>
        </p:nvSpPr>
        <p:spPr>
          <a:xfrm>
            <a:off x="111564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对它有礼貌，好好说话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Rounded Rectangle 24"/>
          <p:cNvSpPr/>
          <p:nvPr/>
        </p:nvSpPr>
        <p:spPr>
          <a:xfrm>
            <a:off x="4754880" y="1883520"/>
            <a:ext cx="4023000" cy="2742840"/>
          </a:xfrm>
          <a:prstGeom prst="roundRect">
            <a:avLst>
              <a:gd name="adj" fmla="val 16000"/>
            </a:avLst>
          </a:prstGeom>
          <a:solidFill>
            <a:srgbClr val="FFE9E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0" name="Rounded Rectangle 25"/>
          <p:cNvSpPr/>
          <p:nvPr/>
        </p:nvSpPr>
        <p:spPr>
          <a:xfrm>
            <a:off x="4937760" y="2066400"/>
            <a:ext cx="3657240" cy="4568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Picture 26" descr="x.png"/>
          <p:cNvPicPr/>
          <p:nvPr/>
        </p:nvPicPr>
        <p:blipFill>
          <a:blip r:embed="rId5"/>
          <a:stretch/>
        </p:blipFill>
        <p:spPr>
          <a:xfrm>
            <a:off x="5065920" y="21488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Box 27"/>
          <p:cNvSpPr/>
          <p:nvPr/>
        </p:nvSpPr>
        <p:spPr>
          <a:xfrm>
            <a:off x="5431680" y="206640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5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要小心哦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val 28"/>
          <p:cNvSpPr/>
          <p:nvPr/>
        </p:nvSpPr>
        <p:spPr>
          <a:xfrm>
            <a:off x="4992480" y="277992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4" name="Picture 29" descr="x.png"/>
          <p:cNvPicPr/>
          <p:nvPr/>
        </p:nvPicPr>
        <p:blipFill>
          <a:blip r:embed="rId6"/>
          <a:stretch/>
        </p:blipFill>
        <p:spPr>
          <a:xfrm>
            <a:off x="5081040" y="28681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Box 30"/>
          <p:cNvSpPr/>
          <p:nvPr/>
        </p:nvSpPr>
        <p:spPr>
          <a:xfrm>
            <a:off x="5504760" y="27248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别把真名、家住哪、密码告诉它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Oval 31"/>
          <p:cNvSpPr/>
          <p:nvPr/>
        </p:nvSpPr>
        <p:spPr>
          <a:xfrm>
            <a:off x="4992480" y="340164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57" name="Picture 32" descr="x.png"/>
          <p:cNvPicPr/>
          <p:nvPr/>
        </p:nvPicPr>
        <p:blipFill>
          <a:blip r:embed="rId7"/>
          <a:stretch/>
        </p:blipFill>
        <p:spPr>
          <a:xfrm>
            <a:off x="5081040" y="349020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Box 33"/>
          <p:cNvSpPr/>
          <p:nvPr/>
        </p:nvSpPr>
        <p:spPr>
          <a:xfrm>
            <a:off x="5504760" y="334656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别把它说的话全当真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Oval 34"/>
          <p:cNvSpPr/>
          <p:nvPr/>
        </p:nvSpPr>
        <p:spPr>
          <a:xfrm>
            <a:off x="4992480" y="4023360"/>
            <a:ext cx="402120" cy="40212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0" name="Picture 35" descr="x.png"/>
          <p:cNvPicPr/>
          <p:nvPr/>
        </p:nvPicPr>
        <p:blipFill>
          <a:blip r:embed="rId8"/>
          <a:stretch/>
        </p:blipFill>
        <p:spPr>
          <a:xfrm>
            <a:off x="5081040" y="4111920"/>
            <a:ext cx="225000" cy="22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TextBox 36"/>
          <p:cNvSpPr/>
          <p:nvPr/>
        </p:nvSpPr>
        <p:spPr>
          <a:xfrm>
            <a:off x="5504760" y="396864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05000"/>
              </a:lnSpc>
            </a:pPr>
            <a:r>
              <a:rPr lang="zh-CN" sz="1250" b="0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别一个人偷偷做重要决定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6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3" name="4-Point Star 2"/>
          <p:cNvSpPr/>
          <p:nvPr/>
        </p:nvSpPr>
        <p:spPr>
          <a:xfrm>
            <a:off x="8540640" y="384120"/>
            <a:ext cx="182520" cy="18252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2960" rIns="90000" bIns="-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Oval 3"/>
          <p:cNvSpPr/>
          <p:nvPr/>
        </p:nvSpPr>
        <p:spPr>
          <a:xfrm>
            <a:off x="8202240" y="356760"/>
            <a:ext cx="91080" cy="910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440" rIns="90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5" name="Oval 4"/>
          <p:cNvSpPr/>
          <p:nvPr/>
        </p:nvSpPr>
        <p:spPr>
          <a:xfrm>
            <a:off x="8810280" y="818280"/>
            <a:ext cx="82080" cy="820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3320" rIns="90000" bIns="13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Rounded Rectangle 5"/>
          <p:cNvSpPr/>
          <p:nvPr/>
        </p:nvSpPr>
        <p:spPr>
          <a:xfrm>
            <a:off x="567000" y="457200"/>
            <a:ext cx="1535760" cy="36540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7" name="Oval 6"/>
          <p:cNvSpPr/>
          <p:nvPr/>
        </p:nvSpPr>
        <p:spPr>
          <a:xfrm>
            <a:off x="731520" y="567000"/>
            <a:ext cx="145800" cy="14580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Box 7"/>
          <p:cNvSpPr/>
          <p:nvPr/>
        </p:nvSpPr>
        <p:spPr>
          <a:xfrm>
            <a:off x="1005840" y="457200"/>
            <a:ext cx="153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25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把今天串起来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8"/>
          <p:cNvSpPr/>
          <p:nvPr/>
        </p:nvSpPr>
        <p:spPr>
          <a:xfrm>
            <a:off x="548640" y="914400"/>
            <a:ext cx="832068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201"/>
              </a:spcAft>
            </a:pP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记住这 </a:t>
            </a: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5 </a:t>
            </a: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件事，你就懂 </a:t>
            </a:r>
            <a:r>
              <a:rPr lang="en-US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27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啦</a:t>
            </a:r>
            <a:endParaRPr lang="en-US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4-Point Star 9"/>
          <p:cNvSpPr/>
          <p:nvPr/>
        </p:nvSpPr>
        <p:spPr>
          <a:xfrm>
            <a:off x="640080" y="1417320"/>
            <a:ext cx="145800" cy="14580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10"/>
          <p:cNvSpPr/>
          <p:nvPr/>
        </p:nvSpPr>
        <p:spPr>
          <a:xfrm>
            <a:off x="914400" y="1463040"/>
            <a:ext cx="822600" cy="100080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2" name="Rounded Rectangle 11"/>
          <p:cNvSpPr/>
          <p:nvPr/>
        </p:nvSpPr>
        <p:spPr>
          <a:xfrm>
            <a:off x="56700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3" name="Rounded Rectangle 12"/>
          <p:cNvSpPr/>
          <p:nvPr/>
        </p:nvSpPr>
        <p:spPr>
          <a:xfrm>
            <a:off x="56700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4" name="Rounded Rectangle 13"/>
          <p:cNvSpPr/>
          <p:nvPr/>
        </p:nvSpPr>
        <p:spPr>
          <a:xfrm>
            <a:off x="56700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Box 14"/>
          <p:cNvSpPr/>
          <p:nvPr/>
        </p:nvSpPr>
        <p:spPr>
          <a:xfrm>
            <a:off x="56700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Oval 15"/>
          <p:cNvSpPr/>
          <p:nvPr/>
        </p:nvSpPr>
        <p:spPr>
          <a:xfrm>
            <a:off x="960120" y="2597040"/>
            <a:ext cx="785880" cy="785880"/>
          </a:xfrm>
          <a:prstGeom prst="ellipse">
            <a:avLst/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7" name="Picture 16" descr="map-pin.png"/>
          <p:cNvPicPr/>
          <p:nvPr/>
        </p:nvPicPr>
        <p:blipFill>
          <a:blip r:embed="rId1"/>
          <a:stretch/>
        </p:blipFill>
        <p:spPr>
          <a:xfrm>
            <a:off x="113328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Box 17"/>
          <p:cNvSpPr/>
          <p:nvPr/>
        </p:nvSpPr>
        <p:spPr>
          <a:xfrm>
            <a:off x="621720" y="3429000"/>
            <a:ext cx="14626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住在生活里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Box 18"/>
          <p:cNvSpPr/>
          <p:nvPr/>
        </p:nvSpPr>
        <p:spPr>
          <a:xfrm>
            <a:off x="64008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zh-CN" sz="100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语音、推荐、拍照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Rounded Rectangle 19"/>
          <p:cNvSpPr/>
          <p:nvPr/>
        </p:nvSpPr>
        <p:spPr>
          <a:xfrm>
            <a:off x="227232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Rounded Rectangle 20"/>
          <p:cNvSpPr/>
          <p:nvPr/>
        </p:nvSpPr>
        <p:spPr>
          <a:xfrm>
            <a:off x="227232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2" name="Rounded Rectangle 21"/>
          <p:cNvSpPr/>
          <p:nvPr/>
        </p:nvSpPr>
        <p:spPr>
          <a:xfrm>
            <a:off x="227232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Box 22"/>
          <p:cNvSpPr/>
          <p:nvPr/>
        </p:nvSpPr>
        <p:spPr>
          <a:xfrm>
            <a:off x="227232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2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Oval 23"/>
          <p:cNvSpPr/>
          <p:nvPr/>
        </p:nvSpPr>
        <p:spPr>
          <a:xfrm>
            <a:off x="2665440" y="2597040"/>
            <a:ext cx="785880" cy="78588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85" name="Picture 24" descr="lightbulb.png"/>
          <p:cNvPicPr/>
          <p:nvPr/>
        </p:nvPicPr>
        <p:blipFill>
          <a:blip r:embed="rId2"/>
          <a:stretch/>
        </p:blipFill>
        <p:spPr>
          <a:xfrm>
            <a:off x="283860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6" name="TextBox 25"/>
          <p:cNvSpPr/>
          <p:nvPr/>
        </p:nvSpPr>
        <p:spPr>
          <a:xfrm>
            <a:off x="2327040" y="3429000"/>
            <a:ext cx="14626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靠例子学习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Box 26"/>
          <p:cNvSpPr/>
          <p:nvPr/>
        </p:nvSpPr>
        <p:spPr>
          <a:xfrm>
            <a:off x="234540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zh-CN" sz="100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看得越多，学得越好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Rounded Rectangle 27"/>
          <p:cNvSpPr/>
          <p:nvPr/>
        </p:nvSpPr>
        <p:spPr>
          <a:xfrm>
            <a:off x="397764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9" name="Rounded Rectangle 28"/>
          <p:cNvSpPr/>
          <p:nvPr/>
        </p:nvSpPr>
        <p:spPr>
          <a:xfrm>
            <a:off x="397764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0" name="Rounded Rectangle 29"/>
          <p:cNvSpPr/>
          <p:nvPr/>
        </p:nvSpPr>
        <p:spPr>
          <a:xfrm>
            <a:off x="397764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3FC7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Box 30"/>
          <p:cNvSpPr/>
          <p:nvPr/>
        </p:nvSpPr>
        <p:spPr>
          <a:xfrm>
            <a:off x="397764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3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Oval 31"/>
          <p:cNvSpPr/>
          <p:nvPr/>
        </p:nvSpPr>
        <p:spPr>
          <a:xfrm>
            <a:off x="4370760" y="2597040"/>
            <a:ext cx="785880" cy="785880"/>
          </a:xfrm>
          <a:prstGeom prst="ellipse">
            <a:avLst/>
          </a:prstGeom>
          <a:solidFill>
            <a:srgbClr val="3FC79A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93" name="Picture 32" descr="gauge.png"/>
          <p:cNvPicPr/>
          <p:nvPr/>
        </p:nvPicPr>
        <p:blipFill>
          <a:blip r:embed="rId3"/>
          <a:stretch/>
        </p:blipFill>
        <p:spPr>
          <a:xfrm>
            <a:off x="454392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TextBox 33"/>
          <p:cNvSpPr/>
          <p:nvPr/>
        </p:nvSpPr>
        <p:spPr>
          <a:xfrm>
            <a:off x="4032360" y="3429000"/>
            <a:ext cx="14626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能干也会错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Box 34"/>
          <p:cNvSpPr/>
          <p:nvPr/>
        </p:nvSpPr>
        <p:spPr>
          <a:xfrm>
            <a:off x="405072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zh-CN" sz="100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很厉害，但别全信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Rounded Rectangle 35"/>
          <p:cNvSpPr/>
          <p:nvPr/>
        </p:nvSpPr>
        <p:spPr>
          <a:xfrm>
            <a:off x="568296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7" name="Rounded Rectangle 36"/>
          <p:cNvSpPr/>
          <p:nvPr/>
        </p:nvSpPr>
        <p:spPr>
          <a:xfrm>
            <a:off x="568296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8" name="Rounded Rectangle 37"/>
          <p:cNvSpPr/>
          <p:nvPr/>
        </p:nvSpPr>
        <p:spPr>
          <a:xfrm>
            <a:off x="568296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9B7E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9" name="TextBox 38"/>
          <p:cNvSpPr/>
          <p:nvPr/>
        </p:nvSpPr>
        <p:spPr>
          <a:xfrm>
            <a:off x="568296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4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Oval 39"/>
          <p:cNvSpPr/>
          <p:nvPr/>
        </p:nvSpPr>
        <p:spPr>
          <a:xfrm>
            <a:off x="6076080" y="2597040"/>
            <a:ext cx="785880" cy="785880"/>
          </a:xfrm>
          <a:prstGeom prst="ellipse">
            <a:avLst/>
          </a:prstGeom>
          <a:solidFill>
            <a:srgbClr val="9B7EDE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1" name="Picture 40" descr="chat-text.png"/>
          <p:cNvPicPr/>
          <p:nvPr/>
        </p:nvPicPr>
        <p:blipFill>
          <a:blip r:embed="rId4"/>
          <a:stretch/>
        </p:blipFill>
        <p:spPr>
          <a:xfrm>
            <a:off x="624924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Box 41"/>
          <p:cNvSpPr/>
          <p:nvPr/>
        </p:nvSpPr>
        <p:spPr>
          <a:xfrm>
            <a:off x="5737680" y="3429000"/>
            <a:ext cx="14626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当好帮手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42"/>
          <p:cNvSpPr/>
          <p:nvPr/>
        </p:nvSpPr>
        <p:spPr>
          <a:xfrm>
            <a:off x="575604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zh-CN" sz="100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说清楚，你来做主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ounded Rectangle 43"/>
          <p:cNvSpPr/>
          <p:nvPr/>
        </p:nvSpPr>
        <p:spPr>
          <a:xfrm>
            <a:off x="7388280" y="1965960"/>
            <a:ext cx="1572480" cy="214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Rounded Rectangle 44"/>
          <p:cNvSpPr/>
          <p:nvPr/>
        </p:nvSpPr>
        <p:spPr>
          <a:xfrm>
            <a:off x="7388280" y="1965960"/>
            <a:ext cx="1572480" cy="456840"/>
          </a:xfrm>
          <a:prstGeom prst="roundRect">
            <a:avLst>
              <a:gd name="adj" fmla="val 160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Rounded Rectangle 45"/>
          <p:cNvSpPr/>
          <p:nvPr/>
        </p:nvSpPr>
        <p:spPr>
          <a:xfrm>
            <a:off x="7388280" y="2194560"/>
            <a:ext cx="1572480" cy="228240"/>
          </a:xfrm>
          <a:prstGeom prst="roundRect">
            <a:avLst>
              <a:gd name="adj" fmla="val 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7" name="TextBox 46"/>
          <p:cNvSpPr/>
          <p:nvPr/>
        </p:nvSpPr>
        <p:spPr>
          <a:xfrm>
            <a:off x="7388280" y="1984320"/>
            <a:ext cx="1572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Arial Rounded MT Bold"/>
                <a:ea typeface="Hiragino Sans GB"/>
              </a:rPr>
              <a:t>5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Oval 47"/>
          <p:cNvSpPr/>
          <p:nvPr/>
        </p:nvSpPr>
        <p:spPr>
          <a:xfrm>
            <a:off x="7781400" y="2597040"/>
            <a:ext cx="785880" cy="78588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9" name="Picture 48" descr="shield-check.png"/>
          <p:cNvPicPr/>
          <p:nvPr/>
        </p:nvPicPr>
        <p:blipFill>
          <a:blip r:embed="rId5"/>
          <a:stretch/>
        </p:blipFill>
        <p:spPr>
          <a:xfrm>
            <a:off x="7954560" y="2769840"/>
            <a:ext cx="439920" cy="43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" name="TextBox 49"/>
          <p:cNvSpPr/>
          <p:nvPr/>
        </p:nvSpPr>
        <p:spPr>
          <a:xfrm>
            <a:off x="7443360" y="3429000"/>
            <a:ext cx="14626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12000"/>
              </a:lnSpc>
              <a:spcAft>
                <a:spcPts val="201"/>
              </a:spcAft>
            </a:pPr>
            <a:r>
              <a:rPr lang="zh-CN" sz="135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护好秘密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Box 50"/>
          <p:cNvSpPr/>
          <p:nvPr/>
        </p:nvSpPr>
        <p:spPr>
          <a:xfrm>
            <a:off x="7461360" y="3740040"/>
            <a:ext cx="142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algn="ctr" defTabSz="457200">
              <a:lnSpc>
                <a:spcPct val="108000"/>
              </a:lnSpc>
              <a:spcAft>
                <a:spcPts val="300"/>
              </a:spcAft>
            </a:pPr>
            <a:r>
              <a:rPr lang="zh-CN" sz="1000" b="0" u="none" strike="noStrike">
                <a:solidFill>
                  <a:srgbClr val="5A5478"/>
                </a:solidFill>
                <a:effectLst/>
                <a:uFillTx/>
                <a:latin typeface="Arial Rounded MT Bold"/>
                <a:ea typeface="Hiragino Sans GB"/>
              </a:rPr>
              <a:t>拿不准就问大人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Rounded Rectangle 51"/>
          <p:cNvSpPr/>
          <p:nvPr/>
        </p:nvSpPr>
        <p:spPr>
          <a:xfrm>
            <a:off x="8116200" y="4052520"/>
            <a:ext cx="43560" cy="21924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Oval 52"/>
          <p:cNvSpPr/>
          <p:nvPr/>
        </p:nvSpPr>
        <p:spPr>
          <a:xfrm>
            <a:off x="8072280" y="3972240"/>
            <a:ext cx="131400" cy="1314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4" name="4-Point Star 53"/>
          <p:cNvSpPr/>
          <p:nvPr/>
        </p:nvSpPr>
        <p:spPr>
          <a:xfrm>
            <a:off x="8101440" y="4001400"/>
            <a:ext cx="72720" cy="7272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040" rIns="90000" bIns="-32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5" name="Rounded Rectangle 54"/>
          <p:cNvSpPr/>
          <p:nvPr/>
        </p:nvSpPr>
        <p:spPr>
          <a:xfrm>
            <a:off x="772128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6" name="Rounded Rectangle 55"/>
          <p:cNvSpPr/>
          <p:nvPr/>
        </p:nvSpPr>
        <p:spPr>
          <a:xfrm>
            <a:off x="8489160" y="4491360"/>
            <a:ext cx="65520" cy="16056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7" name="Rounded Rectangle 56"/>
          <p:cNvSpPr/>
          <p:nvPr/>
        </p:nvSpPr>
        <p:spPr>
          <a:xfrm>
            <a:off x="7772400" y="4257360"/>
            <a:ext cx="731160" cy="62892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57"/>
          <p:cNvSpPr/>
          <p:nvPr/>
        </p:nvSpPr>
        <p:spPr>
          <a:xfrm>
            <a:off x="7860240" y="4391640"/>
            <a:ext cx="555480" cy="38952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9" name="Oval 58"/>
          <p:cNvSpPr/>
          <p:nvPr/>
        </p:nvSpPr>
        <p:spPr>
          <a:xfrm>
            <a:off x="79664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0" name="Oval 59"/>
          <p:cNvSpPr/>
          <p:nvPr/>
        </p:nvSpPr>
        <p:spPr>
          <a:xfrm>
            <a:off x="799416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1" name="Oval 60"/>
          <p:cNvSpPr/>
          <p:nvPr/>
        </p:nvSpPr>
        <p:spPr>
          <a:xfrm>
            <a:off x="79891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2" name="Oval 61"/>
          <p:cNvSpPr/>
          <p:nvPr/>
        </p:nvSpPr>
        <p:spPr>
          <a:xfrm>
            <a:off x="8211240" y="4506120"/>
            <a:ext cx="98280" cy="982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4480" rIns="90000" bIns="24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Oval 62"/>
          <p:cNvSpPr/>
          <p:nvPr/>
        </p:nvSpPr>
        <p:spPr>
          <a:xfrm>
            <a:off x="8238600" y="4539600"/>
            <a:ext cx="43200" cy="4320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4040" rIns="90000" bIns="-140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4" name="Oval 63"/>
          <p:cNvSpPr/>
          <p:nvPr/>
        </p:nvSpPr>
        <p:spPr>
          <a:xfrm>
            <a:off x="8233920" y="4528800"/>
            <a:ext cx="21240" cy="21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520" rIns="90000" bIns="-295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5" name="Oval 64"/>
          <p:cNvSpPr/>
          <p:nvPr/>
        </p:nvSpPr>
        <p:spPr>
          <a:xfrm>
            <a:off x="795600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6" name="Oval 65"/>
          <p:cNvSpPr/>
          <p:nvPr/>
        </p:nvSpPr>
        <p:spPr>
          <a:xfrm>
            <a:off x="8240040" y="4609080"/>
            <a:ext cx="80280" cy="8028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Arc 66"/>
          <p:cNvSpPr/>
          <p:nvPr/>
        </p:nvSpPr>
        <p:spPr>
          <a:xfrm>
            <a:off x="8028360" y="4557240"/>
            <a:ext cx="219240" cy="21924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32512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Box 67"/>
          <p:cNvSpPr/>
          <p:nvPr/>
        </p:nvSpPr>
        <p:spPr>
          <a:xfrm>
            <a:off x="567000" y="4590360"/>
            <a:ext cx="7131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defTabSz="457200">
              <a:lnSpc>
                <a:spcPct val="112000"/>
              </a:lnSpc>
            </a:pPr>
            <a:r>
              <a:rPr lang="zh-CN" sz="13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你都学会啦 —— 你已经比很多大人更懂 </a:t>
            </a:r>
            <a:r>
              <a:rPr lang="en-US" sz="13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AI </a:t>
            </a:r>
            <a:r>
              <a:rPr lang="zh-CN" sz="1300" b="1" u="none" strike="noStrike">
                <a:solidFill>
                  <a:srgbClr val="3D9BE9"/>
                </a:solidFill>
                <a:effectLst/>
                <a:uFillTx/>
                <a:latin typeface="Arial Rounded MT Bold"/>
                <a:ea typeface="Hiragino Sans GB"/>
              </a:rPr>
              <a:t>了！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gradFill rotWithShape="0">
            <a:gsLst>
              <a:gs pos="0">
                <a:srgbClr val="FFE1C4"/>
              </a:gs>
              <a:gs pos="100000">
                <a:srgbClr val="FFF3E4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0" name="Cloud 2"/>
          <p:cNvSpPr/>
          <p:nvPr/>
        </p:nvSpPr>
        <p:spPr>
          <a:xfrm>
            <a:off x="640080" y="548640"/>
            <a:ext cx="1462680" cy="822600"/>
          </a:xfrm>
          <a:prstGeom prst="cloud">
            <a:avLst/>
          </a:prstGeom>
          <a:solidFill>
            <a:srgbClr val="FFFFFF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Sun 3"/>
          <p:cNvSpPr/>
          <p:nvPr/>
        </p:nvSpPr>
        <p:spPr>
          <a:xfrm>
            <a:off x="7795440" y="388800"/>
            <a:ext cx="868320" cy="868320"/>
          </a:xfrm>
          <a:prstGeom prst="sun">
            <a:avLst>
              <a:gd name="adj" fmla="val 25000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2" name="5-Point Star 4"/>
          <p:cNvSpPr/>
          <p:nvPr/>
        </p:nvSpPr>
        <p:spPr>
          <a:xfrm>
            <a:off x="3163680" y="374760"/>
            <a:ext cx="255600" cy="2556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3" name="4-Point Star 5"/>
          <p:cNvSpPr/>
          <p:nvPr/>
        </p:nvSpPr>
        <p:spPr>
          <a:xfrm>
            <a:off x="4827960" y="758880"/>
            <a:ext cx="219240" cy="219240"/>
          </a:xfrm>
          <a:prstGeom prst="star4">
            <a:avLst>
              <a:gd name="adj" fmla="val 12500"/>
            </a:avLst>
          </a:prstGeom>
          <a:solidFill>
            <a:srgbClr val="FF6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480" rIns="90000" bIns="-64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Heart 6"/>
          <p:cNvSpPr/>
          <p:nvPr/>
        </p:nvSpPr>
        <p:spPr>
          <a:xfrm>
            <a:off x="6446520" y="320040"/>
            <a:ext cx="273960" cy="27396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5" name="Oval 7"/>
          <p:cNvSpPr/>
          <p:nvPr/>
        </p:nvSpPr>
        <p:spPr>
          <a:xfrm>
            <a:off x="1755720" y="1207080"/>
            <a:ext cx="145800" cy="145800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4-Point Star 8"/>
          <p:cNvSpPr/>
          <p:nvPr/>
        </p:nvSpPr>
        <p:spPr>
          <a:xfrm>
            <a:off x="7397640" y="1454040"/>
            <a:ext cx="200880" cy="200880"/>
          </a:xfrm>
          <a:prstGeom prst="star4">
            <a:avLst>
              <a:gd name="adj" fmla="val 12500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Rounded Rectangle 9"/>
          <p:cNvSpPr/>
          <p:nvPr/>
        </p:nvSpPr>
        <p:spPr>
          <a:xfrm>
            <a:off x="0" y="4526280"/>
            <a:ext cx="9143640" cy="61704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8" name="Rounded Rectangle 10"/>
          <p:cNvSpPr/>
          <p:nvPr/>
        </p:nvSpPr>
        <p:spPr>
          <a:xfrm>
            <a:off x="7026120" y="1635120"/>
            <a:ext cx="120240" cy="60300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9" name="Oval 11"/>
          <p:cNvSpPr/>
          <p:nvPr/>
        </p:nvSpPr>
        <p:spPr>
          <a:xfrm>
            <a:off x="6905520" y="1413720"/>
            <a:ext cx="361800" cy="361800"/>
          </a:xfrm>
          <a:prstGeom prst="ellipse">
            <a:avLst/>
          </a:prstGeom>
          <a:solidFill>
            <a:srgbClr val="FFC9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0" name="4-Point Star 12"/>
          <p:cNvSpPr/>
          <p:nvPr/>
        </p:nvSpPr>
        <p:spPr>
          <a:xfrm>
            <a:off x="6986160" y="1494000"/>
            <a:ext cx="200880" cy="200880"/>
          </a:xfrm>
          <a:prstGeom prst="star4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9720" rIns="90000" bIns="-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Rounded Rectangle 13"/>
          <p:cNvSpPr/>
          <p:nvPr/>
        </p:nvSpPr>
        <p:spPr>
          <a:xfrm>
            <a:off x="594000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2" name="Rounded Rectangle 14"/>
          <p:cNvSpPr/>
          <p:nvPr/>
        </p:nvSpPr>
        <p:spPr>
          <a:xfrm>
            <a:off x="8052120" y="2841840"/>
            <a:ext cx="180720" cy="44208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3" name="Rounded Rectangle 15"/>
          <p:cNvSpPr/>
          <p:nvPr/>
        </p:nvSpPr>
        <p:spPr>
          <a:xfrm>
            <a:off x="6080760" y="2198160"/>
            <a:ext cx="2011320" cy="172980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4" name="Rounded Rectangle 16"/>
          <p:cNvSpPr/>
          <p:nvPr/>
        </p:nvSpPr>
        <p:spPr>
          <a:xfrm>
            <a:off x="6322320" y="2567160"/>
            <a:ext cx="1528560" cy="107244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Oval 17"/>
          <p:cNvSpPr/>
          <p:nvPr/>
        </p:nvSpPr>
        <p:spPr>
          <a:xfrm>
            <a:off x="661428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6" name="Oval 18"/>
          <p:cNvSpPr/>
          <p:nvPr/>
        </p:nvSpPr>
        <p:spPr>
          <a:xfrm>
            <a:off x="669060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7" name="Oval 19"/>
          <p:cNvSpPr/>
          <p:nvPr/>
        </p:nvSpPr>
        <p:spPr>
          <a:xfrm>
            <a:off x="667692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8" name="Oval 20"/>
          <p:cNvSpPr/>
          <p:nvPr/>
        </p:nvSpPr>
        <p:spPr>
          <a:xfrm>
            <a:off x="7287120" y="2881800"/>
            <a:ext cx="271080" cy="271080"/>
          </a:xfrm>
          <a:prstGeom prst="ellipse">
            <a:avLst/>
          </a:prstGeom>
          <a:solidFill>
            <a:srgbClr val="EAF6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Oval 21"/>
          <p:cNvSpPr/>
          <p:nvPr/>
        </p:nvSpPr>
        <p:spPr>
          <a:xfrm>
            <a:off x="7363080" y="2974320"/>
            <a:ext cx="119160" cy="119160"/>
          </a:xfrm>
          <a:prstGeom prst="ellipse">
            <a:avLst/>
          </a:prstGeom>
          <a:solidFill>
            <a:srgbClr val="2E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9600" rIns="90000" bIns="396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0" name="Oval 22"/>
          <p:cNvSpPr/>
          <p:nvPr/>
        </p:nvSpPr>
        <p:spPr>
          <a:xfrm>
            <a:off x="7349760" y="2944440"/>
            <a:ext cx="59400" cy="59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880" rIns="90000" bIns="-28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1" name="Oval 23"/>
          <p:cNvSpPr/>
          <p:nvPr/>
        </p:nvSpPr>
        <p:spPr>
          <a:xfrm>
            <a:off x="658512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2" name="Oval 24"/>
          <p:cNvSpPr/>
          <p:nvPr/>
        </p:nvSpPr>
        <p:spPr>
          <a:xfrm>
            <a:off x="7366680" y="3165120"/>
            <a:ext cx="221040" cy="221040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3" name="Arc 25"/>
          <p:cNvSpPr/>
          <p:nvPr/>
        </p:nvSpPr>
        <p:spPr>
          <a:xfrm>
            <a:off x="6784920" y="3022920"/>
            <a:ext cx="603000" cy="603000"/>
          </a:xfrm>
          <a:prstGeom prst="arc">
            <a:avLst>
              <a:gd name="adj1" fmla="val 2500000"/>
              <a:gd name="adj2" fmla="val 15500000"/>
            </a:avLst>
          </a:prstGeom>
          <a:noFill/>
          <a:ln cap="rnd" w="89408">
            <a:solidFill>
              <a:srgbClr val="EAF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Rounded Rectangle 26"/>
          <p:cNvSpPr/>
          <p:nvPr/>
        </p:nvSpPr>
        <p:spPr>
          <a:xfrm>
            <a:off x="6382440" y="3888000"/>
            <a:ext cx="1407960" cy="844560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5" name="Rounded Rectangle 27"/>
          <p:cNvSpPr/>
          <p:nvPr/>
        </p:nvSpPr>
        <p:spPr>
          <a:xfrm rot="20400000">
            <a:off x="6060600" y="39279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6" name="Rounded Rectangle 28"/>
          <p:cNvSpPr/>
          <p:nvPr/>
        </p:nvSpPr>
        <p:spPr>
          <a:xfrm rot="2700000">
            <a:off x="7689960" y="3566160"/>
            <a:ext cx="402120" cy="180720"/>
          </a:xfrm>
          <a:prstGeom prst="roundRect">
            <a:avLst>
              <a:gd name="adj" fmla="val 16667"/>
            </a:avLst>
          </a:prstGeom>
          <a:solidFill>
            <a:srgbClr val="3D9B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Heart 29"/>
          <p:cNvSpPr/>
          <p:nvPr/>
        </p:nvSpPr>
        <p:spPr>
          <a:xfrm>
            <a:off x="5696640" y="1947600"/>
            <a:ext cx="310680" cy="310680"/>
          </a:xfrm>
          <a:prstGeom prst="hear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8" name="Heart 30"/>
          <p:cNvSpPr/>
          <p:nvPr/>
        </p:nvSpPr>
        <p:spPr>
          <a:xfrm>
            <a:off x="8247960" y="2395800"/>
            <a:ext cx="237240" cy="237240"/>
          </a:xfrm>
          <a:prstGeom prst="heart">
            <a:avLst/>
          </a:prstGeom>
          <a:solidFill>
            <a:srgbClr val="9B7EDE">
              <a:alpha val="9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9" name="Rounded Rectangle 31"/>
          <p:cNvSpPr/>
          <p:nvPr/>
        </p:nvSpPr>
        <p:spPr>
          <a:xfrm>
            <a:off x="713160" y="1508760"/>
            <a:ext cx="2285640" cy="438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45720" dir="5400000" dist="4104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Box 32"/>
          <p:cNvSpPr/>
          <p:nvPr/>
        </p:nvSpPr>
        <p:spPr>
          <a:xfrm>
            <a:off x="713160" y="1508760"/>
            <a:ext cx="2285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spAutoFit/>
          </a:bodyPr>
          <a:p>
            <a:pPr algn="ctr" defTabSz="457200">
              <a:lnSpc>
                <a:spcPct val="112000"/>
              </a:lnSpc>
            </a:pPr>
            <a:r>
              <a:rPr lang="zh-CN" sz="1300" b="1" u="none" strike="noStrike">
                <a:solidFill>
                  <a:srgbClr val="2274B0"/>
                </a:solidFill>
                <a:effectLst/>
                <a:uFillTx/>
                <a:latin typeface="Arial Rounded MT Bold"/>
                <a:ea typeface="Hiragino Sans GB"/>
              </a:rPr>
              <a:t>最后，记住一句话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Box 33"/>
          <p:cNvSpPr/>
          <p:nvPr/>
        </p:nvSpPr>
        <p:spPr>
          <a:xfrm>
            <a:off x="658440" y="2148840"/>
            <a:ext cx="5668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zh-CN" sz="34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工具再聪明，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zh-CN" sz="3400" b="1" u="none" strike="noStrike">
                <a:solidFill>
                  <a:srgbClr val="2E2A4A"/>
                </a:solidFill>
                <a:effectLst/>
                <a:uFillTx/>
                <a:latin typeface="Arial Rounded MT Bold"/>
                <a:ea typeface="Hiragino Sans GB"/>
              </a:rPr>
              <a:t>做决定的还是你。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34"/>
          <p:cNvSpPr/>
          <p:nvPr/>
        </p:nvSpPr>
        <p:spPr>
          <a:xfrm>
            <a:off x="749880" y="370332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  <a:spcAft>
                <a:spcPts val="300"/>
              </a:spcAft>
            </a:pPr>
            <a:r>
              <a:rPr lang="zh-CN" sz="1500" b="1" u="none" strike="noStrike">
                <a:solidFill>
                  <a:srgbClr val="504A6E"/>
                </a:solidFill>
                <a:effectLst/>
                <a:uFillTx/>
                <a:latin typeface="Arial Rounded MT Bold"/>
                <a:ea typeface="Hiragino Sans GB"/>
              </a:rPr>
              <a:t>带着好奇心，去发现更多有意思的事吧！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35"/>
          <p:cNvSpPr/>
          <p:nvPr/>
        </p:nvSpPr>
        <p:spPr>
          <a:xfrm>
            <a:off x="567000" y="48279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slide-maker · </a:t>
            </a:r>
            <a:r>
              <a:rPr lang="zh-CN" sz="950" b="1" u="none" strike="noStrike">
                <a:solidFill>
                  <a:srgbClr val="6E6788"/>
                </a:solidFill>
                <a:effectLst/>
                <a:uFillTx/>
                <a:latin typeface="Arial Rounded MT Bold"/>
                <a:ea typeface="Hiragino Sans GB"/>
              </a:rPr>
              <a:t>示例模板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zh-CN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