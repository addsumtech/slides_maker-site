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开场：小朋友们好！今天我们要认识一个新朋友，它叫 AI。先别急着记定义，我们一起玩着搞懂它。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先看看今天要去的五站：AI 藏在哪、它怎么学习、它会什么又不会什么、我们怎么和它相处、还有安全小提醒。跟着小 AI 出发吧！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问问同学们：早上到现在，你用过哪些东西？语音音箱、刷的短视频、拍照、翻译、游戏、地图——这些背后都有 AI。它其实离我们很近。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 AI 到底是什么？它是一种电脑程序，不像计算器只会算固定的题；它能看很多例子，自己找规律，学会一项本领。记住这三步：看例子、找规律、学本领。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打个比方：你小时候是怎么认识‘猫’的？是看了好多好多猫，慢慢记住了猫的样子。AI 也一样，看成千上万张猫的照片，自己学会认猫。没人告诉它猫有胡须和尾巴哦。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而且它会‘练习’：先猜一猜，有人告诉它对不对，它就改一改，再来一次。就像学骑自行车，练得越多越稳。AI 练得越多，也就越准。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有很多超能力：记性特别好、算得飞快、重复一万遍也不累、还能在一大堆东西里找出相似的规律。这些它比我们厉害多啦。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但是它也有短板：它会犯错，还会很有把握地说错话——比如‘恐龙住在南极’，说得像真的一样，其实是编的。所以它说的话，我们要自己动脑想一想。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怎么和它相处呢？第一，把问题说清楚；第二，答案自己检查；第三，拿不准就问老师和爸妈；第四，你才是小主人，最后由你来做决定。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安全最重要：可以用它查资料、练英语、找灵感；但别把真名、家住哪、密码告诉它；遇到不舒服的内容，马上告诉大人；重要的事别一个人偷偷决定。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我们把今天串一串：AI 住在生活里、靠例子学习、很能干但也会错、要当好帮手你来做主、还要护好自己的小秘密。你都学会啦！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最后送大家一句话：工具再聪明，做决定的还是你。带着好奇心，去发现更多有意思的事情吧！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3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FFE1C4">
                  <a:alpha val="100000"/>
                </a:srgbClr>
              </a:gs>
              <a:gs pos="100000">
                <a:srgbClr val="FFF3E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un 2"/>
          <p:cNvSpPr/>
          <p:nvPr/>
        </p:nvSpPr>
        <p:spPr>
          <a:xfrm>
            <a:off x="594359" y="411479"/>
            <a:ext cx="914400" cy="914400"/>
          </a:xfrm>
          <a:prstGeom prst="sun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loud 3"/>
          <p:cNvSpPr/>
          <p:nvPr/>
        </p:nvSpPr>
        <p:spPr>
          <a:xfrm>
            <a:off x="5669280" y="502920"/>
            <a:ext cx="1554480" cy="868680"/>
          </a:xfrm>
          <a:prstGeom prst="cloud">
            <a:avLst/>
          </a:prstGeom>
          <a:solidFill>
            <a:srgbClr val="FFFF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loud 4"/>
          <p:cNvSpPr/>
          <p:nvPr/>
        </p:nvSpPr>
        <p:spPr>
          <a:xfrm>
            <a:off x="7680960" y="1371600"/>
            <a:ext cx="1371600" cy="777240"/>
          </a:xfrm>
          <a:prstGeom prst="cloud">
            <a:avLst/>
          </a:prstGeom>
          <a:solidFill>
            <a:srgbClr val="FFFF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2807208" y="338328"/>
            <a:ext cx="237744" cy="237744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5-Point Star 6"/>
          <p:cNvSpPr/>
          <p:nvPr/>
        </p:nvSpPr>
        <p:spPr>
          <a:xfrm>
            <a:off x="4069079" y="685800"/>
            <a:ext cx="274320" cy="274320"/>
          </a:xfrm>
          <a:prstGeom prst="star5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eart 7"/>
          <p:cNvSpPr/>
          <p:nvPr/>
        </p:nvSpPr>
        <p:spPr>
          <a:xfrm>
            <a:off x="8275319" y="502919"/>
            <a:ext cx="274320" cy="27432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121408" y="1481328"/>
            <a:ext cx="146304" cy="146304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4-Point Star 9"/>
          <p:cNvSpPr/>
          <p:nvPr/>
        </p:nvSpPr>
        <p:spPr>
          <a:xfrm>
            <a:off x="5029200" y="274320"/>
            <a:ext cx="182880" cy="182880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0" y="4526280"/>
            <a:ext cx="9144000" cy="61722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895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9743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83591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37439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12871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5135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98983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831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066791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605272" y="4251959"/>
            <a:ext cx="128016" cy="128016"/>
          </a:xfrm>
          <a:prstGeom prst="ellipse">
            <a:avLst/>
          </a:prstGeom>
          <a:solidFill>
            <a:srgbClr val="9B7EDE">
              <a:alpha val="6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39254" y="1720443"/>
            <a:ext cx="128930" cy="64465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10324" y="1484071"/>
            <a:ext cx="386791" cy="386791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4-Point Star 23"/>
          <p:cNvSpPr/>
          <p:nvPr/>
        </p:nvSpPr>
        <p:spPr>
          <a:xfrm>
            <a:off x="6796278" y="1570024"/>
            <a:ext cx="214884" cy="214884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678881" y="3009747"/>
            <a:ext cx="193395" cy="47274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935163" y="3009747"/>
            <a:ext cx="193395" cy="47274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29300" y="2322118"/>
            <a:ext cx="2148840" cy="1848002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87160" y="2716216"/>
            <a:ext cx="1633118" cy="1145761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99387" y="3052389"/>
            <a:ext cx="290093" cy="290093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80613" y="3151020"/>
            <a:ext cx="127641" cy="127641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466108" y="3119110"/>
            <a:ext cx="63820" cy="638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117959" y="3052389"/>
            <a:ext cx="290093" cy="290093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99185" y="3151020"/>
            <a:ext cx="127641" cy="127641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84680" y="3119110"/>
            <a:ext cx="63820" cy="638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68229" y="3354838"/>
            <a:ext cx="236372" cy="236372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202838" y="3354838"/>
            <a:ext cx="236372" cy="236372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Arc 36"/>
          <p:cNvSpPr/>
          <p:nvPr/>
        </p:nvSpPr>
        <p:spPr>
          <a:xfrm>
            <a:off x="6581394" y="3203057"/>
            <a:ext cx="644652" cy="644652"/>
          </a:xfrm>
          <a:prstGeom prst="arc">
            <a:avLst>
              <a:gd name="adj1" fmla="val 2500000"/>
              <a:gd name="adj2" fmla="val 15500000"/>
            </a:avLst>
          </a:prstGeom>
          <a:noFill/>
          <a:ln w="95504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51626" y="4127144"/>
            <a:ext cx="1504188" cy="902512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 rot="20400000">
            <a:off x="5807811" y="4170121"/>
            <a:ext cx="429768" cy="193395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 rot="2700000">
            <a:off x="7548372" y="3783329"/>
            <a:ext cx="429768" cy="193395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4-Point Star 40"/>
          <p:cNvSpPr/>
          <p:nvPr/>
        </p:nvSpPr>
        <p:spPr>
          <a:xfrm>
            <a:off x="5705855" y="2185416"/>
            <a:ext cx="201168" cy="201168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713232" y="1847088"/>
            <a:ext cx="265176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1847088"/>
            <a:ext cx="2651760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C0453B"/>
                </a:solidFill>
                <a:latin typeface="Arial Rounded MT Bold"/>
                <a:ea typeface="Hiragino Sans GB"/>
              </a:rPr>
              <a:t>写给小朋友的第一堂课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2395728"/>
            <a:ext cx="5669280" cy="11811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6200" b="1" i="0">
                <a:solidFill>
                  <a:srgbClr val="2E2A4A"/>
                </a:solidFill>
                <a:latin typeface="Arial Rounded MT Bold"/>
                <a:ea typeface="Hiragino Sans GB"/>
              </a:rPr>
              <a:t>什么是 AI？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3611880"/>
            <a:ext cx="5486400" cy="8686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504A6E"/>
                </a:solidFill>
                <a:latin typeface="Arial Rounded MT Bold"/>
                <a:ea typeface="Hiragino Sans GB"/>
              </a:rPr>
              <a:t>一起认识我们身边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 i="0">
                <a:solidFill>
                  <a:srgbClr val="504A6E"/>
                </a:solidFill>
                <a:latin typeface="Arial Rounded MT Bold"/>
                <a:ea typeface="Hiragino Sans GB"/>
              </a:rPr>
              <a:t>这个聪明的小帮手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828032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E6788"/>
                </a:solidFill>
                <a:latin typeface="Arial Rounded MT Bold"/>
                <a:ea typeface="Hiragino Sans GB"/>
              </a:rPr>
              <a:t>slide-maker · 示例模板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09728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C93C"/>
                </a:solidFill>
                <a:latin typeface="Arial Rounded MT Bold"/>
                <a:ea typeface="Hiragino Sans GB"/>
              </a:rPr>
              <a:t>出发啦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今天的 AI 探险地图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" y="1627632"/>
            <a:ext cx="5943600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50" b="1" i="0">
                <a:solidFill>
                  <a:srgbClr val="6E6788"/>
                </a:solidFill>
                <a:latin typeface="Arial Rounded MT Bold"/>
                <a:ea typeface="Hiragino Sans GB"/>
              </a:rPr>
              <a:t>跟着小 AI，一站一站往前走</a:t>
            </a:r>
          </a:p>
        </p:txBody>
      </p:sp>
      <p:sp>
        <p:nvSpPr>
          <p:cNvPr id="13" name="Oval 12"/>
          <p:cNvSpPr/>
          <p:nvPr/>
        </p:nvSpPr>
        <p:spPr>
          <a:xfrm>
            <a:off x="1805940" y="3396996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014423" y="3250691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22906" y="3104387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431389" y="2958084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39872" y="2811779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848356" y="2665475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360420" y="2665475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578047" y="2811779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795674" y="2958084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013301" y="3104387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30928" y="3250691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448556" y="3396996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4960620" y="3396996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178247" y="3250691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95874" y="3104387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13501" y="2958084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31128" y="2811779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048756" y="2665475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560820" y="2665475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015" y="2811779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941210" y="2958084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131405" y="3104387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21600" y="3250691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511796" y="3396996"/>
            <a:ext cx="100584" cy="100584"/>
          </a:xfrm>
          <a:prstGeom prst="ellipse">
            <a:avLst/>
          </a:prstGeom>
          <a:solidFill>
            <a:srgbClr val="8C86A8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179576" y="3191256"/>
            <a:ext cx="841248" cy="841248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map-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3410712"/>
            <a:ext cx="402336" cy="402336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709928" y="313639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09928" y="3136392"/>
            <a:ext cx="36576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D9BE9"/>
                </a:solidFill>
                <a:latin typeface="Arial Rounded MT Bold"/>
                <a:ea typeface="Hiragino Sans GB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23944"/>
            <a:ext cx="192024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藏在生活里</a:t>
            </a:r>
          </a:p>
        </p:txBody>
      </p:sp>
      <p:sp>
        <p:nvSpPr>
          <p:cNvPr id="42" name="Oval 41"/>
          <p:cNvSpPr/>
          <p:nvPr/>
        </p:nvSpPr>
        <p:spPr>
          <a:xfrm>
            <a:off x="2734056" y="2459736"/>
            <a:ext cx="841248" cy="841248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3512" y="2679191"/>
            <a:ext cx="402336" cy="402336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3264408" y="24048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264408" y="2404872"/>
            <a:ext cx="36576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C93C"/>
                </a:solidFill>
                <a:latin typeface="Arial Rounded MT Bold"/>
                <a:ea typeface="Hiragino Sans GB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2039112"/>
            <a:ext cx="192024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它怎么学习</a:t>
            </a:r>
          </a:p>
        </p:txBody>
      </p:sp>
      <p:sp>
        <p:nvSpPr>
          <p:cNvPr id="47" name="Oval 46"/>
          <p:cNvSpPr/>
          <p:nvPr/>
        </p:nvSpPr>
        <p:spPr>
          <a:xfrm>
            <a:off x="4334256" y="3191256"/>
            <a:ext cx="841248" cy="841248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gau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53712" y="3410712"/>
            <a:ext cx="402336" cy="402336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4864608" y="313639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64608" y="3136392"/>
            <a:ext cx="36576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3FC79A"/>
                </a:solidFill>
                <a:latin typeface="Arial Rounded MT Bold"/>
                <a:ea typeface="Hiragino Sans GB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94760" y="4123944"/>
            <a:ext cx="192024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会什么不会什么</a:t>
            </a:r>
          </a:p>
        </p:txBody>
      </p:sp>
      <p:sp>
        <p:nvSpPr>
          <p:cNvPr id="52" name="Oval 51"/>
          <p:cNvSpPr/>
          <p:nvPr/>
        </p:nvSpPr>
        <p:spPr>
          <a:xfrm>
            <a:off x="5934456" y="2459736"/>
            <a:ext cx="841248" cy="841248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chat-tex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53912" y="2679191"/>
            <a:ext cx="402336" cy="402336"/>
          </a:xfrm>
          <a:prstGeom prst="rect">
            <a:avLst/>
          </a:prstGeom>
        </p:spPr>
      </p:pic>
      <p:sp>
        <p:nvSpPr>
          <p:cNvPr id="54" name="Oval 53"/>
          <p:cNvSpPr/>
          <p:nvPr/>
        </p:nvSpPr>
        <p:spPr>
          <a:xfrm>
            <a:off x="6464808" y="24048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64808" y="2404872"/>
            <a:ext cx="36576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9B7EDE"/>
                </a:solidFill>
                <a:latin typeface="Arial Rounded MT Bold"/>
                <a:ea typeface="Hiragino Sans GB"/>
              </a:rPr>
              <a:t>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2039112"/>
            <a:ext cx="192024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怎么和它相处</a:t>
            </a:r>
          </a:p>
        </p:txBody>
      </p:sp>
      <p:sp>
        <p:nvSpPr>
          <p:cNvPr id="57" name="Oval 56"/>
          <p:cNvSpPr/>
          <p:nvPr/>
        </p:nvSpPr>
        <p:spPr>
          <a:xfrm>
            <a:off x="7397496" y="3191256"/>
            <a:ext cx="841248" cy="84124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shield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6952" y="3410712"/>
            <a:ext cx="402336" cy="402336"/>
          </a:xfrm>
          <a:prstGeom prst="rect">
            <a:avLst/>
          </a:prstGeom>
        </p:spPr>
      </p:pic>
      <p:sp>
        <p:nvSpPr>
          <p:cNvPr id="59" name="Oval 58"/>
          <p:cNvSpPr/>
          <p:nvPr/>
        </p:nvSpPr>
        <p:spPr>
          <a:xfrm>
            <a:off x="7927848" y="313639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927848" y="3136392"/>
            <a:ext cx="36576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6B6B"/>
                </a:solidFill>
                <a:latin typeface="Arial Rounded MT Bold"/>
                <a:ea typeface="Hiragino Sans GB"/>
              </a:rPr>
              <a:t>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858000" y="4123944"/>
            <a:ext cx="1920240" cy="34747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安全小提醒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89640" y="2568915"/>
            <a:ext cx="47183" cy="235915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642457" y="2482413"/>
            <a:ext cx="141549" cy="141549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4-Point Star 63"/>
          <p:cNvSpPr/>
          <p:nvPr/>
        </p:nvSpPr>
        <p:spPr>
          <a:xfrm>
            <a:off x="673912" y="2513868"/>
            <a:ext cx="78638" cy="78638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264993" y="3040745"/>
            <a:ext cx="70774" cy="17300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1090696" y="3040745"/>
            <a:ext cx="70774" cy="17300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ounded Rectangle 66"/>
          <p:cNvSpPr/>
          <p:nvPr/>
        </p:nvSpPr>
        <p:spPr>
          <a:xfrm>
            <a:off x="320040" y="2789102"/>
            <a:ext cx="786384" cy="676290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14406" y="2933325"/>
            <a:ext cx="597651" cy="419299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28667" y="3056350"/>
            <a:ext cx="106161" cy="106161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558392" y="3092445"/>
            <a:ext cx="46711" cy="46711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553084" y="3080767"/>
            <a:ext cx="23355" cy="233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91634" y="3056350"/>
            <a:ext cx="106161" cy="106161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21359" y="3092445"/>
            <a:ext cx="46711" cy="46711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6051" y="3080767"/>
            <a:ext cx="23355" cy="2335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517265" y="3167034"/>
            <a:ext cx="86502" cy="86502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22696" y="3167034"/>
            <a:ext cx="86502" cy="86502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Arc 76"/>
          <p:cNvSpPr/>
          <p:nvPr/>
        </p:nvSpPr>
        <p:spPr>
          <a:xfrm>
            <a:off x="595274" y="3111488"/>
            <a:ext cx="235915" cy="235915"/>
          </a:xfrm>
          <a:prstGeom prst="arc">
            <a:avLst>
              <a:gd name="adj1" fmla="val 2500000"/>
              <a:gd name="adj2" fmla="val 15500000"/>
            </a:avLst>
          </a:prstGeom>
          <a:noFill/>
          <a:ln w="34950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975103" cy="36576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975103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9BE9"/>
                </a:solidFill>
                <a:latin typeface="Arial Rounded MT Bold"/>
                <a:ea typeface="Hiragino Sans GB"/>
              </a:rPr>
              <a:t>① AI 在生活里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AI 就藏在你每天用的东西里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43442" y="499719"/>
            <a:ext cx="46634" cy="23317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96808" y="414223"/>
            <a:ext cx="139903" cy="139903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4-Point Star 13"/>
          <p:cNvSpPr/>
          <p:nvPr/>
        </p:nvSpPr>
        <p:spPr>
          <a:xfrm>
            <a:off x="8327898" y="445312"/>
            <a:ext cx="77724" cy="77724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3733" y="966063"/>
            <a:ext cx="69951" cy="17099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9835" y="966063"/>
            <a:ext cx="69951" cy="17099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78140" y="717346"/>
            <a:ext cx="777240" cy="668426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1408" y="859892"/>
            <a:ext cx="590702" cy="414424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84341" y="981487"/>
            <a:ext cx="104927" cy="104927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13721" y="1017162"/>
            <a:ext cx="46168" cy="46168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08475" y="1005620"/>
            <a:ext cx="23084" cy="230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44250" y="981487"/>
            <a:ext cx="104927" cy="104927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73630" y="1017162"/>
            <a:ext cx="46168" cy="46168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68384" y="1005620"/>
            <a:ext cx="23084" cy="230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73071" y="1090883"/>
            <a:ext cx="85496" cy="85496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74951" y="1090883"/>
            <a:ext cx="85496" cy="85496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rc 26"/>
          <p:cNvSpPr/>
          <p:nvPr/>
        </p:nvSpPr>
        <p:spPr>
          <a:xfrm>
            <a:off x="8250174" y="1035984"/>
            <a:ext cx="233172" cy="233172"/>
          </a:xfrm>
          <a:prstGeom prst="arc">
            <a:avLst>
              <a:gd name="adj1" fmla="val 2500000"/>
              <a:gd name="adj2" fmla="val 15500000"/>
            </a:avLst>
          </a:prstGeom>
          <a:noFill/>
          <a:ln w="34544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66928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6384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9BE9"/>
                </a:solidFill>
                <a:latin typeface="Arial Rounded MT Bold"/>
                <a:ea typeface="Hiragino Sans GB"/>
              </a:rPr>
              <a:t>发现了吗  </a:t>
            </a: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这些东西背后，都住着一个 AI —— 它离你其实很近。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1883664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8096" y="1959102"/>
            <a:ext cx="731520" cy="731520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micro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2120036"/>
            <a:ext cx="409651" cy="4096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572768" y="2013966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语音助手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72768" y="2361438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你说话，它就懂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38144" y="1883664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3639312" y="1959102"/>
            <a:ext cx="731520" cy="73152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play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0246" y="2120036"/>
            <a:ext cx="409651" cy="409651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443983" y="2013966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视频推荐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43983" y="2361438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猜你爱看什么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309359" y="1883664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510527" y="1959102"/>
            <a:ext cx="731520" cy="731520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1462" y="2120036"/>
            <a:ext cx="409651" cy="409651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315200" y="2013966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拍照美颜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2361438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自动认出人脸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2985515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68096" y="3060953"/>
            <a:ext cx="731520" cy="73152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transl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" y="3221888"/>
            <a:ext cx="409651" cy="409651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1572768" y="3115818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翻译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72768" y="3463289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中英随时切换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438144" y="2985515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3639312" y="3060953"/>
            <a:ext cx="731520" cy="731520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3" name="Picture 52" descr="game-controll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0246" y="3221888"/>
            <a:ext cx="409651" cy="409651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4443983" y="3115818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游戏对手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443983" y="3463289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会陪你过关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09359" y="2985515"/>
            <a:ext cx="2615184" cy="882395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510527" y="3060953"/>
            <a:ext cx="731520" cy="73152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8" name="Picture 57" descr="map-pi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71462" y="3221888"/>
            <a:ext cx="409651" cy="409651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7315200" y="3115818"/>
            <a:ext cx="1536192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地图导航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463289"/>
            <a:ext cx="1536192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帮你找近路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975103" cy="36576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975103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9BE9"/>
                </a:solidFill>
                <a:latin typeface="Arial Rounded MT Bold"/>
                <a:ea typeface="Hiragino Sans GB"/>
              </a:rPr>
              <a:t>那，它到底是什么？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AI 是会从例子里学本领的电脑帮手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03504" y="1938528"/>
            <a:ext cx="2432304" cy="1554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408176" y="2039112"/>
            <a:ext cx="822960" cy="822960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9227" y="2220163"/>
            <a:ext cx="460857" cy="460857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4944" y="2871216"/>
            <a:ext cx="2249424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看很多例子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182112"/>
            <a:ext cx="22128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成千上万张图片、文字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3191256" y="2596896"/>
            <a:ext cx="256032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02736" y="1938528"/>
            <a:ext cx="2432304" cy="1554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07408" y="2039112"/>
            <a:ext cx="822960" cy="82296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magic-w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8459" y="2220163"/>
            <a:ext cx="460857" cy="4608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94176" y="2871216"/>
            <a:ext cx="2249424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自己找规律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12464" y="3182112"/>
            <a:ext cx="22128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没人一条条教它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190488" y="2596896"/>
            <a:ext cx="256032" cy="237744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8C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601968" y="1938528"/>
            <a:ext cx="2432304" cy="15544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406640" y="2039112"/>
            <a:ext cx="822960" cy="822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med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7691" y="2220163"/>
            <a:ext cx="460857" cy="460857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693408" y="2871216"/>
            <a:ext cx="2249424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学会一项本领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11696" y="3182112"/>
            <a:ext cx="2212848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比如认出图里的小猫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D9BE9"/>
                </a:solidFill>
                <a:latin typeface="Arial Rounded MT Bold"/>
                <a:ea typeface="Hiragino Sans GB"/>
              </a:rPr>
              <a:t>所以呢  </a:t>
            </a: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AI 更像见多识广的小朋友，不是只会背公式的计算器。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536192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C93C"/>
                </a:solidFill>
                <a:latin typeface="Arial Rounded MT Bold"/>
                <a:ea typeface="Hiragino Sans GB"/>
              </a:rPr>
              <a:t>② 打个比方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它靠看很多例子学，就像你认小猫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FFF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C93C"/>
                </a:solidFill>
                <a:latin typeface="Arial Rounded MT Bold"/>
                <a:ea typeface="Hiragino Sans GB"/>
              </a:rPr>
              <a:t>关键  </a:t>
            </a: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没人教它猫有胡须和尾巴 —— 是它自己从好多例子里看出来的。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1874519"/>
            <a:ext cx="4023359" cy="1947672"/>
          </a:xfrm>
          <a:prstGeom prst="roundRect">
            <a:avLst>
              <a:gd name="adj" fmla="val 16000"/>
            </a:avLst>
          </a:prstGeom>
          <a:solidFill>
            <a:srgbClr val="EF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48640" y="2039112"/>
            <a:ext cx="3657599" cy="384048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039112"/>
            <a:ext cx="3657599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 Rounded MT Bold"/>
                <a:ea typeface="Hiragino Sans GB"/>
              </a:rPr>
              <a:t>你怎么认识“猫”？</a:t>
            </a:r>
          </a:p>
        </p:txBody>
      </p:sp>
      <p:sp>
        <p:nvSpPr>
          <p:cNvPr id="18" name="Oval 17"/>
          <p:cNvSpPr/>
          <p:nvPr/>
        </p:nvSpPr>
        <p:spPr>
          <a:xfrm>
            <a:off x="704088" y="248716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587751"/>
            <a:ext cx="256032" cy="256032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1435607" y="2487168"/>
            <a:ext cx="457200" cy="45720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191" y="2587751"/>
            <a:ext cx="256032" cy="256032"/>
          </a:xfrm>
          <a:prstGeom prst="rect">
            <a:avLst/>
          </a:prstGeom>
        </p:spPr>
      </p:pic>
      <p:sp>
        <p:nvSpPr>
          <p:cNvPr id="22" name="Oval 21"/>
          <p:cNvSpPr/>
          <p:nvPr/>
        </p:nvSpPr>
        <p:spPr>
          <a:xfrm>
            <a:off x="2167128" y="2487168"/>
            <a:ext cx="457200" cy="45720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7712" y="2587751"/>
            <a:ext cx="256032" cy="256032"/>
          </a:xfrm>
          <a:prstGeom prst="rect">
            <a:avLst/>
          </a:prstGeom>
        </p:spPr>
      </p:pic>
      <p:sp>
        <p:nvSpPr>
          <p:cNvPr id="24" name="Oval 23"/>
          <p:cNvSpPr/>
          <p:nvPr/>
        </p:nvSpPr>
        <p:spPr>
          <a:xfrm>
            <a:off x="1069848" y="3035808"/>
            <a:ext cx="457200" cy="457200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0431" y="3136391"/>
            <a:ext cx="256032" cy="256032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1801368" y="3035808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1952" y="3136391"/>
            <a:ext cx="256032" cy="256032"/>
          </a:xfrm>
          <a:prstGeom prst="rect">
            <a:avLst/>
          </a:prstGeom>
        </p:spPr>
      </p:pic>
      <p:sp>
        <p:nvSpPr>
          <p:cNvPr id="28" name="Oval 27"/>
          <p:cNvSpPr/>
          <p:nvPr/>
        </p:nvSpPr>
        <p:spPr>
          <a:xfrm>
            <a:off x="2532888" y="3035808"/>
            <a:ext cx="457200" cy="457200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3472" y="3136391"/>
            <a:ext cx="256032" cy="25603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3364991"/>
            <a:ext cx="3657599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2A4A"/>
                </a:solidFill>
                <a:latin typeface="Arial Rounded MT Bold"/>
                <a:ea typeface="Hiragino Sans GB"/>
              </a:rPr>
              <a:t>看过好多好多猫 → 记住了“猫的样子”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1874519"/>
            <a:ext cx="4023359" cy="1947672"/>
          </a:xfrm>
          <a:prstGeom prst="roundRect">
            <a:avLst>
              <a:gd name="adj" fmla="val 16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937760" y="2039112"/>
            <a:ext cx="3657599" cy="384048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2039112"/>
            <a:ext cx="3657599" cy="38404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Arial Rounded MT Bold"/>
                <a:ea typeface="Hiragino Sans GB"/>
              </a:rPr>
              <a:t>AI 怎么认识“猫”？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21808" y="2587752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2660904"/>
            <a:ext cx="237744" cy="237744"/>
          </a:xfrm>
          <a:prstGeom prst="rect">
            <a:avLst/>
          </a:prstGeom>
        </p:spPr>
      </p:pic>
      <p:sp>
        <p:nvSpPr>
          <p:cNvPr id="36" name="Rounded Rectangle 35"/>
          <p:cNvSpPr/>
          <p:nvPr/>
        </p:nvSpPr>
        <p:spPr>
          <a:xfrm>
            <a:off x="5833872" y="2587752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024" y="2660904"/>
            <a:ext cx="237744" cy="237744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6345936" y="2587752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2660904"/>
            <a:ext cx="237744" cy="237744"/>
          </a:xfrm>
          <a:prstGeom prst="rect">
            <a:avLst/>
          </a:prstGeom>
        </p:spPr>
      </p:pic>
      <p:sp>
        <p:nvSpPr>
          <p:cNvPr id="40" name="Rounded Rectangle 39"/>
          <p:cNvSpPr/>
          <p:nvPr/>
        </p:nvSpPr>
        <p:spPr>
          <a:xfrm>
            <a:off x="6858000" y="2587752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2660904"/>
            <a:ext cx="237744" cy="237744"/>
          </a:xfrm>
          <a:prstGeom prst="rect">
            <a:avLst/>
          </a:prstGeom>
        </p:spPr>
      </p:pic>
      <p:sp>
        <p:nvSpPr>
          <p:cNvPr id="42" name="Rounded Rectangle 41"/>
          <p:cNvSpPr/>
          <p:nvPr/>
        </p:nvSpPr>
        <p:spPr>
          <a:xfrm>
            <a:off x="5321808" y="3081528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154680"/>
            <a:ext cx="237744" cy="237744"/>
          </a:xfrm>
          <a:prstGeom prst="rect">
            <a:avLst/>
          </a:prstGeom>
        </p:spPr>
      </p:pic>
      <p:sp>
        <p:nvSpPr>
          <p:cNvPr id="44" name="Rounded Rectangle 43"/>
          <p:cNvSpPr/>
          <p:nvPr/>
        </p:nvSpPr>
        <p:spPr>
          <a:xfrm>
            <a:off x="5833872" y="3081528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7024" y="3154680"/>
            <a:ext cx="237744" cy="237744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6345936" y="3081528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9088" y="3154680"/>
            <a:ext cx="237744" cy="237744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6858000" y="3081528"/>
            <a:ext cx="384048" cy="384048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cat_3D9B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152" y="3154680"/>
            <a:ext cx="237744" cy="23774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937760" y="3364991"/>
            <a:ext cx="3657599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2A4A"/>
                </a:solidFill>
                <a:latin typeface="Arial Rounded MT Bold"/>
                <a:ea typeface="Hiragino Sans GB"/>
              </a:rPr>
              <a:t>看过成千上万张照片 → 学会了认“猫”</a:t>
            </a:r>
          </a:p>
        </p:txBody>
      </p:sp>
      <p:sp>
        <p:nvSpPr>
          <p:cNvPr id="51" name="Oval 50"/>
          <p:cNvSpPr/>
          <p:nvPr/>
        </p:nvSpPr>
        <p:spPr>
          <a:xfrm>
            <a:off x="4288536" y="2564891"/>
            <a:ext cx="566928" cy="566928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88536" y="2564891"/>
            <a:ext cx="566928" cy="566928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2A4A"/>
                </a:solidFill>
                <a:latin typeface="Arial Rounded MT Bold"/>
                <a:ea typeface="Hiragino Sans GB"/>
              </a:rPr>
              <a:t>=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FFF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682496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C93C"/>
                </a:solidFill>
                <a:latin typeface="Arial Rounded MT Bold"/>
                <a:ea typeface="Hiragino Sans GB"/>
              </a:rPr>
              <a:t>② 再多说一点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看得越多、练得越多，它就越准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3409477" y="2069828"/>
            <a:ext cx="555734" cy="555734"/>
          </a:xfrm>
          <a:prstGeom prst="line">
            <a:avLst/>
          </a:prstGeom>
          <a:ln w="27940">
            <a:solidFill>
              <a:srgbClr val="8C8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>
            <a:off x="3409477" y="3683797"/>
            <a:ext cx="555734" cy="555734"/>
          </a:xfrm>
          <a:prstGeom prst="line">
            <a:avLst/>
          </a:prstGeom>
          <a:ln w="27940">
            <a:solidFill>
              <a:srgbClr val="8C8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H="1" flipV="1">
            <a:off x="1795508" y="3683797"/>
            <a:ext cx="555734" cy="555734"/>
          </a:xfrm>
          <a:prstGeom prst="line">
            <a:avLst/>
          </a:prstGeom>
          <a:ln w="27940">
            <a:solidFill>
              <a:srgbClr val="8C8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1795508" y="2069828"/>
            <a:ext cx="555734" cy="555734"/>
          </a:xfrm>
          <a:prstGeom prst="line">
            <a:avLst/>
          </a:prstGeom>
          <a:ln w="27940">
            <a:solidFill>
              <a:srgbClr val="8C86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855122" y="2557393"/>
            <a:ext cx="50474" cy="25237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804647" y="2464856"/>
            <a:ext cx="151424" cy="15142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4-Point Star 17"/>
          <p:cNvSpPr/>
          <p:nvPr/>
        </p:nvSpPr>
        <p:spPr>
          <a:xfrm>
            <a:off x="2838297" y="2498506"/>
            <a:ext cx="84124" cy="84124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2400848" y="3062142"/>
            <a:ext cx="75712" cy="18507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284159" y="3062142"/>
            <a:ext cx="75712" cy="18507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59736" y="2792943"/>
            <a:ext cx="841248" cy="723473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60685" y="2947228"/>
            <a:ext cx="639348" cy="448553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82919" y="3078836"/>
            <a:ext cx="113568" cy="113568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714718" y="3117449"/>
            <a:ext cx="49970" cy="49970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709039" y="3104957"/>
            <a:ext cx="24985" cy="249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964232" y="3078836"/>
            <a:ext cx="113568" cy="113568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996031" y="3117449"/>
            <a:ext cx="49970" cy="49970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2990353" y="3104957"/>
            <a:ext cx="24985" cy="24985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670720" y="3197242"/>
            <a:ext cx="92537" cy="92537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2997461" y="3197242"/>
            <a:ext cx="92537" cy="92537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rc 30"/>
          <p:cNvSpPr/>
          <p:nvPr/>
        </p:nvSpPr>
        <p:spPr>
          <a:xfrm>
            <a:off x="2754172" y="3137821"/>
            <a:ext cx="252374" cy="252374"/>
          </a:xfrm>
          <a:prstGeom prst="arc">
            <a:avLst>
              <a:gd name="adj1" fmla="val 2500000"/>
              <a:gd name="adj2" fmla="val 15500000"/>
            </a:avLst>
          </a:prstGeom>
          <a:noFill/>
          <a:ln w="37388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432304" y="1536192"/>
            <a:ext cx="896112" cy="896112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lightbul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9448" y="1733336"/>
            <a:ext cx="501822" cy="50182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011680" y="2459736"/>
            <a:ext cx="173736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2A4A"/>
                </a:solidFill>
                <a:latin typeface="Arial Rounded MT Bold"/>
                <a:ea typeface="Hiragino Sans GB"/>
              </a:rPr>
              <a:t>猜一猜</a:t>
            </a:r>
          </a:p>
        </p:txBody>
      </p:sp>
      <p:sp>
        <p:nvSpPr>
          <p:cNvPr id="35" name="Oval 34"/>
          <p:cNvSpPr/>
          <p:nvPr/>
        </p:nvSpPr>
        <p:spPr>
          <a:xfrm>
            <a:off x="3803904" y="2706624"/>
            <a:ext cx="896112" cy="896112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check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048" y="2903768"/>
            <a:ext cx="501822" cy="50182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383280" y="3630168"/>
            <a:ext cx="173736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2A4A"/>
                </a:solidFill>
                <a:latin typeface="Arial Rounded MT Bold"/>
                <a:ea typeface="Hiragino Sans GB"/>
              </a:rPr>
              <a:t>看对不对</a:t>
            </a:r>
          </a:p>
        </p:txBody>
      </p:sp>
      <p:sp>
        <p:nvSpPr>
          <p:cNvPr id="38" name="Oval 37"/>
          <p:cNvSpPr/>
          <p:nvPr/>
        </p:nvSpPr>
        <p:spPr>
          <a:xfrm>
            <a:off x="2432304" y="3877056"/>
            <a:ext cx="896112" cy="896112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9448" y="4074200"/>
            <a:ext cx="501822" cy="501822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2011680" y="4800600"/>
            <a:ext cx="173736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2A4A"/>
                </a:solidFill>
                <a:latin typeface="Arial Rounded MT Bold"/>
                <a:ea typeface="Hiragino Sans GB"/>
              </a:rPr>
              <a:t>改进一下</a:t>
            </a:r>
          </a:p>
        </p:txBody>
      </p:sp>
      <p:sp>
        <p:nvSpPr>
          <p:cNvPr id="41" name="Oval 40"/>
          <p:cNvSpPr/>
          <p:nvPr/>
        </p:nvSpPr>
        <p:spPr>
          <a:xfrm>
            <a:off x="1060704" y="2706624"/>
            <a:ext cx="896112" cy="896112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arrows-clockwis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848" y="2903768"/>
            <a:ext cx="501822" cy="50182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40080" y="3630168"/>
            <a:ext cx="1737360" cy="310896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2A4A"/>
                </a:solidFill>
                <a:latin typeface="Arial Rounded MT Bold"/>
                <a:ea typeface="Hiragino Sans GB"/>
              </a:rPr>
              <a:t>再来一次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74920" y="1965960"/>
            <a:ext cx="3566160" cy="2103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257800" y="2185416"/>
            <a:ext cx="768096" cy="7680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arge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6781" y="2354397"/>
            <a:ext cx="430133" cy="430133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35624" y="2276856"/>
            <a:ext cx="2377439" cy="2952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就像你学骑自行车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5624" y="2642615"/>
            <a:ext cx="2377439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6685"/>
                </a:solidFill>
                <a:latin typeface="Arial Rounded MT Bold"/>
                <a:ea typeface="Hiragino Sans GB"/>
              </a:rPr>
              <a:t>一开始会歪会摔，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6B6685"/>
                </a:solidFill>
                <a:latin typeface="Arial Rounded MT Bold"/>
                <a:ea typeface="Hiragino Sans GB"/>
              </a:rPr>
              <a:t>多练几次就稳稳的。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85816" y="3337560"/>
            <a:ext cx="3108960" cy="64008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E2A4A"/>
                </a:solidFill>
                <a:latin typeface="Arial Rounded MT Bold"/>
                <a:ea typeface="Hiragino Sans GB"/>
              </a:rPr>
              <a:t>AI 也一样：先猜一猜，再听听对不对，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E2A4A"/>
                </a:solidFill>
                <a:latin typeface="Arial Rounded MT Bold"/>
                <a:ea typeface="Hiragino Sans GB"/>
              </a:rPr>
              <a:t>然后改一改再来，练得越多就越准。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E2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82880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FC79A"/>
                </a:solidFill>
                <a:latin typeface="Arial Rounded MT Bold"/>
                <a:ea typeface="Hiragino Sans GB"/>
              </a:rPr>
              <a:t>③ 它很会做的事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记性好、算得快、不喊累，它超厉害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43442" y="499719"/>
            <a:ext cx="46634" cy="23317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96808" y="414223"/>
            <a:ext cx="139903" cy="139903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4-Point Star 13"/>
          <p:cNvSpPr/>
          <p:nvPr/>
        </p:nvSpPr>
        <p:spPr>
          <a:xfrm>
            <a:off x="8327898" y="445312"/>
            <a:ext cx="77724" cy="77724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923733" y="966063"/>
            <a:ext cx="69951" cy="17099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39835" y="966063"/>
            <a:ext cx="69951" cy="170992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78140" y="717346"/>
            <a:ext cx="777240" cy="668426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71408" y="859892"/>
            <a:ext cx="590702" cy="414424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84341" y="981487"/>
            <a:ext cx="104927" cy="104927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205327" y="1008768"/>
            <a:ext cx="62956" cy="62956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08475" y="1005620"/>
            <a:ext cx="23084" cy="230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44250" y="981487"/>
            <a:ext cx="104927" cy="104927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65236" y="1008768"/>
            <a:ext cx="62956" cy="62956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68384" y="1005620"/>
            <a:ext cx="23084" cy="2308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73071" y="1090883"/>
            <a:ext cx="85496" cy="85496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74951" y="1090883"/>
            <a:ext cx="85496" cy="85496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12353" y="1121480"/>
            <a:ext cx="108813" cy="108813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8339556" y="1148683"/>
            <a:ext cx="54406" cy="54406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66928" y="1874519"/>
            <a:ext cx="3950208" cy="11887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94944" y="2020824"/>
            <a:ext cx="100584" cy="896112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68680" y="2057399"/>
            <a:ext cx="822960" cy="822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b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9731" y="2238451"/>
            <a:ext cx="460857" cy="460857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1773936" y="2130552"/>
            <a:ext cx="2624328" cy="304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2A4A"/>
                </a:solidFill>
                <a:latin typeface="Arial Rounded MT Bold"/>
                <a:ea typeface="Hiragino Sans GB"/>
              </a:rPr>
              <a:t>记性超好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514600"/>
            <a:ext cx="25786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看过的东西都能记住，海量也不怕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73168" y="1874519"/>
            <a:ext cx="3950208" cy="11887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901184" y="2020824"/>
            <a:ext cx="100584" cy="896112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74920" y="2057399"/>
            <a:ext cx="822960" cy="822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ight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5971" y="2238451"/>
            <a:ext cx="460857" cy="460857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5980176" y="2130552"/>
            <a:ext cx="2624328" cy="304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2A4A"/>
                </a:solidFill>
                <a:latin typeface="Arial Rounded MT Bold"/>
                <a:ea typeface="Hiragino Sans GB"/>
              </a:rPr>
              <a:t>算得飞快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80176" y="2514600"/>
            <a:ext cx="25786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一眨眼就算完好多好多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66928" y="3300984"/>
            <a:ext cx="3950208" cy="11887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94944" y="3447288"/>
            <a:ext cx="100584" cy="896112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68680" y="3483863"/>
            <a:ext cx="822960" cy="822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infin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9731" y="3664915"/>
            <a:ext cx="460857" cy="460857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73936" y="3557015"/>
            <a:ext cx="2624328" cy="304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2A4A"/>
                </a:solidFill>
                <a:latin typeface="Arial Rounded MT Bold"/>
                <a:ea typeface="Hiragino Sans GB"/>
              </a:rPr>
              <a:t>不知疲倦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73936" y="3941063"/>
            <a:ext cx="25786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同一件事重复一万遍也不喊累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773168" y="3300984"/>
            <a:ext cx="3950208" cy="11887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4901184" y="3447288"/>
            <a:ext cx="100584" cy="896112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074920" y="3483863"/>
            <a:ext cx="822960" cy="822960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magnifying-gl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5971" y="3664915"/>
            <a:ext cx="460857" cy="46085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980176" y="3557015"/>
            <a:ext cx="2624328" cy="3048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E2A4A"/>
                </a:solidFill>
                <a:latin typeface="Arial Rounded MT Bold"/>
                <a:ea typeface="Hiragino Sans GB"/>
              </a:rPr>
              <a:t>找规律高手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980176" y="3941063"/>
            <a:ext cx="2578608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6B6685"/>
                </a:solidFill>
                <a:latin typeface="Arial Rounded MT Bold"/>
                <a:ea typeface="Hiragino Sans GB"/>
              </a:rPr>
              <a:t>一大堆里也能挑出相似的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828800" cy="36576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82880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6B6B"/>
                </a:solidFill>
                <a:latin typeface="Arial Rounded MT Bold"/>
                <a:ea typeface="Hiragino Sans GB"/>
              </a:rPr>
              <a:t>③ 它不太会的事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它会犯错，还会一本正经地说错话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4050791"/>
            <a:ext cx="8046720" cy="498347"/>
          </a:xfrm>
          <a:prstGeom prst="roundRect">
            <a:avLst>
              <a:gd name="adj" fmla="val 8000"/>
            </a:avLst>
          </a:prstGeom>
          <a:solidFill>
            <a:srgbClr val="FF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4090659"/>
            <a:ext cx="64008" cy="41861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050791"/>
            <a:ext cx="7644384" cy="498347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6B6B"/>
                </a:solidFill>
                <a:latin typeface="Arial Rounded MT Bold"/>
                <a:ea typeface="Hiragino Sans GB"/>
              </a:rPr>
              <a:t>记住  </a:t>
            </a: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它说的话，要自己动脑想一想 —— 拿不准，就问问大人。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627" y="1897837"/>
            <a:ext cx="52120" cy="260603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54506" y="1802282"/>
            <a:ext cx="156362" cy="156362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4-Point Star 16"/>
          <p:cNvSpPr/>
          <p:nvPr/>
        </p:nvSpPr>
        <p:spPr>
          <a:xfrm>
            <a:off x="889254" y="1837029"/>
            <a:ext cx="86868" cy="86868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7540" y="2419045"/>
            <a:ext cx="78181" cy="191109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349654" y="2419045"/>
            <a:ext cx="78181" cy="191109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8348" y="2141067"/>
            <a:ext cx="868680" cy="747064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02589" y="2300383"/>
            <a:ext cx="660196" cy="463180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8808" y="2436283"/>
            <a:ext cx="117271" cy="117271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1644" y="2476155"/>
            <a:ext cx="51599" cy="51599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5781" y="2463255"/>
            <a:ext cx="25799" cy="257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19295" y="2436283"/>
            <a:ext cx="117271" cy="117271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52131" y="2476155"/>
            <a:ext cx="51599" cy="51599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46267" y="2463255"/>
            <a:ext cx="25799" cy="25799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16212" y="2558549"/>
            <a:ext cx="95554" cy="95554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53608" y="2558549"/>
            <a:ext cx="95554" cy="95554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rc 29"/>
          <p:cNvSpPr/>
          <p:nvPr/>
        </p:nvSpPr>
        <p:spPr>
          <a:xfrm>
            <a:off x="802386" y="2497191"/>
            <a:ext cx="260603" cy="260603"/>
          </a:xfrm>
          <a:prstGeom prst="arc">
            <a:avLst>
              <a:gd name="adj1" fmla="val 2500000"/>
              <a:gd name="adj2" fmla="val 15500000"/>
            </a:avLst>
          </a:prstGeom>
          <a:noFill/>
          <a:ln w="38608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508760" y="2020824"/>
            <a:ext cx="2932770" cy="86868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 w="27940" cap="rnd">
            <a:solidFill>
              <a:srgbClr val="FF6B6B"/>
            </a:solidFill>
            <a:round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399031" y="2559405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490472" y="2650845"/>
            <a:ext cx="91440" cy="914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709928" y="2112264"/>
            <a:ext cx="2530434" cy="6858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“恐龙现在还住在南极哦！”</a:t>
            </a:r>
          </a:p>
        </p:txBody>
      </p:sp>
      <p:sp>
        <p:nvSpPr>
          <p:cNvPr id="35" name="Oval 34"/>
          <p:cNvSpPr/>
          <p:nvPr/>
        </p:nvSpPr>
        <p:spPr>
          <a:xfrm>
            <a:off x="1545336" y="2615184"/>
            <a:ext cx="384048" cy="384048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9826" y="2699674"/>
            <a:ext cx="215066" cy="215066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2920" y="3337560"/>
            <a:ext cx="3938610" cy="54864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E2A4A"/>
                </a:solidFill>
                <a:latin typeface="Arial Rounded MT Bold"/>
                <a:ea typeface="Hiragino Sans GB"/>
              </a:rPr>
              <a:t>它说得很有把握，其实是编的 ——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E2A4A"/>
                </a:solidFill>
                <a:latin typeface="Arial Rounded MT Bold"/>
                <a:ea typeface="Hiragino Sans GB"/>
              </a:rPr>
              <a:t>大人管这叫“一本正经地胡说”。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853010" y="1874519"/>
            <a:ext cx="3925229" cy="566927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045034" y="1892807"/>
            <a:ext cx="530352" cy="53035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12" y="2009485"/>
            <a:ext cx="296997" cy="296997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5694258" y="1865376"/>
            <a:ext cx="2992541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其实没“真的懂”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94258" y="2185415"/>
            <a:ext cx="299254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只是在找相似，没真的明白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53010" y="2587751"/>
            <a:ext cx="3925229" cy="566927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045034" y="2606039"/>
            <a:ext cx="530352" cy="53035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5" name="Picture 44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12" y="2722717"/>
            <a:ext cx="296997" cy="296997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5694258" y="2578608"/>
            <a:ext cx="2992541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遇到没见过的会想当然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94258" y="2898647"/>
            <a:ext cx="299254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碰到新鲜事，容易猜错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853010" y="3300983"/>
            <a:ext cx="3925229" cy="566927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5045034" y="3319271"/>
            <a:ext cx="530352" cy="530352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0" name="Picture 49" descr="x-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1712" y="3435949"/>
            <a:ext cx="296997" cy="296997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5694258" y="3291839"/>
            <a:ext cx="2992541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没有常识和真感情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94258" y="3611879"/>
            <a:ext cx="2992541" cy="292608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6B6685"/>
                </a:solidFill>
                <a:latin typeface="Arial Rounded MT Bold"/>
                <a:ea typeface="Hiragino Sans GB"/>
              </a:rPr>
              <a:t>不懂你为什么不开心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682496" cy="365760"/>
          </a:xfrm>
          <a:prstGeom prst="roundRect">
            <a:avLst>
              <a:gd name="adj" fmla="val 50000"/>
            </a:avLst>
          </a:prstGeom>
          <a:solidFill>
            <a:srgbClr val="EF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682496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9B7EDE"/>
                </a:solidFill>
                <a:latin typeface="Arial Rounded MT Bold"/>
                <a:ea typeface="Hiragino Sans GB"/>
              </a:rPr>
              <a:t>④ 相处小妙招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说清楚、多检查、你做主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96351" y="512978"/>
            <a:ext cx="49377" cy="246888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46973" y="422452"/>
            <a:ext cx="148132" cy="148132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4-Point Star 13"/>
          <p:cNvSpPr/>
          <p:nvPr/>
        </p:nvSpPr>
        <p:spPr>
          <a:xfrm>
            <a:off x="8279892" y="455371"/>
            <a:ext cx="82296" cy="82296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851952" y="1006754"/>
            <a:ext cx="74066" cy="181051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716060" y="1006754"/>
            <a:ext cx="74066" cy="181051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909560" y="743407"/>
            <a:ext cx="822960" cy="707745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08315" y="894338"/>
            <a:ext cx="625449" cy="438802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7891" y="1023085"/>
            <a:ext cx="111099" cy="111099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58999" y="1060859"/>
            <a:ext cx="48883" cy="48883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153444" y="1048638"/>
            <a:ext cx="24441" cy="244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03089" y="1023085"/>
            <a:ext cx="111099" cy="111099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434197" y="1060859"/>
            <a:ext cx="48883" cy="48883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428642" y="1048638"/>
            <a:ext cx="24441" cy="24441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115958" y="1138916"/>
            <a:ext cx="90525" cy="90525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435596" y="1138916"/>
            <a:ext cx="90525" cy="90525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rc 26"/>
          <p:cNvSpPr/>
          <p:nvPr/>
        </p:nvSpPr>
        <p:spPr>
          <a:xfrm>
            <a:off x="8197596" y="1080787"/>
            <a:ext cx="246888" cy="246888"/>
          </a:xfrm>
          <a:prstGeom prst="arc">
            <a:avLst>
              <a:gd name="adj1" fmla="val 2500000"/>
              <a:gd name="adj2" fmla="val 15500000"/>
            </a:avLst>
          </a:prstGeom>
          <a:noFill/>
          <a:ln w="36576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03504" y="1883664"/>
            <a:ext cx="7360920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58952" y="1956816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8952" y="1883664"/>
            <a:ext cx="4572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 Rounded MT Bold"/>
                <a:ea typeface="Hiragino Sans GB"/>
              </a:rPr>
              <a:t>1</a:t>
            </a:r>
          </a:p>
        </p:txBody>
      </p:sp>
      <p:sp>
        <p:nvSpPr>
          <p:cNvPr id="31" name="Oval 30"/>
          <p:cNvSpPr/>
          <p:nvPr/>
        </p:nvSpPr>
        <p:spPr>
          <a:xfrm>
            <a:off x="1380744" y="1956816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chat-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1328" y="2057400"/>
            <a:ext cx="256032" cy="256032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020824" y="1883664"/>
            <a:ext cx="24688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把问题说清楚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49624" y="2029968"/>
            <a:ext cx="20116" cy="310896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1883664"/>
            <a:ext cx="374904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478"/>
                </a:solidFill>
                <a:latin typeface="Arial Rounded MT Bold"/>
                <a:ea typeface="Hiragino Sans GB"/>
              </a:rPr>
              <a:t>说得越明白，它帮得越好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03504" y="2651760"/>
            <a:ext cx="7360920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58952" y="2724912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8952" y="2651760"/>
            <a:ext cx="4572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 Rounded MT Bold"/>
                <a:ea typeface="Hiragino Sans GB"/>
              </a:rPr>
              <a:t>2</a:t>
            </a:r>
          </a:p>
        </p:txBody>
      </p:sp>
      <p:sp>
        <p:nvSpPr>
          <p:cNvPr id="39" name="Oval 38"/>
          <p:cNvSpPr/>
          <p:nvPr/>
        </p:nvSpPr>
        <p:spPr>
          <a:xfrm>
            <a:off x="1380744" y="2724912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magnifying-gl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1328" y="2825496"/>
            <a:ext cx="256032" cy="25603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020824" y="2651760"/>
            <a:ext cx="24688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答案自己检查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849624" y="2798064"/>
            <a:ext cx="20116" cy="310896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59935" y="2651760"/>
            <a:ext cx="374904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478"/>
                </a:solidFill>
                <a:latin typeface="Arial Rounded MT Bold"/>
                <a:ea typeface="Hiragino Sans GB"/>
              </a:rPr>
              <a:t>动动脑，别照单全收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03504" y="3419856"/>
            <a:ext cx="7360920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58952" y="3493008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58952" y="3419856"/>
            <a:ext cx="4572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 Rounded MT Bold"/>
                <a:ea typeface="Hiragino Sans GB"/>
              </a:rPr>
              <a:t>3</a:t>
            </a:r>
          </a:p>
        </p:txBody>
      </p:sp>
      <p:sp>
        <p:nvSpPr>
          <p:cNvPr id="47" name="Oval 46"/>
          <p:cNvSpPr/>
          <p:nvPr/>
        </p:nvSpPr>
        <p:spPr>
          <a:xfrm>
            <a:off x="1380744" y="3493008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users-thr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1328" y="3593592"/>
            <a:ext cx="256032" cy="256032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020824" y="3419856"/>
            <a:ext cx="24688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拿不准问大人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49624" y="3566160"/>
            <a:ext cx="20116" cy="310896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059935" y="3419856"/>
            <a:ext cx="374904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478"/>
                </a:solidFill>
                <a:latin typeface="Arial Rounded MT Bold"/>
                <a:ea typeface="Hiragino Sans GB"/>
              </a:rPr>
              <a:t>重要的事找老师和爸妈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03504" y="4187952"/>
            <a:ext cx="7360920" cy="60350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58952" y="4261104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58952" y="4187952"/>
            <a:ext cx="45720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Arial Rounded MT Bold"/>
                <a:ea typeface="Hiragino Sans GB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1380744" y="4261104"/>
            <a:ext cx="457200" cy="457200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crow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1328" y="4361688"/>
            <a:ext cx="256032" cy="256032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2020824" y="4187952"/>
            <a:ext cx="246888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550" b="1" i="0">
                <a:solidFill>
                  <a:srgbClr val="2E2A4A"/>
                </a:solidFill>
                <a:latin typeface="Arial Rounded MT Bold"/>
                <a:ea typeface="Hiragino Sans GB"/>
              </a:rPr>
              <a:t>你才是小主人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849624" y="4334256"/>
            <a:ext cx="20116" cy="310896"/>
          </a:xfrm>
          <a:prstGeom prst="roundRect">
            <a:avLst>
              <a:gd name="adj" fmla="val 50000"/>
            </a:avLst>
          </a:prstGeom>
          <a:solidFill>
            <a:srgbClr val="E3D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059935" y="4187952"/>
            <a:ext cx="3749040" cy="603504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5A5478"/>
                </a:solidFill>
                <a:latin typeface="Arial Rounded MT Bold"/>
                <a:ea typeface="Hiragino Sans GB"/>
              </a:rPr>
              <a:t>最后由你来做决定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FF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536192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6B6B"/>
                </a:solidFill>
                <a:latin typeface="Arial Rounded MT Bold"/>
                <a:ea typeface="Hiragino Sans GB"/>
              </a:rPr>
              <a:t>⑤ 安全第一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秘密不告诉它，拿不准就问大人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5760" y="1883664"/>
            <a:ext cx="4023359" cy="2743200"/>
          </a:xfrm>
          <a:prstGeom prst="roundRect">
            <a:avLst>
              <a:gd name="adj" fmla="val 16000"/>
            </a:avLst>
          </a:prstGeom>
          <a:solidFill>
            <a:srgbClr val="E2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48640" y="2066544"/>
            <a:ext cx="3657599" cy="457200"/>
          </a:xfrm>
          <a:prstGeom prst="roundRect">
            <a:avLst>
              <a:gd name="adj" fmla="val 50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heck-f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" y="2148840"/>
            <a:ext cx="292608" cy="29260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042416" y="2066544"/>
            <a:ext cx="3200399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 Rounded MT Bold"/>
                <a:ea typeface="Hiragino Sans GB"/>
              </a:rPr>
              <a:t>可以放心做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2779775"/>
            <a:ext cx="402336" cy="402336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check-f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17" y="2868289"/>
            <a:ext cx="225308" cy="2253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15568" y="2724912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用它查资料、练英语、找灵感</a:t>
            </a:r>
          </a:p>
        </p:txBody>
      </p:sp>
      <p:sp>
        <p:nvSpPr>
          <p:cNvPr id="19" name="Oval 18"/>
          <p:cNvSpPr/>
          <p:nvPr/>
        </p:nvSpPr>
        <p:spPr>
          <a:xfrm>
            <a:off x="603504" y="3401568"/>
            <a:ext cx="402336" cy="402336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heck-f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17" y="3490081"/>
            <a:ext cx="225308" cy="2253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15568" y="3346704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遇到不舒服的内容，马上告诉大人</a:t>
            </a:r>
          </a:p>
        </p:txBody>
      </p:sp>
      <p:sp>
        <p:nvSpPr>
          <p:cNvPr id="22" name="Oval 21"/>
          <p:cNvSpPr/>
          <p:nvPr/>
        </p:nvSpPr>
        <p:spPr>
          <a:xfrm>
            <a:off x="603504" y="4023360"/>
            <a:ext cx="402336" cy="402336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heck-f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017" y="4111873"/>
            <a:ext cx="225308" cy="2253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15568" y="3968496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对它有礼貌，好好说话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1883664"/>
            <a:ext cx="4023359" cy="2743200"/>
          </a:xfrm>
          <a:prstGeom prst="roundRect">
            <a:avLst>
              <a:gd name="adj" fmla="val 16000"/>
            </a:avLst>
          </a:prstGeom>
          <a:solidFill>
            <a:srgbClr val="FFE9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937760" y="2066544"/>
            <a:ext cx="3657599" cy="457200"/>
          </a:xfrm>
          <a:prstGeom prst="roundRect">
            <a:avLst>
              <a:gd name="adj" fmla="val 50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148840"/>
            <a:ext cx="292608" cy="29260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31536" y="2066544"/>
            <a:ext cx="3200399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 Rounded MT Bold"/>
                <a:ea typeface="Hiragino Sans GB"/>
              </a:rPr>
              <a:t>要小心哦</a:t>
            </a:r>
          </a:p>
        </p:txBody>
      </p:sp>
      <p:sp>
        <p:nvSpPr>
          <p:cNvPr id="29" name="Oval 28"/>
          <p:cNvSpPr/>
          <p:nvPr/>
        </p:nvSpPr>
        <p:spPr>
          <a:xfrm>
            <a:off x="4992624" y="2779775"/>
            <a:ext cx="402336" cy="40233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137" y="2868289"/>
            <a:ext cx="225308" cy="2253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504688" y="2724912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别把真名、家住哪、密码告诉它</a:t>
            </a:r>
          </a:p>
        </p:txBody>
      </p:sp>
      <p:sp>
        <p:nvSpPr>
          <p:cNvPr id="32" name="Oval 31"/>
          <p:cNvSpPr/>
          <p:nvPr/>
        </p:nvSpPr>
        <p:spPr>
          <a:xfrm>
            <a:off x="4992624" y="3401568"/>
            <a:ext cx="402336" cy="40233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137" y="3490081"/>
            <a:ext cx="225308" cy="2253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504688" y="3346704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别把它说的话全当真</a:t>
            </a:r>
          </a:p>
        </p:txBody>
      </p:sp>
      <p:sp>
        <p:nvSpPr>
          <p:cNvPr id="35" name="Oval 34"/>
          <p:cNvSpPr/>
          <p:nvPr/>
        </p:nvSpPr>
        <p:spPr>
          <a:xfrm>
            <a:off x="4992624" y="4023360"/>
            <a:ext cx="402336" cy="402336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1137" y="4111873"/>
            <a:ext cx="225308" cy="22530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504688" y="3968496"/>
            <a:ext cx="3108959" cy="54864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2E2A4A"/>
                </a:solidFill>
                <a:latin typeface="Arial Rounded MT Bold"/>
                <a:ea typeface="Hiragino Sans GB"/>
              </a:rPr>
              <a:t>别一个人偷偷做重要决定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8540496" y="384048"/>
            <a:ext cx="182880" cy="182880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02167" y="356616"/>
            <a:ext cx="91440" cy="91440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810244" y="818387"/>
            <a:ext cx="82296" cy="82296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457200"/>
            <a:ext cx="1536192" cy="365760"/>
          </a:xfrm>
          <a:prstGeom prst="roundRect">
            <a:avLst>
              <a:gd name="adj" fmla="val 50000"/>
            </a:avLst>
          </a:prstGeom>
          <a:solidFill>
            <a:srgbClr val="E7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1520" y="566928"/>
            <a:ext cx="146304" cy="146304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57200"/>
            <a:ext cx="1536192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3D9BE9"/>
                </a:solidFill>
                <a:latin typeface="Arial Rounded MT Bold"/>
                <a:ea typeface="Hiragino Sans GB"/>
              </a:rPr>
              <a:t>把今天串起来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914400"/>
            <a:ext cx="8321040" cy="523874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2750" b="1" i="0">
                <a:solidFill>
                  <a:srgbClr val="2E2A4A"/>
                </a:solidFill>
                <a:latin typeface="Arial Rounded MT Bold"/>
                <a:ea typeface="Hiragino Sans GB"/>
              </a:rPr>
              <a:t>记住这 5 件事，你就懂 AI 啦</a:t>
            </a:r>
          </a:p>
        </p:txBody>
      </p:sp>
      <p:sp>
        <p:nvSpPr>
          <p:cNvPr id="10" name="4-Point Star 9"/>
          <p:cNvSpPr/>
          <p:nvPr/>
        </p:nvSpPr>
        <p:spPr>
          <a:xfrm>
            <a:off x="640080" y="1417319"/>
            <a:ext cx="146304" cy="146304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14400" y="1463040"/>
            <a:ext cx="822960" cy="100584"/>
          </a:xfrm>
          <a:prstGeom prst="roundRect">
            <a:avLst>
              <a:gd name="adj" fmla="val 5000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1965960"/>
            <a:ext cx="1572768" cy="2148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66928" y="1965960"/>
            <a:ext cx="1572768" cy="457200"/>
          </a:xfrm>
          <a:prstGeom prst="roundRect">
            <a:avLst>
              <a:gd name="adj" fmla="val 1600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" y="2194560"/>
            <a:ext cx="1572768" cy="228600"/>
          </a:xfrm>
          <a:prstGeom prst="roundRect">
            <a:avLst>
              <a:gd name="adj" fmla="val 0"/>
            </a:avLst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1984248"/>
            <a:ext cx="157276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 Rounded MT Bold"/>
                <a:ea typeface="Hiragino Sans GB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2596896"/>
            <a:ext cx="786384" cy="786384"/>
          </a:xfrm>
          <a:prstGeom prst="ellipse">
            <a:avLst/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-p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3124" y="2769900"/>
            <a:ext cx="440375" cy="44037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92" y="3429000"/>
            <a:ext cx="1463040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住在生活里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739896"/>
            <a:ext cx="142646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478"/>
                </a:solidFill>
                <a:latin typeface="Arial Rounded MT Bold"/>
                <a:ea typeface="Hiragino Sans GB"/>
              </a:rPr>
              <a:t>语音、推荐、拍照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72284" y="1965960"/>
            <a:ext cx="1572768" cy="2148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272284" y="1965960"/>
            <a:ext cx="1572768" cy="457200"/>
          </a:xfrm>
          <a:prstGeom prst="roundRect">
            <a:avLst>
              <a:gd name="adj" fmla="val 16000"/>
            </a:avLst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272284" y="2194560"/>
            <a:ext cx="1572768" cy="228600"/>
          </a:xfrm>
          <a:prstGeom prst="roundRect">
            <a:avLst>
              <a:gd name="adj" fmla="val 0"/>
            </a:avLst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72284" y="1984248"/>
            <a:ext cx="157276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 Rounded MT Bold"/>
                <a:ea typeface="Hiragino Sans GB"/>
              </a:rPr>
              <a:t>2</a:t>
            </a:r>
          </a:p>
        </p:txBody>
      </p:sp>
      <p:sp>
        <p:nvSpPr>
          <p:cNvPr id="24" name="Oval 23"/>
          <p:cNvSpPr/>
          <p:nvPr/>
        </p:nvSpPr>
        <p:spPr>
          <a:xfrm>
            <a:off x="2665475" y="2596896"/>
            <a:ext cx="786384" cy="786384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ightbul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8480" y="2769900"/>
            <a:ext cx="440375" cy="440375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327148" y="3429000"/>
            <a:ext cx="1463040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靠例子学习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45436" y="3739896"/>
            <a:ext cx="142646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478"/>
                </a:solidFill>
                <a:latin typeface="Arial Rounded MT Bold"/>
                <a:ea typeface="Hiragino Sans GB"/>
              </a:rPr>
              <a:t>看得越多，学得越好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977639" y="1965960"/>
            <a:ext cx="1572768" cy="2148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977639" y="1965960"/>
            <a:ext cx="1572768" cy="457200"/>
          </a:xfrm>
          <a:prstGeom prst="roundRect">
            <a:avLst>
              <a:gd name="adj" fmla="val 1600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977639" y="2194560"/>
            <a:ext cx="1572768" cy="228600"/>
          </a:xfrm>
          <a:prstGeom prst="roundRect">
            <a:avLst>
              <a:gd name="adj" fmla="val 0"/>
            </a:avLst>
          </a:prstGeom>
          <a:solidFill>
            <a:srgbClr val="3FC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77639" y="1984248"/>
            <a:ext cx="157276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 Rounded MT Bold"/>
                <a:ea typeface="Hiragino Sans GB"/>
              </a:rPr>
              <a:t>3</a:t>
            </a:r>
          </a:p>
        </p:txBody>
      </p:sp>
      <p:sp>
        <p:nvSpPr>
          <p:cNvPr id="32" name="Oval 31"/>
          <p:cNvSpPr/>
          <p:nvPr/>
        </p:nvSpPr>
        <p:spPr>
          <a:xfrm>
            <a:off x="4370832" y="2596896"/>
            <a:ext cx="786384" cy="786384"/>
          </a:xfrm>
          <a:prstGeom prst="ellipse">
            <a:avLst/>
          </a:prstGeom>
          <a:solidFill>
            <a:srgbClr val="3FC79A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gau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3836" y="2769900"/>
            <a:ext cx="440375" cy="440375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32503" y="3429000"/>
            <a:ext cx="1463040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能干也会错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50791" y="3739896"/>
            <a:ext cx="142646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478"/>
                </a:solidFill>
                <a:latin typeface="Arial Rounded MT Bold"/>
                <a:ea typeface="Hiragino Sans GB"/>
              </a:rPr>
              <a:t>很厉害，但别全信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682996" y="1965960"/>
            <a:ext cx="1572768" cy="2148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682996" y="1965960"/>
            <a:ext cx="1572768" cy="457200"/>
          </a:xfrm>
          <a:prstGeom prst="roundRect">
            <a:avLst>
              <a:gd name="adj" fmla="val 16000"/>
            </a:avLst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682996" y="2194560"/>
            <a:ext cx="1572768" cy="228600"/>
          </a:xfrm>
          <a:prstGeom prst="roundRect">
            <a:avLst>
              <a:gd name="adj" fmla="val 0"/>
            </a:avLst>
          </a:prstGeom>
          <a:solidFill>
            <a:srgbClr val="9B7E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82996" y="1984248"/>
            <a:ext cx="157276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 Rounded MT Bold"/>
                <a:ea typeface="Hiragino Sans GB"/>
              </a:rPr>
              <a:t>4</a:t>
            </a:r>
          </a:p>
        </p:txBody>
      </p:sp>
      <p:sp>
        <p:nvSpPr>
          <p:cNvPr id="40" name="Oval 39"/>
          <p:cNvSpPr/>
          <p:nvPr/>
        </p:nvSpPr>
        <p:spPr>
          <a:xfrm>
            <a:off x="6076188" y="2596896"/>
            <a:ext cx="786384" cy="786384"/>
          </a:xfrm>
          <a:prstGeom prst="ellipse">
            <a:avLst/>
          </a:prstGeom>
          <a:solidFill>
            <a:srgbClr val="9B7EDE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chat-tex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9192" y="2769900"/>
            <a:ext cx="440375" cy="440375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737859" y="3429000"/>
            <a:ext cx="1463040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当好帮手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56148" y="3739896"/>
            <a:ext cx="142646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478"/>
                </a:solidFill>
                <a:latin typeface="Arial Rounded MT Bold"/>
                <a:ea typeface="Hiragino Sans GB"/>
              </a:rPr>
              <a:t>说清楚，你来做主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88352" y="1965960"/>
            <a:ext cx="1572768" cy="214884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88352" y="1965960"/>
            <a:ext cx="1572768" cy="457200"/>
          </a:xfrm>
          <a:prstGeom prst="roundRect">
            <a:avLst>
              <a:gd name="adj" fmla="val 1600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388352" y="2194560"/>
            <a:ext cx="1572768" cy="228600"/>
          </a:xfrm>
          <a:prstGeom prst="roundRect">
            <a:avLst>
              <a:gd name="adj" fmla="val 0"/>
            </a:avLst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388352" y="1984248"/>
            <a:ext cx="1572768" cy="45720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 Rounded MT Bold"/>
                <a:ea typeface="Hiragino Sans GB"/>
              </a:rPr>
              <a:t>5</a:t>
            </a:r>
          </a:p>
        </p:txBody>
      </p:sp>
      <p:sp>
        <p:nvSpPr>
          <p:cNvPr id="48" name="Oval 47"/>
          <p:cNvSpPr/>
          <p:nvPr/>
        </p:nvSpPr>
        <p:spPr>
          <a:xfrm>
            <a:off x="7781544" y="2596896"/>
            <a:ext cx="786384" cy="786384"/>
          </a:xfrm>
          <a:prstGeom prst="ellipse">
            <a:avLst/>
          </a:prstGeom>
          <a:solidFill>
            <a:srgbClr val="FF6B6B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shield-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4548" y="2769900"/>
            <a:ext cx="440375" cy="440375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7443216" y="3429000"/>
            <a:ext cx="1463040" cy="257175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2E2A4A"/>
                </a:solidFill>
                <a:latin typeface="Arial Rounded MT Bold"/>
                <a:ea typeface="Hiragino Sans GB"/>
              </a:rPr>
              <a:t>护好秘密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61504" y="3739896"/>
            <a:ext cx="1426464" cy="36576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 i="0">
                <a:solidFill>
                  <a:srgbClr val="5A5478"/>
                </a:solidFill>
                <a:latin typeface="Arial Rounded MT Bold"/>
                <a:ea typeface="Hiragino Sans GB"/>
              </a:rPr>
              <a:t>拿不准就问大人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116214" y="4052620"/>
            <a:ext cx="43891" cy="219456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8072323" y="3972153"/>
            <a:ext cx="131673" cy="131673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4-Point Star 53"/>
          <p:cNvSpPr/>
          <p:nvPr/>
        </p:nvSpPr>
        <p:spPr>
          <a:xfrm>
            <a:off x="8101584" y="4001414"/>
            <a:ext cx="73152" cy="73152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721193" y="4491532"/>
            <a:ext cx="65836" cy="16093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8489289" y="4491532"/>
            <a:ext cx="65836" cy="16093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7772400" y="4257446"/>
            <a:ext cx="731520" cy="629107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7860182" y="4391607"/>
            <a:ext cx="555955" cy="390046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66472" y="4506049"/>
            <a:ext cx="98755" cy="98755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94123" y="4539625"/>
            <a:ext cx="43452" cy="43452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989185" y="4528762"/>
            <a:ext cx="21726" cy="2172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8211092" y="4506049"/>
            <a:ext cx="98755" cy="98755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238744" y="4539625"/>
            <a:ext cx="43452" cy="43452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8233806" y="4528762"/>
            <a:ext cx="21726" cy="2172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55865" y="4609010"/>
            <a:ext cx="80467" cy="80467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239987" y="4609010"/>
            <a:ext cx="80467" cy="80467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Arc 66"/>
          <p:cNvSpPr/>
          <p:nvPr/>
        </p:nvSpPr>
        <p:spPr>
          <a:xfrm>
            <a:off x="8028432" y="4557340"/>
            <a:ext cx="219456" cy="219456"/>
          </a:xfrm>
          <a:prstGeom prst="arc">
            <a:avLst>
              <a:gd name="adj1" fmla="val 2500000"/>
              <a:gd name="adj2" fmla="val 15500000"/>
            </a:avLst>
          </a:prstGeom>
          <a:noFill/>
          <a:ln w="32512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4590288"/>
            <a:ext cx="7132320" cy="365760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D9BE9"/>
                </a:solidFill>
                <a:latin typeface="Arial Rounded MT Bold"/>
                <a:ea typeface="Hiragino Sans GB"/>
              </a:rPr>
              <a:t>你都学会啦 —— 你已经比很多大人更懂 AI 了！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>
            <a:gsLst>
              <a:gs pos="0">
                <a:srgbClr val="FFE1C4">
                  <a:alpha val="100000"/>
                </a:srgbClr>
              </a:gs>
              <a:gs pos="100000">
                <a:srgbClr val="FFF3E4">
                  <a:alpha val="100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loud 2"/>
          <p:cNvSpPr/>
          <p:nvPr/>
        </p:nvSpPr>
        <p:spPr>
          <a:xfrm>
            <a:off x="640080" y="548640"/>
            <a:ext cx="1463040" cy="822960"/>
          </a:xfrm>
          <a:prstGeom prst="cloud">
            <a:avLst/>
          </a:prstGeom>
          <a:solidFill>
            <a:srgbClr val="FFFFF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un 3"/>
          <p:cNvSpPr/>
          <p:nvPr/>
        </p:nvSpPr>
        <p:spPr>
          <a:xfrm>
            <a:off x="7795260" y="388620"/>
            <a:ext cx="868680" cy="868680"/>
          </a:xfrm>
          <a:prstGeom prst="sun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5-Point Star 4"/>
          <p:cNvSpPr/>
          <p:nvPr/>
        </p:nvSpPr>
        <p:spPr>
          <a:xfrm>
            <a:off x="3163824" y="374904"/>
            <a:ext cx="256032" cy="256032"/>
          </a:xfrm>
          <a:prstGeom prst="star5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4-Point Star 5"/>
          <p:cNvSpPr/>
          <p:nvPr/>
        </p:nvSpPr>
        <p:spPr>
          <a:xfrm>
            <a:off x="4828032" y="758952"/>
            <a:ext cx="219456" cy="219456"/>
          </a:xfrm>
          <a:prstGeom prst="star4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eart 6"/>
          <p:cNvSpPr/>
          <p:nvPr/>
        </p:nvSpPr>
        <p:spPr>
          <a:xfrm>
            <a:off x="6446520" y="320040"/>
            <a:ext cx="274320" cy="274320"/>
          </a:xfrm>
          <a:prstGeom prst="heart">
            <a:avLst/>
          </a:prstGeom>
          <a:solidFill>
            <a:srgbClr val="3FC79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55648" y="1207007"/>
            <a:ext cx="146304" cy="146304"/>
          </a:xfrm>
          <a:prstGeom prst="ellipse">
            <a:avLst/>
          </a:prstGeom>
          <a:solidFill>
            <a:srgbClr val="9B7ED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4-Point Star 8"/>
          <p:cNvSpPr/>
          <p:nvPr/>
        </p:nvSpPr>
        <p:spPr>
          <a:xfrm>
            <a:off x="7397496" y="1453895"/>
            <a:ext cx="201168" cy="201168"/>
          </a:xfrm>
          <a:prstGeom prst="star4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0" y="4526280"/>
            <a:ext cx="9144000" cy="617220"/>
          </a:xfrm>
          <a:prstGeom prst="roundRect">
            <a:avLst>
              <a:gd name="adj" fmla="val 14000"/>
            </a:avLst>
          </a:prstGeom>
          <a:solidFill>
            <a:srgbClr val="FDEB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26249" y="1634947"/>
            <a:ext cx="120700" cy="603504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905548" y="1413662"/>
            <a:ext cx="362102" cy="362102"/>
          </a:xfrm>
          <a:prstGeom prst="ellipse">
            <a:avLst/>
          </a:prstGeom>
          <a:solidFill>
            <a:srgbClr val="FFC9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4-Point Star 12"/>
          <p:cNvSpPr/>
          <p:nvPr/>
        </p:nvSpPr>
        <p:spPr>
          <a:xfrm>
            <a:off x="6986016" y="1494129"/>
            <a:ext cx="201168" cy="201168"/>
          </a:xfrm>
          <a:prstGeom prst="star4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39942" y="2841955"/>
            <a:ext cx="181051" cy="442569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2206" y="2841955"/>
            <a:ext cx="181051" cy="442569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80760" y="2198217"/>
            <a:ext cx="2011680" cy="1730044"/>
          </a:xfrm>
          <a:prstGeom prst="roundRect">
            <a:avLst>
              <a:gd name="adj" fmla="val 42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22161" y="2567159"/>
            <a:ext cx="1528876" cy="1072627"/>
          </a:xfrm>
          <a:prstGeom prst="roundRect">
            <a:avLst>
              <a:gd name="adj" fmla="val 34000"/>
            </a:avLst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614458" y="2881874"/>
            <a:ext cx="271576" cy="271576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90500" y="2974211"/>
            <a:ext cx="119493" cy="119493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676921" y="2944337"/>
            <a:ext cx="59746" cy="597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287164" y="2881874"/>
            <a:ext cx="271576" cy="271576"/>
          </a:xfrm>
          <a:prstGeom prst="ellipse">
            <a:avLst/>
          </a:prstGeom>
          <a:solidFill>
            <a:srgbClr val="EA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63205" y="2974211"/>
            <a:ext cx="119493" cy="119493"/>
          </a:xfrm>
          <a:prstGeom prst="ellipse">
            <a:avLst/>
          </a:prstGeom>
          <a:solidFill>
            <a:srgbClr val="2E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49627" y="2944337"/>
            <a:ext cx="59746" cy="5974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585289" y="3165018"/>
            <a:ext cx="221284" cy="221284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366625" y="3165018"/>
            <a:ext cx="221284" cy="221284"/>
          </a:xfrm>
          <a:prstGeom prst="ellipse">
            <a:avLst/>
          </a:prstGeom>
          <a:solidFill>
            <a:srgbClr val="FF8FA3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rc 25"/>
          <p:cNvSpPr/>
          <p:nvPr/>
        </p:nvSpPr>
        <p:spPr>
          <a:xfrm>
            <a:off x="6784848" y="3022925"/>
            <a:ext cx="603504" cy="603504"/>
          </a:xfrm>
          <a:prstGeom prst="arc">
            <a:avLst>
              <a:gd name="adj1" fmla="val 2500000"/>
              <a:gd name="adj2" fmla="val 15500000"/>
            </a:avLst>
          </a:prstGeom>
          <a:noFill/>
          <a:ln w="89408" cap="rnd">
            <a:solidFill>
              <a:srgbClr val="EAF6FF"/>
            </a:solidFill>
            <a:round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382512" y="3888028"/>
            <a:ext cx="1408176" cy="844905"/>
          </a:xfrm>
          <a:prstGeom prst="roundRect">
            <a:avLst>
              <a:gd name="adj" fmla="val 45000"/>
            </a:avLst>
          </a:prstGeom>
          <a:solidFill>
            <a:srgbClr val="3D9BE9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 rot="20400000">
            <a:off x="6060643" y="3928262"/>
            <a:ext cx="402336" cy="181051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 rot="2700000">
            <a:off x="7690104" y="3566160"/>
            <a:ext cx="402336" cy="181051"/>
          </a:xfrm>
          <a:prstGeom prst="roundRect">
            <a:avLst/>
          </a:prstGeom>
          <a:solidFill>
            <a:srgbClr val="3D9B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eart 29"/>
          <p:cNvSpPr/>
          <p:nvPr/>
        </p:nvSpPr>
        <p:spPr>
          <a:xfrm>
            <a:off x="5696712" y="1947672"/>
            <a:ext cx="310896" cy="310896"/>
          </a:xfrm>
          <a:prstGeom prst="heart">
            <a:avLst/>
          </a:prstGeom>
          <a:solidFill>
            <a:srgbClr val="FF6B6B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eart 30"/>
          <p:cNvSpPr/>
          <p:nvPr/>
        </p:nvSpPr>
        <p:spPr>
          <a:xfrm>
            <a:off x="8247888" y="2395728"/>
            <a:ext cx="237744" cy="237744"/>
          </a:xfrm>
          <a:prstGeom prst="heart">
            <a:avLst/>
          </a:prstGeom>
          <a:solidFill>
            <a:srgbClr val="9B7ED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13232" y="1508760"/>
            <a:ext cx="2286000" cy="43891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45720" dist="41148" dir="5400000" rotWithShape="0">
              <a:srgbClr val="8A6D5A">
                <a:alpha val="7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" y="1508760"/>
            <a:ext cx="2286000" cy="438912"/>
          </a:xfrm>
          <a:prstGeom prst="rect">
            <a:avLst/>
          </a:prstGeom>
          <a:noFill/>
          <a:ln/>
        </p:spPr>
        <p:txBody>
          <a:bodyPr wrap="square" anchor="ctr" lIns="25400" rIns="25400" tIns="25400" bIns="25400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274B0"/>
                </a:solidFill>
                <a:latin typeface="Arial Rounded MT Bold"/>
                <a:ea typeface="Hiragino Sans GB"/>
              </a:rPr>
              <a:t>最后，记住一句话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2148840"/>
            <a:ext cx="5669280" cy="11887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2E2A4A"/>
                </a:solidFill>
                <a:latin typeface="Arial Rounded MT Bold"/>
                <a:ea typeface="Hiragino Sans GB"/>
              </a:rPr>
              <a:t>工具再聪明，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3400" b="1" i="0">
                <a:solidFill>
                  <a:srgbClr val="2E2A4A"/>
                </a:solidFill>
                <a:latin typeface="Arial Rounded MT Bold"/>
                <a:ea typeface="Hiragino Sans GB"/>
              </a:rPr>
              <a:t>做决定的还是你。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8" y="3703320"/>
            <a:ext cx="5303520" cy="45720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504A6E"/>
                </a:solidFill>
                <a:latin typeface="Arial Rounded MT Bold"/>
                <a:ea typeface="Hiragino Sans GB"/>
              </a:rPr>
              <a:t>带着好奇心，去发现更多有意思的事吧！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4828032"/>
            <a:ext cx="4572000" cy="274320"/>
          </a:xfrm>
          <a:prstGeom prst="rect">
            <a:avLst/>
          </a:prstGeom>
          <a:noFill/>
          <a:ln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6E6788"/>
                </a:solidFill>
                <a:latin typeface="Arial Rounded MT Bold"/>
                <a:ea typeface="Hiragino Sans GB"/>
              </a:rPr>
              <a:t>slide-maker · 示例模板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