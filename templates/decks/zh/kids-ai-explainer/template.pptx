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8"/>
  </p:normalViewPr>
  <p:slideViewPr>
    <p:cSldViewPr snapToGrid="0" snapToObjects="1">
      <p:cViewPr varScale="1">
        <p:scale>
          <a:sx n="157" d="100"/>
          <a:sy n="157" d="100"/>
        </p:scale>
        <p:origin x="864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9684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同学们好！今天我们上一堂特别好玩的课——认识一个你们每天都在打交道、却可能没注意到的好朋友，它的名字叫 AI，也就是「人工智能」。准备好了吗？我们出发！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（过渡页）我们先来看看——AI 其实早就藏在你身边啦。等会儿数一数，画面里能找出几个 AI 小帮手？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先别急着问 AI 是什么。其实呀，它早就藏在你身边了。你对手机说「放首歌」，它能听懂；一刷视频，它就猜到你爱看什么；手机看你一眼脸就解锁；还能把中文一秒变成英文。这些小帮手背后，都是 AI 在悄悄干活。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那 AI 到底是什么呢？一句话——它就是让电脑也能像我们人一样：会看、会听、会想，还会自己学。是不是有点像一个聪明的小伙伴？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那它这些本领是怎么来的？不是有人一条一条教它规则，而是给它看很多很多例子，让它自己找规律，慢慢就学会了。就像你看多了猫和狗的照片，一眼就能分出谁是谁——AI 也是这样学的。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举个例子。想让电脑认出「猫」：第一步，给它看成千上万张猫的照片；第二步，它自己发现猫的特点——尖耳朵、长胡须、圆眼睛；第三步，再给它一张没见过的猫，它也能认出来。认字、认人，道理都一样：看得越多，学得越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（过渡页）AI 不只是会认东西，它还会聊天、会画画、会编故事、会作曲。一起看看它有多会玩！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还会和你聊天呢。你问它「为什么天是蓝色的」，它就能答上来。它其实在玩一个超级「词语接龙」——读过海量的文字后，一个词一个词地猜出最合适的下一个词。你们听过的豆包、ChatGPT，都是这样工作的。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更厉害的是，你对它说一句话，它还能画一幅画、编一个故事、作一首曲子。是不是很神奇？这就是「会创造」的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（过渡页）不过呀，这么能干的 AI，也有它做不到、会犯错的时候。接下来我们学着聪明又安全地用它。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不过，老师要提醒大家一件重要的事：AI 看起来很聪明，其实它并不是真的「懂」。它只是在算概率，没有真的理解，也没有感情。它有时候还会一本正经地「瞎编」，把不确定的事说得像真的一样。所以呀，不能全都信它。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所以要记住：AI 是好帮手，不是魔法师。它给我们出主意，但对不对、好不好，要我们用脑子判断，最后由我们自己来决定。重要的事，得由人来把关。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那怎么和 AI 做好朋友呢？四条小贴士：多问它「为什么」；不全信，自己也想一想；不要把真名、住址、密码这些小秘密告诉它；遇到不懂的，请爸爸妈妈或老师陪着一起用。记住，你才是小主人，它是小帮手。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（过渡页）最后，我们一起来想象一下：等你们长大，AI 能帮我们做多少了不起的事情？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想象一下，等你们长大，AI 还能帮医生更快看病、帮科学家探索太空、随时随地陪你学任何东西。但别忘了——真正的小主人，是你！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最后，记住这三句话：第一，AI 就在我们身边，每天帮我们做事；第二，AI 是靠「看很多例子」自己学会的；第三，AI 很能干，但要我们来把关。保持好奇，多多提问，做 AI 的好朋友！今天的课就到这里，谢谢大家！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1755648"/>
            <a:ext cx="41148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1645920" cy="402336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920240"/>
            <a:ext cx="1645920" cy="40233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Hiragino Sans GB"/>
                <a:ea typeface="Hiragino Sans GB"/>
              </a:rPr>
              <a:t>人工智能小课堂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9424"/>
            <a:ext cx="3657600" cy="71323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63355"/>
                </a:solidFill>
                <a:latin typeface="Hiragino Sans GB"/>
                <a:ea typeface="Hiragino Sans GB"/>
              </a:rPr>
              <a:t>AI 到底是什么？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3246120"/>
            <a:ext cx="3657600" cy="3108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4255"/>
                </a:solidFill>
                <a:latin typeface="Hiragino Sans GB"/>
                <a:ea typeface="Hiragino Sans GB"/>
              </a:rPr>
              <a:t>和聪明的电脑做朋友 · 给小学生的第一课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554480" y="3529584"/>
            <a:ext cx="6035040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176522" y="3675887"/>
            <a:ext cx="790956" cy="310896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76522" y="3675887"/>
            <a:ext cx="790956" cy="3108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开始啦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4059935"/>
            <a:ext cx="557784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3355"/>
                </a:solidFill>
                <a:latin typeface="Hiragino Sans GB"/>
                <a:ea typeface="Hiragino Sans GB"/>
              </a:rPr>
              <a:t>AI 就在你身边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2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1197" cy="38404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96119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1 节 · 认识它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其实，AI 早就在你身边啦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30402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m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383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语音助手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你说一句话，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它就听懂、回答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74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>
            <a:off x="25374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102101" y="1755648"/>
            <a:ext cx="768096" cy="768096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0" name="Picture 19" descr="vid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1083" y="1924629"/>
            <a:ext cx="430133" cy="4301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288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刷视频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3763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它猜你爱看什么，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一个接一个推给你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7091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273801" y="1755648"/>
            <a:ext cx="768096" cy="768096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7" name="Picture 26" descr="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2783" y="1924629"/>
            <a:ext cx="430133" cy="4301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005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人脸解锁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5464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看一眼你的脸，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就知道是不是你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808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68808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45501" y="1755648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34" name="Picture 33" descr="la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4483" y="1924629"/>
            <a:ext cx="430133" cy="430133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722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翻译软件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7163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中文变英文，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一秒钟就搞定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6B73"/>
                </a:solidFill>
                <a:latin typeface="Hiragino Sans GB"/>
                <a:ea typeface="Hiragino Sans GB"/>
              </a:rPr>
              <a:t>想一想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这些你天天都在用的小帮手，背后都是 AI 在悄悄工作！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2114549" cy="38404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2114549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1 节 · 一句话懂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那 AI 到底是什么呢？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7863840" cy="54864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63355"/>
                </a:solidFill>
                <a:latin typeface="Hiragino Sans GB"/>
                <a:ea typeface="Hiragino Sans GB"/>
              </a:rPr>
              <a:t>简单说，AI 就是让电脑也能像人一样：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240280"/>
            <a:ext cx="1897379" cy="2263139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60" y="2240280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0402" y="2423160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4" name="Picture 13" descr="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383" y="2592141"/>
            <a:ext cx="430133" cy="4301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3300984"/>
            <a:ext cx="171449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63355"/>
                </a:solidFill>
                <a:latin typeface="Hiragino Sans GB"/>
                <a:ea typeface="Hiragino Sans GB"/>
              </a:rPr>
              <a:t>会看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721608"/>
            <a:ext cx="1604771" cy="672083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认出照片里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是什么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37459" y="2240280"/>
            <a:ext cx="1897379" cy="2263139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2537459" y="2240280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102101" y="2423160"/>
            <a:ext cx="768096" cy="768096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1" name="Picture 20" descr="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1083" y="2592141"/>
            <a:ext cx="430133" cy="43013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628899" y="3300984"/>
            <a:ext cx="171449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63355"/>
                </a:solidFill>
                <a:latin typeface="Hiragino Sans GB"/>
                <a:ea typeface="Hiragino Sans GB"/>
              </a:rPr>
              <a:t>会听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3763" y="3721608"/>
            <a:ext cx="1604771" cy="672083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听懂你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说的话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59" y="2240280"/>
            <a:ext cx="1897379" cy="2263139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>
            <a:off x="4709159" y="2240280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273801" y="2423160"/>
            <a:ext cx="768096" cy="768096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8" name="Picture 27" descr="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2783" y="2592141"/>
            <a:ext cx="430133" cy="43013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599" y="3300984"/>
            <a:ext cx="171449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63355"/>
                </a:solidFill>
                <a:latin typeface="Hiragino Sans GB"/>
                <a:ea typeface="Hiragino Sans GB"/>
              </a:rPr>
              <a:t>会想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721608"/>
            <a:ext cx="1604771" cy="672083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想出办法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解决问题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0859" y="2240280"/>
            <a:ext cx="1897379" cy="2263139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>
            <a:off x="6880859" y="2240280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445501" y="2423160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35" name="Picture 34" descr="lear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4483" y="2592141"/>
            <a:ext cx="430133" cy="43013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72299" y="3300984"/>
            <a:ext cx="171449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63355"/>
                </a:solidFill>
                <a:latin typeface="Hiragino Sans GB"/>
                <a:ea typeface="Hiragino Sans GB"/>
              </a:rPr>
              <a:t>会学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7163" y="3721608"/>
            <a:ext cx="1604771" cy="672083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看的例子越多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B4255"/>
                </a:solidFill>
                <a:latin typeface="Hiragino Sans GB"/>
                <a:ea typeface="Hiragino Sans GB"/>
              </a:rPr>
              <a:t>就会更聪明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1197" cy="384048"/>
          </a:xfrm>
          <a:prstGeom prst="roundRect">
            <a:avLst>
              <a:gd name="adj" fmla="val 5000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96119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2 节 · 它会学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AI 是怎么学会本领的？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64336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317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看很多例子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给它看成千上万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个例子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40736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389376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3389376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187952" y="1755648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1" name="Picture 20" descr="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933" y="1924629"/>
            <a:ext cx="430133" cy="43013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0816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自己找规律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5680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它从例子里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发现共同点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864352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12992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1E7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211568" y="1755648"/>
            <a:ext cx="768096" cy="768096"/>
          </a:xfrm>
          <a:prstGeom prst="ellipse">
            <a:avLst/>
          </a:prstGeom>
          <a:noFill/>
          <a:ln w="330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8" name="Picture 27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549" y="1924629"/>
            <a:ext cx="430133" cy="43013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04432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iragino Sans GB"/>
                <a:ea typeface="Hiragino Sans GB"/>
              </a:rPr>
              <a:t>就学会啦！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9296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1" i="0">
                <a:solidFill>
                  <a:srgbClr val="FFFFFF"/>
                </a:solidFill>
                <a:latin typeface="Hiragino Sans GB"/>
                <a:ea typeface="Hiragino Sans GB"/>
              </a:rPr>
              <a:t>遇到新东西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1" i="0">
                <a:solidFill>
                  <a:srgbClr val="FFFFFF"/>
                </a:solidFill>
                <a:latin typeface="Hiragino Sans GB"/>
                <a:ea typeface="Hiragino Sans GB"/>
              </a:rPr>
              <a:t>也能搞定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FA882"/>
                </a:solidFill>
                <a:latin typeface="Hiragino Sans GB"/>
                <a:ea typeface="Hiragino Sans GB"/>
              </a:rPr>
              <a:t>打个比方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就像你看多了猫和狗的照片，慢慢就能一眼认出谁是谁——AI 也是这样学的。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2114549" cy="384048"/>
          </a:xfrm>
          <a:prstGeom prst="roundRect">
            <a:avLst>
              <a:gd name="adj" fmla="val 5000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2114549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2 节 · 举个例子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那…怎么教电脑认出「猫」？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64336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317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先看好多猫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给它看成千上万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张猫的照片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40736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389376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>
            <a:off x="3389376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187952" y="1755648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1" name="Picture 20" descr="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933" y="1924629"/>
            <a:ext cx="430133" cy="43013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0816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找出猫的特点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5680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尖耳朵 · 长胡须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圆眼睛 · 毛茸茸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864352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12992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>
            <a:off x="6412992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211568" y="1755648"/>
            <a:ext cx="768096" cy="768096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9" name="Picture 28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549" y="1924629"/>
            <a:ext cx="430133" cy="4301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04432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认出新的猫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9296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再看到没见过的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猫，也能认出来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9BD6"/>
                </a:solidFill>
                <a:latin typeface="Hiragino Sans GB"/>
                <a:ea typeface="Hiragino Sans GB"/>
              </a:rPr>
              <a:t>道理都一样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认猫、认字、认人……都是这样：让 AI 看得越多，它就学得越好。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554480" y="3529584"/>
            <a:ext cx="6035040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096512" y="3675887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96512" y="3675887"/>
            <a:ext cx="950976" cy="3108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更神奇的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4059935"/>
            <a:ext cx="557784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3355"/>
                </a:solidFill>
                <a:latin typeface="Hiragino Sans GB"/>
                <a:ea typeface="Hiragino Sans GB"/>
              </a:rPr>
              <a:t>它会聊天，还会创作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7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1197" cy="38404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96119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3 节 · 会说话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AI 还会和你「聊天」呢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8</a:t>
            </a:r>
          </a:p>
        </p:txBody>
      </p:sp>
      <p:sp>
        <p:nvSpPr>
          <p:cNvPr id="9" name="Oval 8"/>
          <p:cNvSpPr/>
          <p:nvPr/>
        </p:nvSpPr>
        <p:spPr>
          <a:xfrm>
            <a:off x="694943" y="1627631"/>
            <a:ext cx="713232" cy="713232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0" name="Picture 9" descr="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55" y="1784543"/>
            <a:ext cx="399409" cy="39940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554480" y="1627632"/>
            <a:ext cx="566928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37360" y="1627632"/>
            <a:ext cx="5394960" cy="74980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6B73"/>
                </a:solidFill>
                <a:latin typeface="Hiragino Sans GB"/>
                <a:ea typeface="Hiragino Sans GB"/>
              </a:rPr>
              <a:t>你：</a:t>
            </a:r>
            <a:r>
              <a:rPr sz="1500" b="0" i="0">
                <a:solidFill>
                  <a:srgbClr val="063355"/>
                </a:solidFill>
                <a:latin typeface="Hiragino Sans GB"/>
                <a:ea typeface="Hiragino Sans GB"/>
              </a:rPr>
              <a:t>为什么天是蓝色的呀？</a:t>
            </a:r>
          </a:p>
        </p:txBody>
      </p:sp>
      <p:sp>
        <p:nvSpPr>
          <p:cNvPr id="14" name="Oval 13"/>
          <p:cNvSpPr/>
          <p:nvPr/>
        </p:nvSpPr>
        <p:spPr>
          <a:xfrm>
            <a:off x="7781544" y="2633472"/>
            <a:ext cx="713232" cy="713232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5" name="Picture 14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8455" y="2790383"/>
            <a:ext cx="399409" cy="39940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240280" y="2633472"/>
            <a:ext cx="5394960" cy="749808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23160" y="2633472"/>
            <a:ext cx="5029200" cy="74980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9BD6"/>
                </a:solidFill>
                <a:latin typeface="Hiragino Sans GB"/>
                <a:ea typeface="Hiragino Sans GB"/>
              </a:rPr>
              <a:t>AI：</a:t>
            </a:r>
            <a:r>
              <a:rPr sz="1500" b="0" i="0">
                <a:solidFill>
                  <a:srgbClr val="063355"/>
                </a:solidFill>
                <a:latin typeface="Hiragino Sans GB"/>
                <a:ea typeface="Hiragino Sans GB"/>
              </a:rPr>
              <a:t>因为阳光里的蓝光被空气散开啦～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26763"/>
            <a:ext cx="8010144" cy="7223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3884554"/>
            <a:ext cx="64008" cy="606795"/>
          </a:xfrm>
          <a:prstGeom prst="rect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" y="3826763"/>
            <a:ext cx="7607808" cy="72237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6B73"/>
                </a:solidFill>
                <a:latin typeface="Hiragino Sans GB"/>
                <a:ea typeface="Hiragino Sans GB"/>
              </a:rPr>
              <a:t>其实它在玩「词语接龙」  </a:t>
            </a:r>
            <a:r>
              <a:rPr sz="1250" b="0" i="0">
                <a:solidFill>
                  <a:srgbClr val="063355"/>
                </a:solidFill>
                <a:latin typeface="Hiragino Sans GB"/>
                <a:ea typeface="Hiragino Sans GB"/>
              </a:rPr>
              <a:t>AI 读过海量的文字，能一个词一个词地猜出最合适的下一个词。豆包、ChatGPT 都是这样。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1197" cy="38404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96119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3 节 · 会创造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AI 还会画画、写故事、作曲！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572768"/>
            <a:ext cx="2926080" cy="566928"/>
          </a:xfrm>
          <a:prstGeom prst="roundRect">
            <a:avLst>
              <a:gd name="adj" fmla="val 48387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292608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Hiragino Sans GB"/>
                <a:ea typeface="Hiragino Sans GB"/>
              </a:rPr>
              <a:t>你对它说一句话…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615440" y="2139696"/>
            <a:ext cx="2956560" cy="347472"/>
          </a:xfrm>
          <a:prstGeom prst="line">
            <a:avLst/>
          </a:prstGeom>
          <a:ln w="20320">
            <a:solidFill>
              <a:srgbClr val="9FB2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5760" y="2487168"/>
            <a:ext cx="2499359" cy="2052827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65760" y="24871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31392" y="2670048"/>
            <a:ext cx="768096" cy="768096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7" name="Picture 16" descr="pa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373" y="2839029"/>
            <a:ext cx="430133" cy="4301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3547872"/>
            <a:ext cx="231647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3355"/>
                </a:solidFill>
                <a:latin typeface="Hiragino Sans GB"/>
                <a:ea typeface="Hiragino Sans GB"/>
              </a:rPr>
              <a:t>画一幅画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3968496"/>
            <a:ext cx="2206752" cy="46177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想要的画面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它就画出来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4571999" y="2139696"/>
            <a:ext cx="1" cy="347472"/>
          </a:xfrm>
          <a:prstGeom prst="line">
            <a:avLst/>
          </a:prstGeom>
          <a:ln w="20320">
            <a:solidFill>
              <a:srgbClr val="9FB2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322319" y="2487168"/>
            <a:ext cx="2499359" cy="2052827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322319" y="24871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87951" y="26700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5" name="Picture 24" descr="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933" y="2839029"/>
            <a:ext cx="430133" cy="43013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13759" y="3547872"/>
            <a:ext cx="231647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3355"/>
                </a:solidFill>
                <a:latin typeface="Hiragino Sans GB"/>
                <a:ea typeface="Hiragino Sans GB"/>
              </a:rPr>
              <a:t>写个故事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8623" y="3968496"/>
            <a:ext cx="2206752" cy="46177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给个开头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它接着编下去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72000" y="2139696"/>
            <a:ext cx="2956559" cy="347472"/>
          </a:xfrm>
          <a:prstGeom prst="line">
            <a:avLst/>
          </a:prstGeom>
          <a:ln w="20320">
            <a:solidFill>
              <a:srgbClr val="9FB2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78880" y="2487168"/>
            <a:ext cx="2499359" cy="2052827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20320">
            <a:solidFill>
              <a:srgbClr val="E89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278880" y="24871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144511" y="2670048"/>
            <a:ext cx="768096" cy="768096"/>
          </a:xfrm>
          <a:prstGeom prst="ellipse">
            <a:avLst/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33" name="Picture 32" descr="mus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493" y="2839029"/>
            <a:ext cx="430133" cy="43013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370319" y="3547872"/>
            <a:ext cx="2316479" cy="36576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63355"/>
                </a:solidFill>
                <a:latin typeface="Hiragino Sans GB"/>
                <a:ea typeface="Hiragino Sans GB"/>
              </a:rPr>
              <a:t>作一首曲子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5184" y="3968496"/>
            <a:ext cx="2206752" cy="46177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说说心情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B4255"/>
                </a:solidFill>
                <a:latin typeface="Hiragino Sans GB"/>
                <a:ea typeface="Hiragino Sans GB"/>
              </a:rPr>
              <a:t>它谱成旋律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554480" y="3529584"/>
            <a:ext cx="6035040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176522" y="3675887"/>
            <a:ext cx="790956" cy="310896"/>
          </a:xfrm>
          <a:prstGeom prst="roundRect">
            <a:avLst>
              <a:gd name="adj" fmla="val 5000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76522" y="3675887"/>
            <a:ext cx="790956" cy="3108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要注意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4059935"/>
            <a:ext cx="557784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3355"/>
                </a:solidFill>
                <a:latin typeface="Hiragino Sans GB"/>
                <a:ea typeface="Hiragino Sans GB"/>
              </a:rPr>
              <a:t>AI 也有做不到的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10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2114549" cy="384048"/>
          </a:xfrm>
          <a:prstGeom prst="roundRect">
            <a:avLst>
              <a:gd name="adj" fmla="val 5000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2114549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4 节 · 它的不足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不过，AI 并不是真的「懂」哦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3977639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397763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970531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9513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379475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看起来很聪明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368503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答得又快又顺，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好像什么都知道。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0600" y="1572768"/>
            <a:ext cx="3977639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800600" y="1572768"/>
            <a:ext cx="397763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5372" y="1755648"/>
            <a:ext cx="768096" cy="768096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0" name="Picture 19" descr="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353" y="1924629"/>
            <a:ext cx="430133" cy="4301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892040" y="2633472"/>
            <a:ext cx="379475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其实它不明白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46904" y="2962656"/>
            <a:ext cx="368503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它只是在算概率，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没有真的理解，也没有感情。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6B73"/>
                </a:solidFill>
                <a:latin typeface="Hiragino Sans GB"/>
                <a:ea typeface="Hiragino Sans GB"/>
              </a:rPr>
              <a:t>要小心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AI 有时会一本正经地「瞎编」——把不确定的事说得像真的一样，所以不能全都信它。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2114549" cy="384048"/>
          </a:xfrm>
          <a:prstGeom prst="roundRect">
            <a:avLst>
              <a:gd name="adj" fmla="val 5000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2114549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4 节 · 谁说了算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AI 是好帮手，不是魔法师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64336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ch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317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AI 出主意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它给我们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建议和答案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840736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389376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C24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187952" y="1755648"/>
            <a:ext cx="768096" cy="768096"/>
          </a:xfrm>
          <a:prstGeom prst="ellipse">
            <a:avLst/>
          </a:prstGeom>
          <a:noFill/>
          <a:ln w="330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0" name="Picture 19" descr="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933" y="1924629"/>
            <a:ext cx="430133" cy="4301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80816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iragino Sans GB"/>
                <a:ea typeface="Hiragino Sans GB"/>
              </a:rPr>
              <a:t>我们来把关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5680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1" i="0">
                <a:solidFill>
                  <a:srgbClr val="FFFFFF"/>
                </a:solidFill>
                <a:latin typeface="Hiragino Sans GB"/>
                <a:ea typeface="Hiragino Sans GB"/>
              </a:rPr>
              <a:t>用脑子判断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1" i="0">
                <a:solidFill>
                  <a:srgbClr val="FFFFFF"/>
                </a:solidFill>
                <a:latin typeface="Hiragino Sans GB"/>
                <a:ea typeface="Hiragino Sans GB"/>
              </a:rPr>
              <a:t>对不对、好不好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64352" y="2432304"/>
            <a:ext cx="438912" cy="29260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FB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12992" y="1572768"/>
            <a:ext cx="2365248" cy="20116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>
            <a:off x="6412992" y="1572768"/>
            <a:ext cx="2365248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211568" y="1755648"/>
            <a:ext cx="768096" cy="768096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8" name="Picture 27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0549" y="1924629"/>
            <a:ext cx="430133" cy="43013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04432" y="2633472"/>
            <a:ext cx="2182367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做出决定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9296" y="2962656"/>
            <a:ext cx="2072640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最后由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我们自己决定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9BD6"/>
                </a:solidFill>
                <a:latin typeface="Hiragino Sans GB"/>
                <a:ea typeface="Hiragino Sans GB"/>
              </a:rPr>
              <a:t>记住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重要的事要由人来把关——AI 只是帮忙，最后拿主意的是我们自己。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961197" cy="384048"/>
          </a:xfrm>
          <a:prstGeom prst="roundRect">
            <a:avLst>
              <a:gd name="adj" fmla="val 50000"/>
            </a:avLst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96119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第 5 节 · 小贴士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怎么和 AI 做好朋友？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30402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383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多问「为什么」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别只看答案，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多让它讲讲道理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74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>
            <a:off x="25374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102101" y="1755648"/>
            <a:ext cx="768096" cy="768096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0" name="Picture 19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1083" y="1924629"/>
            <a:ext cx="430133" cy="4301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288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自己想一想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3763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AI 也会错，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用自己的脑袋判断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7091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273801" y="1755648"/>
            <a:ext cx="768096" cy="768096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7" name="Picture 26" descr="privac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2783" y="1924629"/>
            <a:ext cx="430133" cy="4301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8005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不说小秘密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5464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真名、住址、密码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都不要告诉它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80859" y="1572768"/>
            <a:ext cx="1897379" cy="2011680"/>
          </a:xfrm>
          <a:prstGeom prst="roundRect">
            <a:avLst>
              <a:gd name="adj" fmla="val 7710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2" name="Round Same Side Corner Rectangle 31"/>
          <p:cNvSpPr/>
          <p:nvPr/>
        </p:nvSpPr>
        <p:spPr>
          <a:xfrm>
            <a:off x="6880859" y="1572768"/>
            <a:ext cx="189737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445501" y="1755648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34" name="Picture 33" descr="adu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4483" y="1924629"/>
            <a:ext cx="430133" cy="430133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72299" y="2633472"/>
            <a:ext cx="171449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请大人陪着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7163" y="2962656"/>
            <a:ext cx="1604771" cy="58521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遇到不懂的，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60" b="0" i="0">
                <a:solidFill>
                  <a:srgbClr val="2B4255"/>
                </a:solidFill>
                <a:latin typeface="Hiragino Sans GB"/>
                <a:ea typeface="Hiragino Sans GB"/>
              </a:rPr>
              <a:t>找爸妈或老师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050791"/>
            <a:ext cx="8010144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66928" y="4090659"/>
            <a:ext cx="64008" cy="566928"/>
          </a:xfrm>
          <a:prstGeom prst="rect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4050791"/>
            <a:ext cx="7607808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FA882"/>
                </a:solidFill>
                <a:latin typeface="Hiragino Sans GB"/>
                <a:ea typeface="Hiragino Sans GB"/>
              </a:rPr>
              <a:t>别忘了  </a:t>
            </a:r>
            <a:r>
              <a:rPr sz="1050" b="0" i="0">
                <a:solidFill>
                  <a:srgbClr val="063355"/>
                </a:solidFill>
                <a:latin typeface="Hiragino Sans GB"/>
                <a:ea typeface="Hiragino Sans GB"/>
              </a:rPr>
              <a:t>你才是小主人，AI 是小帮手——开开心心、安安全全地用它！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554480" y="3529584"/>
            <a:ext cx="6035040" cy="1078992"/>
          </a:xfrm>
          <a:prstGeom prst="roundRect">
            <a:avLst>
              <a:gd name="adj" fmla="val 169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56532" y="3675887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56532" y="3675887"/>
            <a:ext cx="630936" cy="3108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最后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4059935"/>
            <a:ext cx="557784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63355"/>
                </a:solidFill>
                <a:latin typeface="Hiragino Sans GB"/>
                <a:ea typeface="Hiragino Sans GB"/>
              </a:rPr>
              <a:t>未来，交给你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14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654492" cy="38404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654492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畅想一下 · 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未来，你能用 AI 做什么？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2499359" cy="2130552"/>
          </a:xfrm>
          <a:prstGeom prst="roundRect">
            <a:avLst>
              <a:gd name="adj" fmla="val 6866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5727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31392" y="1755648"/>
            <a:ext cx="768096" cy="768096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13" name="Picture 12" descr="m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373" y="1924629"/>
            <a:ext cx="430133" cy="4301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2633472"/>
            <a:ext cx="231647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帮医生看病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3054096"/>
            <a:ext cx="2206752" cy="5394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更快发现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身体的小毛病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2319" y="1572768"/>
            <a:ext cx="2499359" cy="2130552"/>
          </a:xfrm>
          <a:prstGeom prst="roundRect">
            <a:avLst>
              <a:gd name="adj" fmla="val 6866"/>
            </a:avLst>
          </a:prstGeom>
          <a:solidFill>
            <a:srgbClr val="FFFFFF"/>
          </a:solidFill>
          <a:ln w="20320">
            <a:solidFill>
              <a:srgbClr val="7C7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322319" y="15727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187951" y="1755648"/>
            <a:ext cx="768096" cy="768096"/>
          </a:xfrm>
          <a:prstGeom prst="ellipse">
            <a:avLst/>
          </a:prstGeom>
          <a:solidFill>
            <a:srgbClr val="7C7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0" name="Picture 19" descr="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6933" y="1924629"/>
            <a:ext cx="430133" cy="43013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13759" y="2633472"/>
            <a:ext cx="231647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帮我们探索太空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8623" y="3054096"/>
            <a:ext cx="2206752" cy="5394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一起去看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更远的星球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880" y="1572768"/>
            <a:ext cx="2499359" cy="2130552"/>
          </a:xfrm>
          <a:prstGeom prst="roundRect">
            <a:avLst>
              <a:gd name="adj" fmla="val 6866"/>
            </a:avLst>
          </a:prstGeom>
          <a:solidFill>
            <a:srgbClr val="FFFFFF"/>
          </a:solidFill>
          <a:ln w="20320">
            <a:solidFill>
              <a:srgbClr val="E89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278880" y="1572768"/>
            <a:ext cx="2499359" cy="14630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144511" y="1755648"/>
            <a:ext cx="768096" cy="768096"/>
          </a:xfrm>
          <a:prstGeom prst="ellipse">
            <a:avLst/>
          </a:prstGeom>
          <a:solidFill>
            <a:srgbClr val="E89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pic>
        <p:nvPicPr>
          <p:cNvPr id="27" name="Picture 26" descr="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493" y="1924629"/>
            <a:ext cx="430133" cy="4301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70319" y="2633472"/>
            <a:ext cx="2316479" cy="438912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63355"/>
                </a:solidFill>
                <a:latin typeface="Hiragino Sans GB"/>
                <a:ea typeface="Hiragino Sans GB"/>
              </a:rPr>
              <a:t>帮你学会任何东西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5184" y="3054096"/>
            <a:ext cx="2206752" cy="539496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随时随地</a:t>
            </a:r>
          </a:p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B4255"/>
                </a:solidFill>
                <a:latin typeface="Hiragino Sans GB"/>
                <a:ea typeface="Hiragino Sans GB"/>
              </a:rPr>
              <a:t>陪你一起学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64FB0"/>
                </a:solidFill>
                <a:latin typeface="Hiragino Sans GB"/>
                <a:ea typeface="Hiragino Sans GB"/>
              </a:rPr>
              <a:t>而你，才是 AI 真正的「小主人」！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66928" y="384048"/>
            <a:ext cx="1347787" cy="38404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347787" cy="38404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Hiragino Sans GB"/>
                <a:ea typeface="Hiragino Sans GB"/>
              </a:rPr>
              <a:t>小结 ·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8010144" cy="65836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63355"/>
                </a:solidFill>
                <a:latin typeface="Hiragino Sans GB"/>
                <a:ea typeface="Hiragino Sans GB"/>
              </a:rPr>
              <a:t>最后，记住这三句话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26464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4759452"/>
            <a:ext cx="548640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C6A"/>
                </a:solidFill>
                <a:latin typeface="Hiragino Sans GB"/>
                <a:ea typeface="Hiragino Sans GB"/>
              </a:rPr>
              <a:t>AI 是什么？· 给小学生的第一课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759452"/>
            <a:ext cx="548640" cy="27432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A5C6A"/>
                </a:solidFill>
                <a:latin typeface="Hiragino Sans GB"/>
                <a:ea typeface="Hiragino Sans GB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8412480" cy="656844"/>
          </a:xfrm>
          <a:prstGeom prst="roundRect">
            <a:avLst>
              <a:gd name="adj" fmla="val 19489"/>
            </a:avLst>
          </a:prstGeom>
          <a:solidFill>
            <a:srgbClr val="FFFFFF"/>
          </a:solidFill>
          <a:ln w="20320">
            <a:solidFill>
              <a:srgbClr val="2E9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48640" y="1626870"/>
            <a:ext cx="548640" cy="548640"/>
          </a:xfrm>
          <a:prstGeom prst="ellipse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626870"/>
            <a:ext cx="548640" cy="54864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572768"/>
            <a:ext cx="7315199" cy="656844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3355"/>
                </a:solidFill>
                <a:latin typeface="Hiragino Sans GB"/>
                <a:ea typeface="Hiragino Sans GB"/>
              </a:rPr>
              <a:t>AI 就在我们身边，每天帮我们做事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412492"/>
            <a:ext cx="8412480" cy="656844"/>
          </a:xfrm>
          <a:prstGeom prst="roundRect">
            <a:avLst>
              <a:gd name="adj" fmla="val 19489"/>
            </a:avLst>
          </a:prstGeom>
          <a:solidFill>
            <a:srgbClr val="FFFFFF"/>
          </a:solidFill>
          <a:ln w="20320">
            <a:solidFill>
              <a:srgbClr val="3FA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48640" y="2466594"/>
            <a:ext cx="548640" cy="548640"/>
          </a:xfrm>
          <a:prstGeom prst="ellipse">
            <a:avLst/>
          </a:prstGeom>
          <a:solidFill>
            <a:srgbClr val="3FA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466594"/>
            <a:ext cx="548640" cy="54864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412492"/>
            <a:ext cx="7315199" cy="656844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3355"/>
                </a:solidFill>
                <a:latin typeface="Hiragino Sans GB"/>
                <a:ea typeface="Hiragino Sans GB"/>
              </a:rPr>
              <a:t>AI 是靠「看很多例子」自己学会的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252216"/>
            <a:ext cx="8412480" cy="656844"/>
          </a:xfrm>
          <a:prstGeom prst="roundRect">
            <a:avLst>
              <a:gd name="adj" fmla="val 19489"/>
            </a:avLst>
          </a:prstGeom>
          <a:solidFill>
            <a:srgbClr val="FFFFFF"/>
          </a:solidFill>
          <a:ln w="20320">
            <a:solidFill>
              <a:srgbClr val="E86B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8640" y="3306318"/>
            <a:ext cx="548640" cy="548640"/>
          </a:xfrm>
          <a:prstGeom prst="ellipse">
            <a:avLst/>
          </a:prstGeom>
          <a:solidFill>
            <a:srgbClr val="E8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7432" rIns="36576" bIns="27432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3306318"/>
            <a:ext cx="548640" cy="548640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3252216"/>
            <a:ext cx="7315199" cy="656844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63355"/>
                </a:solidFill>
                <a:latin typeface="Hiragino Sans GB"/>
                <a:ea typeface="Hiragino Sans GB"/>
              </a:rPr>
              <a:t>AI 很能干，但要我们来把关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91939"/>
            <a:ext cx="7863840" cy="566928"/>
          </a:xfrm>
          <a:prstGeom prst="rect">
            <a:avLst/>
          </a:prstGeom>
          <a:noFill/>
          <a:ln/>
        </p:spPr>
        <p:txBody>
          <a:bodyPr wrap="square" lIns="36576" tIns="27432" rIns="36576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6B73"/>
                </a:solidFill>
                <a:latin typeface="Hiragino Sans GB"/>
                <a:ea typeface="Hiragino Sans GB"/>
              </a:rPr>
              <a:t>保持好奇，多多提问，做 AI 的好朋友！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776</Words>
  <Application>Microsoft Macintosh PowerPoint</Application>
  <PresentationFormat>全屏显示(16:9)</PresentationFormat>
  <Paragraphs>181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Heiti SC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t97756</cp:lastModifiedBy>
  <cp:revision>2</cp:revision>
  <dcterms:created xsi:type="dcterms:W3CDTF">2013-01-27T09:14:16Z</dcterms:created>
  <dcterms:modified xsi:type="dcterms:W3CDTF">2026-07-02T01:00:26Z</dcterms:modified>
  <cp:category/>
</cp:coreProperties>
</file>