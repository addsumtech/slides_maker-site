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064DD0B-1F75-4F07-8ED4-11991359DEE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6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开场：小朋友们好！今天我们要认识一个新朋友，它叫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。先别急着记定义，我们一起玩着搞懂它。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42B6E13-AFBF-4AF1-8AB3-62703FA43F1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6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先看看今天要去的五站：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藏在哪、它怎么学习、它会什么又不会什么、我们怎么和它相处、还有安全小提醒。跟着小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出发吧！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81970E7-9FEA-4A04-9358-FEEC3F0BA07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7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问问同学们：早上到现在，你用过哪些东西？语音音箱、刷的短视频、拍照、翻译、游戏、地图——这些背后都有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。它其实离我们很近。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0576888-66C5-4246-8EEA-7F8C7081F42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7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那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到底是什么？它是一种电脑程序，不像计算器只会算固定的题；它能看很多例子，自己找规律，学会一项本领。记住这三步：看例子、找规律、学本领。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8C849E1-0DD5-4285-A227-152E6A02801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打个比方：你小时候是怎么认识‘猫’的？是看了好多好多猫，慢慢记住了猫的样子。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也一样，看成千上万张猫的照片，自己学会认猫。没人告诉它猫有胡须和尾巴哦。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3B1C07B-8851-45A8-890B-9AC841109CD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而且它会‘练习’：先猜一猜，有人告诉它对不对，它就改一改，再来一次。就像学骑自行车，练得越多越稳。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练得越多，也就越准。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5C50E35-6443-4CCC-A7F9-E046764ECCF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有很多超能力：记性特别好、算得飞快、重复一万遍也不累、还能在一大堆东西里找出相似的规律。这些它比我们厉害多啦。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A044F22-97A0-4C62-A876-80C63264390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但是它也有短板：它会犯错，还会很有把握地说错话——比如‘恐龙住在南极’，说得像真的一样，其实是编的。所以它说的话，我们要自己动脑想一想。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BADAD21-269C-4EDE-AE6D-2B7E283BF49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怎么和它相处呢？第一，把问题说清楚；第二，答案自己检查；第三，拿不准就问老师和爸妈；第四，你才是小主人，最后由你来做决定。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92A55D3-F453-4B06-80DE-24985AB4FBD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安全最重要：可以用它查资料、练英语、找灵感；但别把真名、家住哪、密码告诉它；遇到不舒服的内容，马上告诉大人；重要的事别一个人偷偷决定。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4084618-E8CF-4605-97A4-0CFABED427F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我们把今天串一串：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住在生活里、靠例子学习、很能干但也会错、要当好帮手你来做主、还要护好自己的小秘密。你都学会啦！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3789FF0-FD9A-4447-9C7A-C81DC8A2D53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最后送大家一句话：工具再聪明，做决定的还是你。带着好奇心，去发现更多有意思的事情吧！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06EB97F-90D3-429F-A52F-1E6F5B72B36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880186-95B6-4904-9C23-FA202EC901C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D05435-06E4-44C1-BBE8-9ECAB8F5BD2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2A3EFB-A64D-4B1D-AD7A-F43BF14C22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A11F0E0-96D2-4EBB-9383-42E127D328B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E054F7-014C-438B-A55E-72A0B1A5CD5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FB9034-E520-494B-8278-50CFB0CB66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381A56-F6EC-48D4-BBFE-E2F635EEAF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4F78F9-E291-4324-A282-D0ED5FF0606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BE9744-646F-4DBC-91BE-258A8C167BF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B673FA-C8D5-4AA0-BF43-FBD4210F4F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1C5786-E305-48E8-B43D-1C3FF1BB6E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.pn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4.png"/><Relationship Id="rId3" Type="http://schemas.openxmlformats.org/officeDocument/2006/relationships/image" Target="../media/image14.png"/><Relationship Id="rId4" Type="http://schemas.openxmlformats.org/officeDocument/2006/relationships/image" Target="../media/image14.png"/><Relationship Id="rId5" Type="http://schemas.openxmlformats.org/officeDocument/2006/relationships/image" Target="../media/image14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5.png"/><Relationship Id="rId9" Type="http://schemas.openxmlformats.org/officeDocument/2006/relationships/image" Target="../media/image15.png"/><Relationship Id="rId10" Type="http://schemas.openxmlformats.org/officeDocument/2006/relationships/image" Target="../media/image15.png"/><Relationship Id="rId11" Type="http://schemas.openxmlformats.org/officeDocument/2006/relationships/image" Target="../media/image15.png"/><Relationship Id="rId12" Type="http://schemas.openxmlformats.org/officeDocument/2006/relationships/image" Target="../media/image15.png"/><Relationship Id="rId13" Type="http://schemas.openxmlformats.org/officeDocument/2006/relationships/image" Target="../media/image15.png"/><Relationship Id="rId14" Type="http://schemas.openxmlformats.org/officeDocument/2006/relationships/image" Target="../media/image15.png"/><Relationship Id="rId15" Type="http://schemas.openxmlformats.org/officeDocument/2006/relationships/slideLayout" Target="../slideLayouts/slideLayout9.xml"/><Relationship Id="rId1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5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3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8.png"/><Relationship Id="rId3" Type="http://schemas.openxmlformats.org/officeDocument/2006/relationships/image" Target="../media/image28.png"/><Relationship Id="rId4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24.png"/><Relationship Id="rId7" Type="http://schemas.openxmlformats.org/officeDocument/2006/relationships/image" Target="../media/image24.png"/><Relationship Id="rId8" Type="http://schemas.openxmlformats.org/officeDocument/2006/relationships/image" Target="../media/image24.pn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gradFill rotWithShape="0">
            <a:gsLst>
              <a:gs pos="0">
                <a:srgbClr val="FFE1C4"/>
              </a:gs>
              <a:gs pos="100000">
                <a:srgbClr val="FFF3E4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Sun 2"/>
          <p:cNvSpPr/>
          <p:nvPr/>
        </p:nvSpPr>
        <p:spPr>
          <a:xfrm>
            <a:off x="594360" y="411480"/>
            <a:ext cx="914040" cy="914040"/>
          </a:xfrm>
          <a:prstGeom prst="sun">
            <a:avLst>
              <a:gd name="adj" fmla="val 25000"/>
            </a:avLst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Cloud 3"/>
          <p:cNvSpPr/>
          <p:nvPr/>
        </p:nvSpPr>
        <p:spPr>
          <a:xfrm>
            <a:off x="5669280" y="502920"/>
            <a:ext cx="1554120" cy="868320"/>
          </a:xfrm>
          <a:prstGeom prst="cloud">
            <a:avLst/>
          </a:prstGeom>
          <a:solidFill>
            <a:srgbClr val="FFFFFF">
              <a:alpha val="9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Cloud 4"/>
          <p:cNvSpPr/>
          <p:nvPr/>
        </p:nvSpPr>
        <p:spPr>
          <a:xfrm>
            <a:off x="7680960" y="1371600"/>
            <a:ext cx="1371240" cy="776880"/>
          </a:xfrm>
          <a:prstGeom prst="cloud">
            <a:avLst/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4-Point Star 5"/>
          <p:cNvSpPr/>
          <p:nvPr/>
        </p:nvSpPr>
        <p:spPr>
          <a:xfrm>
            <a:off x="2807280" y="338400"/>
            <a:ext cx="237240" cy="237240"/>
          </a:xfrm>
          <a:prstGeom prst="star4">
            <a:avLst>
              <a:gd name="adj" fmla="val 12500"/>
            </a:avLst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880" rIns="90000" bIns="-28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5-Point Star 6"/>
          <p:cNvSpPr/>
          <p:nvPr/>
        </p:nvSpPr>
        <p:spPr>
          <a:xfrm>
            <a:off x="4069080" y="685800"/>
            <a:ext cx="273960" cy="27396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Heart 7"/>
          <p:cNvSpPr/>
          <p:nvPr/>
        </p:nvSpPr>
        <p:spPr>
          <a:xfrm>
            <a:off x="8275320" y="502920"/>
            <a:ext cx="273960" cy="273960"/>
          </a:xfrm>
          <a:prstGeom prst="heart">
            <a:avLst/>
          </a:prstGeom>
          <a:solidFill>
            <a:srgbClr val="3FC79A">
              <a:alpha val="9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Oval 8"/>
          <p:cNvSpPr/>
          <p:nvPr/>
        </p:nvSpPr>
        <p:spPr>
          <a:xfrm>
            <a:off x="2121480" y="1481400"/>
            <a:ext cx="145800" cy="145800"/>
          </a:xfrm>
          <a:prstGeom prst="ellipse">
            <a:avLst/>
          </a:prstGeom>
          <a:solidFill>
            <a:srgbClr val="9B7EDE">
              <a:alpha val="9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4-Point Star 9"/>
          <p:cNvSpPr/>
          <p:nvPr/>
        </p:nvSpPr>
        <p:spPr>
          <a:xfrm>
            <a:off x="5029200" y="274320"/>
            <a:ext cx="182520" cy="182520"/>
          </a:xfrm>
          <a:prstGeom prst="star4">
            <a:avLst>
              <a:gd name="adj" fmla="val 12500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Rounded Rectangle 10"/>
          <p:cNvSpPr/>
          <p:nvPr/>
        </p:nvSpPr>
        <p:spPr>
          <a:xfrm>
            <a:off x="0" y="4526280"/>
            <a:ext cx="9143640" cy="617040"/>
          </a:xfrm>
          <a:prstGeom prst="roundRect">
            <a:avLst>
              <a:gd name="adj" fmla="val 14000"/>
            </a:avLst>
          </a:prstGeom>
          <a:solidFill>
            <a:srgbClr val="FDEB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Rounded Rectangle 11"/>
          <p:cNvSpPr/>
          <p:nvPr/>
        </p:nvSpPr>
        <p:spPr>
          <a:xfrm>
            <a:off x="6839280" y="1720440"/>
            <a:ext cx="128520" cy="64440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Oval 12"/>
          <p:cNvSpPr/>
          <p:nvPr/>
        </p:nvSpPr>
        <p:spPr>
          <a:xfrm>
            <a:off x="6710400" y="1483920"/>
            <a:ext cx="386280" cy="38628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4-Point Star 13"/>
          <p:cNvSpPr/>
          <p:nvPr/>
        </p:nvSpPr>
        <p:spPr>
          <a:xfrm>
            <a:off x="6796440" y="1569960"/>
            <a:ext cx="214560" cy="214560"/>
          </a:xfrm>
          <a:prstGeom prst="star4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ounded Rectangle 14"/>
          <p:cNvSpPr/>
          <p:nvPr/>
        </p:nvSpPr>
        <p:spPr>
          <a:xfrm>
            <a:off x="5679000" y="3009600"/>
            <a:ext cx="192960" cy="47232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Rounded Rectangle 15"/>
          <p:cNvSpPr/>
          <p:nvPr/>
        </p:nvSpPr>
        <p:spPr>
          <a:xfrm>
            <a:off x="7935120" y="3009600"/>
            <a:ext cx="192960" cy="47232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ounded Rectangle 16"/>
          <p:cNvSpPr/>
          <p:nvPr/>
        </p:nvSpPr>
        <p:spPr>
          <a:xfrm>
            <a:off x="5829480" y="2322000"/>
            <a:ext cx="2148480" cy="1847520"/>
          </a:xfrm>
          <a:prstGeom prst="roundRect">
            <a:avLst>
              <a:gd name="adj" fmla="val 42000"/>
            </a:avLst>
          </a:prstGeom>
          <a:solidFill>
            <a:srgbClr val="3D9BE9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Rounded Rectangle 17"/>
          <p:cNvSpPr/>
          <p:nvPr/>
        </p:nvSpPr>
        <p:spPr>
          <a:xfrm>
            <a:off x="6087240" y="2716200"/>
            <a:ext cx="1632600" cy="1145520"/>
          </a:xfrm>
          <a:prstGeom prst="roundRect">
            <a:avLst>
              <a:gd name="adj" fmla="val 34000"/>
            </a:avLst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Oval 18"/>
          <p:cNvSpPr/>
          <p:nvPr/>
        </p:nvSpPr>
        <p:spPr>
          <a:xfrm>
            <a:off x="6399360" y="3052440"/>
            <a:ext cx="289800" cy="289800"/>
          </a:xfrm>
          <a:prstGeom prst="ellipse">
            <a:avLst/>
          </a:prstGeom>
          <a:solidFill>
            <a:srgbClr val="EA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Oval 19"/>
          <p:cNvSpPr/>
          <p:nvPr/>
        </p:nvSpPr>
        <p:spPr>
          <a:xfrm>
            <a:off x="6480720" y="3151080"/>
            <a:ext cx="127440" cy="127440"/>
          </a:xfrm>
          <a:prstGeom prst="ellipse">
            <a:avLst/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Oval 20"/>
          <p:cNvSpPr/>
          <p:nvPr/>
        </p:nvSpPr>
        <p:spPr>
          <a:xfrm>
            <a:off x="6465960" y="3119040"/>
            <a:ext cx="63360" cy="63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60" rIns="90000" bIns="3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Oval 21"/>
          <p:cNvSpPr/>
          <p:nvPr/>
        </p:nvSpPr>
        <p:spPr>
          <a:xfrm>
            <a:off x="7117920" y="3052440"/>
            <a:ext cx="289800" cy="289800"/>
          </a:xfrm>
          <a:prstGeom prst="ellipse">
            <a:avLst/>
          </a:prstGeom>
          <a:solidFill>
            <a:srgbClr val="EA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Oval 22"/>
          <p:cNvSpPr/>
          <p:nvPr/>
        </p:nvSpPr>
        <p:spPr>
          <a:xfrm>
            <a:off x="7199280" y="3151080"/>
            <a:ext cx="127440" cy="127440"/>
          </a:xfrm>
          <a:prstGeom prst="ellipse">
            <a:avLst/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Oval 23"/>
          <p:cNvSpPr/>
          <p:nvPr/>
        </p:nvSpPr>
        <p:spPr>
          <a:xfrm>
            <a:off x="7184520" y="3119040"/>
            <a:ext cx="63360" cy="63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60" rIns="90000" bIns="3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Oval 24"/>
          <p:cNvSpPr/>
          <p:nvPr/>
        </p:nvSpPr>
        <p:spPr>
          <a:xfrm>
            <a:off x="6368400" y="3354840"/>
            <a:ext cx="236160" cy="236160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Oval 25"/>
          <p:cNvSpPr/>
          <p:nvPr/>
        </p:nvSpPr>
        <p:spPr>
          <a:xfrm>
            <a:off x="7202880" y="3354840"/>
            <a:ext cx="236160" cy="236160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Arc 26"/>
          <p:cNvSpPr/>
          <p:nvPr/>
        </p:nvSpPr>
        <p:spPr>
          <a:xfrm>
            <a:off x="6581520" y="3202920"/>
            <a:ext cx="644400" cy="644400"/>
          </a:xfrm>
          <a:prstGeom prst="arc">
            <a:avLst>
              <a:gd name="adj1" fmla="val 2500000"/>
              <a:gd name="adj2" fmla="val 15500000"/>
            </a:avLst>
          </a:prstGeom>
          <a:noFill/>
          <a:ln cap="rnd" w="95504">
            <a:solidFill>
              <a:srgbClr val="EAF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Rounded Rectangle 27"/>
          <p:cNvSpPr/>
          <p:nvPr/>
        </p:nvSpPr>
        <p:spPr>
          <a:xfrm>
            <a:off x="6151680" y="4127040"/>
            <a:ext cx="1503720" cy="902160"/>
          </a:xfrm>
          <a:prstGeom prst="roundRect">
            <a:avLst>
              <a:gd name="adj" fmla="val 45000"/>
            </a:avLst>
          </a:prstGeom>
          <a:solidFill>
            <a:srgbClr val="3D9BE9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Rounded Rectangle 28"/>
          <p:cNvSpPr/>
          <p:nvPr/>
        </p:nvSpPr>
        <p:spPr>
          <a:xfrm rot="20400000">
            <a:off x="5807520" y="4169880"/>
            <a:ext cx="429480" cy="19296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Rounded Rectangle 29"/>
          <p:cNvSpPr/>
          <p:nvPr/>
        </p:nvSpPr>
        <p:spPr>
          <a:xfrm rot="2700000">
            <a:off x="7548120" y="3783240"/>
            <a:ext cx="429480" cy="19296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4-Point Star 30"/>
          <p:cNvSpPr/>
          <p:nvPr/>
        </p:nvSpPr>
        <p:spPr>
          <a:xfrm>
            <a:off x="5706000" y="2185560"/>
            <a:ext cx="200880" cy="200880"/>
          </a:xfrm>
          <a:prstGeom prst="star4">
            <a:avLst>
              <a:gd name="adj" fmla="val 12500"/>
            </a:avLst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9720" rIns="90000" bIns="-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ounded Rectangle 31"/>
          <p:cNvSpPr/>
          <p:nvPr/>
        </p:nvSpPr>
        <p:spPr>
          <a:xfrm>
            <a:off x="713160" y="1847160"/>
            <a:ext cx="2651400" cy="4568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32"/>
          <p:cNvSpPr/>
          <p:nvPr/>
        </p:nvSpPr>
        <p:spPr>
          <a:xfrm>
            <a:off x="713160" y="184716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12000"/>
              </a:lnSpc>
            </a:pPr>
            <a:r>
              <a:rPr lang="zh-CN" sz="1350" b="1" u="none" strike="noStrike">
                <a:solidFill>
                  <a:srgbClr val="C0453B"/>
                </a:solidFill>
                <a:effectLst/>
                <a:uFillTx/>
                <a:latin typeface="Arial Rounded MT Bold"/>
                <a:ea typeface="Hiragino Sans GB"/>
              </a:rPr>
              <a:t>写给小朋友的第一堂课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33"/>
          <p:cNvSpPr/>
          <p:nvPr/>
        </p:nvSpPr>
        <p:spPr>
          <a:xfrm>
            <a:off x="640080" y="2395800"/>
            <a:ext cx="5668920" cy="11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zh-CN" sz="620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什么是 </a:t>
            </a:r>
            <a:r>
              <a:rPr lang="en-US" sz="620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AI</a:t>
            </a:r>
            <a:r>
              <a:rPr lang="zh-CN" sz="620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？</a:t>
            </a:r>
            <a:endParaRPr lang="en-US" sz="6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34"/>
          <p:cNvSpPr/>
          <p:nvPr/>
        </p:nvSpPr>
        <p:spPr>
          <a:xfrm>
            <a:off x="749880" y="3611880"/>
            <a:ext cx="5486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0000"/>
              </a:lnSpc>
              <a:spcAft>
                <a:spcPts val="300"/>
              </a:spcAft>
            </a:pPr>
            <a:r>
              <a:rPr lang="zh-CN" sz="1800" b="1" u="none" strike="noStrike">
                <a:solidFill>
                  <a:srgbClr val="504A6E"/>
                </a:solidFill>
                <a:effectLst/>
                <a:uFillTx/>
                <a:latin typeface="Arial Rounded MT Bold"/>
                <a:ea typeface="Hiragino Sans GB"/>
              </a:rPr>
              <a:t>一起认识我们身边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300"/>
              </a:spcAft>
            </a:pPr>
            <a:r>
              <a:rPr lang="zh-CN" sz="1800" b="1" u="none" strike="noStrike">
                <a:solidFill>
                  <a:srgbClr val="504A6E"/>
                </a:solidFill>
                <a:effectLst/>
                <a:uFillTx/>
                <a:latin typeface="Arial Rounded MT Bold"/>
                <a:ea typeface="Hiragino Sans GB"/>
              </a:rPr>
              <a:t>这个聪明的小帮手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5"/>
          <p:cNvSpPr/>
          <p:nvPr/>
        </p:nvSpPr>
        <p:spPr>
          <a:xfrm>
            <a:off x="567000" y="482796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950" b="1" u="none" strike="noStrike">
                <a:solidFill>
                  <a:srgbClr val="6E6788"/>
                </a:solidFill>
                <a:effectLst/>
                <a:uFillTx/>
                <a:latin typeface="Arial Rounded MT Bold"/>
                <a:ea typeface="Hiragino Sans GB"/>
              </a:rPr>
              <a:t>slide-maker · </a:t>
            </a:r>
            <a:r>
              <a:rPr lang="zh-CN" sz="950" b="1" u="none" strike="noStrike">
                <a:solidFill>
                  <a:srgbClr val="6E6788"/>
                </a:solidFill>
                <a:effectLst/>
                <a:uFillTx/>
                <a:latin typeface="Arial Rounded MT Bold"/>
                <a:ea typeface="Hiragino Sans GB"/>
              </a:rPr>
              <a:t>示例模板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6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4-Point Star 2"/>
          <p:cNvSpPr/>
          <p:nvPr/>
        </p:nvSpPr>
        <p:spPr>
          <a:xfrm>
            <a:off x="8540640" y="384120"/>
            <a:ext cx="182520" cy="182520"/>
          </a:xfrm>
          <a:prstGeom prst="star4">
            <a:avLst>
              <a:gd name="adj" fmla="val 12500"/>
            </a:avLst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Oval 3"/>
          <p:cNvSpPr/>
          <p:nvPr/>
        </p:nvSpPr>
        <p:spPr>
          <a:xfrm>
            <a:off x="8202240" y="356760"/>
            <a:ext cx="91080" cy="9108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440" rIns="9000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Oval 4"/>
          <p:cNvSpPr/>
          <p:nvPr/>
        </p:nvSpPr>
        <p:spPr>
          <a:xfrm>
            <a:off x="8810280" y="818280"/>
            <a:ext cx="82080" cy="8208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3320" rIns="90000" bIns="13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Rounded Rectangle 5"/>
          <p:cNvSpPr/>
          <p:nvPr/>
        </p:nvSpPr>
        <p:spPr>
          <a:xfrm>
            <a:off x="567000" y="457200"/>
            <a:ext cx="1096920" cy="365400"/>
          </a:xfrm>
          <a:prstGeom prst="roundRect">
            <a:avLst>
              <a:gd name="adj" fmla="val 50000"/>
            </a:avLst>
          </a:prstGeom>
          <a:solidFill>
            <a:srgbClr val="FFF3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Oval 6"/>
          <p:cNvSpPr/>
          <p:nvPr/>
        </p:nvSpPr>
        <p:spPr>
          <a:xfrm>
            <a:off x="731520" y="567000"/>
            <a:ext cx="145800" cy="14580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7"/>
          <p:cNvSpPr/>
          <p:nvPr/>
        </p:nvSpPr>
        <p:spPr>
          <a:xfrm>
            <a:off x="1005840" y="45720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12000"/>
              </a:lnSpc>
            </a:pPr>
            <a:r>
              <a:rPr lang="zh-CN" sz="1250" b="1" u="none" strike="noStrike">
                <a:solidFill>
                  <a:srgbClr val="FFC93C"/>
                </a:solidFill>
                <a:effectLst/>
                <a:uFillTx/>
                <a:latin typeface="Arial Rounded MT Bold"/>
                <a:ea typeface="Hiragino Sans GB"/>
              </a:rPr>
              <a:t>出发啦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8"/>
          <p:cNvSpPr/>
          <p:nvPr/>
        </p:nvSpPr>
        <p:spPr>
          <a:xfrm>
            <a:off x="548640" y="914400"/>
            <a:ext cx="832068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zh-CN" sz="27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今天的 </a:t>
            </a:r>
            <a:r>
              <a:rPr lang="en-US" sz="27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AI </a:t>
            </a:r>
            <a:r>
              <a:rPr lang="zh-CN" sz="27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探险地图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4-Point Star 9"/>
          <p:cNvSpPr/>
          <p:nvPr/>
        </p:nvSpPr>
        <p:spPr>
          <a:xfrm>
            <a:off x="640080" y="1417320"/>
            <a:ext cx="145800" cy="145800"/>
          </a:xfrm>
          <a:prstGeom prst="star4">
            <a:avLst>
              <a:gd name="adj" fmla="val 12500"/>
            </a:avLst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ounded Rectangle 10"/>
          <p:cNvSpPr/>
          <p:nvPr/>
        </p:nvSpPr>
        <p:spPr>
          <a:xfrm>
            <a:off x="914400" y="1463040"/>
            <a:ext cx="822600" cy="100080"/>
          </a:xfrm>
          <a:prstGeom prst="roundRect">
            <a:avLst>
              <a:gd name="adj" fmla="val 50000"/>
            </a:avLst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11"/>
          <p:cNvSpPr/>
          <p:nvPr/>
        </p:nvSpPr>
        <p:spPr>
          <a:xfrm>
            <a:off x="585360" y="1627560"/>
            <a:ext cx="5943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</a:pPr>
            <a:r>
              <a:rPr lang="zh-CN" sz="1450" b="1" u="none" strike="noStrike">
                <a:solidFill>
                  <a:srgbClr val="6E6788"/>
                </a:solidFill>
                <a:effectLst/>
                <a:uFillTx/>
                <a:latin typeface="Arial Rounded MT Bold"/>
                <a:ea typeface="Hiragino Sans GB"/>
              </a:rPr>
              <a:t>跟着小 </a:t>
            </a:r>
            <a:r>
              <a:rPr lang="en-US" sz="1450" b="1" u="none" strike="noStrike">
                <a:solidFill>
                  <a:srgbClr val="6E6788"/>
                </a:solidFill>
                <a:effectLst/>
                <a:uFillTx/>
                <a:latin typeface="Arial Rounded MT Bold"/>
                <a:ea typeface="Hiragino Sans GB"/>
              </a:rPr>
              <a:t>AI</a:t>
            </a:r>
            <a:r>
              <a:rPr lang="zh-CN" sz="1450" b="1" u="none" strike="noStrike">
                <a:solidFill>
                  <a:srgbClr val="6E6788"/>
                </a:solidFill>
                <a:effectLst/>
                <a:uFillTx/>
                <a:latin typeface="Arial Rounded MT Bold"/>
                <a:ea typeface="Hiragino Sans GB"/>
              </a:rPr>
              <a:t>，一站一站往前走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Oval 12"/>
          <p:cNvSpPr/>
          <p:nvPr/>
        </p:nvSpPr>
        <p:spPr>
          <a:xfrm>
            <a:off x="1806120" y="3396960"/>
            <a:ext cx="100080" cy="100080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Oval 13"/>
          <p:cNvSpPr/>
          <p:nvPr/>
        </p:nvSpPr>
        <p:spPr>
          <a:xfrm>
            <a:off x="2014560" y="3250800"/>
            <a:ext cx="100080" cy="100080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Oval 14"/>
          <p:cNvSpPr/>
          <p:nvPr/>
        </p:nvSpPr>
        <p:spPr>
          <a:xfrm>
            <a:off x="2223000" y="3104280"/>
            <a:ext cx="100080" cy="100080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Oval 15"/>
          <p:cNvSpPr/>
          <p:nvPr/>
        </p:nvSpPr>
        <p:spPr>
          <a:xfrm>
            <a:off x="2431440" y="2958120"/>
            <a:ext cx="100080" cy="100080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Oval 16"/>
          <p:cNvSpPr/>
          <p:nvPr/>
        </p:nvSpPr>
        <p:spPr>
          <a:xfrm>
            <a:off x="2639880" y="2811600"/>
            <a:ext cx="100080" cy="100080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Oval 17"/>
          <p:cNvSpPr/>
          <p:nvPr/>
        </p:nvSpPr>
        <p:spPr>
          <a:xfrm>
            <a:off x="2848320" y="2665440"/>
            <a:ext cx="100080" cy="100080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Oval 18"/>
          <p:cNvSpPr/>
          <p:nvPr/>
        </p:nvSpPr>
        <p:spPr>
          <a:xfrm>
            <a:off x="3360600" y="2665440"/>
            <a:ext cx="100080" cy="100080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Oval 19"/>
          <p:cNvSpPr/>
          <p:nvPr/>
        </p:nvSpPr>
        <p:spPr>
          <a:xfrm>
            <a:off x="3578040" y="2811600"/>
            <a:ext cx="100080" cy="100080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Oval 20"/>
          <p:cNvSpPr/>
          <p:nvPr/>
        </p:nvSpPr>
        <p:spPr>
          <a:xfrm>
            <a:off x="3795840" y="2958120"/>
            <a:ext cx="100080" cy="100080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Oval 21"/>
          <p:cNvSpPr/>
          <p:nvPr/>
        </p:nvSpPr>
        <p:spPr>
          <a:xfrm>
            <a:off x="4013280" y="3104280"/>
            <a:ext cx="100080" cy="100080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Oval 22"/>
          <p:cNvSpPr/>
          <p:nvPr/>
        </p:nvSpPr>
        <p:spPr>
          <a:xfrm>
            <a:off x="4231080" y="3250800"/>
            <a:ext cx="100080" cy="100080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Oval 23"/>
          <p:cNvSpPr/>
          <p:nvPr/>
        </p:nvSpPr>
        <p:spPr>
          <a:xfrm>
            <a:off x="4448520" y="3396960"/>
            <a:ext cx="100080" cy="100080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Oval 24"/>
          <p:cNvSpPr/>
          <p:nvPr/>
        </p:nvSpPr>
        <p:spPr>
          <a:xfrm>
            <a:off x="4960800" y="3396960"/>
            <a:ext cx="100080" cy="100080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Oval 25"/>
          <p:cNvSpPr/>
          <p:nvPr/>
        </p:nvSpPr>
        <p:spPr>
          <a:xfrm>
            <a:off x="5178240" y="3250800"/>
            <a:ext cx="100080" cy="100080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Oval 26"/>
          <p:cNvSpPr/>
          <p:nvPr/>
        </p:nvSpPr>
        <p:spPr>
          <a:xfrm>
            <a:off x="5396040" y="3104280"/>
            <a:ext cx="100080" cy="100080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Oval 27"/>
          <p:cNvSpPr/>
          <p:nvPr/>
        </p:nvSpPr>
        <p:spPr>
          <a:xfrm>
            <a:off x="5613480" y="2958120"/>
            <a:ext cx="100080" cy="100080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Oval 28"/>
          <p:cNvSpPr/>
          <p:nvPr/>
        </p:nvSpPr>
        <p:spPr>
          <a:xfrm>
            <a:off x="5831280" y="2811600"/>
            <a:ext cx="100080" cy="100080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Oval 29"/>
          <p:cNvSpPr/>
          <p:nvPr/>
        </p:nvSpPr>
        <p:spPr>
          <a:xfrm>
            <a:off x="6048720" y="2665440"/>
            <a:ext cx="100080" cy="100080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Oval 30"/>
          <p:cNvSpPr/>
          <p:nvPr/>
        </p:nvSpPr>
        <p:spPr>
          <a:xfrm>
            <a:off x="6561000" y="2665440"/>
            <a:ext cx="100080" cy="100080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Oval 31"/>
          <p:cNvSpPr/>
          <p:nvPr/>
        </p:nvSpPr>
        <p:spPr>
          <a:xfrm>
            <a:off x="6751080" y="2811600"/>
            <a:ext cx="100080" cy="100080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Oval 32"/>
          <p:cNvSpPr/>
          <p:nvPr/>
        </p:nvSpPr>
        <p:spPr>
          <a:xfrm>
            <a:off x="6941160" y="2958120"/>
            <a:ext cx="100080" cy="100080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Oval 33"/>
          <p:cNvSpPr/>
          <p:nvPr/>
        </p:nvSpPr>
        <p:spPr>
          <a:xfrm>
            <a:off x="7131240" y="3104280"/>
            <a:ext cx="100080" cy="100080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Oval 34"/>
          <p:cNvSpPr/>
          <p:nvPr/>
        </p:nvSpPr>
        <p:spPr>
          <a:xfrm>
            <a:off x="7321680" y="3250800"/>
            <a:ext cx="100080" cy="100080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Oval 35"/>
          <p:cNvSpPr/>
          <p:nvPr/>
        </p:nvSpPr>
        <p:spPr>
          <a:xfrm>
            <a:off x="7511760" y="3396960"/>
            <a:ext cx="100080" cy="100080"/>
          </a:xfrm>
          <a:prstGeom prst="ellipse">
            <a:avLst/>
          </a:prstGeom>
          <a:solidFill>
            <a:srgbClr val="8C86A8">
              <a:alpha val="5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Oval 36"/>
          <p:cNvSpPr/>
          <p:nvPr/>
        </p:nvSpPr>
        <p:spPr>
          <a:xfrm>
            <a:off x="1179720" y="3191400"/>
            <a:ext cx="840960" cy="840960"/>
          </a:xfrm>
          <a:prstGeom prst="ellipse">
            <a:avLst/>
          </a:prstGeom>
          <a:solidFill>
            <a:srgbClr val="3D9BE9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8" name="Picture 37" descr="map-pin.png"/>
          <p:cNvPicPr/>
          <p:nvPr/>
        </p:nvPicPr>
        <p:blipFill>
          <a:blip r:embed="rId1"/>
          <a:stretch/>
        </p:blipFill>
        <p:spPr>
          <a:xfrm>
            <a:off x="1398960" y="3410640"/>
            <a:ext cx="402120" cy="4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Oval 38"/>
          <p:cNvSpPr/>
          <p:nvPr/>
        </p:nvSpPr>
        <p:spPr>
          <a:xfrm>
            <a:off x="1710000" y="3136320"/>
            <a:ext cx="365400" cy="365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39"/>
          <p:cNvSpPr/>
          <p:nvPr/>
        </p:nvSpPr>
        <p:spPr>
          <a:xfrm>
            <a:off x="1710000" y="31363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3D9BE9"/>
                </a:solidFill>
                <a:effectLst/>
                <a:uFillTx/>
                <a:latin typeface="Arial Rounded MT Bold"/>
                <a:ea typeface="Hiragino Sans GB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40"/>
          <p:cNvSpPr/>
          <p:nvPr/>
        </p:nvSpPr>
        <p:spPr>
          <a:xfrm>
            <a:off x="640080" y="412380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12000"/>
              </a:lnSpc>
            </a:pPr>
            <a:r>
              <a:rPr lang="zh-CN" sz="13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藏在生活里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Oval 41"/>
          <p:cNvSpPr/>
          <p:nvPr/>
        </p:nvSpPr>
        <p:spPr>
          <a:xfrm>
            <a:off x="2734200" y="2459880"/>
            <a:ext cx="840960" cy="84096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3" name="Picture 42" descr="lightbulb.png"/>
          <p:cNvPicPr/>
          <p:nvPr/>
        </p:nvPicPr>
        <p:blipFill>
          <a:blip r:embed="rId2"/>
          <a:stretch/>
        </p:blipFill>
        <p:spPr>
          <a:xfrm>
            <a:off x="2953440" y="2679120"/>
            <a:ext cx="402120" cy="4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Oval 43"/>
          <p:cNvSpPr/>
          <p:nvPr/>
        </p:nvSpPr>
        <p:spPr>
          <a:xfrm>
            <a:off x="3264480" y="2404800"/>
            <a:ext cx="365400" cy="365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44"/>
          <p:cNvSpPr/>
          <p:nvPr/>
        </p:nvSpPr>
        <p:spPr>
          <a:xfrm>
            <a:off x="3264480" y="24048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C93C"/>
                </a:solidFill>
                <a:effectLst/>
                <a:uFillTx/>
                <a:latin typeface="Arial Rounded MT Bold"/>
                <a:ea typeface="Hiragino Sans GB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45"/>
          <p:cNvSpPr/>
          <p:nvPr/>
        </p:nvSpPr>
        <p:spPr>
          <a:xfrm>
            <a:off x="2194560" y="203904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12000"/>
              </a:lnSpc>
            </a:pPr>
            <a:r>
              <a:rPr lang="zh-CN" sz="13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它怎么学习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Oval 46"/>
          <p:cNvSpPr/>
          <p:nvPr/>
        </p:nvSpPr>
        <p:spPr>
          <a:xfrm>
            <a:off x="4334400" y="3191400"/>
            <a:ext cx="840960" cy="840960"/>
          </a:xfrm>
          <a:prstGeom prst="ellipse">
            <a:avLst/>
          </a:prstGeom>
          <a:solidFill>
            <a:srgbClr val="3FC79A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8" name="Picture 47" descr="gauge.png"/>
          <p:cNvPicPr/>
          <p:nvPr/>
        </p:nvPicPr>
        <p:blipFill>
          <a:blip r:embed="rId3"/>
          <a:stretch/>
        </p:blipFill>
        <p:spPr>
          <a:xfrm>
            <a:off x="4553640" y="3410640"/>
            <a:ext cx="402120" cy="4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Oval 48"/>
          <p:cNvSpPr/>
          <p:nvPr/>
        </p:nvSpPr>
        <p:spPr>
          <a:xfrm>
            <a:off x="4864680" y="3136320"/>
            <a:ext cx="365400" cy="365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49"/>
          <p:cNvSpPr/>
          <p:nvPr/>
        </p:nvSpPr>
        <p:spPr>
          <a:xfrm>
            <a:off x="4864680" y="31363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3FC79A"/>
                </a:solidFill>
                <a:effectLst/>
                <a:uFillTx/>
                <a:latin typeface="Arial Rounded MT Bold"/>
                <a:ea typeface="Hiragino Sans GB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50"/>
          <p:cNvSpPr/>
          <p:nvPr/>
        </p:nvSpPr>
        <p:spPr>
          <a:xfrm>
            <a:off x="3794760" y="412380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12000"/>
              </a:lnSpc>
            </a:pPr>
            <a:r>
              <a:rPr lang="zh-CN" sz="13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会什么不会什么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Oval 51"/>
          <p:cNvSpPr/>
          <p:nvPr/>
        </p:nvSpPr>
        <p:spPr>
          <a:xfrm>
            <a:off x="5934600" y="2459880"/>
            <a:ext cx="840960" cy="840960"/>
          </a:xfrm>
          <a:prstGeom prst="ellipse">
            <a:avLst/>
          </a:prstGeom>
          <a:solidFill>
            <a:srgbClr val="9B7EDE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3" name="Picture 52" descr="chat-text.png"/>
          <p:cNvPicPr/>
          <p:nvPr/>
        </p:nvPicPr>
        <p:blipFill>
          <a:blip r:embed="rId4"/>
          <a:stretch/>
        </p:blipFill>
        <p:spPr>
          <a:xfrm>
            <a:off x="6153840" y="2679120"/>
            <a:ext cx="402120" cy="4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Oval 53"/>
          <p:cNvSpPr/>
          <p:nvPr/>
        </p:nvSpPr>
        <p:spPr>
          <a:xfrm>
            <a:off x="6464880" y="2404800"/>
            <a:ext cx="365400" cy="365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54"/>
          <p:cNvSpPr/>
          <p:nvPr/>
        </p:nvSpPr>
        <p:spPr>
          <a:xfrm>
            <a:off x="6464880" y="24048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9B7EDE"/>
                </a:solidFill>
                <a:effectLst/>
                <a:uFillTx/>
                <a:latin typeface="Arial Rounded MT Bold"/>
                <a:ea typeface="Hiragino Sans GB"/>
              </a:rPr>
              <a:t>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55"/>
          <p:cNvSpPr/>
          <p:nvPr/>
        </p:nvSpPr>
        <p:spPr>
          <a:xfrm>
            <a:off x="5394960" y="203904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12000"/>
              </a:lnSpc>
            </a:pPr>
            <a:r>
              <a:rPr lang="zh-CN" sz="13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怎么和它相处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Oval 56"/>
          <p:cNvSpPr/>
          <p:nvPr/>
        </p:nvSpPr>
        <p:spPr>
          <a:xfrm>
            <a:off x="7397640" y="3191400"/>
            <a:ext cx="840960" cy="840960"/>
          </a:xfrm>
          <a:prstGeom prst="ellipse">
            <a:avLst/>
          </a:prstGeom>
          <a:solidFill>
            <a:srgbClr val="FF6B6B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8" name="Picture 57" descr="shield-check.png"/>
          <p:cNvPicPr/>
          <p:nvPr/>
        </p:nvPicPr>
        <p:blipFill>
          <a:blip r:embed="rId5"/>
          <a:stretch/>
        </p:blipFill>
        <p:spPr>
          <a:xfrm>
            <a:off x="7616880" y="3410640"/>
            <a:ext cx="402120" cy="4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Oval 58"/>
          <p:cNvSpPr/>
          <p:nvPr/>
        </p:nvSpPr>
        <p:spPr>
          <a:xfrm>
            <a:off x="7927920" y="3136320"/>
            <a:ext cx="365400" cy="365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59"/>
          <p:cNvSpPr/>
          <p:nvPr/>
        </p:nvSpPr>
        <p:spPr>
          <a:xfrm>
            <a:off x="7927920" y="31363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6B6B"/>
                </a:solidFill>
                <a:effectLst/>
                <a:uFillTx/>
                <a:latin typeface="Arial Rounded MT Bold"/>
                <a:ea typeface="Hiragino Sans GB"/>
              </a:rPr>
              <a:t>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60"/>
          <p:cNvSpPr/>
          <p:nvPr/>
        </p:nvSpPr>
        <p:spPr>
          <a:xfrm>
            <a:off x="6858000" y="412380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12000"/>
              </a:lnSpc>
            </a:pPr>
            <a:r>
              <a:rPr lang="zh-CN" sz="13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安全小提醒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61"/>
          <p:cNvSpPr/>
          <p:nvPr/>
        </p:nvSpPr>
        <p:spPr>
          <a:xfrm>
            <a:off x="689760" y="2568960"/>
            <a:ext cx="46800" cy="23544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Oval 62"/>
          <p:cNvSpPr/>
          <p:nvPr/>
        </p:nvSpPr>
        <p:spPr>
          <a:xfrm>
            <a:off x="642600" y="2482560"/>
            <a:ext cx="141120" cy="14112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4-Point Star 63"/>
          <p:cNvSpPr/>
          <p:nvPr/>
        </p:nvSpPr>
        <p:spPr>
          <a:xfrm>
            <a:off x="673920" y="2513880"/>
            <a:ext cx="78120" cy="78120"/>
          </a:xfrm>
          <a:prstGeom prst="star4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0960" rIns="90000" bIns="-30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Rounded Rectangle 64"/>
          <p:cNvSpPr/>
          <p:nvPr/>
        </p:nvSpPr>
        <p:spPr>
          <a:xfrm>
            <a:off x="264960" y="3040920"/>
            <a:ext cx="70560" cy="17280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Rounded Rectangle 65"/>
          <p:cNvSpPr/>
          <p:nvPr/>
        </p:nvSpPr>
        <p:spPr>
          <a:xfrm>
            <a:off x="1090800" y="3040920"/>
            <a:ext cx="70560" cy="17280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Rounded Rectangle 66"/>
          <p:cNvSpPr/>
          <p:nvPr/>
        </p:nvSpPr>
        <p:spPr>
          <a:xfrm>
            <a:off x="320040" y="2789280"/>
            <a:ext cx="785880" cy="676080"/>
          </a:xfrm>
          <a:prstGeom prst="roundRect">
            <a:avLst>
              <a:gd name="adj" fmla="val 42000"/>
            </a:avLst>
          </a:prstGeom>
          <a:solidFill>
            <a:srgbClr val="3D9BE9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Rounded Rectangle 67"/>
          <p:cNvSpPr/>
          <p:nvPr/>
        </p:nvSpPr>
        <p:spPr>
          <a:xfrm>
            <a:off x="414360" y="2933280"/>
            <a:ext cx="597240" cy="419040"/>
          </a:xfrm>
          <a:prstGeom prst="roundRect">
            <a:avLst>
              <a:gd name="adj" fmla="val 34000"/>
            </a:avLst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Oval 68"/>
          <p:cNvSpPr/>
          <p:nvPr/>
        </p:nvSpPr>
        <p:spPr>
          <a:xfrm>
            <a:off x="528840" y="3056400"/>
            <a:ext cx="105840" cy="105840"/>
          </a:xfrm>
          <a:prstGeom prst="ellipse">
            <a:avLst/>
          </a:prstGeom>
          <a:solidFill>
            <a:srgbClr val="EA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9880" rIns="90000" bIns="298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Oval 69"/>
          <p:cNvSpPr/>
          <p:nvPr/>
        </p:nvSpPr>
        <p:spPr>
          <a:xfrm>
            <a:off x="558360" y="3092400"/>
            <a:ext cx="46440" cy="46440"/>
          </a:xfrm>
          <a:prstGeom prst="ellipse">
            <a:avLst/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240" rIns="90000" bIns="-122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Oval 70"/>
          <p:cNvSpPr/>
          <p:nvPr/>
        </p:nvSpPr>
        <p:spPr>
          <a:xfrm>
            <a:off x="552960" y="3080880"/>
            <a:ext cx="23040" cy="23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8440" rIns="90000" bIns="-28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Oval 71"/>
          <p:cNvSpPr/>
          <p:nvPr/>
        </p:nvSpPr>
        <p:spPr>
          <a:xfrm>
            <a:off x="791640" y="3056400"/>
            <a:ext cx="105840" cy="105840"/>
          </a:xfrm>
          <a:prstGeom prst="ellipse">
            <a:avLst/>
          </a:prstGeom>
          <a:solidFill>
            <a:srgbClr val="EA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9880" rIns="90000" bIns="298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Oval 72"/>
          <p:cNvSpPr/>
          <p:nvPr/>
        </p:nvSpPr>
        <p:spPr>
          <a:xfrm>
            <a:off x="821520" y="3092400"/>
            <a:ext cx="46440" cy="46440"/>
          </a:xfrm>
          <a:prstGeom prst="ellipse">
            <a:avLst/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240" rIns="90000" bIns="-122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Oval 73"/>
          <p:cNvSpPr/>
          <p:nvPr/>
        </p:nvSpPr>
        <p:spPr>
          <a:xfrm>
            <a:off x="816120" y="3080880"/>
            <a:ext cx="23040" cy="23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8440" rIns="90000" bIns="-28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Oval 74"/>
          <p:cNvSpPr/>
          <p:nvPr/>
        </p:nvSpPr>
        <p:spPr>
          <a:xfrm>
            <a:off x="517320" y="3166920"/>
            <a:ext cx="86040" cy="86040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5840" rIns="90000" bIns="15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Oval 75"/>
          <p:cNvSpPr/>
          <p:nvPr/>
        </p:nvSpPr>
        <p:spPr>
          <a:xfrm>
            <a:off x="822600" y="3166920"/>
            <a:ext cx="86040" cy="86040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5840" rIns="90000" bIns="15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Arc 76"/>
          <p:cNvSpPr/>
          <p:nvPr/>
        </p:nvSpPr>
        <p:spPr>
          <a:xfrm>
            <a:off x="595440" y="3111480"/>
            <a:ext cx="235440" cy="235440"/>
          </a:xfrm>
          <a:prstGeom prst="arc">
            <a:avLst>
              <a:gd name="adj1" fmla="val 2500000"/>
              <a:gd name="adj2" fmla="val 15500000"/>
            </a:avLst>
          </a:prstGeom>
          <a:noFill/>
          <a:ln cap="rnd" w="34950">
            <a:solidFill>
              <a:srgbClr val="EAF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6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4-Point Star 2"/>
          <p:cNvSpPr/>
          <p:nvPr/>
        </p:nvSpPr>
        <p:spPr>
          <a:xfrm>
            <a:off x="8540640" y="384120"/>
            <a:ext cx="182520" cy="182520"/>
          </a:xfrm>
          <a:prstGeom prst="star4">
            <a:avLst>
              <a:gd name="adj" fmla="val 12500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Oval 3"/>
          <p:cNvSpPr/>
          <p:nvPr/>
        </p:nvSpPr>
        <p:spPr>
          <a:xfrm>
            <a:off x="8202240" y="356760"/>
            <a:ext cx="91080" cy="9108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440" rIns="9000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Oval 4"/>
          <p:cNvSpPr/>
          <p:nvPr/>
        </p:nvSpPr>
        <p:spPr>
          <a:xfrm>
            <a:off x="8810280" y="818280"/>
            <a:ext cx="82080" cy="82080"/>
          </a:xfrm>
          <a:prstGeom prst="ellipse">
            <a:avLst/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3320" rIns="90000" bIns="13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Rounded Rectangle 5"/>
          <p:cNvSpPr/>
          <p:nvPr/>
        </p:nvSpPr>
        <p:spPr>
          <a:xfrm>
            <a:off x="567000" y="457200"/>
            <a:ext cx="1974600" cy="365400"/>
          </a:xfrm>
          <a:prstGeom prst="roundRect">
            <a:avLst>
              <a:gd name="adj" fmla="val 50000"/>
            </a:avLst>
          </a:prstGeom>
          <a:solidFill>
            <a:srgbClr val="E7F3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Oval 6"/>
          <p:cNvSpPr/>
          <p:nvPr/>
        </p:nvSpPr>
        <p:spPr>
          <a:xfrm>
            <a:off x="731520" y="567000"/>
            <a:ext cx="145800" cy="145800"/>
          </a:xfrm>
          <a:prstGeom prst="ellipse">
            <a:avLst/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7"/>
          <p:cNvSpPr/>
          <p:nvPr/>
        </p:nvSpPr>
        <p:spPr>
          <a:xfrm>
            <a:off x="1005840" y="457200"/>
            <a:ext cx="197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12000"/>
              </a:lnSpc>
            </a:pPr>
            <a:r>
              <a:rPr lang="en-US" sz="1250" b="1" u="none" strike="noStrike">
                <a:solidFill>
                  <a:srgbClr val="3D9BE9"/>
                </a:solidFill>
                <a:effectLst/>
                <a:uFillTx/>
                <a:latin typeface="Arial Rounded MT Bold"/>
                <a:ea typeface="Hiragino Sans GB"/>
              </a:rPr>
              <a:t>① AI </a:t>
            </a:r>
            <a:r>
              <a:rPr lang="zh-CN" sz="1250" b="1" u="none" strike="noStrike">
                <a:solidFill>
                  <a:srgbClr val="3D9BE9"/>
                </a:solidFill>
                <a:effectLst/>
                <a:uFillTx/>
                <a:latin typeface="Arial Rounded MT Bold"/>
                <a:ea typeface="Hiragino Sans GB"/>
              </a:rPr>
              <a:t>在生活里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8"/>
          <p:cNvSpPr/>
          <p:nvPr/>
        </p:nvSpPr>
        <p:spPr>
          <a:xfrm>
            <a:off x="548640" y="914400"/>
            <a:ext cx="832068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en-US" sz="27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AI </a:t>
            </a:r>
            <a:r>
              <a:rPr lang="zh-CN" sz="27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就藏在你每天用的东西里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4-Point Star 9"/>
          <p:cNvSpPr/>
          <p:nvPr/>
        </p:nvSpPr>
        <p:spPr>
          <a:xfrm>
            <a:off x="640080" y="1417320"/>
            <a:ext cx="145800" cy="145800"/>
          </a:xfrm>
          <a:prstGeom prst="star4">
            <a:avLst>
              <a:gd name="adj" fmla="val 12500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Rounded Rectangle 10"/>
          <p:cNvSpPr/>
          <p:nvPr/>
        </p:nvSpPr>
        <p:spPr>
          <a:xfrm>
            <a:off x="914400" y="1463040"/>
            <a:ext cx="822600" cy="100080"/>
          </a:xfrm>
          <a:prstGeom prst="roundRect">
            <a:avLst>
              <a:gd name="adj" fmla="val 50000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Rounded Rectangle 11"/>
          <p:cNvSpPr/>
          <p:nvPr/>
        </p:nvSpPr>
        <p:spPr>
          <a:xfrm>
            <a:off x="8343360" y="499680"/>
            <a:ext cx="46440" cy="23292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Oval 12"/>
          <p:cNvSpPr/>
          <p:nvPr/>
        </p:nvSpPr>
        <p:spPr>
          <a:xfrm>
            <a:off x="8296920" y="414360"/>
            <a:ext cx="139680" cy="13968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4-Point Star 13"/>
          <p:cNvSpPr/>
          <p:nvPr/>
        </p:nvSpPr>
        <p:spPr>
          <a:xfrm>
            <a:off x="8327880" y="445320"/>
            <a:ext cx="77400" cy="77400"/>
          </a:xfrm>
          <a:prstGeom prst="star4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0960" rIns="90000" bIns="-30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ounded Rectangle 14"/>
          <p:cNvSpPr/>
          <p:nvPr/>
        </p:nvSpPr>
        <p:spPr>
          <a:xfrm>
            <a:off x="7923600" y="966240"/>
            <a:ext cx="69480" cy="17064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Rounded Rectangle 15"/>
          <p:cNvSpPr/>
          <p:nvPr/>
        </p:nvSpPr>
        <p:spPr>
          <a:xfrm>
            <a:off x="8739720" y="966240"/>
            <a:ext cx="69480" cy="17064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Rounded Rectangle 16"/>
          <p:cNvSpPr/>
          <p:nvPr/>
        </p:nvSpPr>
        <p:spPr>
          <a:xfrm>
            <a:off x="7978320" y="717480"/>
            <a:ext cx="776880" cy="668160"/>
          </a:xfrm>
          <a:prstGeom prst="roundRect">
            <a:avLst>
              <a:gd name="adj" fmla="val 42000"/>
            </a:avLst>
          </a:prstGeom>
          <a:solidFill>
            <a:srgbClr val="3D9BE9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Rounded Rectangle 17"/>
          <p:cNvSpPr/>
          <p:nvPr/>
        </p:nvSpPr>
        <p:spPr>
          <a:xfrm>
            <a:off x="8071560" y="860040"/>
            <a:ext cx="590400" cy="414000"/>
          </a:xfrm>
          <a:prstGeom prst="roundRect">
            <a:avLst>
              <a:gd name="adj" fmla="val 34000"/>
            </a:avLst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Oval 18"/>
          <p:cNvSpPr/>
          <p:nvPr/>
        </p:nvSpPr>
        <p:spPr>
          <a:xfrm>
            <a:off x="8184240" y="981360"/>
            <a:ext cx="104400" cy="104400"/>
          </a:xfrm>
          <a:prstGeom prst="ellipse">
            <a:avLst/>
          </a:prstGeom>
          <a:solidFill>
            <a:srgbClr val="EA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9160" rIns="90000" bIns="291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Oval 19"/>
          <p:cNvSpPr/>
          <p:nvPr/>
        </p:nvSpPr>
        <p:spPr>
          <a:xfrm>
            <a:off x="8213760" y="1017000"/>
            <a:ext cx="45720" cy="45720"/>
          </a:xfrm>
          <a:prstGeom prst="ellipse">
            <a:avLst/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240" rIns="90000" bIns="-122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Oval 20"/>
          <p:cNvSpPr/>
          <p:nvPr/>
        </p:nvSpPr>
        <p:spPr>
          <a:xfrm>
            <a:off x="8208360" y="1005480"/>
            <a:ext cx="22680" cy="22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8800" rIns="90000" bIns="-288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Oval 21"/>
          <p:cNvSpPr/>
          <p:nvPr/>
        </p:nvSpPr>
        <p:spPr>
          <a:xfrm>
            <a:off x="8444160" y="981360"/>
            <a:ext cx="104400" cy="104400"/>
          </a:xfrm>
          <a:prstGeom prst="ellipse">
            <a:avLst/>
          </a:prstGeom>
          <a:solidFill>
            <a:srgbClr val="EA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9160" rIns="90000" bIns="291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Oval 22"/>
          <p:cNvSpPr/>
          <p:nvPr/>
        </p:nvSpPr>
        <p:spPr>
          <a:xfrm>
            <a:off x="8473680" y="1017000"/>
            <a:ext cx="45720" cy="45720"/>
          </a:xfrm>
          <a:prstGeom prst="ellipse">
            <a:avLst/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240" rIns="90000" bIns="-122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Oval 23"/>
          <p:cNvSpPr/>
          <p:nvPr/>
        </p:nvSpPr>
        <p:spPr>
          <a:xfrm>
            <a:off x="8468280" y="1005480"/>
            <a:ext cx="22680" cy="22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8800" rIns="90000" bIns="-288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Oval 24"/>
          <p:cNvSpPr/>
          <p:nvPr/>
        </p:nvSpPr>
        <p:spPr>
          <a:xfrm>
            <a:off x="8173080" y="1090800"/>
            <a:ext cx="84960" cy="84960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5480" rIns="90000" bIns="15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Oval 25"/>
          <p:cNvSpPr/>
          <p:nvPr/>
        </p:nvSpPr>
        <p:spPr>
          <a:xfrm>
            <a:off x="8475120" y="1090800"/>
            <a:ext cx="84960" cy="84960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5480" rIns="90000" bIns="15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Arc 26"/>
          <p:cNvSpPr/>
          <p:nvPr/>
        </p:nvSpPr>
        <p:spPr>
          <a:xfrm>
            <a:off x="8250120" y="1036080"/>
            <a:ext cx="232920" cy="232920"/>
          </a:xfrm>
          <a:prstGeom prst="arc">
            <a:avLst>
              <a:gd name="adj1" fmla="val 2500000"/>
              <a:gd name="adj2" fmla="val 15500000"/>
            </a:avLst>
          </a:prstGeom>
          <a:noFill/>
          <a:ln cap="rnd" w="34544">
            <a:solidFill>
              <a:srgbClr val="EAF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Rounded Rectangle 27"/>
          <p:cNvSpPr/>
          <p:nvPr/>
        </p:nvSpPr>
        <p:spPr>
          <a:xfrm>
            <a:off x="567000" y="4050720"/>
            <a:ext cx="8046360" cy="497880"/>
          </a:xfrm>
          <a:prstGeom prst="roundRect">
            <a:avLst>
              <a:gd name="adj" fmla="val 8000"/>
            </a:avLst>
          </a:prstGeom>
          <a:solidFill>
            <a:srgbClr val="E7F3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Rectangle 28"/>
          <p:cNvSpPr/>
          <p:nvPr/>
        </p:nvSpPr>
        <p:spPr>
          <a:xfrm>
            <a:off x="567000" y="4090680"/>
            <a:ext cx="63720" cy="418320"/>
          </a:xfrm>
          <a:prstGeom prst="rect">
            <a:avLst/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Box 29"/>
          <p:cNvSpPr/>
          <p:nvPr/>
        </p:nvSpPr>
        <p:spPr>
          <a:xfrm>
            <a:off x="786240" y="4050720"/>
            <a:ext cx="764388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08000"/>
              </a:lnSpc>
            </a:pPr>
            <a:r>
              <a:rPr lang="zh-CN" sz="1100" b="1" u="none" strike="noStrike">
                <a:solidFill>
                  <a:srgbClr val="3D9BE9"/>
                </a:solidFill>
                <a:effectLst/>
                <a:uFillTx/>
                <a:latin typeface="Arial Rounded MT Bold"/>
                <a:ea typeface="Hiragino Sans GB"/>
              </a:rPr>
              <a:t>发现了吗  </a:t>
            </a:r>
            <a:r>
              <a:rPr lang="zh-CN" sz="1250" b="0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这些东西背后，都住着一个 </a:t>
            </a:r>
            <a:r>
              <a:rPr lang="en-US" sz="1250" b="0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AI —— </a:t>
            </a:r>
            <a:r>
              <a:rPr lang="zh-CN" sz="1250" b="0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它离你其实很近。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ounded Rectangle 30"/>
          <p:cNvSpPr/>
          <p:nvPr/>
        </p:nvSpPr>
        <p:spPr>
          <a:xfrm>
            <a:off x="567000" y="1883520"/>
            <a:ext cx="2614680" cy="882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Oval 31"/>
          <p:cNvSpPr/>
          <p:nvPr/>
        </p:nvSpPr>
        <p:spPr>
          <a:xfrm>
            <a:off x="768240" y="1959120"/>
            <a:ext cx="731160" cy="731160"/>
          </a:xfrm>
          <a:prstGeom prst="ellipse">
            <a:avLst/>
          </a:prstGeom>
          <a:solidFill>
            <a:srgbClr val="3D9BE9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09" name="Picture 32" descr="microphone.png"/>
          <p:cNvPicPr/>
          <p:nvPr/>
        </p:nvPicPr>
        <p:blipFill>
          <a:blip r:embed="rId1"/>
          <a:stretch/>
        </p:blipFill>
        <p:spPr>
          <a:xfrm>
            <a:off x="929160" y="2120040"/>
            <a:ext cx="409320" cy="40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TextBox 33"/>
          <p:cNvSpPr/>
          <p:nvPr/>
        </p:nvSpPr>
        <p:spPr>
          <a:xfrm>
            <a:off x="1572840" y="2013840"/>
            <a:ext cx="15357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zh-CN" sz="15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语音助手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34"/>
          <p:cNvSpPr/>
          <p:nvPr/>
        </p:nvSpPr>
        <p:spPr>
          <a:xfrm>
            <a:off x="1572840" y="2361600"/>
            <a:ext cx="1535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300"/>
              </a:spcAft>
            </a:pPr>
            <a:r>
              <a:rPr lang="zh-CN" sz="1150" b="0" u="none" strike="noStrike">
                <a:solidFill>
                  <a:srgbClr val="6B6685"/>
                </a:solidFill>
                <a:effectLst/>
                <a:uFillTx/>
                <a:latin typeface="Arial Rounded MT Bold"/>
                <a:ea typeface="Hiragino Sans GB"/>
              </a:rPr>
              <a:t>你说话，它就懂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ounded Rectangle 35"/>
          <p:cNvSpPr/>
          <p:nvPr/>
        </p:nvSpPr>
        <p:spPr>
          <a:xfrm>
            <a:off x="3438000" y="1883520"/>
            <a:ext cx="2614680" cy="882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Oval 36"/>
          <p:cNvSpPr/>
          <p:nvPr/>
        </p:nvSpPr>
        <p:spPr>
          <a:xfrm>
            <a:off x="3639240" y="1959120"/>
            <a:ext cx="731160" cy="73116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14" name="Picture 37" descr="play-circle.png"/>
          <p:cNvPicPr/>
          <p:nvPr/>
        </p:nvPicPr>
        <p:blipFill>
          <a:blip r:embed="rId2"/>
          <a:stretch/>
        </p:blipFill>
        <p:spPr>
          <a:xfrm>
            <a:off x="3800160" y="2120040"/>
            <a:ext cx="409320" cy="40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TextBox 38"/>
          <p:cNvSpPr/>
          <p:nvPr/>
        </p:nvSpPr>
        <p:spPr>
          <a:xfrm>
            <a:off x="4443840" y="2013840"/>
            <a:ext cx="15357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zh-CN" sz="15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视频推荐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39"/>
          <p:cNvSpPr/>
          <p:nvPr/>
        </p:nvSpPr>
        <p:spPr>
          <a:xfrm>
            <a:off x="4443840" y="2361600"/>
            <a:ext cx="1535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300"/>
              </a:spcAft>
            </a:pPr>
            <a:r>
              <a:rPr lang="zh-CN" sz="1150" b="0" u="none" strike="noStrike">
                <a:solidFill>
                  <a:srgbClr val="6B6685"/>
                </a:solidFill>
                <a:effectLst/>
                <a:uFillTx/>
                <a:latin typeface="Arial Rounded MT Bold"/>
                <a:ea typeface="Hiragino Sans GB"/>
              </a:rPr>
              <a:t>猜你爱看什么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ounded Rectangle 40"/>
          <p:cNvSpPr/>
          <p:nvPr/>
        </p:nvSpPr>
        <p:spPr>
          <a:xfrm>
            <a:off x="6309360" y="1883520"/>
            <a:ext cx="2614680" cy="882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Oval 41"/>
          <p:cNvSpPr/>
          <p:nvPr/>
        </p:nvSpPr>
        <p:spPr>
          <a:xfrm>
            <a:off x="6510600" y="1959120"/>
            <a:ext cx="731160" cy="731160"/>
          </a:xfrm>
          <a:prstGeom prst="ellipse">
            <a:avLst/>
          </a:prstGeom>
          <a:solidFill>
            <a:srgbClr val="3D9BE9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19" name="Picture 42" descr="camera.png"/>
          <p:cNvPicPr/>
          <p:nvPr/>
        </p:nvPicPr>
        <p:blipFill>
          <a:blip r:embed="rId3"/>
          <a:stretch/>
        </p:blipFill>
        <p:spPr>
          <a:xfrm>
            <a:off x="6671520" y="2120040"/>
            <a:ext cx="409320" cy="40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TextBox 43"/>
          <p:cNvSpPr/>
          <p:nvPr/>
        </p:nvSpPr>
        <p:spPr>
          <a:xfrm>
            <a:off x="7315200" y="2013840"/>
            <a:ext cx="15357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zh-CN" sz="15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拍照美颜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44"/>
          <p:cNvSpPr/>
          <p:nvPr/>
        </p:nvSpPr>
        <p:spPr>
          <a:xfrm>
            <a:off x="7315200" y="2361600"/>
            <a:ext cx="1535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300"/>
              </a:spcAft>
            </a:pPr>
            <a:r>
              <a:rPr lang="zh-CN" sz="1150" b="0" u="none" strike="noStrike">
                <a:solidFill>
                  <a:srgbClr val="6B6685"/>
                </a:solidFill>
                <a:effectLst/>
                <a:uFillTx/>
                <a:latin typeface="Arial Rounded MT Bold"/>
                <a:ea typeface="Hiragino Sans GB"/>
              </a:rPr>
              <a:t>自动认出人脸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ounded Rectangle 45"/>
          <p:cNvSpPr/>
          <p:nvPr/>
        </p:nvSpPr>
        <p:spPr>
          <a:xfrm>
            <a:off x="567000" y="2985480"/>
            <a:ext cx="2614680" cy="882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Oval 46"/>
          <p:cNvSpPr/>
          <p:nvPr/>
        </p:nvSpPr>
        <p:spPr>
          <a:xfrm>
            <a:off x="768240" y="3061080"/>
            <a:ext cx="731160" cy="73116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24" name="Picture 47" descr="translate.png"/>
          <p:cNvPicPr/>
          <p:nvPr/>
        </p:nvPicPr>
        <p:blipFill>
          <a:blip r:embed="rId4"/>
          <a:stretch/>
        </p:blipFill>
        <p:spPr>
          <a:xfrm>
            <a:off x="929160" y="3222000"/>
            <a:ext cx="409320" cy="40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TextBox 48"/>
          <p:cNvSpPr/>
          <p:nvPr/>
        </p:nvSpPr>
        <p:spPr>
          <a:xfrm>
            <a:off x="1572840" y="3115800"/>
            <a:ext cx="15357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zh-CN" sz="15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翻译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49"/>
          <p:cNvSpPr/>
          <p:nvPr/>
        </p:nvSpPr>
        <p:spPr>
          <a:xfrm>
            <a:off x="1572840" y="3463200"/>
            <a:ext cx="1535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300"/>
              </a:spcAft>
            </a:pPr>
            <a:r>
              <a:rPr lang="zh-CN" sz="1150" b="0" u="none" strike="noStrike">
                <a:solidFill>
                  <a:srgbClr val="6B6685"/>
                </a:solidFill>
                <a:effectLst/>
                <a:uFillTx/>
                <a:latin typeface="Arial Rounded MT Bold"/>
                <a:ea typeface="Hiragino Sans GB"/>
              </a:rPr>
              <a:t>中英随时切换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ounded Rectangle 50"/>
          <p:cNvSpPr/>
          <p:nvPr/>
        </p:nvSpPr>
        <p:spPr>
          <a:xfrm>
            <a:off x="3438000" y="2985480"/>
            <a:ext cx="2614680" cy="882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Oval 51"/>
          <p:cNvSpPr/>
          <p:nvPr/>
        </p:nvSpPr>
        <p:spPr>
          <a:xfrm>
            <a:off x="3639240" y="3061080"/>
            <a:ext cx="731160" cy="731160"/>
          </a:xfrm>
          <a:prstGeom prst="ellipse">
            <a:avLst/>
          </a:prstGeom>
          <a:solidFill>
            <a:srgbClr val="3D9BE9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29" name="Picture 52" descr="game-controller.png"/>
          <p:cNvPicPr/>
          <p:nvPr/>
        </p:nvPicPr>
        <p:blipFill>
          <a:blip r:embed="rId5"/>
          <a:stretch/>
        </p:blipFill>
        <p:spPr>
          <a:xfrm>
            <a:off x="3800160" y="3222000"/>
            <a:ext cx="409320" cy="40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" name="TextBox 53"/>
          <p:cNvSpPr/>
          <p:nvPr/>
        </p:nvSpPr>
        <p:spPr>
          <a:xfrm>
            <a:off x="4443840" y="3115800"/>
            <a:ext cx="15357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zh-CN" sz="15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游戏对手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54"/>
          <p:cNvSpPr/>
          <p:nvPr/>
        </p:nvSpPr>
        <p:spPr>
          <a:xfrm>
            <a:off x="4443840" y="3463200"/>
            <a:ext cx="1535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300"/>
              </a:spcAft>
            </a:pPr>
            <a:r>
              <a:rPr lang="zh-CN" sz="1150" b="0" u="none" strike="noStrike">
                <a:solidFill>
                  <a:srgbClr val="6B6685"/>
                </a:solidFill>
                <a:effectLst/>
                <a:uFillTx/>
                <a:latin typeface="Arial Rounded MT Bold"/>
                <a:ea typeface="Hiragino Sans GB"/>
              </a:rPr>
              <a:t>会陪你过关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Rounded Rectangle 55"/>
          <p:cNvSpPr/>
          <p:nvPr/>
        </p:nvSpPr>
        <p:spPr>
          <a:xfrm>
            <a:off x="6309360" y="2985480"/>
            <a:ext cx="2614680" cy="882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Oval 56"/>
          <p:cNvSpPr/>
          <p:nvPr/>
        </p:nvSpPr>
        <p:spPr>
          <a:xfrm>
            <a:off x="6510600" y="3061080"/>
            <a:ext cx="731160" cy="73116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34" name="Picture 57" descr="map-pin.png"/>
          <p:cNvPicPr/>
          <p:nvPr/>
        </p:nvPicPr>
        <p:blipFill>
          <a:blip r:embed="rId6"/>
          <a:stretch/>
        </p:blipFill>
        <p:spPr>
          <a:xfrm>
            <a:off x="6671520" y="3222000"/>
            <a:ext cx="409320" cy="40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TextBox 58"/>
          <p:cNvSpPr/>
          <p:nvPr/>
        </p:nvSpPr>
        <p:spPr>
          <a:xfrm>
            <a:off x="7315200" y="3115800"/>
            <a:ext cx="15357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zh-CN" sz="15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地图导航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59"/>
          <p:cNvSpPr/>
          <p:nvPr/>
        </p:nvSpPr>
        <p:spPr>
          <a:xfrm>
            <a:off x="7315200" y="3463200"/>
            <a:ext cx="1535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300"/>
              </a:spcAft>
            </a:pPr>
            <a:r>
              <a:rPr lang="zh-CN" sz="1150" b="0" u="none" strike="noStrike">
                <a:solidFill>
                  <a:srgbClr val="6B6685"/>
                </a:solidFill>
                <a:effectLst/>
                <a:uFillTx/>
                <a:latin typeface="Arial Rounded MT Bold"/>
                <a:ea typeface="Hiragino Sans GB"/>
              </a:rPr>
              <a:t>帮你找近路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angl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6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4-Point Star 2"/>
          <p:cNvSpPr/>
          <p:nvPr/>
        </p:nvSpPr>
        <p:spPr>
          <a:xfrm>
            <a:off x="8540640" y="384120"/>
            <a:ext cx="182520" cy="182520"/>
          </a:xfrm>
          <a:prstGeom prst="star4">
            <a:avLst>
              <a:gd name="adj" fmla="val 12500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Oval 3"/>
          <p:cNvSpPr/>
          <p:nvPr/>
        </p:nvSpPr>
        <p:spPr>
          <a:xfrm>
            <a:off x="8202240" y="356760"/>
            <a:ext cx="91080" cy="9108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440" rIns="9000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Oval 4"/>
          <p:cNvSpPr/>
          <p:nvPr/>
        </p:nvSpPr>
        <p:spPr>
          <a:xfrm>
            <a:off x="8810280" y="818280"/>
            <a:ext cx="82080" cy="82080"/>
          </a:xfrm>
          <a:prstGeom prst="ellipse">
            <a:avLst/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3320" rIns="90000" bIns="13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Rounded Rectangle 5"/>
          <p:cNvSpPr/>
          <p:nvPr/>
        </p:nvSpPr>
        <p:spPr>
          <a:xfrm>
            <a:off x="567000" y="457200"/>
            <a:ext cx="1974600" cy="365400"/>
          </a:xfrm>
          <a:prstGeom prst="roundRect">
            <a:avLst>
              <a:gd name="adj" fmla="val 50000"/>
            </a:avLst>
          </a:prstGeom>
          <a:solidFill>
            <a:srgbClr val="E7F3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Oval 6"/>
          <p:cNvSpPr/>
          <p:nvPr/>
        </p:nvSpPr>
        <p:spPr>
          <a:xfrm>
            <a:off x="731520" y="567000"/>
            <a:ext cx="145800" cy="145800"/>
          </a:xfrm>
          <a:prstGeom prst="ellipse">
            <a:avLst/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7"/>
          <p:cNvSpPr/>
          <p:nvPr/>
        </p:nvSpPr>
        <p:spPr>
          <a:xfrm>
            <a:off x="1005840" y="457200"/>
            <a:ext cx="197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12000"/>
              </a:lnSpc>
            </a:pPr>
            <a:r>
              <a:rPr lang="zh-CN" sz="1250" b="1" u="none" strike="noStrike">
                <a:solidFill>
                  <a:srgbClr val="3D9BE9"/>
                </a:solidFill>
                <a:effectLst/>
                <a:uFillTx/>
                <a:latin typeface="Arial Rounded MT Bold"/>
                <a:ea typeface="Hiragino Sans GB"/>
              </a:rPr>
              <a:t>那，它到底是什么？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8"/>
          <p:cNvSpPr/>
          <p:nvPr/>
        </p:nvSpPr>
        <p:spPr>
          <a:xfrm>
            <a:off x="548640" y="914400"/>
            <a:ext cx="832068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en-US" sz="27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AI </a:t>
            </a:r>
            <a:r>
              <a:rPr lang="zh-CN" sz="27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是会从例子里学本领的电脑帮手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4-Point Star 9"/>
          <p:cNvSpPr/>
          <p:nvPr/>
        </p:nvSpPr>
        <p:spPr>
          <a:xfrm>
            <a:off x="640080" y="1417320"/>
            <a:ext cx="145800" cy="145800"/>
          </a:xfrm>
          <a:prstGeom prst="star4">
            <a:avLst>
              <a:gd name="adj" fmla="val 12500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Rounded Rectangle 10"/>
          <p:cNvSpPr/>
          <p:nvPr/>
        </p:nvSpPr>
        <p:spPr>
          <a:xfrm>
            <a:off x="914400" y="1463040"/>
            <a:ext cx="822600" cy="100080"/>
          </a:xfrm>
          <a:prstGeom prst="roundRect">
            <a:avLst>
              <a:gd name="adj" fmla="val 50000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Rounded Rectangle 11"/>
          <p:cNvSpPr/>
          <p:nvPr/>
        </p:nvSpPr>
        <p:spPr>
          <a:xfrm>
            <a:off x="603360" y="1938600"/>
            <a:ext cx="2431800" cy="15541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Oval 12"/>
          <p:cNvSpPr/>
          <p:nvPr/>
        </p:nvSpPr>
        <p:spPr>
          <a:xfrm>
            <a:off x="1408320" y="2039040"/>
            <a:ext cx="822600" cy="822600"/>
          </a:xfrm>
          <a:prstGeom prst="ellipse">
            <a:avLst/>
          </a:prstGeom>
          <a:solidFill>
            <a:srgbClr val="3D9BE9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49" name="Picture 13" descr="images.png"/>
          <p:cNvPicPr/>
          <p:nvPr/>
        </p:nvPicPr>
        <p:blipFill>
          <a:blip r:embed="rId1"/>
          <a:stretch/>
        </p:blipFill>
        <p:spPr>
          <a:xfrm>
            <a:off x="1589400" y="222012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TextBox 14"/>
          <p:cNvSpPr/>
          <p:nvPr/>
        </p:nvSpPr>
        <p:spPr>
          <a:xfrm>
            <a:off x="694800" y="2871360"/>
            <a:ext cx="22489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algn="ctr" defTabSz="457200">
              <a:lnSpc>
                <a:spcPct val="112000"/>
              </a:lnSpc>
              <a:spcAft>
                <a:spcPts val="201"/>
              </a:spcAft>
            </a:pPr>
            <a:r>
              <a:rPr lang="zh-CN" sz="15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看很多例子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15"/>
          <p:cNvSpPr/>
          <p:nvPr/>
        </p:nvSpPr>
        <p:spPr>
          <a:xfrm>
            <a:off x="713160" y="3182040"/>
            <a:ext cx="221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algn="ctr" defTabSz="457200">
              <a:lnSpc>
                <a:spcPct val="112000"/>
              </a:lnSpc>
              <a:spcAft>
                <a:spcPts val="300"/>
              </a:spcAft>
            </a:pPr>
            <a:r>
              <a:rPr lang="zh-CN" sz="1050" b="0" u="none" strike="noStrike">
                <a:solidFill>
                  <a:srgbClr val="6B6685"/>
                </a:solidFill>
                <a:effectLst/>
                <a:uFillTx/>
                <a:latin typeface="Arial Rounded MT Bold"/>
                <a:ea typeface="Hiragino Sans GB"/>
              </a:rPr>
              <a:t>成千上万张图片、文字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Right Arrow 16"/>
          <p:cNvSpPr/>
          <p:nvPr/>
        </p:nvSpPr>
        <p:spPr>
          <a:xfrm>
            <a:off x="3191400" y="2597040"/>
            <a:ext cx="255600" cy="23724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8C86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Rounded Rectangle 17"/>
          <p:cNvSpPr/>
          <p:nvPr/>
        </p:nvSpPr>
        <p:spPr>
          <a:xfrm>
            <a:off x="3602880" y="1938600"/>
            <a:ext cx="2431800" cy="15541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Oval 18"/>
          <p:cNvSpPr/>
          <p:nvPr/>
        </p:nvSpPr>
        <p:spPr>
          <a:xfrm>
            <a:off x="4407480" y="2039040"/>
            <a:ext cx="822600" cy="82260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55" name="Picture 19" descr="magic-wand.png"/>
          <p:cNvPicPr/>
          <p:nvPr/>
        </p:nvPicPr>
        <p:blipFill>
          <a:blip r:embed="rId2"/>
          <a:stretch/>
        </p:blipFill>
        <p:spPr>
          <a:xfrm>
            <a:off x="4588560" y="222012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TextBox 20"/>
          <p:cNvSpPr/>
          <p:nvPr/>
        </p:nvSpPr>
        <p:spPr>
          <a:xfrm>
            <a:off x="3694320" y="2871360"/>
            <a:ext cx="22489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algn="ctr" defTabSz="457200">
              <a:lnSpc>
                <a:spcPct val="112000"/>
              </a:lnSpc>
              <a:spcAft>
                <a:spcPts val="201"/>
              </a:spcAft>
            </a:pPr>
            <a:r>
              <a:rPr lang="zh-CN" sz="15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自己找规律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21"/>
          <p:cNvSpPr/>
          <p:nvPr/>
        </p:nvSpPr>
        <p:spPr>
          <a:xfrm>
            <a:off x="3712320" y="3182040"/>
            <a:ext cx="221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algn="ctr" defTabSz="457200">
              <a:lnSpc>
                <a:spcPct val="112000"/>
              </a:lnSpc>
              <a:spcAft>
                <a:spcPts val="300"/>
              </a:spcAft>
            </a:pPr>
            <a:r>
              <a:rPr lang="zh-CN" sz="1050" b="0" u="none" strike="noStrike">
                <a:solidFill>
                  <a:srgbClr val="6B6685"/>
                </a:solidFill>
                <a:effectLst/>
                <a:uFillTx/>
                <a:latin typeface="Arial Rounded MT Bold"/>
                <a:ea typeface="Hiragino Sans GB"/>
              </a:rPr>
              <a:t>没人一条条教它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Right Arrow 22"/>
          <p:cNvSpPr/>
          <p:nvPr/>
        </p:nvSpPr>
        <p:spPr>
          <a:xfrm>
            <a:off x="6190560" y="2597040"/>
            <a:ext cx="255600" cy="23724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8C86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Rounded Rectangle 23"/>
          <p:cNvSpPr/>
          <p:nvPr/>
        </p:nvSpPr>
        <p:spPr>
          <a:xfrm>
            <a:off x="6602040" y="1938600"/>
            <a:ext cx="2431800" cy="15541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Oval 24"/>
          <p:cNvSpPr/>
          <p:nvPr/>
        </p:nvSpPr>
        <p:spPr>
          <a:xfrm>
            <a:off x="7406640" y="2039040"/>
            <a:ext cx="822600" cy="822600"/>
          </a:xfrm>
          <a:prstGeom prst="ellipse">
            <a:avLst/>
          </a:prstGeom>
          <a:solidFill>
            <a:srgbClr val="3FC79A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1" name="Picture 25" descr="medal.png"/>
          <p:cNvPicPr/>
          <p:nvPr/>
        </p:nvPicPr>
        <p:blipFill>
          <a:blip r:embed="rId3"/>
          <a:stretch/>
        </p:blipFill>
        <p:spPr>
          <a:xfrm>
            <a:off x="7587720" y="222012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TextBox 26"/>
          <p:cNvSpPr/>
          <p:nvPr/>
        </p:nvSpPr>
        <p:spPr>
          <a:xfrm>
            <a:off x="6693480" y="2871360"/>
            <a:ext cx="22489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algn="ctr" defTabSz="457200">
              <a:lnSpc>
                <a:spcPct val="112000"/>
              </a:lnSpc>
              <a:spcAft>
                <a:spcPts val="201"/>
              </a:spcAft>
            </a:pPr>
            <a:r>
              <a:rPr lang="zh-CN" sz="15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学会一项本领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27"/>
          <p:cNvSpPr/>
          <p:nvPr/>
        </p:nvSpPr>
        <p:spPr>
          <a:xfrm>
            <a:off x="6711840" y="3182040"/>
            <a:ext cx="221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algn="ctr" defTabSz="457200">
              <a:lnSpc>
                <a:spcPct val="112000"/>
              </a:lnSpc>
              <a:spcAft>
                <a:spcPts val="300"/>
              </a:spcAft>
            </a:pPr>
            <a:r>
              <a:rPr lang="zh-CN" sz="1050" b="0" u="none" strike="noStrike">
                <a:solidFill>
                  <a:srgbClr val="6B6685"/>
                </a:solidFill>
                <a:effectLst/>
                <a:uFillTx/>
                <a:latin typeface="Arial Rounded MT Bold"/>
                <a:ea typeface="Hiragino Sans GB"/>
              </a:rPr>
              <a:t>比如认出图里的小猫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ounded Rectangle 28"/>
          <p:cNvSpPr/>
          <p:nvPr/>
        </p:nvSpPr>
        <p:spPr>
          <a:xfrm>
            <a:off x="567000" y="4050720"/>
            <a:ext cx="8046360" cy="497880"/>
          </a:xfrm>
          <a:prstGeom prst="roundRect">
            <a:avLst>
              <a:gd name="adj" fmla="val 8000"/>
            </a:avLst>
          </a:prstGeom>
          <a:solidFill>
            <a:srgbClr val="E7F3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Rectangle 29"/>
          <p:cNvSpPr/>
          <p:nvPr/>
        </p:nvSpPr>
        <p:spPr>
          <a:xfrm>
            <a:off x="567000" y="4090680"/>
            <a:ext cx="63720" cy="418320"/>
          </a:xfrm>
          <a:prstGeom prst="rect">
            <a:avLst/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Box 30"/>
          <p:cNvSpPr/>
          <p:nvPr/>
        </p:nvSpPr>
        <p:spPr>
          <a:xfrm>
            <a:off x="786240" y="4050720"/>
            <a:ext cx="764388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08000"/>
              </a:lnSpc>
            </a:pPr>
            <a:r>
              <a:rPr lang="zh-CN" sz="1100" b="1" u="none" strike="noStrike">
                <a:solidFill>
                  <a:srgbClr val="3D9BE9"/>
                </a:solidFill>
                <a:effectLst/>
                <a:uFillTx/>
                <a:latin typeface="Arial Rounded MT Bold"/>
                <a:ea typeface="Hiragino Sans GB"/>
              </a:rPr>
              <a:t>所以呢  </a:t>
            </a:r>
            <a:r>
              <a:rPr lang="en-US" sz="1250" b="0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AI </a:t>
            </a:r>
            <a:r>
              <a:rPr lang="zh-CN" sz="1250" b="0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更像见多识广的小朋友，不是只会背公式的计算器。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Rectangl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6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4-Point Star 2"/>
          <p:cNvSpPr/>
          <p:nvPr/>
        </p:nvSpPr>
        <p:spPr>
          <a:xfrm>
            <a:off x="8540640" y="384120"/>
            <a:ext cx="182520" cy="182520"/>
          </a:xfrm>
          <a:prstGeom prst="star4">
            <a:avLst>
              <a:gd name="adj" fmla="val 12500"/>
            </a:avLst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Oval 3"/>
          <p:cNvSpPr/>
          <p:nvPr/>
        </p:nvSpPr>
        <p:spPr>
          <a:xfrm>
            <a:off x="8202240" y="356760"/>
            <a:ext cx="91080" cy="9108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440" rIns="9000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Oval 4"/>
          <p:cNvSpPr/>
          <p:nvPr/>
        </p:nvSpPr>
        <p:spPr>
          <a:xfrm>
            <a:off x="8810280" y="818280"/>
            <a:ext cx="82080" cy="8208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3320" rIns="90000" bIns="13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Rounded Rectangle 5"/>
          <p:cNvSpPr/>
          <p:nvPr/>
        </p:nvSpPr>
        <p:spPr>
          <a:xfrm>
            <a:off x="567000" y="457200"/>
            <a:ext cx="1535760" cy="365400"/>
          </a:xfrm>
          <a:prstGeom prst="roundRect">
            <a:avLst>
              <a:gd name="adj" fmla="val 50000"/>
            </a:avLst>
          </a:prstGeom>
          <a:solidFill>
            <a:srgbClr val="FFF3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Oval 6"/>
          <p:cNvSpPr/>
          <p:nvPr/>
        </p:nvSpPr>
        <p:spPr>
          <a:xfrm>
            <a:off x="731520" y="567000"/>
            <a:ext cx="145800" cy="14580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TextBox 7"/>
          <p:cNvSpPr/>
          <p:nvPr/>
        </p:nvSpPr>
        <p:spPr>
          <a:xfrm>
            <a:off x="1005840" y="457200"/>
            <a:ext cx="1535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12000"/>
              </a:lnSpc>
            </a:pPr>
            <a:r>
              <a:rPr lang="en-US" sz="1250" b="1" u="none" strike="noStrike">
                <a:solidFill>
                  <a:srgbClr val="FFC93C"/>
                </a:solidFill>
                <a:effectLst/>
                <a:uFillTx/>
                <a:latin typeface="Arial Rounded MT Bold"/>
                <a:ea typeface="Hiragino Sans GB"/>
              </a:rPr>
              <a:t>② 打个比方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8"/>
          <p:cNvSpPr/>
          <p:nvPr/>
        </p:nvSpPr>
        <p:spPr>
          <a:xfrm>
            <a:off x="548640" y="914400"/>
            <a:ext cx="832068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zh-CN" sz="27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它靠看很多例子学，就像你认小猫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4-Point Star 9"/>
          <p:cNvSpPr/>
          <p:nvPr/>
        </p:nvSpPr>
        <p:spPr>
          <a:xfrm>
            <a:off x="640080" y="1417320"/>
            <a:ext cx="145800" cy="145800"/>
          </a:xfrm>
          <a:prstGeom prst="star4">
            <a:avLst>
              <a:gd name="adj" fmla="val 12500"/>
            </a:avLst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Rounded Rectangle 10"/>
          <p:cNvSpPr/>
          <p:nvPr/>
        </p:nvSpPr>
        <p:spPr>
          <a:xfrm>
            <a:off x="914400" y="1463040"/>
            <a:ext cx="822600" cy="100080"/>
          </a:xfrm>
          <a:prstGeom prst="roundRect">
            <a:avLst>
              <a:gd name="adj" fmla="val 50000"/>
            </a:avLst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Rounded Rectangle 11"/>
          <p:cNvSpPr/>
          <p:nvPr/>
        </p:nvSpPr>
        <p:spPr>
          <a:xfrm>
            <a:off x="567000" y="4050720"/>
            <a:ext cx="8046360" cy="497880"/>
          </a:xfrm>
          <a:prstGeom prst="roundRect">
            <a:avLst>
              <a:gd name="adj" fmla="val 8000"/>
            </a:avLst>
          </a:prstGeom>
          <a:solidFill>
            <a:srgbClr val="FFF3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Rectangle 12"/>
          <p:cNvSpPr/>
          <p:nvPr/>
        </p:nvSpPr>
        <p:spPr>
          <a:xfrm>
            <a:off x="567000" y="4090680"/>
            <a:ext cx="63720" cy="418320"/>
          </a:xfrm>
          <a:prstGeom prst="rect">
            <a:avLst/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Box 13"/>
          <p:cNvSpPr/>
          <p:nvPr/>
        </p:nvSpPr>
        <p:spPr>
          <a:xfrm>
            <a:off x="786240" y="4050720"/>
            <a:ext cx="764388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08000"/>
              </a:lnSpc>
            </a:pPr>
            <a:r>
              <a:rPr lang="zh-CN" sz="1100" b="1" u="none" strike="noStrike">
                <a:solidFill>
                  <a:srgbClr val="FFC93C"/>
                </a:solidFill>
                <a:effectLst/>
                <a:uFillTx/>
                <a:latin typeface="Arial Rounded MT Bold"/>
                <a:ea typeface="Hiragino Sans GB"/>
              </a:rPr>
              <a:t>关键  </a:t>
            </a:r>
            <a:r>
              <a:rPr lang="zh-CN" sz="1250" b="0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没人教它猫有胡须和尾巴 —— 是它自己从好多例子里看出来的。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Rounded Rectangle 14"/>
          <p:cNvSpPr/>
          <p:nvPr/>
        </p:nvSpPr>
        <p:spPr>
          <a:xfrm>
            <a:off x="365760" y="1874520"/>
            <a:ext cx="4023000" cy="1947240"/>
          </a:xfrm>
          <a:prstGeom prst="roundRect">
            <a:avLst>
              <a:gd name="adj" fmla="val 16000"/>
            </a:avLst>
          </a:prstGeom>
          <a:solidFill>
            <a:srgbClr val="EFEA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1" name="Rounded Rectangle 15"/>
          <p:cNvSpPr/>
          <p:nvPr/>
        </p:nvSpPr>
        <p:spPr>
          <a:xfrm>
            <a:off x="548640" y="2039040"/>
            <a:ext cx="3657240" cy="383760"/>
          </a:xfrm>
          <a:prstGeom prst="roundRect">
            <a:avLst>
              <a:gd name="adj" fmla="val 50000"/>
            </a:avLst>
          </a:prstGeom>
          <a:solidFill>
            <a:srgbClr val="9B7E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Box 16"/>
          <p:cNvSpPr/>
          <p:nvPr/>
        </p:nvSpPr>
        <p:spPr>
          <a:xfrm>
            <a:off x="548640" y="2039040"/>
            <a:ext cx="365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12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Arial Rounded MT Bold"/>
                <a:ea typeface="Hiragino Sans GB"/>
              </a:rPr>
              <a:t>你怎么认识“猫”？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Oval 17"/>
          <p:cNvSpPr/>
          <p:nvPr/>
        </p:nvSpPr>
        <p:spPr>
          <a:xfrm>
            <a:off x="704160" y="2487240"/>
            <a:ext cx="456840" cy="456840"/>
          </a:xfrm>
          <a:prstGeom prst="ellipse">
            <a:avLst/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84" name="Picture 18" descr="cat.png"/>
          <p:cNvPicPr/>
          <p:nvPr/>
        </p:nvPicPr>
        <p:blipFill>
          <a:blip r:embed="rId1"/>
          <a:stretch/>
        </p:blipFill>
        <p:spPr>
          <a:xfrm>
            <a:off x="804600" y="258768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Oval 19"/>
          <p:cNvSpPr/>
          <p:nvPr/>
        </p:nvSpPr>
        <p:spPr>
          <a:xfrm>
            <a:off x="1435680" y="2487240"/>
            <a:ext cx="456840" cy="45684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86" name="Picture 20" descr="cat.png"/>
          <p:cNvPicPr/>
          <p:nvPr/>
        </p:nvPicPr>
        <p:blipFill>
          <a:blip r:embed="rId2"/>
          <a:stretch/>
        </p:blipFill>
        <p:spPr>
          <a:xfrm>
            <a:off x="1536120" y="258768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Oval 21"/>
          <p:cNvSpPr/>
          <p:nvPr/>
        </p:nvSpPr>
        <p:spPr>
          <a:xfrm>
            <a:off x="2167200" y="2487240"/>
            <a:ext cx="456840" cy="456840"/>
          </a:xfrm>
          <a:prstGeom prst="ellipse">
            <a:avLst/>
          </a:prstGeom>
          <a:solidFill>
            <a:srgbClr val="3FC7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88" name="Picture 22" descr="cat.png"/>
          <p:cNvPicPr/>
          <p:nvPr/>
        </p:nvPicPr>
        <p:blipFill>
          <a:blip r:embed="rId3"/>
          <a:stretch/>
        </p:blipFill>
        <p:spPr>
          <a:xfrm>
            <a:off x="2267640" y="258768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9" name="Oval 23"/>
          <p:cNvSpPr/>
          <p:nvPr/>
        </p:nvSpPr>
        <p:spPr>
          <a:xfrm>
            <a:off x="1069920" y="3035880"/>
            <a:ext cx="456840" cy="456840"/>
          </a:xfrm>
          <a:prstGeom prst="ellipse">
            <a:avLst/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90" name="Picture 24" descr="cat.png"/>
          <p:cNvPicPr/>
          <p:nvPr/>
        </p:nvPicPr>
        <p:blipFill>
          <a:blip r:embed="rId4"/>
          <a:stretch/>
        </p:blipFill>
        <p:spPr>
          <a:xfrm>
            <a:off x="1170360" y="313632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1" name="Oval 25"/>
          <p:cNvSpPr/>
          <p:nvPr/>
        </p:nvSpPr>
        <p:spPr>
          <a:xfrm>
            <a:off x="1801440" y="3035880"/>
            <a:ext cx="456840" cy="456840"/>
          </a:xfrm>
          <a:prstGeom prst="ellipse">
            <a:avLst/>
          </a:prstGeom>
          <a:solidFill>
            <a:srgbClr val="9B7E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92" name="Picture 26" descr="cat.png"/>
          <p:cNvPicPr/>
          <p:nvPr/>
        </p:nvPicPr>
        <p:blipFill>
          <a:blip r:embed="rId5"/>
          <a:stretch/>
        </p:blipFill>
        <p:spPr>
          <a:xfrm>
            <a:off x="1901880" y="313632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Oval 27"/>
          <p:cNvSpPr/>
          <p:nvPr/>
        </p:nvSpPr>
        <p:spPr>
          <a:xfrm>
            <a:off x="2532960" y="3035880"/>
            <a:ext cx="456840" cy="456840"/>
          </a:xfrm>
          <a:prstGeom prst="ellipse">
            <a:avLst/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94" name="Picture 28" descr="cat.png"/>
          <p:cNvPicPr/>
          <p:nvPr/>
        </p:nvPicPr>
        <p:blipFill>
          <a:blip r:embed="rId6"/>
          <a:stretch/>
        </p:blipFill>
        <p:spPr>
          <a:xfrm>
            <a:off x="2633400" y="313632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TextBox 29"/>
          <p:cNvSpPr/>
          <p:nvPr/>
        </p:nvSpPr>
        <p:spPr>
          <a:xfrm>
            <a:off x="548640" y="33649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12000"/>
              </a:lnSpc>
            </a:pPr>
            <a:r>
              <a:rPr lang="zh-CN" sz="110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看过好多好多猫 → 记住了“猫的样子”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Rounded Rectangle 30"/>
          <p:cNvSpPr/>
          <p:nvPr/>
        </p:nvSpPr>
        <p:spPr>
          <a:xfrm>
            <a:off x="4754880" y="1874520"/>
            <a:ext cx="4023000" cy="1947240"/>
          </a:xfrm>
          <a:prstGeom prst="roundRect">
            <a:avLst>
              <a:gd name="adj" fmla="val 16000"/>
            </a:avLst>
          </a:prstGeom>
          <a:solidFill>
            <a:srgbClr val="E7F3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Rounded Rectangle 31"/>
          <p:cNvSpPr/>
          <p:nvPr/>
        </p:nvSpPr>
        <p:spPr>
          <a:xfrm>
            <a:off x="4937760" y="2039040"/>
            <a:ext cx="3657240" cy="383760"/>
          </a:xfrm>
          <a:prstGeom prst="roundRect">
            <a:avLst>
              <a:gd name="adj" fmla="val 50000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TextBox 32"/>
          <p:cNvSpPr/>
          <p:nvPr/>
        </p:nvSpPr>
        <p:spPr>
          <a:xfrm>
            <a:off x="4937760" y="2039040"/>
            <a:ext cx="365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12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rial Rounded MT Bold"/>
                <a:ea typeface="Hiragino Sans GB"/>
              </a:rPr>
              <a:t>AI </a:t>
            </a: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Arial Rounded MT Bold"/>
                <a:ea typeface="Hiragino Sans GB"/>
              </a:rPr>
              <a:t>怎么认识“猫”？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Rounded Rectangle 33"/>
          <p:cNvSpPr/>
          <p:nvPr/>
        </p:nvSpPr>
        <p:spPr>
          <a:xfrm>
            <a:off x="5321880" y="2587680"/>
            <a:ext cx="383760" cy="38376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00" name="Picture 34" descr="cat_3D9BE9.png"/>
          <p:cNvPicPr/>
          <p:nvPr/>
        </p:nvPicPr>
        <p:blipFill>
          <a:blip r:embed="rId7"/>
          <a:stretch/>
        </p:blipFill>
        <p:spPr>
          <a:xfrm>
            <a:off x="5394960" y="266076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1" name="Rounded Rectangle 35"/>
          <p:cNvSpPr/>
          <p:nvPr/>
        </p:nvSpPr>
        <p:spPr>
          <a:xfrm>
            <a:off x="5833800" y="2587680"/>
            <a:ext cx="383760" cy="38376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02" name="Picture 36" descr="cat_3D9BE9.png"/>
          <p:cNvPicPr/>
          <p:nvPr/>
        </p:nvPicPr>
        <p:blipFill>
          <a:blip r:embed="rId8"/>
          <a:stretch/>
        </p:blipFill>
        <p:spPr>
          <a:xfrm>
            <a:off x="5906880" y="266076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Rounded Rectangle 37"/>
          <p:cNvSpPr/>
          <p:nvPr/>
        </p:nvSpPr>
        <p:spPr>
          <a:xfrm>
            <a:off x="6346080" y="2587680"/>
            <a:ext cx="383760" cy="38376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04" name="Picture 38" descr="cat_3D9BE9.png"/>
          <p:cNvPicPr/>
          <p:nvPr/>
        </p:nvPicPr>
        <p:blipFill>
          <a:blip r:embed="rId9"/>
          <a:stretch/>
        </p:blipFill>
        <p:spPr>
          <a:xfrm>
            <a:off x="6419160" y="266076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Rounded Rectangle 39"/>
          <p:cNvSpPr/>
          <p:nvPr/>
        </p:nvSpPr>
        <p:spPr>
          <a:xfrm>
            <a:off x="6858000" y="2587680"/>
            <a:ext cx="383760" cy="38376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06" name="Picture 40" descr="cat_3D9BE9.png"/>
          <p:cNvPicPr/>
          <p:nvPr/>
        </p:nvPicPr>
        <p:blipFill>
          <a:blip r:embed="rId10"/>
          <a:stretch/>
        </p:blipFill>
        <p:spPr>
          <a:xfrm>
            <a:off x="6931080" y="266076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Rounded Rectangle 41"/>
          <p:cNvSpPr/>
          <p:nvPr/>
        </p:nvSpPr>
        <p:spPr>
          <a:xfrm>
            <a:off x="5321880" y="3081600"/>
            <a:ext cx="383760" cy="38376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08" name="Picture 42" descr="cat_3D9BE9.png"/>
          <p:cNvPicPr/>
          <p:nvPr/>
        </p:nvPicPr>
        <p:blipFill>
          <a:blip r:embed="rId11"/>
          <a:stretch/>
        </p:blipFill>
        <p:spPr>
          <a:xfrm>
            <a:off x="5394960" y="315468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9" name="Rounded Rectangle 43"/>
          <p:cNvSpPr/>
          <p:nvPr/>
        </p:nvSpPr>
        <p:spPr>
          <a:xfrm>
            <a:off x="5833800" y="3081600"/>
            <a:ext cx="383760" cy="38376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10" name="Picture 44" descr="cat_3D9BE9.png"/>
          <p:cNvPicPr/>
          <p:nvPr/>
        </p:nvPicPr>
        <p:blipFill>
          <a:blip r:embed="rId12"/>
          <a:stretch/>
        </p:blipFill>
        <p:spPr>
          <a:xfrm>
            <a:off x="5906880" y="315468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1" name="Rounded Rectangle 45"/>
          <p:cNvSpPr/>
          <p:nvPr/>
        </p:nvSpPr>
        <p:spPr>
          <a:xfrm>
            <a:off x="6346080" y="3081600"/>
            <a:ext cx="383760" cy="38376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12" name="Picture 46" descr="cat_3D9BE9.png"/>
          <p:cNvPicPr/>
          <p:nvPr/>
        </p:nvPicPr>
        <p:blipFill>
          <a:blip r:embed="rId13"/>
          <a:stretch/>
        </p:blipFill>
        <p:spPr>
          <a:xfrm>
            <a:off x="6419160" y="315468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Rounded Rectangle 47"/>
          <p:cNvSpPr/>
          <p:nvPr/>
        </p:nvSpPr>
        <p:spPr>
          <a:xfrm>
            <a:off x="6858000" y="3081600"/>
            <a:ext cx="383760" cy="38376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14" name="Picture 48" descr="cat_3D9BE9.png"/>
          <p:cNvPicPr/>
          <p:nvPr/>
        </p:nvPicPr>
        <p:blipFill>
          <a:blip r:embed="rId14"/>
          <a:stretch/>
        </p:blipFill>
        <p:spPr>
          <a:xfrm>
            <a:off x="6931080" y="315468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TextBox 49"/>
          <p:cNvSpPr/>
          <p:nvPr/>
        </p:nvSpPr>
        <p:spPr>
          <a:xfrm>
            <a:off x="4937760" y="33649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12000"/>
              </a:lnSpc>
            </a:pPr>
            <a:r>
              <a:rPr lang="zh-CN" sz="110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看过成千上万张照片 → 学会了认“猫”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Oval 50"/>
          <p:cNvSpPr/>
          <p:nvPr/>
        </p:nvSpPr>
        <p:spPr>
          <a:xfrm>
            <a:off x="4288680" y="2565000"/>
            <a:ext cx="566640" cy="56664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TextBox 51"/>
          <p:cNvSpPr/>
          <p:nvPr/>
        </p:nvSpPr>
        <p:spPr>
          <a:xfrm>
            <a:off x="4288680" y="25650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=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Rectangl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6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9" name="4-Point Star 2"/>
          <p:cNvSpPr/>
          <p:nvPr/>
        </p:nvSpPr>
        <p:spPr>
          <a:xfrm>
            <a:off x="8540640" y="384120"/>
            <a:ext cx="182520" cy="182520"/>
          </a:xfrm>
          <a:prstGeom prst="star4">
            <a:avLst>
              <a:gd name="adj" fmla="val 12500"/>
            </a:avLst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0" name="Oval 3"/>
          <p:cNvSpPr/>
          <p:nvPr/>
        </p:nvSpPr>
        <p:spPr>
          <a:xfrm>
            <a:off x="8202240" y="356760"/>
            <a:ext cx="91080" cy="9108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440" rIns="9000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1" name="Oval 4"/>
          <p:cNvSpPr/>
          <p:nvPr/>
        </p:nvSpPr>
        <p:spPr>
          <a:xfrm>
            <a:off x="8810280" y="818280"/>
            <a:ext cx="82080" cy="8208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3320" rIns="90000" bIns="13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Rounded Rectangle 5"/>
          <p:cNvSpPr/>
          <p:nvPr/>
        </p:nvSpPr>
        <p:spPr>
          <a:xfrm>
            <a:off x="567000" y="457200"/>
            <a:ext cx="1682280" cy="365400"/>
          </a:xfrm>
          <a:prstGeom prst="roundRect">
            <a:avLst>
              <a:gd name="adj" fmla="val 50000"/>
            </a:avLst>
          </a:prstGeom>
          <a:solidFill>
            <a:srgbClr val="FFF3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3" name="Oval 6"/>
          <p:cNvSpPr/>
          <p:nvPr/>
        </p:nvSpPr>
        <p:spPr>
          <a:xfrm>
            <a:off x="731520" y="567000"/>
            <a:ext cx="145800" cy="14580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TextBox 7"/>
          <p:cNvSpPr/>
          <p:nvPr/>
        </p:nvSpPr>
        <p:spPr>
          <a:xfrm>
            <a:off x="1005840" y="457200"/>
            <a:ext cx="1682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12000"/>
              </a:lnSpc>
            </a:pPr>
            <a:r>
              <a:rPr lang="en-US" sz="1250" b="1" u="none" strike="noStrike">
                <a:solidFill>
                  <a:srgbClr val="FFC93C"/>
                </a:solidFill>
                <a:effectLst/>
                <a:uFillTx/>
                <a:latin typeface="Arial Rounded MT Bold"/>
                <a:ea typeface="Hiragino Sans GB"/>
              </a:rPr>
              <a:t>② 再多说一点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8"/>
          <p:cNvSpPr/>
          <p:nvPr/>
        </p:nvSpPr>
        <p:spPr>
          <a:xfrm>
            <a:off x="548640" y="914400"/>
            <a:ext cx="832068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zh-CN" sz="27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看得越多、练得越多，它就越准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4-Point Star 9"/>
          <p:cNvSpPr/>
          <p:nvPr/>
        </p:nvSpPr>
        <p:spPr>
          <a:xfrm>
            <a:off x="640080" y="1417320"/>
            <a:ext cx="145800" cy="145800"/>
          </a:xfrm>
          <a:prstGeom prst="star4">
            <a:avLst>
              <a:gd name="adj" fmla="val 12500"/>
            </a:avLst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7" name="Rounded Rectangle 10"/>
          <p:cNvSpPr/>
          <p:nvPr/>
        </p:nvSpPr>
        <p:spPr>
          <a:xfrm>
            <a:off x="914400" y="1463040"/>
            <a:ext cx="822600" cy="100080"/>
          </a:xfrm>
          <a:prstGeom prst="roundRect">
            <a:avLst>
              <a:gd name="adj" fmla="val 50000"/>
            </a:avLst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328" name="Connector 11"/>
          <p:cNvCxnSpPr/>
          <p:nvPr/>
        </p:nvCxnSpPr>
        <p:spPr>
          <a:xfrm>
            <a:off x="3409200" y="2069640"/>
            <a:ext cx="556200" cy="556200"/>
          </a:xfrm>
          <a:prstGeom prst="straightConnector1">
            <a:avLst/>
          </a:prstGeom>
          <a:ln w="27940">
            <a:solidFill>
              <a:srgbClr val="8C86A8"/>
            </a:solidFill>
            <a:round/>
            <a:tailEnd len="med" type="triangle" w="med"/>
          </a:ln>
        </p:spPr>
      </p:cxnSp>
      <p:cxnSp>
        <p:nvCxnSpPr>
          <p:cNvPr id="329" name="Connector 12"/>
          <p:cNvCxnSpPr/>
          <p:nvPr/>
        </p:nvCxnSpPr>
        <p:spPr>
          <a:xfrm flipH="1">
            <a:off x="3409200" y="3683520"/>
            <a:ext cx="556200" cy="556200"/>
          </a:xfrm>
          <a:prstGeom prst="straightConnector1">
            <a:avLst/>
          </a:prstGeom>
          <a:ln w="27940">
            <a:solidFill>
              <a:srgbClr val="8C86A8"/>
            </a:solidFill>
            <a:round/>
            <a:tailEnd len="med" type="triangle" w="med"/>
          </a:ln>
        </p:spPr>
      </p:cxnSp>
      <p:cxnSp>
        <p:nvCxnSpPr>
          <p:cNvPr id="330" name="Connector 13"/>
          <p:cNvCxnSpPr/>
          <p:nvPr/>
        </p:nvCxnSpPr>
        <p:spPr>
          <a:xfrm flipH="1" flipV="1">
            <a:off x="1795320" y="3683520"/>
            <a:ext cx="556200" cy="556200"/>
          </a:xfrm>
          <a:prstGeom prst="straightConnector1">
            <a:avLst/>
          </a:prstGeom>
          <a:ln w="27940">
            <a:solidFill>
              <a:srgbClr val="8C86A8"/>
            </a:solidFill>
            <a:round/>
            <a:tailEnd len="med" type="triangle" w="med"/>
          </a:ln>
        </p:spPr>
      </p:cxnSp>
      <p:cxnSp>
        <p:nvCxnSpPr>
          <p:cNvPr id="331" name="Connector 14"/>
          <p:cNvCxnSpPr/>
          <p:nvPr/>
        </p:nvCxnSpPr>
        <p:spPr>
          <a:xfrm flipV="1">
            <a:off x="1795320" y="2069640"/>
            <a:ext cx="556200" cy="556200"/>
          </a:xfrm>
          <a:prstGeom prst="straightConnector1">
            <a:avLst/>
          </a:prstGeom>
          <a:ln w="27940">
            <a:solidFill>
              <a:srgbClr val="8C86A8"/>
            </a:solidFill>
            <a:round/>
            <a:tailEnd len="med" type="triangle" w="med"/>
          </a:ln>
        </p:spPr>
      </p:cxnSp>
      <p:sp>
        <p:nvSpPr>
          <p:cNvPr id="332" name="Rounded Rectangle 15"/>
          <p:cNvSpPr/>
          <p:nvPr/>
        </p:nvSpPr>
        <p:spPr>
          <a:xfrm>
            <a:off x="2858040" y="2622240"/>
            <a:ext cx="44640" cy="22464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Oval 16"/>
          <p:cNvSpPr/>
          <p:nvPr/>
        </p:nvSpPr>
        <p:spPr>
          <a:xfrm>
            <a:off x="2813040" y="2539800"/>
            <a:ext cx="134640" cy="13464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4" name="4-Point Star 17"/>
          <p:cNvSpPr/>
          <p:nvPr/>
        </p:nvSpPr>
        <p:spPr>
          <a:xfrm>
            <a:off x="2842920" y="2569680"/>
            <a:ext cx="74520" cy="74520"/>
          </a:xfrm>
          <a:prstGeom prst="star4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680" rIns="90000" bIns="-316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5" name="Rounded Rectangle 18"/>
          <p:cNvSpPr/>
          <p:nvPr/>
        </p:nvSpPr>
        <p:spPr>
          <a:xfrm>
            <a:off x="2453040" y="3072240"/>
            <a:ext cx="66960" cy="16452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6" name="Rounded Rectangle 19"/>
          <p:cNvSpPr/>
          <p:nvPr/>
        </p:nvSpPr>
        <p:spPr>
          <a:xfrm>
            <a:off x="3240360" y="3072240"/>
            <a:ext cx="66960" cy="16452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7" name="Rounded Rectangle 20"/>
          <p:cNvSpPr/>
          <p:nvPr/>
        </p:nvSpPr>
        <p:spPr>
          <a:xfrm>
            <a:off x="2505600" y="2832120"/>
            <a:ext cx="749520" cy="644400"/>
          </a:xfrm>
          <a:prstGeom prst="roundRect">
            <a:avLst>
              <a:gd name="adj" fmla="val 42000"/>
            </a:avLst>
          </a:prstGeom>
          <a:solidFill>
            <a:srgbClr val="3D9BE9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8" name="Rounded Rectangle 21"/>
          <p:cNvSpPr/>
          <p:nvPr/>
        </p:nvSpPr>
        <p:spPr>
          <a:xfrm>
            <a:off x="2595600" y="2969640"/>
            <a:ext cx="569520" cy="399600"/>
          </a:xfrm>
          <a:prstGeom prst="roundRect">
            <a:avLst>
              <a:gd name="adj" fmla="val 34000"/>
            </a:avLst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Oval 22"/>
          <p:cNvSpPr/>
          <p:nvPr/>
        </p:nvSpPr>
        <p:spPr>
          <a:xfrm>
            <a:off x="2704320" y="3087000"/>
            <a:ext cx="100800" cy="100800"/>
          </a:xfrm>
          <a:prstGeom prst="ellipse">
            <a:avLst/>
          </a:prstGeom>
          <a:solidFill>
            <a:srgbClr val="EA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0" name="Oval 23"/>
          <p:cNvSpPr/>
          <p:nvPr/>
        </p:nvSpPr>
        <p:spPr>
          <a:xfrm>
            <a:off x="2732760" y="3121560"/>
            <a:ext cx="44280" cy="44280"/>
          </a:xfrm>
          <a:prstGeom prst="ellipse">
            <a:avLst/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3680" rIns="90000" bIns="-136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1" name="Oval 24"/>
          <p:cNvSpPr/>
          <p:nvPr/>
        </p:nvSpPr>
        <p:spPr>
          <a:xfrm>
            <a:off x="2727720" y="3110400"/>
            <a:ext cx="21960" cy="21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520" rIns="90000" bIns="-295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Oval 25"/>
          <p:cNvSpPr/>
          <p:nvPr/>
        </p:nvSpPr>
        <p:spPr>
          <a:xfrm>
            <a:off x="2955240" y="3087000"/>
            <a:ext cx="100800" cy="100800"/>
          </a:xfrm>
          <a:prstGeom prst="ellipse">
            <a:avLst/>
          </a:prstGeom>
          <a:solidFill>
            <a:srgbClr val="EA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Oval 26"/>
          <p:cNvSpPr/>
          <p:nvPr/>
        </p:nvSpPr>
        <p:spPr>
          <a:xfrm>
            <a:off x="2983320" y="3121560"/>
            <a:ext cx="44280" cy="44280"/>
          </a:xfrm>
          <a:prstGeom prst="ellipse">
            <a:avLst/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3680" rIns="90000" bIns="-136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4" name="Oval 27"/>
          <p:cNvSpPr/>
          <p:nvPr/>
        </p:nvSpPr>
        <p:spPr>
          <a:xfrm>
            <a:off x="2978280" y="3110400"/>
            <a:ext cx="21960" cy="21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520" rIns="90000" bIns="-295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5" name="Oval 28"/>
          <p:cNvSpPr/>
          <p:nvPr/>
        </p:nvSpPr>
        <p:spPr>
          <a:xfrm>
            <a:off x="2693520" y="3192480"/>
            <a:ext cx="82080" cy="82080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3320" rIns="90000" bIns="13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6" name="Oval 29"/>
          <p:cNvSpPr/>
          <p:nvPr/>
        </p:nvSpPr>
        <p:spPr>
          <a:xfrm>
            <a:off x="2984760" y="3192480"/>
            <a:ext cx="82080" cy="82080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3320" rIns="90000" bIns="13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Arc 30"/>
          <p:cNvSpPr/>
          <p:nvPr/>
        </p:nvSpPr>
        <p:spPr>
          <a:xfrm>
            <a:off x="2768040" y="3139560"/>
            <a:ext cx="224640" cy="224640"/>
          </a:xfrm>
          <a:prstGeom prst="arc">
            <a:avLst>
              <a:gd name="adj1" fmla="val 2500000"/>
              <a:gd name="adj2" fmla="val 15500000"/>
            </a:avLst>
          </a:prstGeom>
          <a:noFill/>
          <a:ln cap="rnd" w="33324">
            <a:solidFill>
              <a:srgbClr val="EAF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Oval 31"/>
          <p:cNvSpPr/>
          <p:nvPr/>
        </p:nvSpPr>
        <p:spPr>
          <a:xfrm>
            <a:off x="2432160" y="1334880"/>
            <a:ext cx="895680" cy="89568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49" name="Picture 32" descr="lightbulb.png"/>
          <p:cNvPicPr/>
          <p:nvPr/>
        </p:nvPicPr>
        <p:blipFill>
          <a:blip r:embed="rId1"/>
          <a:stretch/>
        </p:blipFill>
        <p:spPr>
          <a:xfrm>
            <a:off x="2629440" y="1532160"/>
            <a:ext cx="501480" cy="50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0" name="TextBox 33"/>
          <p:cNvSpPr/>
          <p:nvPr/>
        </p:nvSpPr>
        <p:spPr>
          <a:xfrm>
            <a:off x="2011680" y="225864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12000"/>
              </a:lnSpc>
            </a:pPr>
            <a:r>
              <a:rPr lang="zh-CN" sz="12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猜一猜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Oval 34"/>
          <p:cNvSpPr/>
          <p:nvPr/>
        </p:nvSpPr>
        <p:spPr>
          <a:xfrm>
            <a:off x="3803760" y="2706480"/>
            <a:ext cx="895680" cy="895680"/>
          </a:xfrm>
          <a:prstGeom prst="ellipse">
            <a:avLst/>
          </a:prstGeom>
          <a:solidFill>
            <a:srgbClr val="3FC79A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52" name="Picture 35" descr="check-circle.png"/>
          <p:cNvPicPr/>
          <p:nvPr/>
        </p:nvPicPr>
        <p:blipFill>
          <a:blip r:embed="rId2"/>
          <a:stretch/>
        </p:blipFill>
        <p:spPr>
          <a:xfrm>
            <a:off x="4001040" y="2903760"/>
            <a:ext cx="501480" cy="50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3" name="TextBox 36"/>
          <p:cNvSpPr/>
          <p:nvPr/>
        </p:nvSpPr>
        <p:spPr>
          <a:xfrm>
            <a:off x="3383280" y="363024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12000"/>
              </a:lnSpc>
            </a:pPr>
            <a:r>
              <a:rPr lang="zh-CN" sz="12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看对不对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Oval 37"/>
          <p:cNvSpPr/>
          <p:nvPr/>
        </p:nvSpPr>
        <p:spPr>
          <a:xfrm>
            <a:off x="2432160" y="3877200"/>
            <a:ext cx="895680" cy="895680"/>
          </a:xfrm>
          <a:prstGeom prst="ellipse">
            <a:avLst/>
          </a:prstGeom>
          <a:solidFill>
            <a:srgbClr val="3D9BE9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55" name="Picture 38" descr="wrench.png"/>
          <p:cNvPicPr/>
          <p:nvPr/>
        </p:nvPicPr>
        <p:blipFill>
          <a:blip r:embed="rId3"/>
          <a:stretch/>
        </p:blipFill>
        <p:spPr>
          <a:xfrm>
            <a:off x="2629440" y="4074120"/>
            <a:ext cx="501480" cy="50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6" name="TextBox 39"/>
          <p:cNvSpPr/>
          <p:nvPr/>
        </p:nvSpPr>
        <p:spPr>
          <a:xfrm>
            <a:off x="2011680" y="480060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12000"/>
              </a:lnSpc>
            </a:pPr>
            <a:r>
              <a:rPr lang="zh-CN" sz="12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改进一下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Oval 40"/>
          <p:cNvSpPr/>
          <p:nvPr/>
        </p:nvSpPr>
        <p:spPr>
          <a:xfrm>
            <a:off x="1060560" y="2706480"/>
            <a:ext cx="895680" cy="895680"/>
          </a:xfrm>
          <a:prstGeom prst="ellipse">
            <a:avLst/>
          </a:prstGeom>
          <a:solidFill>
            <a:srgbClr val="9B7EDE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58" name="Picture 41" descr="arrows-clockwise.png"/>
          <p:cNvPicPr/>
          <p:nvPr/>
        </p:nvPicPr>
        <p:blipFill>
          <a:blip r:embed="rId4"/>
          <a:stretch/>
        </p:blipFill>
        <p:spPr>
          <a:xfrm>
            <a:off x="1257840" y="2903760"/>
            <a:ext cx="501480" cy="50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9" name="TextBox 42"/>
          <p:cNvSpPr/>
          <p:nvPr/>
        </p:nvSpPr>
        <p:spPr>
          <a:xfrm>
            <a:off x="640080" y="363024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12000"/>
              </a:lnSpc>
            </a:pPr>
            <a:r>
              <a:rPr lang="zh-CN" sz="12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再来一次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Rounded Rectangle 43"/>
          <p:cNvSpPr/>
          <p:nvPr/>
        </p:nvSpPr>
        <p:spPr>
          <a:xfrm>
            <a:off x="5074920" y="1965960"/>
            <a:ext cx="3565800" cy="2102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1" name="Oval 44"/>
          <p:cNvSpPr/>
          <p:nvPr/>
        </p:nvSpPr>
        <p:spPr>
          <a:xfrm>
            <a:off x="5257800" y="2185560"/>
            <a:ext cx="767880" cy="767880"/>
          </a:xfrm>
          <a:prstGeom prst="ellipse">
            <a:avLst/>
          </a:prstGeom>
          <a:solidFill>
            <a:srgbClr val="FF6B6B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62" name="Picture 45" descr="target.png"/>
          <p:cNvPicPr/>
          <p:nvPr/>
        </p:nvPicPr>
        <p:blipFill>
          <a:blip r:embed="rId5"/>
          <a:stretch/>
        </p:blipFill>
        <p:spPr>
          <a:xfrm>
            <a:off x="5426640" y="2354400"/>
            <a:ext cx="429840" cy="42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3" name="TextBox 46"/>
          <p:cNvSpPr/>
          <p:nvPr/>
        </p:nvSpPr>
        <p:spPr>
          <a:xfrm>
            <a:off x="6135480" y="2277000"/>
            <a:ext cx="237708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zh-CN" sz="15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就像你学骑自行车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Box 47"/>
          <p:cNvSpPr/>
          <p:nvPr/>
        </p:nvSpPr>
        <p:spPr>
          <a:xfrm>
            <a:off x="6135480" y="264276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0000"/>
              </a:lnSpc>
              <a:spcAft>
                <a:spcPts val="300"/>
              </a:spcAft>
            </a:pPr>
            <a:r>
              <a:rPr lang="zh-CN" sz="1200" b="0" u="none" strike="noStrike">
                <a:solidFill>
                  <a:srgbClr val="6B6685"/>
                </a:solidFill>
                <a:effectLst/>
                <a:uFillTx/>
                <a:latin typeface="Arial Rounded MT Bold"/>
                <a:ea typeface="Hiragino Sans GB"/>
              </a:rPr>
              <a:t>一开始会歪会摔，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300"/>
              </a:spcAft>
            </a:pPr>
            <a:r>
              <a:rPr lang="zh-CN" sz="1200" b="0" u="none" strike="noStrike">
                <a:solidFill>
                  <a:srgbClr val="6B6685"/>
                </a:solidFill>
                <a:effectLst/>
                <a:uFillTx/>
                <a:latin typeface="Arial Rounded MT Bold"/>
                <a:ea typeface="Hiragino Sans GB"/>
              </a:rPr>
              <a:t>多练几次就稳稳的。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48"/>
          <p:cNvSpPr/>
          <p:nvPr/>
        </p:nvSpPr>
        <p:spPr>
          <a:xfrm>
            <a:off x="5385960" y="333756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2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AI </a:t>
            </a:r>
            <a:r>
              <a:rPr lang="zh-CN" sz="1200" b="0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也一样：先猜一猜，再听听对不对，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300"/>
              </a:spcAft>
            </a:pPr>
            <a:r>
              <a:rPr lang="zh-CN" sz="1200" b="0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然后改一改再来，练得越多就越准。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Rectangl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6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4-Point Star 2"/>
          <p:cNvSpPr/>
          <p:nvPr/>
        </p:nvSpPr>
        <p:spPr>
          <a:xfrm>
            <a:off x="8540640" y="384120"/>
            <a:ext cx="182520" cy="182520"/>
          </a:xfrm>
          <a:prstGeom prst="star4">
            <a:avLst>
              <a:gd name="adj" fmla="val 12500"/>
            </a:avLst>
          </a:prstGeom>
          <a:solidFill>
            <a:srgbClr val="3FC7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Oval 3"/>
          <p:cNvSpPr/>
          <p:nvPr/>
        </p:nvSpPr>
        <p:spPr>
          <a:xfrm>
            <a:off x="8202240" y="356760"/>
            <a:ext cx="91080" cy="9108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440" rIns="9000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9" name="Oval 4"/>
          <p:cNvSpPr/>
          <p:nvPr/>
        </p:nvSpPr>
        <p:spPr>
          <a:xfrm>
            <a:off x="8810280" y="818280"/>
            <a:ext cx="82080" cy="82080"/>
          </a:xfrm>
          <a:prstGeom prst="ellipse">
            <a:avLst/>
          </a:prstGeom>
          <a:solidFill>
            <a:srgbClr val="3FC7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3320" rIns="90000" bIns="13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0" name="Rounded Rectangle 5"/>
          <p:cNvSpPr/>
          <p:nvPr/>
        </p:nvSpPr>
        <p:spPr>
          <a:xfrm>
            <a:off x="567000" y="457200"/>
            <a:ext cx="1828440" cy="365400"/>
          </a:xfrm>
          <a:prstGeom prst="roundRect">
            <a:avLst>
              <a:gd name="adj" fmla="val 50000"/>
            </a:avLst>
          </a:prstGeom>
          <a:solidFill>
            <a:srgbClr val="E2F7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1" name="Oval 6"/>
          <p:cNvSpPr/>
          <p:nvPr/>
        </p:nvSpPr>
        <p:spPr>
          <a:xfrm>
            <a:off x="731520" y="567000"/>
            <a:ext cx="145800" cy="145800"/>
          </a:xfrm>
          <a:prstGeom prst="ellipse">
            <a:avLst/>
          </a:prstGeom>
          <a:solidFill>
            <a:srgbClr val="3FC7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2" name="TextBox 7"/>
          <p:cNvSpPr/>
          <p:nvPr/>
        </p:nvSpPr>
        <p:spPr>
          <a:xfrm>
            <a:off x="1005840" y="45720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12000"/>
              </a:lnSpc>
            </a:pPr>
            <a:r>
              <a:rPr lang="en-US" sz="1250" b="1" u="none" strike="noStrike">
                <a:solidFill>
                  <a:srgbClr val="3FC79A"/>
                </a:solidFill>
                <a:effectLst/>
                <a:uFillTx/>
                <a:latin typeface="Arial Rounded MT Bold"/>
                <a:ea typeface="Hiragino Sans GB"/>
              </a:rPr>
              <a:t>③ 它很会做的事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8"/>
          <p:cNvSpPr/>
          <p:nvPr/>
        </p:nvSpPr>
        <p:spPr>
          <a:xfrm>
            <a:off x="548640" y="914400"/>
            <a:ext cx="832068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zh-CN" sz="27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记性好、算得快、不喊累，它超厉害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4-Point Star 9"/>
          <p:cNvSpPr/>
          <p:nvPr/>
        </p:nvSpPr>
        <p:spPr>
          <a:xfrm>
            <a:off x="640080" y="1417320"/>
            <a:ext cx="145800" cy="145800"/>
          </a:xfrm>
          <a:prstGeom prst="star4">
            <a:avLst>
              <a:gd name="adj" fmla="val 12500"/>
            </a:avLst>
          </a:prstGeom>
          <a:solidFill>
            <a:srgbClr val="3FC7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5" name="Rounded Rectangle 10"/>
          <p:cNvSpPr/>
          <p:nvPr/>
        </p:nvSpPr>
        <p:spPr>
          <a:xfrm>
            <a:off x="914400" y="1463040"/>
            <a:ext cx="822600" cy="100080"/>
          </a:xfrm>
          <a:prstGeom prst="roundRect">
            <a:avLst>
              <a:gd name="adj" fmla="val 50000"/>
            </a:avLst>
          </a:prstGeom>
          <a:solidFill>
            <a:srgbClr val="3FC7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6" name="Rounded Rectangle 11"/>
          <p:cNvSpPr/>
          <p:nvPr/>
        </p:nvSpPr>
        <p:spPr>
          <a:xfrm>
            <a:off x="8343360" y="499680"/>
            <a:ext cx="46440" cy="23292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7" name="Oval 12"/>
          <p:cNvSpPr/>
          <p:nvPr/>
        </p:nvSpPr>
        <p:spPr>
          <a:xfrm>
            <a:off x="8296920" y="414360"/>
            <a:ext cx="139680" cy="13968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8" name="4-Point Star 13"/>
          <p:cNvSpPr/>
          <p:nvPr/>
        </p:nvSpPr>
        <p:spPr>
          <a:xfrm>
            <a:off x="8327880" y="445320"/>
            <a:ext cx="77400" cy="77400"/>
          </a:xfrm>
          <a:prstGeom prst="star4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0960" rIns="90000" bIns="-30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Rounded Rectangle 14"/>
          <p:cNvSpPr/>
          <p:nvPr/>
        </p:nvSpPr>
        <p:spPr>
          <a:xfrm>
            <a:off x="7923600" y="966240"/>
            <a:ext cx="69480" cy="17064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0" name="Rounded Rectangle 15"/>
          <p:cNvSpPr/>
          <p:nvPr/>
        </p:nvSpPr>
        <p:spPr>
          <a:xfrm>
            <a:off x="8739720" y="966240"/>
            <a:ext cx="69480" cy="17064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" name="Rounded Rectangle 16"/>
          <p:cNvSpPr/>
          <p:nvPr/>
        </p:nvSpPr>
        <p:spPr>
          <a:xfrm>
            <a:off x="7978320" y="717480"/>
            <a:ext cx="776880" cy="668160"/>
          </a:xfrm>
          <a:prstGeom prst="roundRect">
            <a:avLst>
              <a:gd name="adj" fmla="val 42000"/>
            </a:avLst>
          </a:prstGeom>
          <a:solidFill>
            <a:srgbClr val="3D9BE9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2" name="Rounded Rectangle 17"/>
          <p:cNvSpPr/>
          <p:nvPr/>
        </p:nvSpPr>
        <p:spPr>
          <a:xfrm>
            <a:off x="8071560" y="860040"/>
            <a:ext cx="590400" cy="414000"/>
          </a:xfrm>
          <a:prstGeom prst="roundRect">
            <a:avLst>
              <a:gd name="adj" fmla="val 34000"/>
            </a:avLst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3" name="Oval 18"/>
          <p:cNvSpPr/>
          <p:nvPr/>
        </p:nvSpPr>
        <p:spPr>
          <a:xfrm>
            <a:off x="8184240" y="981360"/>
            <a:ext cx="104400" cy="104400"/>
          </a:xfrm>
          <a:prstGeom prst="ellipse">
            <a:avLst/>
          </a:prstGeom>
          <a:solidFill>
            <a:srgbClr val="EA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9160" rIns="90000" bIns="291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4" name="Oval 19"/>
          <p:cNvSpPr/>
          <p:nvPr/>
        </p:nvSpPr>
        <p:spPr>
          <a:xfrm>
            <a:off x="8205480" y="1008720"/>
            <a:ext cx="62640" cy="62640"/>
          </a:xfrm>
          <a:prstGeom prst="ellipse">
            <a:avLst/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" rIns="90000" bIns="-3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5" name="Oval 20"/>
          <p:cNvSpPr/>
          <p:nvPr/>
        </p:nvSpPr>
        <p:spPr>
          <a:xfrm>
            <a:off x="8208360" y="1005480"/>
            <a:ext cx="22680" cy="22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8800" rIns="90000" bIns="-288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6" name="Oval 21"/>
          <p:cNvSpPr/>
          <p:nvPr/>
        </p:nvSpPr>
        <p:spPr>
          <a:xfrm>
            <a:off x="8444160" y="981360"/>
            <a:ext cx="104400" cy="104400"/>
          </a:xfrm>
          <a:prstGeom prst="ellipse">
            <a:avLst/>
          </a:prstGeom>
          <a:solidFill>
            <a:srgbClr val="EA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9160" rIns="90000" bIns="291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7" name="Oval 22"/>
          <p:cNvSpPr/>
          <p:nvPr/>
        </p:nvSpPr>
        <p:spPr>
          <a:xfrm>
            <a:off x="8465400" y="1008720"/>
            <a:ext cx="62640" cy="62640"/>
          </a:xfrm>
          <a:prstGeom prst="ellipse">
            <a:avLst/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" rIns="90000" bIns="-3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8" name="Oval 23"/>
          <p:cNvSpPr/>
          <p:nvPr/>
        </p:nvSpPr>
        <p:spPr>
          <a:xfrm>
            <a:off x="8468280" y="1005480"/>
            <a:ext cx="22680" cy="22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8800" rIns="90000" bIns="-288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9" name="Oval 24"/>
          <p:cNvSpPr/>
          <p:nvPr/>
        </p:nvSpPr>
        <p:spPr>
          <a:xfrm>
            <a:off x="8173080" y="1090800"/>
            <a:ext cx="84960" cy="84960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5480" rIns="90000" bIns="15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0" name="Oval 25"/>
          <p:cNvSpPr/>
          <p:nvPr/>
        </p:nvSpPr>
        <p:spPr>
          <a:xfrm>
            <a:off x="8475120" y="1090800"/>
            <a:ext cx="84960" cy="84960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5480" rIns="90000" bIns="15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1" name="Oval 26"/>
          <p:cNvSpPr/>
          <p:nvPr/>
        </p:nvSpPr>
        <p:spPr>
          <a:xfrm>
            <a:off x="8312400" y="1121400"/>
            <a:ext cx="108360" cy="108360"/>
          </a:xfrm>
          <a:prstGeom prst="ellipse">
            <a:avLst/>
          </a:prstGeom>
          <a:solidFill>
            <a:srgbClr val="EA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1680" rIns="90000" bIns="316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2" name="Oval 27"/>
          <p:cNvSpPr/>
          <p:nvPr/>
        </p:nvSpPr>
        <p:spPr>
          <a:xfrm>
            <a:off x="8339400" y="1148760"/>
            <a:ext cx="54000" cy="54000"/>
          </a:xfrm>
          <a:prstGeom prst="ellipse">
            <a:avLst/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3" name="Rounded Rectangle 28"/>
          <p:cNvSpPr/>
          <p:nvPr/>
        </p:nvSpPr>
        <p:spPr>
          <a:xfrm>
            <a:off x="567000" y="1874520"/>
            <a:ext cx="3949920" cy="11883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4" name="Rounded Rectangle 29"/>
          <p:cNvSpPr/>
          <p:nvPr/>
        </p:nvSpPr>
        <p:spPr>
          <a:xfrm>
            <a:off x="694800" y="2020680"/>
            <a:ext cx="100080" cy="895680"/>
          </a:xfrm>
          <a:prstGeom prst="roundRect">
            <a:avLst>
              <a:gd name="adj" fmla="val 50000"/>
            </a:avLst>
          </a:prstGeom>
          <a:solidFill>
            <a:srgbClr val="3FC7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5" name="Oval 30"/>
          <p:cNvSpPr/>
          <p:nvPr/>
        </p:nvSpPr>
        <p:spPr>
          <a:xfrm>
            <a:off x="868680" y="2057400"/>
            <a:ext cx="822600" cy="822600"/>
          </a:xfrm>
          <a:prstGeom prst="ellipse">
            <a:avLst/>
          </a:prstGeom>
          <a:solidFill>
            <a:srgbClr val="3FC79A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96" name="Picture 31" descr="brain.png"/>
          <p:cNvPicPr/>
          <p:nvPr/>
        </p:nvPicPr>
        <p:blipFill>
          <a:blip r:embed="rId1"/>
          <a:stretch/>
        </p:blipFill>
        <p:spPr>
          <a:xfrm>
            <a:off x="1049760" y="223848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7" name="TextBox 32"/>
          <p:cNvSpPr/>
          <p:nvPr/>
        </p:nvSpPr>
        <p:spPr>
          <a:xfrm>
            <a:off x="1774080" y="2130480"/>
            <a:ext cx="26240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zh-CN" sz="160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记性超好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33"/>
          <p:cNvSpPr/>
          <p:nvPr/>
        </p:nvSpPr>
        <p:spPr>
          <a:xfrm>
            <a:off x="1774080" y="2514600"/>
            <a:ext cx="257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300"/>
              </a:spcAft>
            </a:pPr>
            <a:r>
              <a:rPr lang="zh-CN" sz="1150" b="0" u="none" strike="noStrike">
                <a:solidFill>
                  <a:srgbClr val="6B6685"/>
                </a:solidFill>
                <a:effectLst/>
                <a:uFillTx/>
                <a:latin typeface="Arial Rounded MT Bold"/>
                <a:ea typeface="Hiragino Sans GB"/>
              </a:rPr>
              <a:t>看过的东西都能记住，海量也不怕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Rounded Rectangle 34"/>
          <p:cNvSpPr/>
          <p:nvPr/>
        </p:nvSpPr>
        <p:spPr>
          <a:xfrm>
            <a:off x="4773240" y="1874520"/>
            <a:ext cx="3949920" cy="11883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0" name="Rounded Rectangle 35"/>
          <p:cNvSpPr/>
          <p:nvPr/>
        </p:nvSpPr>
        <p:spPr>
          <a:xfrm>
            <a:off x="4901040" y="2020680"/>
            <a:ext cx="100080" cy="895680"/>
          </a:xfrm>
          <a:prstGeom prst="roundRect">
            <a:avLst>
              <a:gd name="adj" fmla="val 50000"/>
            </a:avLst>
          </a:prstGeom>
          <a:solidFill>
            <a:srgbClr val="3FC7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1" name="Oval 36"/>
          <p:cNvSpPr/>
          <p:nvPr/>
        </p:nvSpPr>
        <p:spPr>
          <a:xfrm>
            <a:off x="5074920" y="2057400"/>
            <a:ext cx="822600" cy="822600"/>
          </a:xfrm>
          <a:prstGeom prst="ellipse">
            <a:avLst/>
          </a:prstGeom>
          <a:solidFill>
            <a:srgbClr val="3FC79A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02" name="Picture 37" descr="lightning.png"/>
          <p:cNvPicPr/>
          <p:nvPr/>
        </p:nvPicPr>
        <p:blipFill>
          <a:blip r:embed="rId2"/>
          <a:stretch/>
        </p:blipFill>
        <p:spPr>
          <a:xfrm>
            <a:off x="5256000" y="223848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3" name="TextBox 38"/>
          <p:cNvSpPr/>
          <p:nvPr/>
        </p:nvSpPr>
        <p:spPr>
          <a:xfrm>
            <a:off x="5980320" y="2130480"/>
            <a:ext cx="26240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zh-CN" sz="160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算得飞快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39"/>
          <p:cNvSpPr/>
          <p:nvPr/>
        </p:nvSpPr>
        <p:spPr>
          <a:xfrm>
            <a:off x="5980320" y="2514600"/>
            <a:ext cx="257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300"/>
              </a:spcAft>
            </a:pPr>
            <a:r>
              <a:rPr lang="zh-CN" sz="1150" b="0" u="none" strike="noStrike">
                <a:solidFill>
                  <a:srgbClr val="6B6685"/>
                </a:solidFill>
                <a:effectLst/>
                <a:uFillTx/>
                <a:latin typeface="Arial Rounded MT Bold"/>
                <a:ea typeface="Hiragino Sans GB"/>
              </a:rPr>
              <a:t>一眨眼就算完好多好多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Rounded Rectangle 40"/>
          <p:cNvSpPr/>
          <p:nvPr/>
        </p:nvSpPr>
        <p:spPr>
          <a:xfrm>
            <a:off x="567000" y="3300840"/>
            <a:ext cx="3949920" cy="11883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6" name="Rounded Rectangle 41"/>
          <p:cNvSpPr/>
          <p:nvPr/>
        </p:nvSpPr>
        <p:spPr>
          <a:xfrm>
            <a:off x="694800" y="3447360"/>
            <a:ext cx="100080" cy="895680"/>
          </a:xfrm>
          <a:prstGeom prst="roundRect">
            <a:avLst>
              <a:gd name="adj" fmla="val 50000"/>
            </a:avLst>
          </a:prstGeom>
          <a:solidFill>
            <a:srgbClr val="3FC7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7" name="Oval 42"/>
          <p:cNvSpPr/>
          <p:nvPr/>
        </p:nvSpPr>
        <p:spPr>
          <a:xfrm>
            <a:off x="868680" y="3483720"/>
            <a:ext cx="822600" cy="822600"/>
          </a:xfrm>
          <a:prstGeom prst="ellipse">
            <a:avLst/>
          </a:prstGeom>
          <a:solidFill>
            <a:srgbClr val="3FC79A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08" name="Picture 43" descr="infinity.png"/>
          <p:cNvPicPr/>
          <p:nvPr/>
        </p:nvPicPr>
        <p:blipFill>
          <a:blip r:embed="rId3"/>
          <a:stretch/>
        </p:blipFill>
        <p:spPr>
          <a:xfrm>
            <a:off x="1049760" y="366480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9" name="TextBox 44"/>
          <p:cNvSpPr/>
          <p:nvPr/>
        </p:nvSpPr>
        <p:spPr>
          <a:xfrm>
            <a:off x="1774080" y="3557160"/>
            <a:ext cx="26240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zh-CN" sz="160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不知疲倦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Box 45"/>
          <p:cNvSpPr/>
          <p:nvPr/>
        </p:nvSpPr>
        <p:spPr>
          <a:xfrm>
            <a:off x="1774080" y="3940920"/>
            <a:ext cx="257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300"/>
              </a:spcAft>
            </a:pPr>
            <a:r>
              <a:rPr lang="zh-CN" sz="1150" b="0" u="none" strike="noStrike">
                <a:solidFill>
                  <a:srgbClr val="6B6685"/>
                </a:solidFill>
                <a:effectLst/>
                <a:uFillTx/>
                <a:latin typeface="Arial Rounded MT Bold"/>
                <a:ea typeface="Hiragino Sans GB"/>
              </a:rPr>
              <a:t>同一件事重复一万遍也不喊累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Rounded Rectangle 46"/>
          <p:cNvSpPr/>
          <p:nvPr/>
        </p:nvSpPr>
        <p:spPr>
          <a:xfrm>
            <a:off x="4773240" y="3300840"/>
            <a:ext cx="3949920" cy="11883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2" name="Rounded Rectangle 47"/>
          <p:cNvSpPr/>
          <p:nvPr/>
        </p:nvSpPr>
        <p:spPr>
          <a:xfrm>
            <a:off x="4901040" y="3447360"/>
            <a:ext cx="100080" cy="895680"/>
          </a:xfrm>
          <a:prstGeom prst="roundRect">
            <a:avLst>
              <a:gd name="adj" fmla="val 50000"/>
            </a:avLst>
          </a:prstGeom>
          <a:solidFill>
            <a:srgbClr val="3FC7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3" name="Oval 48"/>
          <p:cNvSpPr/>
          <p:nvPr/>
        </p:nvSpPr>
        <p:spPr>
          <a:xfrm>
            <a:off x="5074920" y="3483720"/>
            <a:ext cx="822600" cy="822600"/>
          </a:xfrm>
          <a:prstGeom prst="ellipse">
            <a:avLst/>
          </a:prstGeom>
          <a:solidFill>
            <a:srgbClr val="3FC79A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14" name="Picture 49" descr="magnifying-glass.png"/>
          <p:cNvPicPr/>
          <p:nvPr/>
        </p:nvPicPr>
        <p:blipFill>
          <a:blip r:embed="rId4"/>
          <a:stretch/>
        </p:blipFill>
        <p:spPr>
          <a:xfrm>
            <a:off x="5256000" y="3664800"/>
            <a:ext cx="46044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5" name="TextBox 50"/>
          <p:cNvSpPr/>
          <p:nvPr/>
        </p:nvSpPr>
        <p:spPr>
          <a:xfrm>
            <a:off x="5980320" y="3557160"/>
            <a:ext cx="26240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zh-CN" sz="160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找规律高手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51"/>
          <p:cNvSpPr/>
          <p:nvPr/>
        </p:nvSpPr>
        <p:spPr>
          <a:xfrm>
            <a:off x="5980320" y="3940920"/>
            <a:ext cx="257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300"/>
              </a:spcAft>
            </a:pPr>
            <a:r>
              <a:rPr lang="zh-CN" sz="1150" b="0" u="none" strike="noStrike">
                <a:solidFill>
                  <a:srgbClr val="6B6685"/>
                </a:solidFill>
                <a:effectLst/>
                <a:uFillTx/>
                <a:latin typeface="Arial Rounded MT Bold"/>
                <a:ea typeface="Hiragino Sans GB"/>
              </a:rPr>
              <a:t>一大堆里也能挑出相似的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Rectangl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6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" name="4-Point Star 2"/>
          <p:cNvSpPr/>
          <p:nvPr/>
        </p:nvSpPr>
        <p:spPr>
          <a:xfrm>
            <a:off x="8540640" y="384120"/>
            <a:ext cx="182520" cy="182520"/>
          </a:xfrm>
          <a:prstGeom prst="star4">
            <a:avLst>
              <a:gd name="adj" fmla="val 12500"/>
            </a:avLst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9" name="Oval 3"/>
          <p:cNvSpPr/>
          <p:nvPr/>
        </p:nvSpPr>
        <p:spPr>
          <a:xfrm>
            <a:off x="8202240" y="356760"/>
            <a:ext cx="91080" cy="9108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440" rIns="9000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0" name="Oval 4"/>
          <p:cNvSpPr/>
          <p:nvPr/>
        </p:nvSpPr>
        <p:spPr>
          <a:xfrm>
            <a:off x="8810280" y="818280"/>
            <a:ext cx="82080" cy="82080"/>
          </a:xfrm>
          <a:prstGeom prst="ellipse">
            <a:avLst/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3320" rIns="90000" bIns="13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1" name="Rounded Rectangle 5"/>
          <p:cNvSpPr/>
          <p:nvPr/>
        </p:nvSpPr>
        <p:spPr>
          <a:xfrm>
            <a:off x="567000" y="457200"/>
            <a:ext cx="1828440" cy="365400"/>
          </a:xfrm>
          <a:prstGeom prst="roundRect">
            <a:avLst>
              <a:gd name="adj" fmla="val 50000"/>
            </a:avLst>
          </a:prstGeom>
          <a:solidFill>
            <a:srgbClr val="FFE9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2" name="Oval 6"/>
          <p:cNvSpPr/>
          <p:nvPr/>
        </p:nvSpPr>
        <p:spPr>
          <a:xfrm>
            <a:off x="731520" y="567000"/>
            <a:ext cx="145800" cy="145800"/>
          </a:xfrm>
          <a:prstGeom prst="ellipse">
            <a:avLst/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3" name="TextBox 7"/>
          <p:cNvSpPr/>
          <p:nvPr/>
        </p:nvSpPr>
        <p:spPr>
          <a:xfrm>
            <a:off x="1005840" y="45720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12000"/>
              </a:lnSpc>
            </a:pPr>
            <a:r>
              <a:rPr lang="en-US" sz="1250" b="1" u="none" strike="noStrike">
                <a:solidFill>
                  <a:srgbClr val="FF6B6B"/>
                </a:solidFill>
                <a:effectLst/>
                <a:uFillTx/>
                <a:latin typeface="Arial Rounded MT Bold"/>
                <a:ea typeface="Hiragino Sans GB"/>
              </a:rPr>
              <a:t>③ 它不太会的事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8"/>
          <p:cNvSpPr/>
          <p:nvPr/>
        </p:nvSpPr>
        <p:spPr>
          <a:xfrm>
            <a:off x="548640" y="914400"/>
            <a:ext cx="832068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zh-CN" sz="27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它会犯错，还会一本正经地说错话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4-Point Star 9"/>
          <p:cNvSpPr/>
          <p:nvPr/>
        </p:nvSpPr>
        <p:spPr>
          <a:xfrm>
            <a:off x="640080" y="1417320"/>
            <a:ext cx="145800" cy="145800"/>
          </a:xfrm>
          <a:prstGeom prst="star4">
            <a:avLst>
              <a:gd name="adj" fmla="val 12500"/>
            </a:avLst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6" name="Rounded Rectangle 10"/>
          <p:cNvSpPr/>
          <p:nvPr/>
        </p:nvSpPr>
        <p:spPr>
          <a:xfrm>
            <a:off x="914400" y="1463040"/>
            <a:ext cx="822600" cy="10008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7" name="Rounded Rectangle 11"/>
          <p:cNvSpPr/>
          <p:nvPr/>
        </p:nvSpPr>
        <p:spPr>
          <a:xfrm>
            <a:off x="567000" y="4050720"/>
            <a:ext cx="8046360" cy="497880"/>
          </a:xfrm>
          <a:prstGeom prst="roundRect">
            <a:avLst>
              <a:gd name="adj" fmla="val 8000"/>
            </a:avLst>
          </a:prstGeom>
          <a:solidFill>
            <a:srgbClr val="FFE9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8" name="Rectangle 12"/>
          <p:cNvSpPr/>
          <p:nvPr/>
        </p:nvSpPr>
        <p:spPr>
          <a:xfrm>
            <a:off x="567000" y="4090680"/>
            <a:ext cx="63720" cy="418320"/>
          </a:xfrm>
          <a:prstGeom prst="rect">
            <a:avLst/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9" name="TextBox 13"/>
          <p:cNvSpPr/>
          <p:nvPr/>
        </p:nvSpPr>
        <p:spPr>
          <a:xfrm>
            <a:off x="786240" y="4050720"/>
            <a:ext cx="764388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08000"/>
              </a:lnSpc>
            </a:pPr>
            <a:r>
              <a:rPr lang="zh-CN" sz="1100" b="1" u="none" strike="noStrike">
                <a:solidFill>
                  <a:srgbClr val="FF6B6B"/>
                </a:solidFill>
                <a:effectLst/>
                <a:uFillTx/>
                <a:latin typeface="Arial Rounded MT Bold"/>
                <a:ea typeface="Hiragino Sans GB"/>
              </a:rPr>
              <a:t>记住  </a:t>
            </a:r>
            <a:r>
              <a:rPr lang="zh-CN" sz="1250" b="0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它说的话，要自己动脑想一想 —— 拿不准，就问问大人。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Rounded Rectangle 14"/>
          <p:cNvSpPr/>
          <p:nvPr/>
        </p:nvSpPr>
        <p:spPr>
          <a:xfrm>
            <a:off x="906480" y="1897920"/>
            <a:ext cx="51840" cy="26028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1" name="Oval 15"/>
          <p:cNvSpPr/>
          <p:nvPr/>
        </p:nvSpPr>
        <p:spPr>
          <a:xfrm>
            <a:off x="854640" y="1802160"/>
            <a:ext cx="155880" cy="15588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2" name="4-Point Star 16"/>
          <p:cNvSpPr/>
          <p:nvPr/>
        </p:nvSpPr>
        <p:spPr>
          <a:xfrm>
            <a:off x="889200" y="1837080"/>
            <a:ext cx="86400" cy="86400"/>
          </a:xfrm>
          <a:prstGeom prst="star4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880" rIns="90000" bIns="-298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3" name="Rounded Rectangle 17"/>
          <p:cNvSpPr/>
          <p:nvPr/>
        </p:nvSpPr>
        <p:spPr>
          <a:xfrm>
            <a:off x="437400" y="2419200"/>
            <a:ext cx="77760" cy="19080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4" name="Rounded Rectangle 18"/>
          <p:cNvSpPr/>
          <p:nvPr/>
        </p:nvSpPr>
        <p:spPr>
          <a:xfrm>
            <a:off x="1349640" y="2419200"/>
            <a:ext cx="77760" cy="19080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5" name="Rounded Rectangle 19"/>
          <p:cNvSpPr/>
          <p:nvPr/>
        </p:nvSpPr>
        <p:spPr>
          <a:xfrm>
            <a:off x="498240" y="2140920"/>
            <a:ext cx="868320" cy="746640"/>
          </a:xfrm>
          <a:prstGeom prst="roundRect">
            <a:avLst>
              <a:gd name="adj" fmla="val 42000"/>
            </a:avLst>
          </a:prstGeom>
          <a:solidFill>
            <a:srgbClr val="3D9BE9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6" name="Rounded Rectangle 20"/>
          <p:cNvSpPr/>
          <p:nvPr/>
        </p:nvSpPr>
        <p:spPr>
          <a:xfrm>
            <a:off x="602640" y="2300400"/>
            <a:ext cx="659880" cy="462960"/>
          </a:xfrm>
          <a:prstGeom prst="roundRect">
            <a:avLst>
              <a:gd name="adj" fmla="val 34000"/>
            </a:avLst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7" name="Oval 21"/>
          <p:cNvSpPr/>
          <p:nvPr/>
        </p:nvSpPr>
        <p:spPr>
          <a:xfrm>
            <a:off x="728640" y="2436120"/>
            <a:ext cx="117000" cy="117000"/>
          </a:xfrm>
          <a:prstGeom prst="ellipse">
            <a:avLst/>
          </a:prstGeom>
          <a:solidFill>
            <a:srgbClr val="EA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8160" rIns="90000" bIns="381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8" name="Oval 22"/>
          <p:cNvSpPr/>
          <p:nvPr/>
        </p:nvSpPr>
        <p:spPr>
          <a:xfrm>
            <a:off x="761760" y="2476080"/>
            <a:ext cx="51120" cy="51120"/>
          </a:xfrm>
          <a:prstGeom prst="ellipse">
            <a:avLst/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9" name="Oval 23"/>
          <p:cNvSpPr/>
          <p:nvPr/>
        </p:nvSpPr>
        <p:spPr>
          <a:xfrm>
            <a:off x="755640" y="2463120"/>
            <a:ext cx="25560" cy="2556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0" name="Oval 24"/>
          <p:cNvSpPr/>
          <p:nvPr/>
        </p:nvSpPr>
        <p:spPr>
          <a:xfrm>
            <a:off x="1019160" y="2436120"/>
            <a:ext cx="117000" cy="117000"/>
          </a:xfrm>
          <a:prstGeom prst="ellipse">
            <a:avLst/>
          </a:prstGeom>
          <a:solidFill>
            <a:srgbClr val="EA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8160" rIns="90000" bIns="381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1" name="Oval 25"/>
          <p:cNvSpPr/>
          <p:nvPr/>
        </p:nvSpPr>
        <p:spPr>
          <a:xfrm>
            <a:off x="1052280" y="2476080"/>
            <a:ext cx="51120" cy="51120"/>
          </a:xfrm>
          <a:prstGeom prst="ellipse">
            <a:avLst/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2" name="Oval 26"/>
          <p:cNvSpPr/>
          <p:nvPr/>
        </p:nvSpPr>
        <p:spPr>
          <a:xfrm>
            <a:off x="1046160" y="2463120"/>
            <a:ext cx="25560" cy="2556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3" name="Oval 27"/>
          <p:cNvSpPr/>
          <p:nvPr/>
        </p:nvSpPr>
        <p:spPr>
          <a:xfrm>
            <a:off x="716040" y="2558520"/>
            <a:ext cx="95040" cy="95040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2680" rIns="90000" bIns="226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4" name="Oval 28"/>
          <p:cNvSpPr/>
          <p:nvPr/>
        </p:nvSpPr>
        <p:spPr>
          <a:xfrm>
            <a:off x="1053720" y="2558520"/>
            <a:ext cx="95040" cy="95040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2680" rIns="90000" bIns="226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5" name="Arc 29"/>
          <p:cNvSpPr/>
          <p:nvPr/>
        </p:nvSpPr>
        <p:spPr>
          <a:xfrm>
            <a:off x="802440" y="2497320"/>
            <a:ext cx="260280" cy="260280"/>
          </a:xfrm>
          <a:prstGeom prst="arc">
            <a:avLst>
              <a:gd name="adj1" fmla="val 2500000"/>
              <a:gd name="adj2" fmla="val 15500000"/>
            </a:avLst>
          </a:prstGeom>
          <a:noFill/>
          <a:ln cap="rnd" w="38608">
            <a:solidFill>
              <a:srgbClr val="EAF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6" name="Rounded Rectangle 30"/>
          <p:cNvSpPr/>
          <p:nvPr/>
        </p:nvSpPr>
        <p:spPr>
          <a:xfrm>
            <a:off x="1508760" y="2020680"/>
            <a:ext cx="2932560" cy="86832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cap="rnd" w="27940">
            <a:solidFill>
              <a:srgbClr val="FF6B6B"/>
            </a:solidFill>
            <a:round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7" name="Oval 31"/>
          <p:cNvSpPr/>
          <p:nvPr/>
        </p:nvSpPr>
        <p:spPr>
          <a:xfrm>
            <a:off x="1398960" y="2559240"/>
            <a:ext cx="145800" cy="145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8" name="Oval 32"/>
          <p:cNvSpPr/>
          <p:nvPr/>
        </p:nvSpPr>
        <p:spPr>
          <a:xfrm>
            <a:off x="1490400" y="2650680"/>
            <a:ext cx="91080" cy="91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440" rIns="9000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9" name="TextBox 33"/>
          <p:cNvSpPr/>
          <p:nvPr/>
        </p:nvSpPr>
        <p:spPr>
          <a:xfrm>
            <a:off x="1710000" y="2112120"/>
            <a:ext cx="2530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en-US" sz="13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“恐龙现在还住在南极哦！”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Oval 34"/>
          <p:cNvSpPr/>
          <p:nvPr/>
        </p:nvSpPr>
        <p:spPr>
          <a:xfrm>
            <a:off x="1545480" y="2615040"/>
            <a:ext cx="383760" cy="383760"/>
          </a:xfrm>
          <a:prstGeom prst="ellipse">
            <a:avLst/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51" name="Picture 35" descr="x.png"/>
          <p:cNvPicPr/>
          <p:nvPr/>
        </p:nvPicPr>
        <p:blipFill>
          <a:blip r:embed="rId1"/>
          <a:stretch/>
        </p:blipFill>
        <p:spPr>
          <a:xfrm>
            <a:off x="1629720" y="2699640"/>
            <a:ext cx="214560" cy="21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2" name="TextBox 36"/>
          <p:cNvSpPr/>
          <p:nvPr/>
        </p:nvSpPr>
        <p:spPr>
          <a:xfrm>
            <a:off x="502920" y="3337560"/>
            <a:ext cx="3938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25000"/>
              </a:lnSpc>
              <a:spcAft>
                <a:spcPts val="300"/>
              </a:spcAft>
            </a:pPr>
            <a:r>
              <a:rPr lang="zh-CN" sz="1150" b="0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它说得很有把握，其实是编的 ——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300"/>
              </a:spcAft>
            </a:pPr>
            <a:r>
              <a:rPr lang="zh-CN" sz="1150" b="0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大人管这叫“一本正经地胡说”。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Rounded Rectangle 37"/>
          <p:cNvSpPr/>
          <p:nvPr/>
        </p:nvSpPr>
        <p:spPr>
          <a:xfrm>
            <a:off x="4853160" y="1874520"/>
            <a:ext cx="3924720" cy="566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4" name="Oval 38"/>
          <p:cNvSpPr/>
          <p:nvPr/>
        </p:nvSpPr>
        <p:spPr>
          <a:xfrm>
            <a:off x="5045040" y="1892880"/>
            <a:ext cx="529920" cy="529920"/>
          </a:xfrm>
          <a:prstGeom prst="ellipse">
            <a:avLst/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55" name="Picture 39" descr="x-circle.png"/>
          <p:cNvPicPr/>
          <p:nvPr/>
        </p:nvPicPr>
        <p:blipFill>
          <a:blip r:embed="rId2"/>
          <a:stretch/>
        </p:blipFill>
        <p:spPr>
          <a:xfrm>
            <a:off x="5161680" y="2009520"/>
            <a:ext cx="296640" cy="29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6" name="TextBox 40"/>
          <p:cNvSpPr/>
          <p:nvPr/>
        </p:nvSpPr>
        <p:spPr>
          <a:xfrm>
            <a:off x="5694120" y="1865520"/>
            <a:ext cx="299232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zh-CN" sz="13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其实没“真的懂”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Box 41"/>
          <p:cNvSpPr/>
          <p:nvPr/>
        </p:nvSpPr>
        <p:spPr>
          <a:xfrm>
            <a:off x="5694120" y="2185560"/>
            <a:ext cx="29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300"/>
              </a:spcAft>
            </a:pPr>
            <a:r>
              <a:rPr lang="zh-CN" sz="1050" b="0" u="none" strike="noStrike">
                <a:solidFill>
                  <a:srgbClr val="6B6685"/>
                </a:solidFill>
                <a:effectLst/>
                <a:uFillTx/>
                <a:latin typeface="Arial Rounded MT Bold"/>
                <a:ea typeface="Hiragino Sans GB"/>
              </a:rPr>
              <a:t>只是在找相似，没真的明白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Rounded Rectangle 42"/>
          <p:cNvSpPr/>
          <p:nvPr/>
        </p:nvSpPr>
        <p:spPr>
          <a:xfrm>
            <a:off x="4853160" y="2587680"/>
            <a:ext cx="3924720" cy="566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9" name="Oval 43"/>
          <p:cNvSpPr/>
          <p:nvPr/>
        </p:nvSpPr>
        <p:spPr>
          <a:xfrm>
            <a:off x="5045040" y="2606040"/>
            <a:ext cx="529920" cy="529920"/>
          </a:xfrm>
          <a:prstGeom prst="ellipse">
            <a:avLst/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60" name="Picture 44" descr="x-circle.png"/>
          <p:cNvPicPr/>
          <p:nvPr/>
        </p:nvPicPr>
        <p:blipFill>
          <a:blip r:embed="rId3"/>
          <a:stretch/>
        </p:blipFill>
        <p:spPr>
          <a:xfrm>
            <a:off x="5161680" y="2722680"/>
            <a:ext cx="296640" cy="29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1" name="TextBox 45"/>
          <p:cNvSpPr/>
          <p:nvPr/>
        </p:nvSpPr>
        <p:spPr>
          <a:xfrm>
            <a:off x="5694120" y="2578680"/>
            <a:ext cx="299232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zh-CN" sz="13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遇到没见过的会想当然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Box 46"/>
          <p:cNvSpPr/>
          <p:nvPr/>
        </p:nvSpPr>
        <p:spPr>
          <a:xfrm>
            <a:off x="5694120" y="2898720"/>
            <a:ext cx="29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300"/>
              </a:spcAft>
            </a:pPr>
            <a:r>
              <a:rPr lang="zh-CN" sz="1050" b="0" u="none" strike="noStrike">
                <a:solidFill>
                  <a:srgbClr val="6B6685"/>
                </a:solidFill>
                <a:effectLst/>
                <a:uFillTx/>
                <a:latin typeface="Arial Rounded MT Bold"/>
                <a:ea typeface="Hiragino Sans GB"/>
              </a:rPr>
              <a:t>碰到新鲜事，容易猜错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Rounded Rectangle 47"/>
          <p:cNvSpPr/>
          <p:nvPr/>
        </p:nvSpPr>
        <p:spPr>
          <a:xfrm>
            <a:off x="4853160" y="3300840"/>
            <a:ext cx="3924720" cy="566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4" name="Oval 48"/>
          <p:cNvSpPr/>
          <p:nvPr/>
        </p:nvSpPr>
        <p:spPr>
          <a:xfrm>
            <a:off x="5045040" y="3319200"/>
            <a:ext cx="529920" cy="529920"/>
          </a:xfrm>
          <a:prstGeom prst="ellipse">
            <a:avLst/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65" name="Picture 49" descr="x-circle.png"/>
          <p:cNvPicPr/>
          <p:nvPr/>
        </p:nvPicPr>
        <p:blipFill>
          <a:blip r:embed="rId4"/>
          <a:stretch/>
        </p:blipFill>
        <p:spPr>
          <a:xfrm>
            <a:off x="5161680" y="3435840"/>
            <a:ext cx="296640" cy="29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6" name="TextBox 50"/>
          <p:cNvSpPr/>
          <p:nvPr/>
        </p:nvSpPr>
        <p:spPr>
          <a:xfrm>
            <a:off x="5694120" y="3291840"/>
            <a:ext cx="299232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zh-CN" sz="13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没有常识和真感情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Box 51"/>
          <p:cNvSpPr/>
          <p:nvPr/>
        </p:nvSpPr>
        <p:spPr>
          <a:xfrm>
            <a:off x="5694120" y="3611880"/>
            <a:ext cx="29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300"/>
              </a:spcAft>
            </a:pPr>
            <a:r>
              <a:rPr lang="zh-CN" sz="1050" b="0" u="none" strike="noStrike">
                <a:solidFill>
                  <a:srgbClr val="6B6685"/>
                </a:solidFill>
                <a:effectLst/>
                <a:uFillTx/>
                <a:latin typeface="Arial Rounded MT Bold"/>
                <a:ea typeface="Hiragino Sans GB"/>
              </a:rPr>
              <a:t>不懂你为什么不开心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6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9" name="4-Point Star 2"/>
          <p:cNvSpPr/>
          <p:nvPr/>
        </p:nvSpPr>
        <p:spPr>
          <a:xfrm>
            <a:off x="8540640" y="384120"/>
            <a:ext cx="182520" cy="182520"/>
          </a:xfrm>
          <a:prstGeom prst="star4">
            <a:avLst>
              <a:gd name="adj" fmla="val 12500"/>
            </a:avLst>
          </a:prstGeom>
          <a:solidFill>
            <a:srgbClr val="9B7E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0" name="Oval 3"/>
          <p:cNvSpPr/>
          <p:nvPr/>
        </p:nvSpPr>
        <p:spPr>
          <a:xfrm>
            <a:off x="8202240" y="356760"/>
            <a:ext cx="91080" cy="9108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440" rIns="9000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1" name="Oval 4"/>
          <p:cNvSpPr/>
          <p:nvPr/>
        </p:nvSpPr>
        <p:spPr>
          <a:xfrm>
            <a:off x="8810280" y="818280"/>
            <a:ext cx="82080" cy="82080"/>
          </a:xfrm>
          <a:prstGeom prst="ellipse">
            <a:avLst/>
          </a:prstGeom>
          <a:solidFill>
            <a:srgbClr val="9B7E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3320" rIns="90000" bIns="13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2" name="Rounded Rectangle 5"/>
          <p:cNvSpPr/>
          <p:nvPr/>
        </p:nvSpPr>
        <p:spPr>
          <a:xfrm>
            <a:off x="567000" y="457200"/>
            <a:ext cx="1682280" cy="365400"/>
          </a:xfrm>
          <a:prstGeom prst="roundRect">
            <a:avLst>
              <a:gd name="adj" fmla="val 50000"/>
            </a:avLst>
          </a:prstGeom>
          <a:solidFill>
            <a:srgbClr val="EFEA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3" name="Oval 6"/>
          <p:cNvSpPr/>
          <p:nvPr/>
        </p:nvSpPr>
        <p:spPr>
          <a:xfrm>
            <a:off x="731520" y="567000"/>
            <a:ext cx="145800" cy="145800"/>
          </a:xfrm>
          <a:prstGeom prst="ellipse">
            <a:avLst/>
          </a:prstGeom>
          <a:solidFill>
            <a:srgbClr val="9B7E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4" name="TextBox 7"/>
          <p:cNvSpPr/>
          <p:nvPr/>
        </p:nvSpPr>
        <p:spPr>
          <a:xfrm>
            <a:off x="1005840" y="457200"/>
            <a:ext cx="1682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12000"/>
              </a:lnSpc>
            </a:pPr>
            <a:r>
              <a:rPr lang="en-US" sz="1250" b="1" u="none" strike="noStrike">
                <a:solidFill>
                  <a:srgbClr val="9B7EDE"/>
                </a:solidFill>
                <a:effectLst/>
                <a:uFillTx/>
                <a:latin typeface="Arial Rounded MT Bold"/>
                <a:ea typeface="Hiragino Sans GB"/>
              </a:rPr>
              <a:t>④ 相处小妙招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Box 8"/>
          <p:cNvSpPr/>
          <p:nvPr/>
        </p:nvSpPr>
        <p:spPr>
          <a:xfrm>
            <a:off x="548640" y="914400"/>
            <a:ext cx="832068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zh-CN" sz="27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说清楚、多检查、你做主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4-Point Star 9"/>
          <p:cNvSpPr/>
          <p:nvPr/>
        </p:nvSpPr>
        <p:spPr>
          <a:xfrm>
            <a:off x="640080" y="1417320"/>
            <a:ext cx="145800" cy="145800"/>
          </a:xfrm>
          <a:prstGeom prst="star4">
            <a:avLst>
              <a:gd name="adj" fmla="val 12500"/>
            </a:avLst>
          </a:prstGeom>
          <a:solidFill>
            <a:srgbClr val="9B7E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7" name="Rounded Rectangle 10"/>
          <p:cNvSpPr/>
          <p:nvPr/>
        </p:nvSpPr>
        <p:spPr>
          <a:xfrm>
            <a:off x="914400" y="1463040"/>
            <a:ext cx="822600" cy="100080"/>
          </a:xfrm>
          <a:prstGeom prst="roundRect">
            <a:avLst>
              <a:gd name="adj" fmla="val 50000"/>
            </a:avLst>
          </a:prstGeom>
          <a:solidFill>
            <a:srgbClr val="9B7E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8" name="Rounded Rectangle 11"/>
          <p:cNvSpPr/>
          <p:nvPr/>
        </p:nvSpPr>
        <p:spPr>
          <a:xfrm>
            <a:off x="8296200" y="513000"/>
            <a:ext cx="48960" cy="24660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9" name="Oval 12"/>
          <p:cNvSpPr/>
          <p:nvPr/>
        </p:nvSpPr>
        <p:spPr>
          <a:xfrm>
            <a:off x="8246880" y="422280"/>
            <a:ext cx="147600" cy="14760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0" name="4-Point Star 13"/>
          <p:cNvSpPr/>
          <p:nvPr/>
        </p:nvSpPr>
        <p:spPr>
          <a:xfrm>
            <a:off x="8280000" y="455400"/>
            <a:ext cx="82080" cy="82080"/>
          </a:xfrm>
          <a:prstGeom prst="star4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0600" rIns="90000" bIns="-306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1" name="Rounded Rectangle 14"/>
          <p:cNvSpPr/>
          <p:nvPr/>
        </p:nvSpPr>
        <p:spPr>
          <a:xfrm>
            <a:off x="7851960" y="1006920"/>
            <a:ext cx="73800" cy="18072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2" name="Rounded Rectangle 15"/>
          <p:cNvSpPr/>
          <p:nvPr/>
        </p:nvSpPr>
        <p:spPr>
          <a:xfrm>
            <a:off x="8715960" y="1006920"/>
            <a:ext cx="73800" cy="18072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3" name="Rounded Rectangle 16"/>
          <p:cNvSpPr/>
          <p:nvPr/>
        </p:nvSpPr>
        <p:spPr>
          <a:xfrm>
            <a:off x="7909560" y="743400"/>
            <a:ext cx="822600" cy="707400"/>
          </a:xfrm>
          <a:prstGeom prst="roundRect">
            <a:avLst>
              <a:gd name="adj" fmla="val 42000"/>
            </a:avLst>
          </a:prstGeom>
          <a:solidFill>
            <a:srgbClr val="3D9BE9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4" name="Rounded Rectangle 17"/>
          <p:cNvSpPr/>
          <p:nvPr/>
        </p:nvSpPr>
        <p:spPr>
          <a:xfrm>
            <a:off x="8008200" y="894240"/>
            <a:ext cx="624960" cy="438480"/>
          </a:xfrm>
          <a:prstGeom prst="roundRect">
            <a:avLst>
              <a:gd name="adj" fmla="val 34000"/>
            </a:avLst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5" name="Oval 18"/>
          <p:cNvSpPr/>
          <p:nvPr/>
        </p:nvSpPr>
        <p:spPr>
          <a:xfrm>
            <a:off x="8127720" y="1023120"/>
            <a:ext cx="110880" cy="110880"/>
          </a:xfrm>
          <a:prstGeom prst="ellipse">
            <a:avLst/>
          </a:prstGeom>
          <a:solidFill>
            <a:srgbClr val="EA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6" name="Oval 19"/>
          <p:cNvSpPr/>
          <p:nvPr/>
        </p:nvSpPr>
        <p:spPr>
          <a:xfrm>
            <a:off x="8159040" y="1060920"/>
            <a:ext cx="48600" cy="48600"/>
          </a:xfrm>
          <a:prstGeom prst="ellipse">
            <a:avLst/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0080" rIns="90000" bIns="-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7" name="Oval 20"/>
          <p:cNvSpPr/>
          <p:nvPr/>
        </p:nvSpPr>
        <p:spPr>
          <a:xfrm>
            <a:off x="8153280" y="1048680"/>
            <a:ext cx="24120" cy="2412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7360" rIns="90000" bIns="-273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8" name="Oval 21"/>
          <p:cNvSpPr/>
          <p:nvPr/>
        </p:nvSpPr>
        <p:spPr>
          <a:xfrm>
            <a:off x="8403120" y="1023120"/>
            <a:ext cx="110880" cy="110880"/>
          </a:xfrm>
          <a:prstGeom prst="ellipse">
            <a:avLst/>
          </a:prstGeom>
          <a:solidFill>
            <a:srgbClr val="EA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3480" rIns="90000" bIns="33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9" name="Oval 22"/>
          <p:cNvSpPr/>
          <p:nvPr/>
        </p:nvSpPr>
        <p:spPr>
          <a:xfrm>
            <a:off x="8434080" y="1060920"/>
            <a:ext cx="48600" cy="48600"/>
          </a:xfrm>
          <a:prstGeom prst="ellipse">
            <a:avLst/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0080" rIns="90000" bIns="-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0" name="Oval 23"/>
          <p:cNvSpPr/>
          <p:nvPr/>
        </p:nvSpPr>
        <p:spPr>
          <a:xfrm>
            <a:off x="8428680" y="1048680"/>
            <a:ext cx="24120" cy="2412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7360" rIns="90000" bIns="-273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1" name="Oval 24"/>
          <p:cNvSpPr/>
          <p:nvPr/>
        </p:nvSpPr>
        <p:spPr>
          <a:xfrm>
            <a:off x="8115840" y="1139040"/>
            <a:ext cx="90000" cy="90000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2" name="Oval 25"/>
          <p:cNvSpPr/>
          <p:nvPr/>
        </p:nvSpPr>
        <p:spPr>
          <a:xfrm>
            <a:off x="8435520" y="1139040"/>
            <a:ext cx="90000" cy="90000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3" name="Arc 26"/>
          <p:cNvSpPr/>
          <p:nvPr/>
        </p:nvSpPr>
        <p:spPr>
          <a:xfrm>
            <a:off x="8197560" y="1080720"/>
            <a:ext cx="246600" cy="246600"/>
          </a:xfrm>
          <a:prstGeom prst="arc">
            <a:avLst>
              <a:gd name="adj1" fmla="val 2500000"/>
              <a:gd name="adj2" fmla="val 15500000"/>
            </a:avLst>
          </a:prstGeom>
          <a:noFill/>
          <a:ln cap="rnd" w="36576">
            <a:solidFill>
              <a:srgbClr val="EAF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4" name="Rounded Rectangle 27"/>
          <p:cNvSpPr/>
          <p:nvPr/>
        </p:nvSpPr>
        <p:spPr>
          <a:xfrm>
            <a:off x="603360" y="1883520"/>
            <a:ext cx="7360560" cy="603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5" name="Oval 28"/>
          <p:cNvSpPr/>
          <p:nvPr/>
        </p:nvSpPr>
        <p:spPr>
          <a:xfrm>
            <a:off x="758880" y="1956960"/>
            <a:ext cx="456840" cy="456840"/>
          </a:xfrm>
          <a:prstGeom prst="ellipse">
            <a:avLst/>
          </a:prstGeom>
          <a:solidFill>
            <a:srgbClr val="9B7E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6" name="TextBox 29"/>
          <p:cNvSpPr/>
          <p:nvPr/>
        </p:nvSpPr>
        <p:spPr>
          <a:xfrm>
            <a:off x="758880" y="1883520"/>
            <a:ext cx="4568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 Rounded MT Bold"/>
                <a:ea typeface="Hiragino Sans GB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Oval 30"/>
          <p:cNvSpPr/>
          <p:nvPr/>
        </p:nvSpPr>
        <p:spPr>
          <a:xfrm>
            <a:off x="1380600" y="1956960"/>
            <a:ext cx="456840" cy="456840"/>
          </a:xfrm>
          <a:prstGeom prst="ellipse">
            <a:avLst/>
          </a:prstGeom>
          <a:solidFill>
            <a:srgbClr val="9B7E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98" name="Picture 31" descr="chat-text.png"/>
          <p:cNvPicPr/>
          <p:nvPr/>
        </p:nvPicPr>
        <p:blipFill>
          <a:blip r:embed="rId1"/>
          <a:stretch/>
        </p:blipFill>
        <p:spPr>
          <a:xfrm>
            <a:off x="1481400" y="205740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9" name="TextBox 32"/>
          <p:cNvSpPr/>
          <p:nvPr/>
        </p:nvSpPr>
        <p:spPr>
          <a:xfrm>
            <a:off x="2020680" y="1883520"/>
            <a:ext cx="24685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zh-CN" sz="15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把问题说清楚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Rounded Rectangle 33"/>
          <p:cNvSpPr/>
          <p:nvPr/>
        </p:nvSpPr>
        <p:spPr>
          <a:xfrm>
            <a:off x="3849480" y="2030040"/>
            <a:ext cx="19800" cy="310680"/>
          </a:xfrm>
          <a:prstGeom prst="roundRect">
            <a:avLst>
              <a:gd name="adj" fmla="val 50000"/>
            </a:avLst>
          </a:prstGeom>
          <a:solidFill>
            <a:srgbClr val="E3DE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1" name="TextBox 34"/>
          <p:cNvSpPr/>
          <p:nvPr/>
        </p:nvSpPr>
        <p:spPr>
          <a:xfrm>
            <a:off x="4060080" y="1883520"/>
            <a:ext cx="37486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12000"/>
              </a:lnSpc>
            </a:pPr>
            <a:r>
              <a:rPr lang="zh-CN" sz="1250" b="0" u="none" strike="noStrike">
                <a:solidFill>
                  <a:srgbClr val="5A5478"/>
                </a:solidFill>
                <a:effectLst/>
                <a:uFillTx/>
                <a:latin typeface="Arial Rounded MT Bold"/>
                <a:ea typeface="Hiragino Sans GB"/>
              </a:rPr>
              <a:t>说得越明白，它帮得越好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Rounded Rectangle 35"/>
          <p:cNvSpPr/>
          <p:nvPr/>
        </p:nvSpPr>
        <p:spPr>
          <a:xfrm>
            <a:off x="603360" y="2651760"/>
            <a:ext cx="7360560" cy="603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3" name="Oval 36"/>
          <p:cNvSpPr/>
          <p:nvPr/>
        </p:nvSpPr>
        <p:spPr>
          <a:xfrm>
            <a:off x="758880" y="2724840"/>
            <a:ext cx="456840" cy="456840"/>
          </a:xfrm>
          <a:prstGeom prst="ellipse">
            <a:avLst/>
          </a:prstGeom>
          <a:solidFill>
            <a:srgbClr val="9B7E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4" name="TextBox 37"/>
          <p:cNvSpPr/>
          <p:nvPr/>
        </p:nvSpPr>
        <p:spPr>
          <a:xfrm>
            <a:off x="758880" y="2651760"/>
            <a:ext cx="4568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 Rounded MT Bold"/>
                <a:ea typeface="Hiragino Sans GB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Oval 38"/>
          <p:cNvSpPr/>
          <p:nvPr/>
        </p:nvSpPr>
        <p:spPr>
          <a:xfrm>
            <a:off x="1380600" y="2724840"/>
            <a:ext cx="456840" cy="456840"/>
          </a:xfrm>
          <a:prstGeom prst="ellipse">
            <a:avLst/>
          </a:prstGeom>
          <a:solidFill>
            <a:srgbClr val="9B7E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06" name="Picture 39" descr="magnifying-glass.png"/>
          <p:cNvPicPr/>
          <p:nvPr/>
        </p:nvPicPr>
        <p:blipFill>
          <a:blip r:embed="rId2"/>
          <a:stretch/>
        </p:blipFill>
        <p:spPr>
          <a:xfrm>
            <a:off x="1481400" y="282564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7" name="TextBox 40"/>
          <p:cNvSpPr/>
          <p:nvPr/>
        </p:nvSpPr>
        <p:spPr>
          <a:xfrm>
            <a:off x="2020680" y="2651760"/>
            <a:ext cx="24685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zh-CN" sz="15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答案自己检查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Rounded Rectangle 41"/>
          <p:cNvSpPr/>
          <p:nvPr/>
        </p:nvSpPr>
        <p:spPr>
          <a:xfrm>
            <a:off x="3849480" y="2797920"/>
            <a:ext cx="19800" cy="310680"/>
          </a:xfrm>
          <a:prstGeom prst="roundRect">
            <a:avLst>
              <a:gd name="adj" fmla="val 50000"/>
            </a:avLst>
          </a:prstGeom>
          <a:solidFill>
            <a:srgbClr val="E3DE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9" name="TextBox 42"/>
          <p:cNvSpPr/>
          <p:nvPr/>
        </p:nvSpPr>
        <p:spPr>
          <a:xfrm>
            <a:off x="4060080" y="2651760"/>
            <a:ext cx="37486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12000"/>
              </a:lnSpc>
            </a:pPr>
            <a:r>
              <a:rPr lang="zh-CN" sz="1250" b="0" u="none" strike="noStrike">
                <a:solidFill>
                  <a:srgbClr val="5A5478"/>
                </a:solidFill>
                <a:effectLst/>
                <a:uFillTx/>
                <a:latin typeface="Arial Rounded MT Bold"/>
                <a:ea typeface="Hiragino Sans GB"/>
              </a:rPr>
              <a:t>动动脑，别照单全收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Rounded Rectangle 43"/>
          <p:cNvSpPr/>
          <p:nvPr/>
        </p:nvSpPr>
        <p:spPr>
          <a:xfrm>
            <a:off x="603360" y="3420000"/>
            <a:ext cx="7360560" cy="603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1" name="Oval 44"/>
          <p:cNvSpPr/>
          <p:nvPr/>
        </p:nvSpPr>
        <p:spPr>
          <a:xfrm>
            <a:off x="758880" y="3493080"/>
            <a:ext cx="456840" cy="456840"/>
          </a:xfrm>
          <a:prstGeom prst="ellipse">
            <a:avLst/>
          </a:prstGeom>
          <a:solidFill>
            <a:srgbClr val="9B7E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2" name="TextBox 45"/>
          <p:cNvSpPr/>
          <p:nvPr/>
        </p:nvSpPr>
        <p:spPr>
          <a:xfrm>
            <a:off x="758880" y="3420000"/>
            <a:ext cx="4568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 Rounded MT Bold"/>
                <a:ea typeface="Hiragino Sans GB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Oval 46"/>
          <p:cNvSpPr/>
          <p:nvPr/>
        </p:nvSpPr>
        <p:spPr>
          <a:xfrm>
            <a:off x="1380600" y="3493080"/>
            <a:ext cx="456840" cy="456840"/>
          </a:xfrm>
          <a:prstGeom prst="ellipse">
            <a:avLst/>
          </a:prstGeom>
          <a:solidFill>
            <a:srgbClr val="9B7E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14" name="Picture 47" descr="users-three.png"/>
          <p:cNvPicPr/>
          <p:nvPr/>
        </p:nvPicPr>
        <p:blipFill>
          <a:blip r:embed="rId3"/>
          <a:stretch/>
        </p:blipFill>
        <p:spPr>
          <a:xfrm>
            <a:off x="1481400" y="359352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5" name="TextBox 48"/>
          <p:cNvSpPr/>
          <p:nvPr/>
        </p:nvSpPr>
        <p:spPr>
          <a:xfrm>
            <a:off x="2020680" y="3420000"/>
            <a:ext cx="24685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zh-CN" sz="15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拿不准问大人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Rounded Rectangle 49"/>
          <p:cNvSpPr/>
          <p:nvPr/>
        </p:nvSpPr>
        <p:spPr>
          <a:xfrm>
            <a:off x="3849480" y="3566160"/>
            <a:ext cx="19800" cy="310680"/>
          </a:xfrm>
          <a:prstGeom prst="roundRect">
            <a:avLst>
              <a:gd name="adj" fmla="val 50000"/>
            </a:avLst>
          </a:prstGeom>
          <a:solidFill>
            <a:srgbClr val="E3DE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7" name="TextBox 50"/>
          <p:cNvSpPr/>
          <p:nvPr/>
        </p:nvSpPr>
        <p:spPr>
          <a:xfrm>
            <a:off x="4060080" y="3420000"/>
            <a:ext cx="37486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12000"/>
              </a:lnSpc>
            </a:pPr>
            <a:r>
              <a:rPr lang="zh-CN" sz="1250" b="0" u="none" strike="noStrike">
                <a:solidFill>
                  <a:srgbClr val="5A5478"/>
                </a:solidFill>
                <a:effectLst/>
                <a:uFillTx/>
                <a:latin typeface="Arial Rounded MT Bold"/>
                <a:ea typeface="Hiragino Sans GB"/>
              </a:rPr>
              <a:t>重要的事找老师和爸妈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Rounded Rectangle 51"/>
          <p:cNvSpPr/>
          <p:nvPr/>
        </p:nvSpPr>
        <p:spPr>
          <a:xfrm>
            <a:off x="603360" y="4187880"/>
            <a:ext cx="7360560" cy="603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9" name="Oval 52"/>
          <p:cNvSpPr/>
          <p:nvPr/>
        </p:nvSpPr>
        <p:spPr>
          <a:xfrm>
            <a:off x="758880" y="4260960"/>
            <a:ext cx="456840" cy="456840"/>
          </a:xfrm>
          <a:prstGeom prst="ellipse">
            <a:avLst/>
          </a:prstGeom>
          <a:solidFill>
            <a:srgbClr val="9B7E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0" name="TextBox 53"/>
          <p:cNvSpPr/>
          <p:nvPr/>
        </p:nvSpPr>
        <p:spPr>
          <a:xfrm>
            <a:off x="758880" y="4187880"/>
            <a:ext cx="4568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 Rounded MT Bold"/>
                <a:ea typeface="Hiragino Sans GB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Oval 54"/>
          <p:cNvSpPr/>
          <p:nvPr/>
        </p:nvSpPr>
        <p:spPr>
          <a:xfrm>
            <a:off x="1380600" y="4260960"/>
            <a:ext cx="456840" cy="456840"/>
          </a:xfrm>
          <a:prstGeom prst="ellipse">
            <a:avLst/>
          </a:prstGeom>
          <a:solidFill>
            <a:srgbClr val="9B7E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22" name="Picture 55" descr="crown.png"/>
          <p:cNvPicPr/>
          <p:nvPr/>
        </p:nvPicPr>
        <p:blipFill>
          <a:blip r:embed="rId4"/>
          <a:stretch/>
        </p:blipFill>
        <p:spPr>
          <a:xfrm>
            <a:off x="1481400" y="436176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3" name="TextBox 56"/>
          <p:cNvSpPr/>
          <p:nvPr/>
        </p:nvSpPr>
        <p:spPr>
          <a:xfrm>
            <a:off x="2020680" y="4187880"/>
            <a:ext cx="24685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zh-CN" sz="15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你才是小主人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Rounded Rectangle 57"/>
          <p:cNvSpPr/>
          <p:nvPr/>
        </p:nvSpPr>
        <p:spPr>
          <a:xfrm>
            <a:off x="3849480" y="4334400"/>
            <a:ext cx="19800" cy="310680"/>
          </a:xfrm>
          <a:prstGeom prst="roundRect">
            <a:avLst>
              <a:gd name="adj" fmla="val 50000"/>
            </a:avLst>
          </a:prstGeom>
          <a:solidFill>
            <a:srgbClr val="E3DE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5" name="TextBox 58"/>
          <p:cNvSpPr/>
          <p:nvPr/>
        </p:nvSpPr>
        <p:spPr>
          <a:xfrm>
            <a:off x="4060080" y="4187880"/>
            <a:ext cx="37486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12000"/>
              </a:lnSpc>
            </a:pPr>
            <a:r>
              <a:rPr lang="zh-CN" sz="1250" b="0" u="none" strike="noStrike">
                <a:solidFill>
                  <a:srgbClr val="5A5478"/>
                </a:solidFill>
                <a:effectLst/>
                <a:uFillTx/>
                <a:latin typeface="Arial Rounded MT Bold"/>
                <a:ea typeface="Hiragino Sans GB"/>
              </a:rPr>
              <a:t>最后由你来做决定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Rectangl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6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7" name="4-Point Star 2"/>
          <p:cNvSpPr/>
          <p:nvPr/>
        </p:nvSpPr>
        <p:spPr>
          <a:xfrm>
            <a:off x="8540640" y="384120"/>
            <a:ext cx="182520" cy="182520"/>
          </a:xfrm>
          <a:prstGeom prst="star4">
            <a:avLst>
              <a:gd name="adj" fmla="val 12500"/>
            </a:avLst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8" name="Oval 3"/>
          <p:cNvSpPr/>
          <p:nvPr/>
        </p:nvSpPr>
        <p:spPr>
          <a:xfrm>
            <a:off x="8202240" y="356760"/>
            <a:ext cx="91080" cy="9108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440" rIns="9000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9" name="Oval 4"/>
          <p:cNvSpPr/>
          <p:nvPr/>
        </p:nvSpPr>
        <p:spPr>
          <a:xfrm>
            <a:off x="8810280" y="818280"/>
            <a:ext cx="82080" cy="82080"/>
          </a:xfrm>
          <a:prstGeom prst="ellipse">
            <a:avLst/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3320" rIns="90000" bIns="13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0" name="Rounded Rectangle 5"/>
          <p:cNvSpPr/>
          <p:nvPr/>
        </p:nvSpPr>
        <p:spPr>
          <a:xfrm>
            <a:off x="567000" y="457200"/>
            <a:ext cx="1535760" cy="365400"/>
          </a:xfrm>
          <a:prstGeom prst="roundRect">
            <a:avLst>
              <a:gd name="adj" fmla="val 50000"/>
            </a:avLst>
          </a:prstGeom>
          <a:solidFill>
            <a:srgbClr val="FFE9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1" name="Oval 6"/>
          <p:cNvSpPr/>
          <p:nvPr/>
        </p:nvSpPr>
        <p:spPr>
          <a:xfrm>
            <a:off x="731520" y="567000"/>
            <a:ext cx="145800" cy="145800"/>
          </a:xfrm>
          <a:prstGeom prst="ellipse">
            <a:avLst/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2" name="TextBox 7"/>
          <p:cNvSpPr/>
          <p:nvPr/>
        </p:nvSpPr>
        <p:spPr>
          <a:xfrm>
            <a:off x="1005840" y="457200"/>
            <a:ext cx="1535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12000"/>
              </a:lnSpc>
            </a:pPr>
            <a:r>
              <a:rPr lang="en-US" sz="1250" b="1" u="none" strike="noStrike">
                <a:solidFill>
                  <a:srgbClr val="FF6B6B"/>
                </a:solidFill>
                <a:effectLst/>
                <a:uFillTx/>
                <a:latin typeface="Arial Rounded MT Bold"/>
                <a:ea typeface="Hiragino Sans GB"/>
              </a:rPr>
              <a:t>⑤ 安全第一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Box 8"/>
          <p:cNvSpPr/>
          <p:nvPr/>
        </p:nvSpPr>
        <p:spPr>
          <a:xfrm>
            <a:off x="548640" y="914400"/>
            <a:ext cx="832068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zh-CN" sz="27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秘密不告诉它，拿不准就问大人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4-Point Star 9"/>
          <p:cNvSpPr/>
          <p:nvPr/>
        </p:nvSpPr>
        <p:spPr>
          <a:xfrm>
            <a:off x="640080" y="1417320"/>
            <a:ext cx="145800" cy="145800"/>
          </a:xfrm>
          <a:prstGeom prst="star4">
            <a:avLst>
              <a:gd name="adj" fmla="val 12500"/>
            </a:avLst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5" name="Rounded Rectangle 10"/>
          <p:cNvSpPr/>
          <p:nvPr/>
        </p:nvSpPr>
        <p:spPr>
          <a:xfrm>
            <a:off x="914400" y="1463040"/>
            <a:ext cx="822600" cy="10008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6" name="Rounded Rectangle 11"/>
          <p:cNvSpPr/>
          <p:nvPr/>
        </p:nvSpPr>
        <p:spPr>
          <a:xfrm>
            <a:off x="365760" y="1883520"/>
            <a:ext cx="4023000" cy="2742840"/>
          </a:xfrm>
          <a:prstGeom prst="roundRect">
            <a:avLst>
              <a:gd name="adj" fmla="val 16000"/>
            </a:avLst>
          </a:prstGeom>
          <a:solidFill>
            <a:srgbClr val="E2F7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7" name="Rounded Rectangle 12"/>
          <p:cNvSpPr/>
          <p:nvPr/>
        </p:nvSpPr>
        <p:spPr>
          <a:xfrm>
            <a:off x="548640" y="2066400"/>
            <a:ext cx="3657240" cy="456840"/>
          </a:xfrm>
          <a:prstGeom prst="roundRect">
            <a:avLst>
              <a:gd name="adj" fmla="val 50000"/>
            </a:avLst>
          </a:prstGeom>
          <a:solidFill>
            <a:srgbClr val="3FC7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38" name="Picture 13" descr="check-fat.png"/>
          <p:cNvPicPr/>
          <p:nvPr/>
        </p:nvPicPr>
        <p:blipFill>
          <a:blip r:embed="rId1"/>
          <a:stretch/>
        </p:blipFill>
        <p:spPr>
          <a:xfrm>
            <a:off x="676800" y="214884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9" name="TextBox 14"/>
          <p:cNvSpPr/>
          <p:nvPr/>
        </p:nvSpPr>
        <p:spPr>
          <a:xfrm>
            <a:off x="1042560" y="206640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12000"/>
              </a:lnSpc>
            </a:pPr>
            <a:r>
              <a:rPr lang="zh-CN" sz="1500" b="1" u="none" strike="noStrike">
                <a:solidFill>
                  <a:srgbClr val="FFFFFF"/>
                </a:solidFill>
                <a:effectLst/>
                <a:uFillTx/>
                <a:latin typeface="Arial Rounded MT Bold"/>
                <a:ea typeface="Hiragino Sans GB"/>
              </a:rPr>
              <a:t>可以放心做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Oval 15"/>
          <p:cNvSpPr/>
          <p:nvPr/>
        </p:nvSpPr>
        <p:spPr>
          <a:xfrm>
            <a:off x="603360" y="2779920"/>
            <a:ext cx="402120" cy="402120"/>
          </a:xfrm>
          <a:prstGeom prst="ellipse">
            <a:avLst/>
          </a:prstGeom>
          <a:solidFill>
            <a:srgbClr val="3FC7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41" name="Picture 16" descr="check-fat.png"/>
          <p:cNvPicPr/>
          <p:nvPr/>
        </p:nvPicPr>
        <p:blipFill>
          <a:blip r:embed="rId2"/>
          <a:stretch/>
        </p:blipFill>
        <p:spPr>
          <a:xfrm>
            <a:off x="691920" y="286812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2" name="TextBox 17"/>
          <p:cNvSpPr/>
          <p:nvPr/>
        </p:nvSpPr>
        <p:spPr>
          <a:xfrm>
            <a:off x="1115640" y="272484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05000"/>
              </a:lnSpc>
            </a:pPr>
            <a:r>
              <a:rPr lang="zh-CN" sz="1250" b="0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用它查资料、练英语、找灵感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Oval 18"/>
          <p:cNvSpPr/>
          <p:nvPr/>
        </p:nvSpPr>
        <p:spPr>
          <a:xfrm>
            <a:off x="603360" y="3401640"/>
            <a:ext cx="402120" cy="402120"/>
          </a:xfrm>
          <a:prstGeom prst="ellipse">
            <a:avLst/>
          </a:prstGeom>
          <a:solidFill>
            <a:srgbClr val="3FC7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44" name="Picture 19" descr="check-fat.png"/>
          <p:cNvPicPr/>
          <p:nvPr/>
        </p:nvPicPr>
        <p:blipFill>
          <a:blip r:embed="rId3"/>
          <a:stretch/>
        </p:blipFill>
        <p:spPr>
          <a:xfrm>
            <a:off x="691920" y="349020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5" name="TextBox 20"/>
          <p:cNvSpPr/>
          <p:nvPr/>
        </p:nvSpPr>
        <p:spPr>
          <a:xfrm>
            <a:off x="1115640" y="334656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05000"/>
              </a:lnSpc>
            </a:pPr>
            <a:r>
              <a:rPr lang="zh-CN" sz="1250" b="0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遇到不舒服的内容，马上告诉大人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Oval 21"/>
          <p:cNvSpPr/>
          <p:nvPr/>
        </p:nvSpPr>
        <p:spPr>
          <a:xfrm>
            <a:off x="603360" y="4023360"/>
            <a:ext cx="402120" cy="402120"/>
          </a:xfrm>
          <a:prstGeom prst="ellipse">
            <a:avLst/>
          </a:prstGeom>
          <a:solidFill>
            <a:srgbClr val="3FC7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47" name="Picture 22" descr="check-fat.png"/>
          <p:cNvPicPr/>
          <p:nvPr/>
        </p:nvPicPr>
        <p:blipFill>
          <a:blip r:embed="rId4"/>
          <a:stretch/>
        </p:blipFill>
        <p:spPr>
          <a:xfrm>
            <a:off x="691920" y="411192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8" name="TextBox 23"/>
          <p:cNvSpPr/>
          <p:nvPr/>
        </p:nvSpPr>
        <p:spPr>
          <a:xfrm>
            <a:off x="1115640" y="396864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05000"/>
              </a:lnSpc>
            </a:pPr>
            <a:r>
              <a:rPr lang="zh-CN" sz="1250" b="0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对它有礼貌，好好说话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Rounded Rectangle 24"/>
          <p:cNvSpPr/>
          <p:nvPr/>
        </p:nvSpPr>
        <p:spPr>
          <a:xfrm>
            <a:off x="4754880" y="1883520"/>
            <a:ext cx="4023000" cy="2742840"/>
          </a:xfrm>
          <a:prstGeom prst="roundRect">
            <a:avLst>
              <a:gd name="adj" fmla="val 16000"/>
            </a:avLst>
          </a:prstGeom>
          <a:solidFill>
            <a:srgbClr val="FFE9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0" name="Rounded Rectangle 25"/>
          <p:cNvSpPr/>
          <p:nvPr/>
        </p:nvSpPr>
        <p:spPr>
          <a:xfrm>
            <a:off x="4937760" y="2066400"/>
            <a:ext cx="3657240" cy="45684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51" name="Picture 26" descr="x.png"/>
          <p:cNvPicPr/>
          <p:nvPr/>
        </p:nvPicPr>
        <p:blipFill>
          <a:blip r:embed="rId5"/>
          <a:stretch/>
        </p:blipFill>
        <p:spPr>
          <a:xfrm>
            <a:off x="5065920" y="214884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2" name="TextBox 27"/>
          <p:cNvSpPr/>
          <p:nvPr/>
        </p:nvSpPr>
        <p:spPr>
          <a:xfrm>
            <a:off x="5431680" y="206640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12000"/>
              </a:lnSpc>
            </a:pPr>
            <a:r>
              <a:rPr lang="zh-CN" sz="1500" b="1" u="none" strike="noStrike">
                <a:solidFill>
                  <a:srgbClr val="FFFFFF"/>
                </a:solidFill>
                <a:effectLst/>
                <a:uFillTx/>
                <a:latin typeface="Arial Rounded MT Bold"/>
                <a:ea typeface="Hiragino Sans GB"/>
              </a:rPr>
              <a:t>要小心哦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Oval 28"/>
          <p:cNvSpPr/>
          <p:nvPr/>
        </p:nvSpPr>
        <p:spPr>
          <a:xfrm>
            <a:off x="4992480" y="2779920"/>
            <a:ext cx="402120" cy="402120"/>
          </a:xfrm>
          <a:prstGeom prst="ellipse">
            <a:avLst/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54" name="Picture 29" descr="x.png"/>
          <p:cNvPicPr/>
          <p:nvPr/>
        </p:nvPicPr>
        <p:blipFill>
          <a:blip r:embed="rId6"/>
          <a:stretch/>
        </p:blipFill>
        <p:spPr>
          <a:xfrm>
            <a:off x="5081040" y="286812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5" name="TextBox 30"/>
          <p:cNvSpPr/>
          <p:nvPr/>
        </p:nvSpPr>
        <p:spPr>
          <a:xfrm>
            <a:off x="5504760" y="272484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05000"/>
              </a:lnSpc>
            </a:pPr>
            <a:r>
              <a:rPr lang="zh-CN" sz="1250" b="0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别把真名、家住哪、密码告诉它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Oval 31"/>
          <p:cNvSpPr/>
          <p:nvPr/>
        </p:nvSpPr>
        <p:spPr>
          <a:xfrm>
            <a:off x="4992480" y="3401640"/>
            <a:ext cx="402120" cy="402120"/>
          </a:xfrm>
          <a:prstGeom prst="ellipse">
            <a:avLst/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57" name="Picture 32" descr="x.png"/>
          <p:cNvPicPr/>
          <p:nvPr/>
        </p:nvPicPr>
        <p:blipFill>
          <a:blip r:embed="rId7"/>
          <a:stretch/>
        </p:blipFill>
        <p:spPr>
          <a:xfrm>
            <a:off x="5081040" y="349020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8" name="TextBox 33"/>
          <p:cNvSpPr/>
          <p:nvPr/>
        </p:nvSpPr>
        <p:spPr>
          <a:xfrm>
            <a:off x="5504760" y="334656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05000"/>
              </a:lnSpc>
            </a:pPr>
            <a:r>
              <a:rPr lang="zh-CN" sz="1250" b="0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别把它说的话全当真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Oval 34"/>
          <p:cNvSpPr/>
          <p:nvPr/>
        </p:nvSpPr>
        <p:spPr>
          <a:xfrm>
            <a:off x="4992480" y="4023360"/>
            <a:ext cx="402120" cy="402120"/>
          </a:xfrm>
          <a:prstGeom prst="ellipse">
            <a:avLst/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60" name="Picture 35" descr="x.png"/>
          <p:cNvPicPr/>
          <p:nvPr/>
        </p:nvPicPr>
        <p:blipFill>
          <a:blip r:embed="rId8"/>
          <a:stretch/>
        </p:blipFill>
        <p:spPr>
          <a:xfrm>
            <a:off x="5081040" y="411192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1" name="TextBox 36"/>
          <p:cNvSpPr/>
          <p:nvPr/>
        </p:nvSpPr>
        <p:spPr>
          <a:xfrm>
            <a:off x="5504760" y="396864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05000"/>
              </a:lnSpc>
            </a:pPr>
            <a:r>
              <a:rPr lang="zh-CN" sz="1250" b="0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别一个人偷偷做重要决定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Rectangl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6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3" name="4-Point Star 2"/>
          <p:cNvSpPr/>
          <p:nvPr/>
        </p:nvSpPr>
        <p:spPr>
          <a:xfrm>
            <a:off x="8540640" y="384120"/>
            <a:ext cx="182520" cy="182520"/>
          </a:xfrm>
          <a:prstGeom prst="star4">
            <a:avLst>
              <a:gd name="adj" fmla="val 12500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4" name="Oval 3"/>
          <p:cNvSpPr/>
          <p:nvPr/>
        </p:nvSpPr>
        <p:spPr>
          <a:xfrm>
            <a:off x="8202240" y="356760"/>
            <a:ext cx="91080" cy="9108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440" rIns="9000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5" name="Oval 4"/>
          <p:cNvSpPr/>
          <p:nvPr/>
        </p:nvSpPr>
        <p:spPr>
          <a:xfrm>
            <a:off x="8810280" y="818280"/>
            <a:ext cx="82080" cy="82080"/>
          </a:xfrm>
          <a:prstGeom prst="ellipse">
            <a:avLst/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3320" rIns="90000" bIns="13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6" name="Rounded Rectangle 5"/>
          <p:cNvSpPr/>
          <p:nvPr/>
        </p:nvSpPr>
        <p:spPr>
          <a:xfrm>
            <a:off x="567000" y="457200"/>
            <a:ext cx="1535760" cy="365400"/>
          </a:xfrm>
          <a:prstGeom prst="roundRect">
            <a:avLst>
              <a:gd name="adj" fmla="val 50000"/>
            </a:avLst>
          </a:prstGeom>
          <a:solidFill>
            <a:srgbClr val="E7F3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7" name="Oval 6"/>
          <p:cNvSpPr/>
          <p:nvPr/>
        </p:nvSpPr>
        <p:spPr>
          <a:xfrm>
            <a:off x="731520" y="567000"/>
            <a:ext cx="145800" cy="145800"/>
          </a:xfrm>
          <a:prstGeom prst="ellipse">
            <a:avLst/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8" name="TextBox 7"/>
          <p:cNvSpPr/>
          <p:nvPr/>
        </p:nvSpPr>
        <p:spPr>
          <a:xfrm>
            <a:off x="1005840" y="457200"/>
            <a:ext cx="1535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12000"/>
              </a:lnSpc>
            </a:pPr>
            <a:r>
              <a:rPr lang="zh-CN" sz="1250" b="1" u="none" strike="noStrike">
                <a:solidFill>
                  <a:srgbClr val="3D9BE9"/>
                </a:solidFill>
                <a:effectLst/>
                <a:uFillTx/>
                <a:latin typeface="Arial Rounded MT Bold"/>
                <a:ea typeface="Hiragino Sans GB"/>
              </a:rPr>
              <a:t>把今天串起来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Box 8"/>
          <p:cNvSpPr/>
          <p:nvPr/>
        </p:nvSpPr>
        <p:spPr>
          <a:xfrm>
            <a:off x="548640" y="914400"/>
            <a:ext cx="832068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zh-CN" sz="27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记住这 </a:t>
            </a:r>
            <a:r>
              <a:rPr lang="en-US" sz="27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5 </a:t>
            </a:r>
            <a:r>
              <a:rPr lang="zh-CN" sz="27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件事，你就懂 </a:t>
            </a:r>
            <a:r>
              <a:rPr lang="en-US" sz="27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AI </a:t>
            </a:r>
            <a:r>
              <a:rPr lang="zh-CN" sz="27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啦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4-Point Star 9"/>
          <p:cNvSpPr/>
          <p:nvPr/>
        </p:nvSpPr>
        <p:spPr>
          <a:xfrm>
            <a:off x="640080" y="1417320"/>
            <a:ext cx="145800" cy="145800"/>
          </a:xfrm>
          <a:prstGeom prst="star4">
            <a:avLst>
              <a:gd name="adj" fmla="val 12500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1" name="Rounded Rectangle 10"/>
          <p:cNvSpPr/>
          <p:nvPr/>
        </p:nvSpPr>
        <p:spPr>
          <a:xfrm>
            <a:off x="914400" y="1463040"/>
            <a:ext cx="822600" cy="100080"/>
          </a:xfrm>
          <a:prstGeom prst="roundRect">
            <a:avLst>
              <a:gd name="adj" fmla="val 50000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2" name="Rounded Rectangle 11"/>
          <p:cNvSpPr/>
          <p:nvPr/>
        </p:nvSpPr>
        <p:spPr>
          <a:xfrm>
            <a:off x="567000" y="1965960"/>
            <a:ext cx="1572480" cy="2148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3" name="Rounded Rectangle 12"/>
          <p:cNvSpPr/>
          <p:nvPr/>
        </p:nvSpPr>
        <p:spPr>
          <a:xfrm>
            <a:off x="567000" y="1965960"/>
            <a:ext cx="1572480" cy="456840"/>
          </a:xfrm>
          <a:prstGeom prst="roundRect">
            <a:avLst>
              <a:gd name="adj" fmla="val 16000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4" name="Rounded Rectangle 13"/>
          <p:cNvSpPr/>
          <p:nvPr/>
        </p:nvSpPr>
        <p:spPr>
          <a:xfrm>
            <a:off x="567000" y="2194560"/>
            <a:ext cx="1572480" cy="228240"/>
          </a:xfrm>
          <a:prstGeom prst="roundRect">
            <a:avLst>
              <a:gd name="adj" fmla="val 0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5" name="TextBox 14"/>
          <p:cNvSpPr/>
          <p:nvPr/>
        </p:nvSpPr>
        <p:spPr>
          <a:xfrm>
            <a:off x="567000" y="1984320"/>
            <a:ext cx="157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rial Rounded MT Bold"/>
                <a:ea typeface="Hiragino Sans GB"/>
              </a:rPr>
              <a:t>1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Oval 15"/>
          <p:cNvSpPr/>
          <p:nvPr/>
        </p:nvSpPr>
        <p:spPr>
          <a:xfrm>
            <a:off x="960120" y="2597040"/>
            <a:ext cx="785880" cy="785880"/>
          </a:xfrm>
          <a:prstGeom prst="ellipse">
            <a:avLst/>
          </a:prstGeom>
          <a:solidFill>
            <a:srgbClr val="3D9BE9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77" name="Picture 16" descr="map-pin.png"/>
          <p:cNvPicPr/>
          <p:nvPr/>
        </p:nvPicPr>
        <p:blipFill>
          <a:blip r:embed="rId1"/>
          <a:stretch/>
        </p:blipFill>
        <p:spPr>
          <a:xfrm>
            <a:off x="1133280" y="2769840"/>
            <a:ext cx="439920" cy="43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8" name="TextBox 17"/>
          <p:cNvSpPr/>
          <p:nvPr/>
        </p:nvSpPr>
        <p:spPr>
          <a:xfrm>
            <a:off x="621720" y="3429000"/>
            <a:ext cx="14626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algn="ctr" defTabSz="457200">
              <a:lnSpc>
                <a:spcPct val="112000"/>
              </a:lnSpc>
              <a:spcAft>
                <a:spcPts val="201"/>
              </a:spcAft>
            </a:pPr>
            <a:r>
              <a:rPr lang="zh-CN" sz="13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住在生活里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Box 18"/>
          <p:cNvSpPr/>
          <p:nvPr/>
        </p:nvSpPr>
        <p:spPr>
          <a:xfrm>
            <a:off x="640080" y="3740040"/>
            <a:ext cx="142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algn="ctr" defTabSz="457200">
              <a:lnSpc>
                <a:spcPct val="108000"/>
              </a:lnSpc>
              <a:spcAft>
                <a:spcPts val="300"/>
              </a:spcAft>
            </a:pPr>
            <a:r>
              <a:rPr lang="zh-CN" sz="1000" b="0" u="none" strike="noStrike">
                <a:solidFill>
                  <a:srgbClr val="5A5478"/>
                </a:solidFill>
                <a:effectLst/>
                <a:uFillTx/>
                <a:latin typeface="Arial Rounded MT Bold"/>
                <a:ea typeface="Hiragino Sans GB"/>
              </a:rPr>
              <a:t>语音、推荐、拍照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Rounded Rectangle 19"/>
          <p:cNvSpPr/>
          <p:nvPr/>
        </p:nvSpPr>
        <p:spPr>
          <a:xfrm>
            <a:off x="2272320" y="1965960"/>
            <a:ext cx="1572480" cy="2148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1" name="Rounded Rectangle 20"/>
          <p:cNvSpPr/>
          <p:nvPr/>
        </p:nvSpPr>
        <p:spPr>
          <a:xfrm>
            <a:off x="2272320" y="1965960"/>
            <a:ext cx="1572480" cy="456840"/>
          </a:xfrm>
          <a:prstGeom prst="roundRect">
            <a:avLst>
              <a:gd name="adj" fmla="val 16000"/>
            </a:avLst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2" name="Rounded Rectangle 21"/>
          <p:cNvSpPr/>
          <p:nvPr/>
        </p:nvSpPr>
        <p:spPr>
          <a:xfrm>
            <a:off x="2272320" y="2194560"/>
            <a:ext cx="1572480" cy="228240"/>
          </a:xfrm>
          <a:prstGeom prst="roundRect">
            <a:avLst>
              <a:gd name="adj" fmla="val 0"/>
            </a:avLst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3" name="TextBox 22"/>
          <p:cNvSpPr/>
          <p:nvPr/>
        </p:nvSpPr>
        <p:spPr>
          <a:xfrm>
            <a:off x="2272320" y="1984320"/>
            <a:ext cx="157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rial Rounded MT Bold"/>
                <a:ea typeface="Hiragino Sans GB"/>
              </a:rPr>
              <a:t>2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Oval 23"/>
          <p:cNvSpPr/>
          <p:nvPr/>
        </p:nvSpPr>
        <p:spPr>
          <a:xfrm>
            <a:off x="2665440" y="2597040"/>
            <a:ext cx="785880" cy="78588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85" name="Picture 24" descr="lightbulb.png"/>
          <p:cNvPicPr/>
          <p:nvPr/>
        </p:nvPicPr>
        <p:blipFill>
          <a:blip r:embed="rId2"/>
          <a:stretch/>
        </p:blipFill>
        <p:spPr>
          <a:xfrm>
            <a:off x="2838600" y="2769840"/>
            <a:ext cx="439920" cy="43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6" name="TextBox 25"/>
          <p:cNvSpPr/>
          <p:nvPr/>
        </p:nvSpPr>
        <p:spPr>
          <a:xfrm>
            <a:off x="2327040" y="3429000"/>
            <a:ext cx="14626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algn="ctr" defTabSz="457200">
              <a:lnSpc>
                <a:spcPct val="112000"/>
              </a:lnSpc>
              <a:spcAft>
                <a:spcPts val="201"/>
              </a:spcAft>
            </a:pPr>
            <a:r>
              <a:rPr lang="zh-CN" sz="13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靠例子学习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Box 26"/>
          <p:cNvSpPr/>
          <p:nvPr/>
        </p:nvSpPr>
        <p:spPr>
          <a:xfrm>
            <a:off x="2345400" y="3740040"/>
            <a:ext cx="142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algn="ctr" defTabSz="457200">
              <a:lnSpc>
                <a:spcPct val="108000"/>
              </a:lnSpc>
              <a:spcAft>
                <a:spcPts val="300"/>
              </a:spcAft>
            </a:pPr>
            <a:r>
              <a:rPr lang="zh-CN" sz="1000" b="0" u="none" strike="noStrike">
                <a:solidFill>
                  <a:srgbClr val="5A5478"/>
                </a:solidFill>
                <a:effectLst/>
                <a:uFillTx/>
                <a:latin typeface="Arial Rounded MT Bold"/>
                <a:ea typeface="Hiragino Sans GB"/>
              </a:rPr>
              <a:t>看得越多，学得越好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Rounded Rectangle 27"/>
          <p:cNvSpPr/>
          <p:nvPr/>
        </p:nvSpPr>
        <p:spPr>
          <a:xfrm>
            <a:off x="3977640" y="1965960"/>
            <a:ext cx="1572480" cy="2148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9" name="Rounded Rectangle 28"/>
          <p:cNvSpPr/>
          <p:nvPr/>
        </p:nvSpPr>
        <p:spPr>
          <a:xfrm>
            <a:off x="3977640" y="1965960"/>
            <a:ext cx="1572480" cy="456840"/>
          </a:xfrm>
          <a:prstGeom prst="roundRect">
            <a:avLst>
              <a:gd name="adj" fmla="val 16000"/>
            </a:avLst>
          </a:prstGeom>
          <a:solidFill>
            <a:srgbClr val="3FC7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0" name="Rounded Rectangle 29"/>
          <p:cNvSpPr/>
          <p:nvPr/>
        </p:nvSpPr>
        <p:spPr>
          <a:xfrm>
            <a:off x="3977640" y="2194560"/>
            <a:ext cx="1572480" cy="228240"/>
          </a:xfrm>
          <a:prstGeom prst="roundRect">
            <a:avLst>
              <a:gd name="adj" fmla="val 0"/>
            </a:avLst>
          </a:prstGeom>
          <a:solidFill>
            <a:srgbClr val="3FC7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1" name="TextBox 30"/>
          <p:cNvSpPr/>
          <p:nvPr/>
        </p:nvSpPr>
        <p:spPr>
          <a:xfrm>
            <a:off x="3977640" y="1984320"/>
            <a:ext cx="157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rial Rounded MT Bold"/>
                <a:ea typeface="Hiragino Sans GB"/>
              </a:rPr>
              <a:t>3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Oval 31"/>
          <p:cNvSpPr/>
          <p:nvPr/>
        </p:nvSpPr>
        <p:spPr>
          <a:xfrm>
            <a:off x="4370760" y="2597040"/>
            <a:ext cx="785880" cy="785880"/>
          </a:xfrm>
          <a:prstGeom prst="ellipse">
            <a:avLst/>
          </a:prstGeom>
          <a:solidFill>
            <a:srgbClr val="3FC79A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93" name="Picture 32" descr="gauge.png"/>
          <p:cNvPicPr/>
          <p:nvPr/>
        </p:nvPicPr>
        <p:blipFill>
          <a:blip r:embed="rId3"/>
          <a:stretch/>
        </p:blipFill>
        <p:spPr>
          <a:xfrm>
            <a:off x="4543920" y="2769840"/>
            <a:ext cx="439920" cy="43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4" name="TextBox 33"/>
          <p:cNvSpPr/>
          <p:nvPr/>
        </p:nvSpPr>
        <p:spPr>
          <a:xfrm>
            <a:off x="4032360" y="3429000"/>
            <a:ext cx="14626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algn="ctr" defTabSz="457200">
              <a:lnSpc>
                <a:spcPct val="112000"/>
              </a:lnSpc>
              <a:spcAft>
                <a:spcPts val="201"/>
              </a:spcAft>
            </a:pPr>
            <a:r>
              <a:rPr lang="zh-CN" sz="13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能干也会错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Box 34"/>
          <p:cNvSpPr/>
          <p:nvPr/>
        </p:nvSpPr>
        <p:spPr>
          <a:xfrm>
            <a:off x="4050720" y="3740040"/>
            <a:ext cx="142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algn="ctr" defTabSz="457200">
              <a:lnSpc>
                <a:spcPct val="108000"/>
              </a:lnSpc>
              <a:spcAft>
                <a:spcPts val="300"/>
              </a:spcAft>
            </a:pPr>
            <a:r>
              <a:rPr lang="zh-CN" sz="1000" b="0" u="none" strike="noStrike">
                <a:solidFill>
                  <a:srgbClr val="5A5478"/>
                </a:solidFill>
                <a:effectLst/>
                <a:uFillTx/>
                <a:latin typeface="Arial Rounded MT Bold"/>
                <a:ea typeface="Hiragino Sans GB"/>
              </a:rPr>
              <a:t>很厉害，但别全信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Rounded Rectangle 35"/>
          <p:cNvSpPr/>
          <p:nvPr/>
        </p:nvSpPr>
        <p:spPr>
          <a:xfrm>
            <a:off x="5682960" y="1965960"/>
            <a:ext cx="1572480" cy="2148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7" name="Rounded Rectangle 36"/>
          <p:cNvSpPr/>
          <p:nvPr/>
        </p:nvSpPr>
        <p:spPr>
          <a:xfrm>
            <a:off x="5682960" y="1965960"/>
            <a:ext cx="1572480" cy="456840"/>
          </a:xfrm>
          <a:prstGeom prst="roundRect">
            <a:avLst>
              <a:gd name="adj" fmla="val 16000"/>
            </a:avLst>
          </a:prstGeom>
          <a:solidFill>
            <a:srgbClr val="9B7E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8" name="Rounded Rectangle 37"/>
          <p:cNvSpPr/>
          <p:nvPr/>
        </p:nvSpPr>
        <p:spPr>
          <a:xfrm>
            <a:off x="5682960" y="2194560"/>
            <a:ext cx="1572480" cy="228240"/>
          </a:xfrm>
          <a:prstGeom prst="roundRect">
            <a:avLst>
              <a:gd name="adj" fmla="val 0"/>
            </a:avLst>
          </a:prstGeom>
          <a:solidFill>
            <a:srgbClr val="9B7E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9" name="TextBox 38"/>
          <p:cNvSpPr/>
          <p:nvPr/>
        </p:nvSpPr>
        <p:spPr>
          <a:xfrm>
            <a:off x="5682960" y="1984320"/>
            <a:ext cx="157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rial Rounded MT Bold"/>
                <a:ea typeface="Hiragino Sans GB"/>
              </a:rPr>
              <a:t>4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Oval 39"/>
          <p:cNvSpPr/>
          <p:nvPr/>
        </p:nvSpPr>
        <p:spPr>
          <a:xfrm>
            <a:off x="6076080" y="2597040"/>
            <a:ext cx="785880" cy="785880"/>
          </a:xfrm>
          <a:prstGeom prst="ellipse">
            <a:avLst/>
          </a:prstGeom>
          <a:solidFill>
            <a:srgbClr val="9B7EDE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01" name="Picture 40" descr="chat-text.png"/>
          <p:cNvPicPr/>
          <p:nvPr/>
        </p:nvPicPr>
        <p:blipFill>
          <a:blip r:embed="rId4"/>
          <a:stretch/>
        </p:blipFill>
        <p:spPr>
          <a:xfrm>
            <a:off x="6249240" y="2769840"/>
            <a:ext cx="439920" cy="43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2" name="TextBox 41"/>
          <p:cNvSpPr/>
          <p:nvPr/>
        </p:nvSpPr>
        <p:spPr>
          <a:xfrm>
            <a:off x="5737680" y="3429000"/>
            <a:ext cx="14626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algn="ctr" defTabSz="457200">
              <a:lnSpc>
                <a:spcPct val="112000"/>
              </a:lnSpc>
              <a:spcAft>
                <a:spcPts val="201"/>
              </a:spcAft>
            </a:pPr>
            <a:r>
              <a:rPr lang="zh-CN" sz="13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当好帮手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Box 42"/>
          <p:cNvSpPr/>
          <p:nvPr/>
        </p:nvSpPr>
        <p:spPr>
          <a:xfrm>
            <a:off x="5756040" y="3740040"/>
            <a:ext cx="142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algn="ctr" defTabSz="457200">
              <a:lnSpc>
                <a:spcPct val="108000"/>
              </a:lnSpc>
              <a:spcAft>
                <a:spcPts val="300"/>
              </a:spcAft>
            </a:pPr>
            <a:r>
              <a:rPr lang="zh-CN" sz="1000" b="0" u="none" strike="noStrike">
                <a:solidFill>
                  <a:srgbClr val="5A5478"/>
                </a:solidFill>
                <a:effectLst/>
                <a:uFillTx/>
                <a:latin typeface="Arial Rounded MT Bold"/>
                <a:ea typeface="Hiragino Sans GB"/>
              </a:rPr>
              <a:t>说清楚，你来做主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Rounded Rectangle 43"/>
          <p:cNvSpPr/>
          <p:nvPr/>
        </p:nvSpPr>
        <p:spPr>
          <a:xfrm>
            <a:off x="7388280" y="1965960"/>
            <a:ext cx="1572480" cy="2148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5" name="Rounded Rectangle 44"/>
          <p:cNvSpPr/>
          <p:nvPr/>
        </p:nvSpPr>
        <p:spPr>
          <a:xfrm>
            <a:off x="7388280" y="1965960"/>
            <a:ext cx="1572480" cy="456840"/>
          </a:xfrm>
          <a:prstGeom prst="roundRect">
            <a:avLst>
              <a:gd name="adj" fmla="val 16000"/>
            </a:avLst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6" name="Rounded Rectangle 45"/>
          <p:cNvSpPr/>
          <p:nvPr/>
        </p:nvSpPr>
        <p:spPr>
          <a:xfrm>
            <a:off x="7388280" y="2194560"/>
            <a:ext cx="1572480" cy="22824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7" name="TextBox 46"/>
          <p:cNvSpPr/>
          <p:nvPr/>
        </p:nvSpPr>
        <p:spPr>
          <a:xfrm>
            <a:off x="7388280" y="1984320"/>
            <a:ext cx="157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rial Rounded MT Bold"/>
                <a:ea typeface="Hiragino Sans GB"/>
              </a:rPr>
              <a:t>5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Oval 47"/>
          <p:cNvSpPr/>
          <p:nvPr/>
        </p:nvSpPr>
        <p:spPr>
          <a:xfrm>
            <a:off x="7781400" y="2597040"/>
            <a:ext cx="785880" cy="785880"/>
          </a:xfrm>
          <a:prstGeom prst="ellipse">
            <a:avLst/>
          </a:prstGeom>
          <a:solidFill>
            <a:srgbClr val="FF6B6B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09" name="Picture 48" descr="shield-check.png"/>
          <p:cNvPicPr/>
          <p:nvPr/>
        </p:nvPicPr>
        <p:blipFill>
          <a:blip r:embed="rId5"/>
          <a:stretch/>
        </p:blipFill>
        <p:spPr>
          <a:xfrm>
            <a:off x="7954560" y="2769840"/>
            <a:ext cx="439920" cy="43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0" name="TextBox 49"/>
          <p:cNvSpPr/>
          <p:nvPr/>
        </p:nvSpPr>
        <p:spPr>
          <a:xfrm>
            <a:off x="7443360" y="3429000"/>
            <a:ext cx="14626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algn="ctr" defTabSz="457200">
              <a:lnSpc>
                <a:spcPct val="112000"/>
              </a:lnSpc>
              <a:spcAft>
                <a:spcPts val="201"/>
              </a:spcAft>
            </a:pPr>
            <a:r>
              <a:rPr lang="zh-CN" sz="135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护好秘密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Box 50"/>
          <p:cNvSpPr/>
          <p:nvPr/>
        </p:nvSpPr>
        <p:spPr>
          <a:xfrm>
            <a:off x="7461360" y="3740040"/>
            <a:ext cx="142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algn="ctr" defTabSz="457200">
              <a:lnSpc>
                <a:spcPct val="108000"/>
              </a:lnSpc>
              <a:spcAft>
                <a:spcPts val="300"/>
              </a:spcAft>
            </a:pPr>
            <a:r>
              <a:rPr lang="zh-CN" sz="1000" b="0" u="none" strike="noStrike">
                <a:solidFill>
                  <a:srgbClr val="5A5478"/>
                </a:solidFill>
                <a:effectLst/>
                <a:uFillTx/>
                <a:latin typeface="Arial Rounded MT Bold"/>
                <a:ea typeface="Hiragino Sans GB"/>
              </a:rPr>
              <a:t>拿不准就问大人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Rounded Rectangle 51"/>
          <p:cNvSpPr/>
          <p:nvPr/>
        </p:nvSpPr>
        <p:spPr>
          <a:xfrm>
            <a:off x="8116200" y="4052520"/>
            <a:ext cx="43560" cy="21924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3" name="Oval 52"/>
          <p:cNvSpPr/>
          <p:nvPr/>
        </p:nvSpPr>
        <p:spPr>
          <a:xfrm>
            <a:off x="8072280" y="3972240"/>
            <a:ext cx="131400" cy="13140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4" name="4-Point Star 53"/>
          <p:cNvSpPr/>
          <p:nvPr/>
        </p:nvSpPr>
        <p:spPr>
          <a:xfrm>
            <a:off x="8101440" y="4001400"/>
            <a:ext cx="72720" cy="72720"/>
          </a:xfrm>
          <a:prstGeom prst="star4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2040" rIns="90000" bIns="-320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5" name="Rounded Rectangle 54"/>
          <p:cNvSpPr/>
          <p:nvPr/>
        </p:nvSpPr>
        <p:spPr>
          <a:xfrm>
            <a:off x="7721280" y="4491360"/>
            <a:ext cx="65520" cy="16056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6" name="Rounded Rectangle 55"/>
          <p:cNvSpPr/>
          <p:nvPr/>
        </p:nvSpPr>
        <p:spPr>
          <a:xfrm>
            <a:off x="8489160" y="4491360"/>
            <a:ext cx="65520" cy="16056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7" name="Rounded Rectangle 56"/>
          <p:cNvSpPr/>
          <p:nvPr/>
        </p:nvSpPr>
        <p:spPr>
          <a:xfrm>
            <a:off x="7772400" y="4257360"/>
            <a:ext cx="731160" cy="628920"/>
          </a:xfrm>
          <a:prstGeom prst="roundRect">
            <a:avLst>
              <a:gd name="adj" fmla="val 42000"/>
            </a:avLst>
          </a:prstGeom>
          <a:solidFill>
            <a:srgbClr val="3D9BE9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8" name="Rounded Rectangle 57"/>
          <p:cNvSpPr/>
          <p:nvPr/>
        </p:nvSpPr>
        <p:spPr>
          <a:xfrm>
            <a:off x="7860240" y="4391640"/>
            <a:ext cx="555480" cy="389520"/>
          </a:xfrm>
          <a:prstGeom prst="roundRect">
            <a:avLst>
              <a:gd name="adj" fmla="val 34000"/>
            </a:avLst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9" name="Oval 58"/>
          <p:cNvSpPr/>
          <p:nvPr/>
        </p:nvSpPr>
        <p:spPr>
          <a:xfrm>
            <a:off x="7966440" y="4506120"/>
            <a:ext cx="98280" cy="98280"/>
          </a:xfrm>
          <a:prstGeom prst="ellipse">
            <a:avLst/>
          </a:prstGeom>
          <a:solidFill>
            <a:srgbClr val="EA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4480" rIns="90000" bIns="24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0" name="Oval 59"/>
          <p:cNvSpPr/>
          <p:nvPr/>
        </p:nvSpPr>
        <p:spPr>
          <a:xfrm>
            <a:off x="7994160" y="4539600"/>
            <a:ext cx="43200" cy="43200"/>
          </a:xfrm>
          <a:prstGeom prst="ellipse">
            <a:avLst/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4040" rIns="90000" bIns="-140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1" name="Oval 60"/>
          <p:cNvSpPr/>
          <p:nvPr/>
        </p:nvSpPr>
        <p:spPr>
          <a:xfrm>
            <a:off x="7989120" y="4528800"/>
            <a:ext cx="21240" cy="21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520" rIns="90000" bIns="-295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2" name="Oval 61"/>
          <p:cNvSpPr/>
          <p:nvPr/>
        </p:nvSpPr>
        <p:spPr>
          <a:xfrm>
            <a:off x="8211240" y="4506120"/>
            <a:ext cx="98280" cy="98280"/>
          </a:xfrm>
          <a:prstGeom prst="ellipse">
            <a:avLst/>
          </a:prstGeom>
          <a:solidFill>
            <a:srgbClr val="EA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4480" rIns="90000" bIns="24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3" name="Oval 62"/>
          <p:cNvSpPr/>
          <p:nvPr/>
        </p:nvSpPr>
        <p:spPr>
          <a:xfrm>
            <a:off x="8238600" y="4539600"/>
            <a:ext cx="43200" cy="43200"/>
          </a:xfrm>
          <a:prstGeom prst="ellipse">
            <a:avLst/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4040" rIns="90000" bIns="-140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4" name="Oval 63"/>
          <p:cNvSpPr/>
          <p:nvPr/>
        </p:nvSpPr>
        <p:spPr>
          <a:xfrm>
            <a:off x="8233920" y="4528800"/>
            <a:ext cx="21240" cy="21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520" rIns="90000" bIns="-295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5" name="Oval 64"/>
          <p:cNvSpPr/>
          <p:nvPr/>
        </p:nvSpPr>
        <p:spPr>
          <a:xfrm>
            <a:off x="7956000" y="4609080"/>
            <a:ext cx="80280" cy="80280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2240" rIns="90000" bIns="122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6" name="Oval 65"/>
          <p:cNvSpPr/>
          <p:nvPr/>
        </p:nvSpPr>
        <p:spPr>
          <a:xfrm>
            <a:off x="8240040" y="4609080"/>
            <a:ext cx="80280" cy="80280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2240" rIns="90000" bIns="122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7" name="Arc 66"/>
          <p:cNvSpPr/>
          <p:nvPr/>
        </p:nvSpPr>
        <p:spPr>
          <a:xfrm>
            <a:off x="8028360" y="4557240"/>
            <a:ext cx="219240" cy="219240"/>
          </a:xfrm>
          <a:prstGeom prst="arc">
            <a:avLst>
              <a:gd name="adj1" fmla="val 2500000"/>
              <a:gd name="adj2" fmla="val 15500000"/>
            </a:avLst>
          </a:prstGeom>
          <a:noFill/>
          <a:ln cap="rnd" w="32512">
            <a:solidFill>
              <a:srgbClr val="EAF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8" name="TextBox 67"/>
          <p:cNvSpPr/>
          <p:nvPr/>
        </p:nvSpPr>
        <p:spPr>
          <a:xfrm>
            <a:off x="567000" y="4590360"/>
            <a:ext cx="7131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defTabSz="457200">
              <a:lnSpc>
                <a:spcPct val="112000"/>
              </a:lnSpc>
            </a:pPr>
            <a:r>
              <a:rPr lang="zh-CN" sz="1300" b="1" u="none" strike="noStrike">
                <a:solidFill>
                  <a:srgbClr val="3D9BE9"/>
                </a:solidFill>
                <a:effectLst/>
                <a:uFillTx/>
                <a:latin typeface="Arial Rounded MT Bold"/>
                <a:ea typeface="Hiragino Sans GB"/>
              </a:rPr>
              <a:t>你都学会啦 —— 你已经比很多大人更懂 </a:t>
            </a:r>
            <a:r>
              <a:rPr lang="en-US" sz="1300" b="1" u="none" strike="noStrike">
                <a:solidFill>
                  <a:srgbClr val="3D9BE9"/>
                </a:solidFill>
                <a:effectLst/>
                <a:uFillTx/>
                <a:latin typeface="Arial Rounded MT Bold"/>
                <a:ea typeface="Hiragino Sans GB"/>
              </a:rPr>
              <a:t>AI </a:t>
            </a:r>
            <a:r>
              <a:rPr lang="zh-CN" sz="1300" b="1" u="none" strike="noStrike">
                <a:solidFill>
                  <a:srgbClr val="3D9BE9"/>
                </a:solidFill>
                <a:effectLst/>
                <a:uFillTx/>
                <a:latin typeface="Arial Rounded MT Bold"/>
                <a:ea typeface="Hiragino Sans GB"/>
              </a:rPr>
              <a:t>了！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Rectangl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gradFill rotWithShape="0">
            <a:gsLst>
              <a:gs pos="0">
                <a:srgbClr val="FFE1C4"/>
              </a:gs>
              <a:gs pos="100000">
                <a:srgbClr val="FFF3E4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0" name="Cloud 2"/>
          <p:cNvSpPr/>
          <p:nvPr/>
        </p:nvSpPr>
        <p:spPr>
          <a:xfrm>
            <a:off x="640080" y="548640"/>
            <a:ext cx="1462680" cy="822600"/>
          </a:xfrm>
          <a:prstGeom prst="cloud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1" name="Sun 3"/>
          <p:cNvSpPr/>
          <p:nvPr/>
        </p:nvSpPr>
        <p:spPr>
          <a:xfrm>
            <a:off x="7795440" y="388800"/>
            <a:ext cx="868320" cy="868320"/>
          </a:xfrm>
          <a:prstGeom prst="sun">
            <a:avLst>
              <a:gd name="adj" fmla="val 25000"/>
            </a:avLst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2" name="5-Point Star 4"/>
          <p:cNvSpPr/>
          <p:nvPr/>
        </p:nvSpPr>
        <p:spPr>
          <a:xfrm>
            <a:off x="3163680" y="374760"/>
            <a:ext cx="255600" cy="255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3" name="4-Point Star 5"/>
          <p:cNvSpPr/>
          <p:nvPr/>
        </p:nvSpPr>
        <p:spPr>
          <a:xfrm>
            <a:off x="4827960" y="758880"/>
            <a:ext cx="219240" cy="219240"/>
          </a:xfrm>
          <a:prstGeom prst="star4">
            <a:avLst>
              <a:gd name="adj" fmla="val 12500"/>
            </a:avLst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480" rIns="90000" bIns="-6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4" name="Heart 6"/>
          <p:cNvSpPr/>
          <p:nvPr/>
        </p:nvSpPr>
        <p:spPr>
          <a:xfrm>
            <a:off x="6446520" y="320040"/>
            <a:ext cx="273960" cy="273960"/>
          </a:xfrm>
          <a:prstGeom prst="heart">
            <a:avLst/>
          </a:prstGeom>
          <a:solidFill>
            <a:srgbClr val="3FC79A">
              <a:alpha val="9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5" name="Oval 7"/>
          <p:cNvSpPr/>
          <p:nvPr/>
        </p:nvSpPr>
        <p:spPr>
          <a:xfrm>
            <a:off x="1755720" y="1207080"/>
            <a:ext cx="145800" cy="145800"/>
          </a:xfrm>
          <a:prstGeom prst="ellipse">
            <a:avLst/>
          </a:prstGeom>
          <a:solidFill>
            <a:srgbClr val="9B7EDE">
              <a:alpha val="9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6" name="4-Point Star 8"/>
          <p:cNvSpPr/>
          <p:nvPr/>
        </p:nvSpPr>
        <p:spPr>
          <a:xfrm>
            <a:off x="7397640" y="1454040"/>
            <a:ext cx="200880" cy="200880"/>
          </a:xfrm>
          <a:prstGeom prst="star4">
            <a:avLst>
              <a:gd name="adj" fmla="val 12500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9720" rIns="90000" bIns="-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7" name="Rounded Rectangle 9"/>
          <p:cNvSpPr/>
          <p:nvPr/>
        </p:nvSpPr>
        <p:spPr>
          <a:xfrm>
            <a:off x="0" y="4526280"/>
            <a:ext cx="9143640" cy="617040"/>
          </a:xfrm>
          <a:prstGeom prst="roundRect">
            <a:avLst>
              <a:gd name="adj" fmla="val 14000"/>
            </a:avLst>
          </a:prstGeom>
          <a:solidFill>
            <a:srgbClr val="FDEB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8" name="Rounded Rectangle 10"/>
          <p:cNvSpPr/>
          <p:nvPr/>
        </p:nvSpPr>
        <p:spPr>
          <a:xfrm>
            <a:off x="7026120" y="1635120"/>
            <a:ext cx="120240" cy="60300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9" name="Oval 11"/>
          <p:cNvSpPr/>
          <p:nvPr/>
        </p:nvSpPr>
        <p:spPr>
          <a:xfrm>
            <a:off x="6905520" y="1413720"/>
            <a:ext cx="361800" cy="361800"/>
          </a:xfrm>
          <a:prstGeom prst="ellipse">
            <a:avLst/>
          </a:prstGeom>
          <a:solidFill>
            <a:srgbClr val="FFC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0" name="4-Point Star 12"/>
          <p:cNvSpPr/>
          <p:nvPr/>
        </p:nvSpPr>
        <p:spPr>
          <a:xfrm>
            <a:off x="6986160" y="1494000"/>
            <a:ext cx="200880" cy="200880"/>
          </a:xfrm>
          <a:prstGeom prst="star4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9720" rIns="90000" bIns="-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1" name="Rounded Rectangle 13"/>
          <p:cNvSpPr/>
          <p:nvPr/>
        </p:nvSpPr>
        <p:spPr>
          <a:xfrm>
            <a:off x="5940000" y="2841840"/>
            <a:ext cx="180720" cy="44208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2" name="Rounded Rectangle 14"/>
          <p:cNvSpPr/>
          <p:nvPr/>
        </p:nvSpPr>
        <p:spPr>
          <a:xfrm>
            <a:off x="8052120" y="2841840"/>
            <a:ext cx="180720" cy="44208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3" name="Rounded Rectangle 15"/>
          <p:cNvSpPr/>
          <p:nvPr/>
        </p:nvSpPr>
        <p:spPr>
          <a:xfrm>
            <a:off x="6080760" y="2198160"/>
            <a:ext cx="2011320" cy="1729800"/>
          </a:xfrm>
          <a:prstGeom prst="roundRect">
            <a:avLst>
              <a:gd name="adj" fmla="val 42000"/>
            </a:avLst>
          </a:prstGeom>
          <a:solidFill>
            <a:srgbClr val="3D9BE9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4" name="Rounded Rectangle 16"/>
          <p:cNvSpPr/>
          <p:nvPr/>
        </p:nvSpPr>
        <p:spPr>
          <a:xfrm>
            <a:off x="6322320" y="2567160"/>
            <a:ext cx="1528560" cy="1072440"/>
          </a:xfrm>
          <a:prstGeom prst="roundRect">
            <a:avLst>
              <a:gd name="adj" fmla="val 34000"/>
            </a:avLst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5" name="Oval 17"/>
          <p:cNvSpPr/>
          <p:nvPr/>
        </p:nvSpPr>
        <p:spPr>
          <a:xfrm>
            <a:off x="6614280" y="2881800"/>
            <a:ext cx="271080" cy="271080"/>
          </a:xfrm>
          <a:prstGeom prst="ellipse">
            <a:avLst/>
          </a:prstGeom>
          <a:solidFill>
            <a:srgbClr val="EA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6" name="Oval 18"/>
          <p:cNvSpPr/>
          <p:nvPr/>
        </p:nvSpPr>
        <p:spPr>
          <a:xfrm>
            <a:off x="6690600" y="2974320"/>
            <a:ext cx="119160" cy="119160"/>
          </a:xfrm>
          <a:prstGeom prst="ellipse">
            <a:avLst/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9600" rIns="90000" bIns="396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7" name="Oval 19"/>
          <p:cNvSpPr/>
          <p:nvPr/>
        </p:nvSpPr>
        <p:spPr>
          <a:xfrm>
            <a:off x="6676920" y="2944440"/>
            <a:ext cx="59400" cy="59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880" rIns="90000" bIns="-28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8" name="Oval 20"/>
          <p:cNvSpPr/>
          <p:nvPr/>
        </p:nvSpPr>
        <p:spPr>
          <a:xfrm>
            <a:off x="7287120" y="2881800"/>
            <a:ext cx="271080" cy="271080"/>
          </a:xfrm>
          <a:prstGeom prst="ellipse">
            <a:avLst/>
          </a:prstGeom>
          <a:solidFill>
            <a:srgbClr val="EA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9" name="Oval 21"/>
          <p:cNvSpPr/>
          <p:nvPr/>
        </p:nvSpPr>
        <p:spPr>
          <a:xfrm>
            <a:off x="7363080" y="2974320"/>
            <a:ext cx="119160" cy="119160"/>
          </a:xfrm>
          <a:prstGeom prst="ellipse">
            <a:avLst/>
          </a:prstGeom>
          <a:solidFill>
            <a:srgbClr val="2E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9600" rIns="90000" bIns="396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0" name="Oval 22"/>
          <p:cNvSpPr/>
          <p:nvPr/>
        </p:nvSpPr>
        <p:spPr>
          <a:xfrm>
            <a:off x="7349760" y="2944440"/>
            <a:ext cx="59400" cy="59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880" rIns="90000" bIns="-28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1" name="Oval 23"/>
          <p:cNvSpPr/>
          <p:nvPr/>
        </p:nvSpPr>
        <p:spPr>
          <a:xfrm>
            <a:off x="6585120" y="3165120"/>
            <a:ext cx="221040" cy="221040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2" name="Oval 24"/>
          <p:cNvSpPr/>
          <p:nvPr/>
        </p:nvSpPr>
        <p:spPr>
          <a:xfrm>
            <a:off x="7366680" y="3165120"/>
            <a:ext cx="221040" cy="221040"/>
          </a:xfrm>
          <a:prstGeom prst="ellipse">
            <a:avLst/>
          </a:prstGeom>
          <a:solidFill>
            <a:srgbClr val="FF8FA3">
              <a:alpha val="8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3" name="Arc 25"/>
          <p:cNvSpPr/>
          <p:nvPr/>
        </p:nvSpPr>
        <p:spPr>
          <a:xfrm>
            <a:off x="6784920" y="3022920"/>
            <a:ext cx="603000" cy="603000"/>
          </a:xfrm>
          <a:prstGeom prst="arc">
            <a:avLst>
              <a:gd name="adj1" fmla="val 2500000"/>
              <a:gd name="adj2" fmla="val 15500000"/>
            </a:avLst>
          </a:prstGeom>
          <a:noFill/>
          <a:ln cap="rnd" w="89408">
            <a:solidFill>
              <a:srgbClr val="EAF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4" name="Rounded Rectangle 26"/>
          <p:cNvSpPr/>
          <p:nvPr/>
        </p:nvSpPr>
        <p:spPr>
          <a:xfrm>
            <a:off x="6382440" y="3888000"/>
            <a:ext cx="1407960" cy="844560"/>
          </a:xfrm>
          <a:prstGeom prst="roundRect">
            <a:avLst>
              <a:gd name="adj" fmla="val 45000"/>
            </a:avLst>
          </a:prstGeom>
          <a:solidFill>
            <a:srgbClr val="3D9BE9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5" name="Rounded Rectangle 27"/>
          <p:cNvSpPr/>
          <p:nvPr/>
        </p:nvSpPr>
        <p:spPr>
          <a:xfrm rot="20400000">
            <a:off x="6060600" y="3927960"/>
            <a:ext cx="402120" cy="18072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6" name="Rounded Rectangle 28"/>
          <p:cNvSpPr/>
          <p:nvPr/>
        </p:nvSpPr>
        <p:spPr>
          <a:xfrm rot="2700000">
            <a:off x="7689960" y="3566160"/>
            <a:ext cx="402120" cy="180720"/>
          </a:xfrm>
          <a:prstGeom prst="roundRect">
            <a:avLst>
              <a:gd name="adj" fmla="val 16667"/>
            </a:avLst>
          </a:prstGeom>
          <a:solidFill>
            <a:srgbClr val="3D9B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7" name="Heart 29"/>
          <p:cNvSpPr/>
          <p:nvPr/>
        </p:nvSpPr>
        <p:spPr>
          <a:xfrm>
            <a:off x="5696640" y="1947600"/>
            <a:ext cx="310680" cy="310680"/>
          </a:xfrm>
          <a:prstGeom prst="heart">
            <a:avLst/>
          </a:prstGeom>
          <a:solidFill>
            <a:srgbClr val="FF6B6B">
              <a:alpha val="9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8" name="Heart 30"/>
          <p:cNvSpPr/>
          <p:nvPr/>
        </p:nvSpPr>
        <p:spPr>
          <a:xfrm>
            <a:off x="8247960" y="2395800"/>
            <a:ext cx="237240" cy="237240"/>
          </a:xfrm>
          <a:prstGeom prst="heart">
            <a:avLst/>
          </a:prstGeom>
          <a:solidFill>
            <a:srgbClr val="9B7EDE">
              <a:alpha val="9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9" name="Rounded Rectangle 31"/>
          <p:cNvSpPr/>
          <p:nvPr/>
        </p:nvSpPr>
        <p:spPr>
          <a:xfrm>
            <a:off x="713160" y="1508760"/>
            <a:ext cx="2285640" cy="438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45720" dir="5400000" dist="41040" rotWithShape="0">
              <a:srgbClr val="8A6D5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0" name="TextBox 32"/>
          <p:cNvSpPr/>
          <p:nvPr/>
        </p:nvSpPr>
        <p:spPr>
          <a:xfrm>
            <a:off x="713160" y="1508760"/>
            <a:ext cx="22856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spAutoFit/>
          </a:bodyPr>
          <a:p>
            <a:pPr algn="ctr" defTabSz="457200">
              <a:lnSpc>
                <a:spcPct val="112000"/>
              </a:lnSpc>
            </a:pPr>
            <a:r>
              <a:rPr lang="zh-CN" sz="1300" b="1" u="none" strike="noStrike">
                <a:solidFill>
                  <a:srgbClr val="2274B0"/>
                </a:solidFill>
                <a:effectLst/>
                <a:uFillTx/>
                <a:latin typeface="Arial Rounded MT Bold"/>
                <a:ea typeface="Hiragino Sans GB"/>
              </a:rPr>
              <a:t>最后，记住一句话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Box 33"/>
          <p:cNvSpPr/>
          <p:nvPr/>
        </p:nvSpPr>
        <p:spPr>
          <a:xfrm>
            <a:off x="658440" y="2148840"/>
            <a:ext cx="56689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300"/>
              </a:spcAft>
            </a:pPr>
            <a:r>
              <a:rPr lang="zh-CN" sz="340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工具再聪明，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300"/>
              </a:spcAft>
            </a:pPr>
            <a:r>
              <a:rPr lang="zh-CN" sz="3400" b="1" u="none" strike="noStrike">
                <a:solidFill>
                  <a:srgbClr val="2E2A4A"/>
                </a:solidFill>
                <a:effectLst/>
                <a:uFillTx/>
                <a:latin typeface="Arial Rounded MT Bold"/>
                <a:ea typeface="Hiragino Sans GB"/>
              </a:rPr>
              <a:t>做决定的还是你。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Box 34"/>
          <p:cNvSpPr/>
          <p:nvPr/>
        </p:nvSpPr>
        <p:spPr>
          <a:xfrm>
            <a:off x="749880" y="370332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  <a:spcAft>
                <a:spcPts val="300"/>
              </a:spcAft>
            </a:pPr>
            <a:r>
              <a:rPr lang="zh-CN" sz="1500" b="1" u="none" strike="noStrike">
                <a:solidFill>
                  <a:srgbClr val="504A6E"/>
                </a:solidFill>
                <a:effectLst/>
                <a:uFillTx/>
                <a:latin typeface="Arial Rounded MT Bold"/>
                <a:ea typeface="Hiragino Sans GB"/>
              </a:rPr>
              <a:t>带着好奇心，去发现更多有意思的事吧！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Box 35"/>
          <p:cNvSpPr/>
          <p:nvPr/>
        </p:nvSpPr>
        <p:spPr>
          <a:xfrm>
            <a:off x="567000" y="482796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950" b="1" u="none" strike="noStrike">
                <a:solidFill>
                  <a:srgbClr val="6E6788"/>
                </a:solidFill>
                <a:effectLst/>
                <a:uFillTx/>
                <a:latin typeface="Arial Rounded MT Bold"/>
                <a:ea typeface="Hiragino Sans GB"/>
              </a:rPr>
              <a:t>slide-maker · </a:t>
            </a:r>
            <a:r>
              <a:rPr lang="zh-CN" sz="950" b="1" u="none" strike="noStrike">
                <a:solidFill>
                  <a:srgbClr val="6E6788"/>
                </a:solidFill>
                <a:effectLst/>
                <a:uFillTx/>
                <a:latin typeface="Arial Rounded MT Bold"/>
                <a:ea typeface="Hiragino Sans GB"/>
              </a:rPr>
              <a:t>示例模板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LibreOffice/26.2.4.2$MacOSX_AARCH64 LibreOffice_project/0229ac93fcf0d7cbc6376066c6f35021cef002dc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zh-CN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