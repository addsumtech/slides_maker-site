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" title=""/>
          <p:cNvPicPr>
            <a:picLocks noChangeAspect="1"/>
          </p:cNvPicPr>
          <p:nvPr/>
        </p:nvPicPr>
        <p:blipFill>
          <a:blip r:embed="rId2"/>
          <a:srcRect t="7812" b="781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40000"/>
                </a:srgbClr>
              </a:gs>
              <a:gs pos="52000">
                <a:srgbClr val="000000">
                  <a:alpha val="50000"/>
                </a:srgbClr>
              </a:gs>
              <a:gs pos="100000">
                <a:srgbClr val="000000">
                  <a:alpha val="52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091939"/>
            <a:ext cx="9144000" cy="1051560"/>
          </a:xfrm>
          <a:prstGeom prst="rect">
            <a:avLst/>
          </a:prstGeom>
          <a:gradFill>
            <a:gsLst>
              <a:gs pos="0">
                <a:srgbClr val="0E0D13">
                  <a:alpha val="0"/>
                </a:srgbClr>
              </a:gs>
              <a:gs pos="100000">
                <a:srgbClr val="000000">
                  <a:alpha val="85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7863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3A"/>
                </a:solidFill>
                <a:latin typeface="Helvetica Neue"/>
                <a:ea typeface="Hiragino Sans GB"/>
              </a:rPr>
              <a:t>生 涯 回 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17904"/>
            <a:ext cx="7863840" cy="10515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6200" b="0" i="0">
                <a:solidFill>
                  <a:srgbClr val="F3EFE6"/>
                </a:solidFill>
                <a:latin typeface="Didot"/>
                <a:ea typeface="Hiragino Sans GB"/>
              </a:rPr>
              <a:t>迈克尔·杰克逊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15184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>
                <a:solidFill>
                  <a:srgbClr val="E8B23A"/>
                </a:solidFill>
                <a:latin typeface="Didot"/>
                <a:ea typeface="Hiragino Sans GB"/>
              </a:rPr>
              <a:t>流行音乐之王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3310128"/>
            <a:ext cx="1280160" cy="3657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493008"/>
            <a:ext cx="78638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BC5D2"/>
                </a:solidFill>
                <a:latin typeface="Helvetica Neue"/>
                <a:ea typeface="Hiragino Sans GB"/>
              </a:rPr>
              <a:t>从 Jackson 5 到全球偶像 —— 十四页回顾一生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443984"/>
            <a:ext cx="7863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58EA0"/>
                </a:solidFill>
                <a:latin typeface="Helvetica Neue"/>
                <a:ea typeface="Hiragino Sans GB"/>
              </a:rPr>
              <a:t>1958  —  2009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28032"/>
            <a:ext cx="78638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58EA0"/>
                </a:solidFill>
                <a:latin typeface="Helvetica Neue"/>
                <a:ea typeface="Hiragino Sans GB"/>
              </a:rPr>
              <a:t>示例模板  ·  SLIDE-MAKER 出品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23A"/>
                </a:solidFill>
                <a:latin typeface="Helvetica Neue"/>
                <a:ea typeface="Hiragino Sans GB"/>
              </a:rPr>
              <a:t>生涯轨迹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  <a:ea typeface="Hiragino Sans GB"/>
              </a:rPr>
              <a:t>一生，以无数「第一」为刻度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B23A"/>
                </a:solidFill>
                <a:latin typeface="Didot"/>
                <a:ea typeface="Hiragino Sans GB"/>
              </a:rPr>
              <a:t>MJ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61084"/>
            <a:ext cx="4343400" cy="2743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BC5D2"/>
                </a:solidFill>
                <a:latin typeface="Helvetica Neue"/>
                <a:ea typeface="Hiragino Sans GB"/>
              </a:rPr>
              <a:t>1958 年生于印第安纳州加里市，迈克尔·杰克逊从摩城组合里最年轻的那把嗓音，一路成为全世界最著名的艺人。四十年间，他重新定义了一张流行唱片、一支音乐录影带、一场现场演出能达到的高度，也成了此后每一位全球流行巨星被拿来对照的标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10912" y="1561084"/>
            <a:ext cx="18288" cy="2880360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0" y="1533652"/>
            <a:ext cx="3291840" cy="66040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B23A"/>
                </a:solidFill>
                <a:latin typeface="Helvetica Neue"/>
                <a:ea typeface="Hiragino Sans GB"/>
              </a:rPr>
              <a:t>400M+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21807" y="2183892"/>
            <a:ext cx="329184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C5D2"/>
                </a:solidFill>
                <a:latin typeface="Helvetica Neue"/>
                <a:ea typeface="Hiragino Sans GB"/>
              </a:rPr>
              <a:t>全球唱片销量（估计）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2448052"/>
            <a:ext cx="3291840" cy="66040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B23A"/>
                </a:solidFill>
                <a:latin typeface="Helvetica Neue"/>
                <a:ea typeface="Hiragino Sans GB"/>
              </a:rPr>
              <a:t>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1807" y="3098292"/>
            <a:ext cx="329184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C5D2"/>
                </a:solidFill>
                <a:latin typeface="Helvetica Neue"/>
                <a:ea typeface="Hiragino Sans GB"/>
              </a:rPr>
              <a:t>个人在美国的冠军单曲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3362452"/>
            <a:ext cx="3291840" cy="66040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E8B23A"/>
                </a:solidFill>
                <a:latin typeface="Helvetica Neue"/>
                <a:ea typeface="Hiragino Sans GB"/>
              </a:rPr>
              <a:t>67M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21807" y="4012692"/>
            <a:ext cx="3291840" cy="64008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C5D2"/>
                </a:solidFill>
                <a:latin typeface="Helvetica Neue"/>
                <a:ea typeface="Hiragino Sans GB"/>
              </a:rPr>
              <a:t>《Thriller》销量，史上最畅销专辑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B23A"/>
                </a:solidFill>
                <a:latin typeface="Helvetica Neue"/>
                <a:ea typeface="Hiragino Sans GB"/>
              </a:rPr>
              <a:t>迈克尔·杰克逊</a:t>
            </a: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   ·   流行音乐之王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23A"/>
                </a:solidFill>
                <a:latin typeface="Helvetica Neue"/>
                <a:ea typeface="Hiragino Sans GB"/>
              </a:rPr>
              <a:t>1969–1975 · JACKSON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  <a:ea typeface="Hiragino Sans GB"/>
              </a:rPr>
              <a:t>四支单曲，四次登顶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B23A"/>
                </a:solidFill>
                <a:latin typeface="Didot"/>
                <a:ea typeface="Hiragino Sans GB"/>
              </a:rPr>
              <a:t>MJ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15364"/>
            <a:ext cx="786384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BC5D2"/>
                </a:solidFill>
                <a:latin typeface="Helvetica Neue"/>
                <a:ea typeface="Hiragino Sans GB"/>
              </a:rPr>
              <a:t>1968 年签约摩城，来自加里市的五兄弟很快改写了历史。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999232"/>
            <a:ext cx="1792224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23A"/>
                </a:solidFill>
                <a:latin typeface="Helvetica Neue"/>
                <a:ea typeface="Hiragino Sans GB"/>
              </a:rPr>
              <a:t>N o .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" y="3310128"/>
            <a:ext cx="1792224" cy="841248"/>
          </a:xfrm>
          <a:prstGeom prst="roundRect">
            <a:avLst>
              <a:gd name="adj" fmla="val 9782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7512" y="3310128"/>
            <a:ext cx="54864" cy="841248"/>
          </a:xfrm>
          <a:prstGeom prst="roundRect">
            <a:avLst>
              <a:gd name="adj" fmla="val 5000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438144"/>
            <a:ext cx="1499616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3EFE6"/>
                </a:solidFill>
                <a:latin typeface="Helvetica Neue"/>
                <a:ea typeface="Hiragino Sans GB"/>
              </a:rPr>
              <a:t>I Want You 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785615"/>
            <a:ext cx="1499616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8EA0"/>
                </a:solidFill>
                <a:latin typeface="Helvetica Neue"/>
                <a:ea typeface="Hiragino Sans GB"/>
              </a:rPr>
              <a:t>1969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9736" y="3767328"/>
            <a:ext cx="164592" cy="27432"/>
          </a:xfrm>
          <a:prstGeom prst="rect">
            <a:avLst/>
          </a:prstGeom>
          <a:solidFill>
            <a:srgbClr val="B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40" y="2633472"/>
            <a:ext cx="1792224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23A"/>
                </a:solidFill>
                <a:latin typeface="Helvetica Neue"/>
                <a:ea typeface="Hiragino Sans GB"/>
              </a:rPr>
              <a:t>N o . 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06040" y="2944368"/>
            <a:ext cx="1792224" cy="841248"/>
          </a:xfrm>
          <a:prstGeom prst="roundRect">
            <a:avLst>
              <a:gd name="adj" fmla="val 9782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606040" y="2944368"/>
            <a:ext cx="54864" cy="841248"/>
          </a:xfrm>
          <a:prstGeom prst="roundRect">
            <a:avLst>
              <a:gd name="adj" fmla="val 5000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79776" y="3072384"/>
            <a:ext cx="1499616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3EFE6"/>
                </a:solidFill>
                <a:latin typeface="Helvetica Neue"/>
                <a:ea typeface="Hiragino Sans GB"/>
              </a:rPr>
              <a:t>ABC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9776" y="3419856"/>
            <a:ext cx="1499616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8EA0"/>
                </a:solidFill>
                <a:latin typeface="Helvetica Neue"/>
                <a:ea typeface="Hiragino Sans GB"/>
              </a:rPr>
              <a:t>1970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98264" y="3401568"/>
            <a:ext cx="164592" cy="27432"/>
          </a:xfrm>
          <a:prstGeom prst="rect">
            <a:avLst/>
          </a:prstGeom>
          <a:solidFill>
            <a:srgbClr val="B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2267712"/>
            <a:ext cx="1792224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23A"/>
                </a:solidFill>
                <a:latin typeface="Helvetica Neue"/>
                <a:ea typeface="Hiragino Sans GB"/>
              </a:rPr>
              <a:t>N o .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44568" y="2578608"/>
            <a:ext cx="1792224" cy="841248"/>
          </a:xfrm>
          <a:prstGeom prst="roundRect">
            <a:avLst>
              <a:gd name="adj" fmla="val 9782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44568" y="2578608"/>
            <a:ext cx="54864" cy="841248"/>
          </a:xfrm>
          <a:prstGeom prst="roundRect">
            <a:avLst>
              <a:gd name="adj" fmla="val 5000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18304" y="2706624"/>
            <a:ext cx="1499616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3EFE6"/>
                </a:solidFill>
                <a:latin typeface="Helvetica Neue"/>
                <a:ea typeface="Hiragino Sans GB"/>
              </a:rPr>
              <a:t>The Love You Save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3054096"/>
            <a:ext cx="1499616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8EA0"/>
                </a:solidFill>
                <a:latin typeface="Helvetica Neue"/>
                <a:ea typeface="Hiragino Sans GB"/>
              </a:rPr>
              <a:t>1970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36792" y="3035808"/>
            <a:ext cx="164592" cy="27432"/>
          </a:xfrm>
          <a:prstGeom prst="rect">
            <a:avLst/>
          </a:prstGeom>
          <a:solidFill>
            <a:srgbClr val="B9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83096" y="1901952"/>
            <a:ext cx="1792224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23A"/>
                </a:solidFill>
                <a:latin typeface="Helvetica Neue"/>
                <a:ea typeface="Hiragino Sans GB"/>
              </a:rPr>
              <a:t>N o .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83096" y="2212848"/>
            <a:ext cx="1792224" cy="841248"/>
          </a:xfrm>
          <a:prstGeom prst="roundRect">
            <a:avLst>
              <a:gd name="adj" fmla="val 9782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83096" y="2212848"/>
            <a:ext cx="54864" cy="841248"/>
          </a:xfrm>
          <a:prstGeom prst="roundRect">
            <a:avLst>
              <a:gd name="adj" fmla="val 5000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2" y="2340864"/>
            <a:ext cx="1499616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3EFE6"/>
                </a:solidFill>
                <a:latin typeface="Helvetica Neue"/>
                <a:ea typeface="Hiragino Sans GB"/>
              </a:rPr>
              <a:t>I'll Be There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2688336"/>
            <a:ext cx="1499616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8EA0"/>
                </a:solidFill>
                <a:latin typeface="Helvetica Neue"/>
                <a:ea typeface="Hiragino Sans GB"/>
              </a:rPr>
              <a:t>1970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297680"/>
            <a:ext cx="7863840" cy="3108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8B23A"/>
                </a:solidFill>
                <a:latin typeface="Helvetica Neue"/>
                <a:ea typeface="Hiragino Sans GB"/>
              </a:rPr>
              <a:t>史上首个出道即拿下 Billboard Hot 100 四连冠的组合。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B23A"/>
                </a:solidFill>
                <a:latin typeface="Helvetica Neue"/>
                <a:ea typeface="Hiragino Sans GB"/>
              </a:rPr>
              <a:t>迈克尔·杰克逊</a:t>
            </a: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   ·   流行音乐之王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23A"/>
                </a:solidFill>
                <a:latin typeface="Helvetica Neue"/>
                <a:ea typeface="Hiragino Sans GB"/>
              </a:rPr>
              <a:t>1979 · OFF THE WALL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  <a:ea typeface="Hiragino Sans GB"/>
              </a:rPr>
              <a:t>从神童到艺术家的转身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B23A"/>
                </a:solidFill>
                <a:latin typeface="Didot"/>
                <a:ea typeface="Hiragino Sans GB"/>
              </a:rPr>
              <a:t>MJ</a:t>
            </a:r>
          </a:p>
        </p:txBody>
      </p:sp>
      <p:sp>
        <p:nvSpPr>
          <p:cNvPr id="7" name="Oval 6"/>
          <p:cNvSpPr/>
          <p:nvPr/>
        </p:nvSpPr>
        <p:spPr>
          <a:xfrm>
            <a:off x="987551" y="1588516"/>
            <a:ext cx="2688336" cy="2688336"/>
          </a:xfrm>
          <a:prstGeom prst="ellipse">
            <a:avLst/>
          </a:prstGeom>
          <a:solidFill>
            <a:srgbClr val="17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33271" y="1634236"/>
            <a:ext cx="2596896" cy="2596896"/>
          </a:xfrm>
          <a:prstGeom prst="ellipse">
            <a:avLst/>
          </a:prstGeom>
          <a:noFill/>
          <a:ln w="2794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4567" y="1745531"/>
            <a:ext cx="2374304" cy="2374304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55863" y="1856827"/>
            <a:ext cx="2151713" cy="2151713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67158" y="1968122"/>
            <a:ext cx="1929122" cy="1929122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78454" y="2079418"/>
            <a:ext cx="1706531" cy="1706531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589749" y="2190713"/>
            <a:ext cx="1483940" cy="1483940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701045" y="2302009"/>
            <a:ext cx="1261349" cy="1261349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942185" y="2543149"/>
            <a:ext cx="779068" cy="779068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273289" y="2874253"/>
            <a:ext cx="116860" cy="116860"/>
          </a:xfrm>
          <a:prstGeom prst="ellipse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588516"/>
            <a:ext cx="3977639" cy="10668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BC5D2"/>
                </a:solidFill>
                <a:latin typeface="Helvetica Neue"/>
                <a:ea typeface="Hiragino Sans GB"/>
              </a:rPr>
              <a:t>与制作人昆西·琼斯再度合作，这张真正成熟的个人专辑把迪斯科、放克与流行熔于一体，光洁利落、辨识度十足 —— 也成了他此后一切的起跳板。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112516"/>
            <a:ext cx="1554480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  <a:latin typeface="Helvetica Neue"/>
                <a:ea typeface="Hiragino Sans GB"/>
              </a:rPr>
              <a:t>发行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094228"/>
            <a:ext cx="2377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3EFE6"/>
                </a:solidFill>
                <a:latin typeface="Helvetica Neue"/>
                <a:ea typeface="Hiragino Sans GB"/>
              </a:rPr>
              <a:t>1979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3423412"/>
            <a:ext cx="3977639" cy="7315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3551428"/>
            <a:ext cx="1554480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  <a:latin typeface="Helvetica Neue"/>
                <a:ea typeface="Hiragino Sans GB"/>
              </a:rPr>
              <a:t>制作人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533140"/>
            <a:ext cx="2377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3EFE6"/>
                </a:solidFill>
                <a:latin typeface="Helvetica Neue"/>
                <a:ea typeface="Hiragino Sans GB"/>
              </a:rPr>
              <a:t>昆西·琼斯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3862324"/>
            <a:ext cx="3977639" cy="7315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3990340"/>
            <a:ext cx="1554480" cy="237744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8B23A"/>
                </a:solidFill>
                <a:latin typeface="Helvetica Neue"/>
                <a:ea typeface="Hiragino Sans GB"/>
              </a:rPr>
              <a:t>曲风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972052"/>
            <a:ext cx="2377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3EFE6"/>
                </a:solidFill>
                <a:latin typeface="Helvetica Neue"/>
                <a:ea typeface="Hiragino Sans GB"/>
              </a:rPr>
              <a:t>迪斯科 · 放克 · 流行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4301236"/>
            <a:ext cx="3977639" cy="7315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B23A"/>
                </a:solidFill>
                <a:latin typeface="Helvetica Neue"/>
                <a:ea typeface="Hiragino Sans GB"/>
              </a:rPr>
              <a:t>迈克尔·杰克逊</a:t>
            </a: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   ·   流行音乐之王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4320" y="822960"/>
            <a:ext cx="5120640" cy="3566160"/>
          </a:xfrm>
          <a:prstGeom prst="ellipse">
            <a:avLst/>
          </a:prstGeom>
          <a:gradFill>
            <a:gsLst>
              <a:gs pos="0">
                <a:srgbClr val="E8B23A">
                  <a:alpha val="9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23A"/>
                </a:solidFill>
                <a:latin typeface="Helvetica Neue"/>
                <a:ea typeface="Hiragino Sans GB"/>
              </a:rPr>
              <a:t>1982 · THRILLER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  <a:ea typeface="Hiragino Sans GB"/>
              </a:rPr>
              <a:t>史上最畅销的专辑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B23A"/>
                </a:solidFill>
                <a:latin typeface="Didot"/>
                <a:ea typeface="Hiragino Sans GB"/>
              </a:rPr>
              <a:t>MJ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70228"/>
            <a:ext cx="301752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0" b="1" i="0">
                <a:solidFill>
                  <a:srgbClr val="E8B23A"/>
                </a:solidFill>
                <a:latin typeface="Helvetica Neue"/>
                <a:ea typeface="Hiragino Sans GB"/>
              </a:rPr>
              <a:t>67M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60116"/>
            <a:ext cx="2880360" cy="8229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3EFE6"/>
                </a:solidFill>
                <a:latin typeface="Helvetica Neue"/>
                <a:ea typeface="Hiragino Sans GB"/>
              </a:rPr>
              <a:t>全球销量（估计）—— 至今没有一张专辑卖得更多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1570228"/>
            <a:ext cx="1536192" cy="1828800"/>
          </a:xfrm>
          <a:prstGeom prst="roundRect">
            <a:avLst>
              <a:gd name="adj" fmla="val 5952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 Same Side Corner Rectangle 10"/>
          <p:cNvSpPr/>
          <p:nvPr/>
        </p:nvSpPr>
        <p:spPr>
          <a:xfrm>
            <a:off x="3703320" y="1570228"/>
            <a:ext cx="1536192" cy="457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04487" y="1789684"/>
            <a:ext cx="1133856" cy="64008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8B23A"/>
                </a:solidFill>
                <a:latin typeface="Helvetica Neue"/>
                <a:ea typeface="Hiragino Sans GB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4487" y="2539492"/>
            <a:ext cx="1133856" cy="7680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BC5D2"/>
                </a:solidFill>
                <a:latin typeface="Helvetica Neue"/>
                <a:ea typeface="Hiragino Sans GB"/>
              </a:rPr>
              <a:t>一夜之内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BC5D2"/>
                </a:solidFill>
                <a:latin typeface="Helvetica Neue"/>
                <a:ea typeface="Hiragino Sans GB"/>
              </a:rPr>
              <a:t>格莱美 (1984)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58968" y="1570228"/>
            <a:ext cx="1536192" cy="1828800"/>
          </a:xfrm>
          <a:prstGeom prst="roundRect">
            <a:avLst>
              <a:gd name="adj" fmla="val 5952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 Same Side Corner Rectangle 14"/>
          <p:cNvSpPr/>
          <p:nvPr/>
        </p:nvSpPr>
        <p:spPr>
          <a:xfrm>
            <a:off x="5458968" y="1570228"/>
            <a:ext cx="1536192" cy="457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0136" y="1789684"/>
            <a:ext cx="1133856" cy="64008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8B23A"/>
                </a:solidFill>
                <a:latin typeface="Helvetica Neue"/>
                <a:ea typeface="Hiragino Sans GB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0136" y="2539492"/>
            <a:ext cx="1133856" cy="7680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BC5D2"/>
                </a:solidFill>
                <a:latin typeface="Helvetica Neue"/>
                <a:ea typeface="Hiragino Sans GB"/>
              </a:rPr>
              <a:t>支单曲进入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BC5D2"/>
                </a:solidFill>
                <a:latin typeface="Helvetica Neue"/>
                <a:ea typeface="Hiragino Sans GB"/>
              </a:rPr>
              <a:t>全美 Top 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14616" y="1570228"/>
            <a:ext cx="1536192" cy="1828800"/>
          </a:xfrm>
          <a:prstGeom prst="roundRect">
            <a:avLst>
              <a:gd name="adj" fmla="val 5952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 Same Side Corner Rectangle 18"/>
          <p:cNvSpPr/>
          <p:nvPr/>
        </p:nvSpPr>
        <p:spPr>
          <a:xfrm>
            <a:off x="7214616" y="1570228"/>
            <a:ext cx="1536192" cy="457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3" y="1789684"/>
            <a:ext cx="1133856" cy="640080"/>
          </a:xfrm>
          <a:prstGeom prst="rect">
            <a:avLst/>
          </a:prstGeom>
          <a:noFill/>
          <a:ln/>
        </p:spPr>
        <p:txBody>
          <a:bodyPr wrap="non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E8B23A"/>
                </a:solidFill>
                <a:latin typeface="Helvetica Neue"/>
                <a:ea typeface="Hiragino Sans GB"/>
              </a:rPr>
              <a:t>30×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3" y="2539492"/>
            <a:ext cx="1133856" cy="76809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BC5D2"/>
                </a:solidFill>
                <a:latin typeface="Helvetica Neue"/>
                <a:ea typeface="Hiragino Sans GB"/>
              </a:rPr>
              <a:t>白金认证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BC5D2"/>
                </a:solidFill>
                <a:latin typeface="Helvetica Neue"/>
                <a:ea typeface="Hiragino Sans GB"/>
              </a:rPr>
              <a:t>史上首张 (RIAA)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059936"/>
            <a:ext cx="7863840" cy="548640"/>
          </a:xfrm>
          <a:prstGeom prst="roundRect">
            <a:avLst>
              <a:gd name="adj" fmla="val 13333"/>
            </a:avLst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5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7" y="4059936"/>
            <a:ext cx="7461504" cy="5486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3EFE6"/>
                </a:solidFill>
                <a:latin typeface="Helvetica Neue"/>
                <a:ea typeface="Hiragino Sans GB"/>
              </a:rPr>
              <a:t>一夜之内八座格莱美，创下当时纪录（1984 年 2 月 28 日）—— </a:t>
            </a:r>
            <a:r>
              <a:rPr sz="1200" b="1" i="1">
                <a:solidFill>
                  <a:srgbClr val="E8B23A"/>
                </a:solidFill>
                <a:latin typeface="Helvetica Neue"/>
                <a:ea typeface="Hiragino Sans GB"/>
              </a:rPr>
              <a:t>Billie Jean</a:t>
            </a:r>
            <a:r>
              <a:rPr sz="1200" b="0" i="0">
                <a:solidFill>
                  <a:srgbClr val="F3EFE6"/>
                </a:solidFill>
                <a:latin typeface="Helvetica Neue"/>
                <a:ea typeface="Hiragino Sans GB"/>
              </a:rPr>
              <a:t> 与 </a:t>
            </a:r>
            <a:r>
              <a:rPr sz="1200" b="1" i="1">
                <a:solidFill>
                  <a:srgbClr val="E8B23A"/>
                </a:solidFill>
                <a:latin typeface="Helvetica Neue"/>
                <a:ea typeface="Hiragino Sans GB"/>
              </a:rPr>
              <a:t>Beat It</a:t>
            </a:r>
            <a:r>
              <a:rPr sz="1200" b="0" i="0">
                <a:solidFill>
                  <a:srgbClr val="F3EFE6"/>
                </a:solidFill>
                <a:latin typeface="Helvetica Neue"/>
                <a:ea typeface="Hiragino Sans GB"/>
              </a:rPr>
              <a:t> 双双登顶 Hot 100。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B23A"/>
                </a:solidFill>
                <a:latin typeface="Helvetica Neue"/>
                <a:ea typeface="Hiragino Sans GB"/>
              </a:rPr>
              <a:t>迈克尔·杰克逊</a:t>
            </a: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   ·   流行音乐之王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" title=""/>
          <p:cNvPicPr>
            <a:picLocks noChangeAspect="1"/>
          </p:cNvPicPr>
          <p:nvPr/>
        </p:nvPicPr>
        <p:blipFill>
          <a:blip r:embed="rId2"/>
          <a:srcRect l="13556" r="13556"/>
          <a:stretch>
            <a:fillRect/>
          </a:stretch>
        </p:blipFill>
        <p:spPr>
          <a:xfrm>
            <a:off x="5394960" y="0"/>
            <a:ext cx="3749039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gradFill>
            <a:gsLst>
              <a:gs pos="0">
                <a:srgbClr val="0E0D13">
                  <a:alpha val="100000"/>
                </a:srgbClr>
              </a:gs>
              <a:gs pos="34000">
                <a:srgbClr val="0E0D13">
                  <a:alpha val="16000"/>
                </a:srgbClr>
              </a:gs>
              <a:gs pos="62000">
                <a:srgbClr val="0E0D13">
                  <a:alpha val="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8B23A"/>
                </a:solidFill>
                <a:latin typeface="Helvetica Neue"/>
                <a:ea typeface="Hiragino Sans GB"/>
              </a:rPr>
              <a:t>1 9 8 3 年 5 月 1 6 日   ·   M O T O W N   2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4572000" cy="12344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0" i="0">
                <a:solidFill>
                  <a:srgbClr val="E8B23A"/>
                </a:solidFill>
                <a:latin typeface="Didot"/>
                <a:ea typeface="Hiragino Sans GB"/>
              </a:rPr>
              <a:t>太空步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0" i="0">
                <a:solidFill>
                  <a:srgbClr val="F3EFE6"/>
                </a:solidFill>
                <a:latin typeface="Didot"/>
                <a:ea typeface="Hiragino Sans GB"/>
              </a:rPr>
              <a:t>登场的那一夜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75887"/>
            <a:ext cx="4572000" cy="12801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C5D2"/>
                </a:solidFill>
                <a:latin typeface="Helvetica Neue"/>
                <a:ea typeface="Hiragino Sans GB"/>
              </a:rPr>
              <a:t>在 NBC 播出的 Motown 25 周年特别节目上，杰克逊表演《Billie Jean》时向后滑过舞台，首次亮出了那个日后定义他的动作。约 4700 万观众目睹了这一幕 —— 《Thriller》也随之再攀新高。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23A"/>
                </a:solidFill>
                <a:latin typeface="Helvetica Neue"/>
                <a:ea typeface="Hiragino Sans GB"/>
              </a:rPr>
              <a:t>1983 年 12 月 · 那部短片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  <a:ea typeface="Hiragino Sans GB"/>
              </a:rPr>
              <a:t>他把音乐录影带拍成了电影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B23A"/>
                </a:solidFill>
                <a:latin typeface="Didot"/>
                <a:ea typeface="Hiragino Sans GB"/>
              </a:rPr>
              <a:t>MJ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61084"/>
            <a:ext cx="3977639" cy="21945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BC5D2"/>
                </a:solidFill>
                <a:latin typeface="Helvetica Neue"/>
                <a:ea typeface="Hiragino Sans GB"/>
              </a:rPr>
              <a:t>由约翰·兰迪斯执导、长达 14 分钟的恐怖短片，《Thriller》的录影带把一支流行单曲当电影来拍 —— 有剧情、有预算、有特效化妆，还有让人一遍遍回看的编舞。它让 MTV 成了非看不可的频道。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1606804"/>
            <a:ext cx="3886200" cy="1783080"/>
          </a:xfrm>
          <a:prstGeom prst="roundRect">
            <a:avLst>
              <a:gd name="adj" fmla="val 3076"/>
            </a:avLst>
          </a:prstGeom>
          <a:solidFill>
            <a:srgbClr val="17141F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18888" y="1689100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18888" y="3216148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84648" y="1689100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84648" y="3216148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550407" y="1689100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550407" y="3216148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916168" y="1689100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16168" y="3216148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81927" y="1689100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81927" y="3216148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647688" y="1689100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47688" y="3216148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13448" y="1689100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013448" y="3216148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79208" y="1689100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79208" y="3216148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44967" y="1689100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44967" y="3216148"/>
            <a:ext cx="146304" cy="91440"/>
          </a:xfrm>
          <a:prstGeom prst="roundRect">
            <a:avLst>
              <a:gd name="adj" fmla="val 30000"/>
            </a:avLst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92040" y="1881124"/>
            <a:ext cx="724662" cy="1234440"/>
          </a:xfrm>
          <a:prstGeom prst="roundRect">
            <a:avLst>
              <a:gd name="adj" fmla="val 5047"/>
            </a:avLst>
          </a:prstGeom>
          <a:solidFill>
            <a:srgbClr val="0E0D13"/>
          </a:solidFill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1881124"/>
            <a:ext cx="724662" cy="12344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B23A"/>
                </a:solidFill>
                <a:latin typeface="Helvetica Neue"/>
                <a:ea typeface="Hiragino Sans GB"/>
              </a:rPr>
              <a:t>剧情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3005" y="1881124"/>
            <a:ext cx="724662" cy="1234440"/>
          </a:xfrm>
          <a:prstGeom prst="roundRect">
            <a:avLst>
              <a:gd name="adj" fmla="val 5047"/>
            </a:avLst>
          </a:prstGeom>
          <a:solidFill>
            <a:srgbClr val="0E0D13"/>
          </a:solidFill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3005" y="1881124"/>
            <a:ext cx="724662" cy="12344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B23A"/>
                </a:solidFill>
                <a:latin typeface="Helvetica Neue"/>
                <a:ea typeface="Hiragino Sans GB"/>
              </a:rPr>
              <a:t>恐怖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33972" y="1881124"/>
            <a:ext cx="724662" cy="1234440"/>
          </a:xfrm>
          <a:prstGeom prst="roundRect">
            <a:avLst>
              <a:gd name="adj" fmla="val 5047"/>
            </a:avLst>
          </a:prstGeom>
          <a:solidFill>
            <a:srgbClr val="0E0D13"/>
          </a:solidFill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33972" y="1881124"/>
            <a:ext cx="724662" cy="12344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B23A"/>
                </a:solidFill>
                <a:latin typeface="Helvetica Neue"/>
                <a:ea typeface="Hiragino Sans GB"/>
              </a:rPr>
              <a:t>舞蹈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04938" y="1881124"/>
            <a:ext cx="724662" cy="1234440"/>
          </a:xfrm>
          <a:prstGeom prst="roundRect">
            <a:avLst>
              <a:gd name="adj" fmla="val 5047"/>
            </a:avLst>
          </a:prstGeom>
          <a:solidFill>
            <a:srgbClr val="0E0D13"/>
          </a:solidFill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04938" y="1881124"/>
            <a:ext cx="724662" cy="123444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B23A"/>
                </a:solidFill>
                <a:latin typeface="Helvetica Neue"/>
                <a:ea typeface="Hiragino Sans GB"/>
              </a:rPr>
              <a:t>14 分钟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3682492"/>
            <a:ext cx="24384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8B23A"/>
                </a:solidFill>
                <a:latin typeface="Helvetica Neue"/>
                <a:ea typeface="Hiragino Sans GB"/>
              </a:rPr>
              <a:t>14 分钟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011676"/>
            <a:ext cx="24384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8EA0"/>
                </a:solidFill>
                <a:latin typeface="Helvetica Neue"/>
                <a:ea typeface="Hiragino Sans GB"/>
              </a:rPr>
              <a:t>片长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61360" y="3682492"/>
            <a:ext cx="24384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8B23A"/>
                </a:solidFill>
                <a:latin typeface="Helvetica Neue"/>
                <a:ea typeface="Hiragino Sans GB"/>
              </a:rPr>
              <a:t>约翰·兰迪斯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61360" y="4011676"/>
            <a:ext cx="24384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8EA0"/>
                </a:solidFill>
                <a:latin typeface="Helvetica Neue"/>
                <a:ea typeface="Hiragino Sans GB"/>
              </a:rPr>
              <a:t>导演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82640" y="3682492"/>
            <a:ext cx="243840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E8B23A"/>
                </a:solidFill>
                <a:latin typeface="Helvetica Neue"/>
                <a:ea typeface="Hiragino Sans GB"/>
              </a:rPr>
              <a:t>史上首支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82640" y="4011676"/>
            <a:ext cx="243840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58EA0"/>
                </a:solidFill>
                <a:latin typeface="Helvetica Neue"/>
                <a:ea typeface="Hiragino Sans GB"/>
              </a:rPr>
              <a:t>入选美国国家电影登记处的音乐录影带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B23A"/>
                </a:solidFill>
                <a:latin typeface="Helvetica Neue"/>
                <a:ea typeface="Hiragino Sans GB"/>
              </a:rPr>
              <a:t>迈克尔·杰克逊</a:t>
            </a: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   ·   流行音乐之王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23A"/>
                </a:solidFill>
                <a:latin typeface="Helvetica Neue"/>
                <a:ea typeface="Hiragino Sans GB"/>
              </a:rPr>
              <a:t>1979–2001 · 个人专辑全集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  <a:ea typeface="Hiragino Sans GB"/>
              </a:rPr>
              <a:t>六张专辑，挪动了流行乐的重心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B23A"/>
                </a:solidFill>
                <a:latin typeface="Didot"/>
                <a:ea typeface="Hiragino Sans GB"/>
              </a:rPr>
              <a:t>MJ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33652"/>
            <a:ext cx="7863840" cy="292608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CBC5D2"/>
                </a:solidFill>
                <a:latin typeface="Helvetica Neue"/>
                <a:ea typeface="Hiragino Sans GB"/>
              </a:rPr>
              <a:t>横跨三十年的六张录音室专辑 —— 从迪斯科流行到新杰克摇摆。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94944" y="2555951"/>
            <a:ext cx="7754112" cy="21945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2648" y="24846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" y="2731516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58EA0"/>
                </a:solidFill>
                <a:latin typeface="Helvetica Neue"/>
                <a:ea typeface="Hiragino Sans GB"/>
              </a:rPr>
              <a:t>1979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" y="3024124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Helvetica Neue"/>
                <a:ea typeface="Hiragino Sans GB"/>
              </a:rPr>
              <a:t>Off the Wall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" y="3280156"/>
            <a:ext cx="1481328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58EA0"/>
                </a:solidFill>
                <a:latin typeface="Helvetica Neue"/>
                <a:ea typeface="Hiragino Sans GB"/>
              </a:rPr>
              <a:t>突破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63470" y="24846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96542" y="2731516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58EA0"/>
                </a:solidFill>
                <a:latin typeface="Helvetica Neue"/>
                <a:ea typeface="Hiragino Sans GB"/>
              </a:rPr>
              <a:t>1982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96542" y="3024124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Helvetica Neue"/>
                <a:ea typeface="Hiragino Sans GB"/>
              </a:rPr>
              <a:t>Thriller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5102" y="3280156"/>
            <a:ext cx="1481328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58EA0"/>
                </a:solidFill>
                <a:latin typeface="Helvetica Neue"/>
                <a:ea typeface="Hiragino Sans GB"/>
              </a:rPr>
              <a:t>最畅销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14292" y="24846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47364" y="2731516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3A"/>
                </a:solidFill>
                <a:latin typeface="Helvetica Neue"/>
                <a:ea typeface="Hiragino Sans GB"/>
              </a:rPr>
              <a:t>1987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47364" y="3024124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Helvetica Neue"/>
                <a:ea typeface="Hiragino Sans GB"/>
              </a:rPr>
              <a:t>Bad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5924" y="3280156"/>
            <a:ext cx="1481328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58EA0"/>
                </a:solidFill>
                <a:latin typeface="Helvetica Neue"/>
                <a:ea typeface="Hiragino Sans GB"/>
              </a:rPr>
              <a:t>五支冠军单曲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65115" y="24846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98187" y="2731516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58EA0"/>
                </a:solidFill>
                <a:latin typeface="Helvetica Neue"/>
                <a:ea typeface="Hiragino Sans GB"/>
              </a:rPr>
              <a:t>1991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8187" y="3024124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Helvetica Neue"/>
                <a:ea typeface="Hiragino Sans GB"/>
              </a:rPr>
              <a:t>Dangerous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6747" y="3280156"/>
            <a:ext cx="1481328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58EA0"/>
                </a:solidFill>
                <a:latin typeface="Helvetica Neue"/>
                <a:ea typeface="Hiragino Sans GB"/>
              </a:rPr>
              <a:t>新杰克摇摆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5937" y="24846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49009" y="2731516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58EA0"/>
                </a:solidFill>
                <a:latin typeface="Helvetica Neue"/>
                <a:ea typeface="Hiragino Sans GB"/>
              </a:rPr>
              <a:t>1995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9009" y="3024124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Helvetica Neue"/>
                <a:ea typeface="Hiragino Sans GB"/>
              </a:rPr>
              <a:t>HIStory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7569" y="3280156"/>
            <a:ext cx="1481328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58EA0"/>
                </a:solidFill>
                <a:latin typeface="Helvetica Neue"/>
                <a:ea typeface="Hiragino Sans GB"/>
              </a:rPr>
              <a:t>精选加新作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66760" y="2484628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99831" y="2731516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58EA0"/>
                </a:solidFill>
                <a:latin typeface="Helvetica Neue"/>
                <a:ea typeface="Hiragino Sans GB"/>
              </a:rPr>
              <a:t>2001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99831" y="3024124"/>
            <a:ext cx="1298448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3EFE6"/>
                </a:solidFill>
                <a:latin typeface="Helvetica Neue"/>
                <a:ea typeface="Hiragino Sans GB"/>
              </a:rPr>
              <a:t>Invincible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6952" y="3280156"/>
            <a:ext cx="1481328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58EA0"/>
                </a:solidFill>
                <a:latin typeface="Helvetica Neue"/>
                <a:ea typeface="Hiragino Sans GB"/>
              </a:rPr>
              <a:t>收官之作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3840480"/>
            <a:ext cx="7863840" cy="566928"/>
          </a:xfrm>
          <a:prstGeom prst="roundRect">
            <a:avLst>
              <a:gd name="adj" fmla="val 12903"/>
            </a:avLst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5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7" y="3840480"/>
            <a:ext cx="7461504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E8B23A"/>
                </a:solidFill>
                <a:latin typeface="Helvetica Neue"/>
                <a:ea typeface="Hiragino Sans GB"/>
              </a:rPr>
              <a:t>Bad</a:t>
            </a:r>
            <a:r>
              <a:rPr sz="1200" b="0" i="0">
                <a:solidFill>
                  <a:srgbClr val="F3EFE6"/>
                </a:solidFill>
                <a:latin typeface="Helvetica Neue"/>
                <a:ea typeface="Hiragino Sans GB"/>
              </a:rPr>
              <a:t>（1987）是史上首张把五支单曲送上 Billboard Hot 100 冠军的专辑。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B23A"/>
                </a:solidFill>
                <a:latin typeface="Helvetica Neue"/>
                <a:ea typeface="Hiragino Sans GB"/>
              </a:rPr>
              <a:t>迈克尔·杰克逊</a:t>
            </a: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   ·   流行音乐之王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23A"/>
                </a:solidFill>
                <a:latin typeface="Helvetica Neue"/>
                <a:ea typeface="Hiragino Sans GB"/>
              </a:rPr>
              <a:t>1993 年 1 月 31 日 · 超级碗 XXVII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  <a:ea typeface="Hiragino Sans GB"/>
              </a:rPr>
              <a:t>他让中场秀成了正戏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B23A"/>
                </a:solidFill>
                <a:latin typeface="Didot"/>
                <a:ea typeface="Hiragino Sans GB"/>
              </a:rPr>
              <a:t>MJ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1940"/>
            <a:ext cx="7863840" cy="16459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13231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22959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53895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63623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194560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304288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5224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044952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75887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85615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16552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26280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57216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66944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97880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07608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38544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748272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379207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488935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119871" y="1506220"/>
            <a:ext cx="310896" cy="310896"/>
          </a:xfrm>
          <a:prstGeom prst="ellipse">
            <a:avLst/>
          </a:prstGeom>
          <a:gradFill>
            <a:gsLst>
              <a:gs pos="0">
                <a:srgbClr val="E8B23A">
                  <a:alpha val="16000"/>
                </a:srgbClr>
              </a:gs>
              <a:gs pos="100000">
                <a:srgbClr val="E8B23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29599" y="1515364"/>
            <a:ext cx="91440" cy="91440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1917700"/>
            <a:ext cx="4297680" cy="21031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BC5D2"/>
                </a:solidFill>
                <a:latin typeface="Helvetica Neue"/>
                <a:ea typeface="Hiragino Sans GB"/>
              </a:rPr>
              <a:t>在迈克尔·杰克逊之前，观众一到中场就换台。他站满整座玫瑰碗体育场，开场先一动不动地站了近两分钟，然后把全场 —— 连同收视率 —— 牢牢攥在手里，直到演出结束。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911092"/>
            <a:ext cx="4297680" cy="566928"/>
          </a:xfrm>
          <a:prstGeom prst="roundRect">
            <a:avLst>
              <a:gd name="adj" fmla="val 12903"/>
            </a:avLst>
          </a:prstGeom>
          <a:gradFill>
            <a:gsLst>
              <a:gs pos="0">
                <a:srgbClr val="E8B23A">
                  <a:alpha val="14000"/>
                </a:srgbClr>
              </a:gs>
              <a:gs pos="100000">
                <a:srgbClr val="E8B23A">
                  <a:alpha val="4000"/>
                </a:srgbClr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7" y="3911092"/>
            <a:ext cx="4114800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3EFE6"/>
                </a:solidFill>
                <a:latin typeface="Helvetica Neue"/>
                <a:ea typeface="Hiragino Sans GB"/>
              </a:rPr>
              <a:t>此后每一场重磅中场秀的蓝本。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57800" y="1917700"/>
            <a:ext cx="18288" cy="2514600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32120" y="1917700"/>
            <a:ext cx="3108960" cy="10058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 i="0">
                <a:solidFill>
                  <a:srgbClr val="E8B23A"/>
                </a:solidFill>
                <a:latin typeface="Helvetica Neue"/>
                <a:ea typeface="Hiragino Sans GB"/>
              </a:rPr>
              <a:t>133.4M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2905252"/>
            <a:ext cx="301752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3EFE6"/>
                </a:solidFill>
                <a:latin typeface="Helvetica Neue"/>
                <a:ea typeface="Hiragino Sans GB"/>
              </a:rPr>
              <a:t>美国观众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3389884"/>
            <a:ext cx="3017520" cy="9144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C5D2"/>
                </a:solidFill>
                <a:latin typeface="Helvetica Neue"/>
                <a:ea typeface="Hiragino Sans GB"/>
              </a:rPr>
              <a:t>▲  超级碗史上首次，观众人数在下半场不减反增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B23A"/>
                </a:solidFill>
                <a:latin typeface="Helvetica Neue"/>
                <a:ea typeface="Hiragino Sans GB"/>
              </a:rPr>
              <a:t>迈克尔·杰克逊</a:t>
            </a: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   ·   流行音乐之王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23A"/>
                </a:solidFill>
                <a:latin typeface="Helvetica Neue"/>
                <a:ea typeface="Hiragino Sans GB"/>
              </a:rPr>
              <a:t>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  <a:ea typeface="Hiragino Sans GB"/>
              </a:rPr>
              <a:t>榜单之外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B23A"/>
                </a:solidFill>
                <a:latin typeface="Didot"/>
                <a:ea typeface="Hiragino Sans GB"/>
              </a:rPr>
              <a:t>MJ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19" y="1588516"/>
            <a:ext cx="2542032" cy="2907792"/>
          </a:xfrm>
          <a:prstGeom prst="roundRect">
            <a:avLst>
              <a:gd name="adj" fmla="val 4316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 Same Side Corner Rectangle 7"/>
          <p:cNvSpPr/>
          <p:nvPr/>
        </p:nvSpPr>
        <p:spPr>
          <a:xfrm>
            <a:off x="502919" y="1588516"/>
            <a:ext cx="2542032" cy="457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58951" y="1862836"/>
            <a:ext cx="768096" cy="768096"/>
          </a:xfrm>
          <a:prstGeom prst="ellipse">
            <a:avLst/>
          </a:prstGeom>
          <a:solidFill>
            <a:srgbClr val="17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road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656" y="2062540"/>
            <a:ext cx="368686" cy="36868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8951" y="2777236"/>
            <a:ext cx="2029967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FE6"/>
                </a:solidFill>
                <a:latin typeface="Didot"/>
                <a:ea typeface="Hiragino Sans GB"/>
              </a:rPr>
              <a:t>打破壁垒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1" y="3179572"/>
            <a:ext cx="2029967" cy="11887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C5D2"/>
                </a:solidFill>
                <a:latin typeface="Helvetica Neue"/>
                <a:ea typeface="Hiragino Sans GB"/>
              </a:rPr>
              <a:t>他是最早在 MTV 高频轮播的黑人艺人之一 —— 他的录影带帮这个年轻的频道打破了肤色的隔阂。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00983" y="1588516"/>
            <a:ext cx="2542032" cy="2907792"/>
          </a:xfrm>
          <a:prstGeom prst="roundRect">
            <a:avLst>
              <a:gd name="adj" fmla="val 4316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 Same Side Corner Rectangle 13"/>
          <p:cNvSpPr/>
          <p:nvPr/>
        </p:nvSpPr>
        <p:spPr>
          <a:xfrm>
            <a:off x="3300983" y="1588516"/>
            <a:ext cx="2542032" cy="457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57015" y="1862836"/>
            <a:ext cx="768096" cy="768096"/>
          </a:xfrm>
          <a:prstGeom prst="ellipse">
            <a:avLst/>
          </a:prstGeom>
          <a:solidFill>
            <a:srgbClr val="17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uman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720" y="2062540"/>
            <a:ext cx="368686" cy="36868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57015" y="2777236"/>
            <a:ext cx="2029967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FE6"/>
                </a:solidFill>
                <a:latin typeface="Didot"/>
                <a:ea typeface="Hiragino Sans GB"/>
              </a:rPr>
              <a:t>人道主义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5" y="3179572"/>
            <a:ext cx="2029967" cy="11887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C5D2"/>
                </a:solidFill>
                <a:latin typeface="Helvetica Neue"/>
                <a:ea typeface="Hiragino Sans GB"/>
              </a:rPr>
              <a:t>与莱昂纳尔·里奇合写《We Are the World》（1985）；这支 USA for Africa 单曲为饥荒救济筹得数千万美元。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9047" y="1588516"/>
            <a:ext cx="2542032" cy="2907792"/>
          </a:xfrm>
          <a:prstGeom prst="roundRect">
            <a:avLst>
              <a:gd name="adj" fmla="val 4316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 Same Side Corner Rectangle 19"/>
          <p:cNvSpPr/>
          <p:nvPr/>
        </p:nvSpPr>
        <p:spPr>
          <a:xfrm>
            <a:off x="6099047" y="1588516"/>
            <a:ext cx="2542032" cy="45720"/>
          </a:xfrm>
          <a:prstGeom prst="round2SameRect">
            <a:avLst>
              <a:gd name="adj1" fmla="val 40000"/>
              <a:gd name="adj2" fmla="val 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55079" y="1862836"/>
            <a:ext cx="768096" cy="768096"/>
          </a:xfrm>
          <a:prstGeom prst="ellipse">
            <a:avLst/>
          </a:prstGeom>
          <a:solidFill>
            <a:srgbClr val="17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4784" y="2062540"/>
            <a:ext cx="368686" cy="36868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355079" y="2777236"/>
            <a:ext cx="2029967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3EFE6"/>
                </a:solidFill>
                <a:latin typeface="Didot"/>
                <a:ea typeface="Hiragino Sans GB"/>
              </a:rPr>
              <a:t>全球范本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79" y="3179572"/>
            <a:ext cx="2029967" cy="11887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BC5D2"/>
                </a:solidFill>
                <a:latin typeface="Helvetica Neue"/>
                <a:ea typeface="Hiragino Sans GB"/>
              </a:rPr>
              <a:t>专辑时代、录影带时代、世界巡演 —— 他把三者揉成了现代跨界流行巨星的模板。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B23A"/>
                </a:solidFill>
                <a:latin typeface="Helvetica Neue"/>
                <a:ea typeface="Hiragino Sans GB"/>
              </a:rPr>
              <a:t>迈克尔·杰克逊</a:t>
            </a: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   ·   流行音乐之王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23A"/>
                </a:solidFill>
                <a:latin typeface="Helvetica Neue"/>
                <a:ea typeface="Hiragino Sans GB"/>
              </a:rPr>
              <a:t>荣誉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  <a:ea typeface="Hiragino Sans GB"/>
              </a:rPr>
              <a:t>流行史上荣誉最盛的生涯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B23A"/>
                </a:solidFill>
                <a:latin typeface="Didot"/>
                <a:ea typeface="Hiragino Sans GB"/>
              </a:rPr>
              <a:t>MJ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25092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625092"/>
            <a:ext cx="105156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0D13"/>
                </a:solidFill>
                <a:latin typeface="Helvetica Neue"/>
                <a:ea typeface="Hiragino Sans GB"/>
              </a:rPr>
              <a:t>1984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606804"/>
            <a:ext cx="6537959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EFE6"/>
                </a:solidFill>
                <a:latin typeface="Helvetica Neue"/>
                <a:ea typeface="Hiragino Sans GB"/>
              </a:rPr>
              <a:t>凭《Thriller》斩获八座格莱美 —— 创下当时的单夜纪录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2182876"/>
            <a:ext cx="6537959" cy="7315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2242312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42312"/>
            <a:ext cx="105156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0D13"/>
                </a:solidFill>
                <a:latin typeface="Helvetica Neue"/>
                <a:ea typeface="Hiragino Sans GB"/>
              </a:rPr>
              <a:t>1993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224024"/>
            <a:ext cx="6537959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EFE6"/>
                </a:solidFill>
                <a:latin typeface="Helvetica Neue"/>
                <a:ea typeface="Hiragino Sans GB"/>
              </a:rPr>
              <a:t>格莱美传奇奖，于第 35 届格莱美颁出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65960" y="2800096"/>
            <a:ext cx="6537959" cy="7315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2859532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859532"/>
            <a:ext cx="105156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0D13"/>
                </a:solidFill>
                <a:latin typeface="Helvetica Neue"/>
                <a:ea typeface="Hiragino Sans GB"/>
              </a:rPr>
              <a:t>1997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2841244"/>
            <a:ext cx="6537959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EFE6"/>
                </a:solidFill>
                <a:latin typeface="Helvetica Neue"/>
                <a:ea typeface="Hiragino Sans GB"/>
              </a:rPr>
              <a:t>入选摇滚名人堂 —— 以 Jackson 5 成员身份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65960" y="3417316"/>
            <a:ext cx="6537959" cy="7315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3476751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76751"/>
            <a:ext cx="105156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E0D13"/>
                </a:solidFill>
                <a:latin typeface="Helvetica Neue"/>
                <a:ea typeface="Hiragino Sans GB"/>
              </a:rPr>
              <a:t>2001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458463"/>
            <a:ext cx="6537959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F3EFE6"/>
                </a:solidFill>
                <a:latin typeface="Helvetica Neue"/>
                <a:ea typeface="Hiragino Sans GB"/>
              </a:rPr>
              <a:t>入选摇滚名人堂 —— 以个人身份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65960" y="4034535"/>
            <a:ext cx="6537959" cy="7315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4093971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1C1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093971"/>
            <a:ext cx="1051560" cy="38404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3A"/>
                </a:solidFill>
                <a:latin typeface="Helvetica Neue"/>
                <a:ea typeface="Hiragino Sans GB"/>
              </a:rPr>
              <a:t>生涯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65960" y="4075683"/>
            <a:ext cx="6537959" cy="576072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E8B23A"/>
                </a:solidFill>
                <a:latin typeface="Helvetica Neue"/>
                <a:ea typeface="Hiragino Sans GB"/>
              </a:rPr>
              <a:t>个人 13 支 Billboard Hot 100 冠军单曲 —— 连 Jackson 5 共 17 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B23A"/>
                </a:solidFill>
                <a:latin typeface="Helvetica Neue"/>
                <a:ea typeface="Hiragino Sans GB"/>
              </a:rPr>
              <a:t>迈克尔·杰克逊</a:t>
            </a: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   ·   流行音乐之王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E8A96"/>
                </a:solidFill>
                <a:latin typeface="Helvetica Neue"/>
                <a:ea typeface="Hiragino Sans GB"/>
              </a:rPr>
              <a:t>争议的一面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  <a:ea typeface="Hiragino Sans GB"/>
              </a:rPr>
              <a:t>至今悬而未决的遗产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8E8A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8E8A96"/>
                </a:solidFill>
                <a:latin typeface="Didot"/>
                <a:ea typeface="Hiragino Sans GB"/>
              </a:rPr>
              <a:t>MJ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" y="1625092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F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570228"/>
            <a:ext cx="1188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FBBC6"/>
                </a:solidFill>
                <a:latin typeface="Helvetica Neue"/>
                <a:ea typeface="Hiragino Sans GB"/>
              </a:rPr>
              <a:t>1993–94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50008" y="1551940"/>
            <a:ext cx="6035040" cy="6858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C5D2"/>
                </a:solidFill>
                <a:latin typeface="Helvetica Neue"/>
                <a:ea typeface="Hiragino Sans GB"/>
              </a:rPr>
              <a:t>被指控性侵儿童。杰克逊于 1994 年就一桩民事诉讼达成和解；当时未被提起刑事指控，他本人否认任何不当行为。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2411476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F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356612"/>
            <a:ext cx="1188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FBBC6"/>
                </a:solidFill>
                <a:latin typeface="Helvetica Neue"/>
                <a:ea typeface="Hiragino Sans GB"/>
              </a:rPr>
              <a:t>2005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2338324"/>
            <a:ext cx="6035040" cy="6858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C5D2"/>
                </a:solidFill>
                <a:latin typeface="Helvetica Neue"/>
                <a:ea typeface="Hiragino Sans GB"/>
              </a:rPr>
              <a:t>在加利福尼亚州就刑事指控受审（People v. Jackson 案），所有罪名均被判不成立。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319786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BFBB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142996"/>
            <a:ext cx="118872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BFBBC6"/>
                </a:solidFill>
                <a:latin typeface="Helvetica Neue"/>
                <a:ea typeface="Hiragino Sans GB"/>
              </a:rPr>
              <a:t>2019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0008" y="3124708"/>
            <a:ext cx="6035040" cy="6858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BC5D2"/>
                </a:solidFill>
                <a:latin typeface="Helvetica Neue"/>
                <a:ea typeface="Hiragino Sans GB"/>
              </a:rPr>
              <a:t>纪录片《Leaving Neverland》播出了两名男子提出的新指控；杰克逊遗产管理方对该片提出异议。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" y="1707388"/>
            <a:ext cx="21945" cy="1572768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4096512"/>
            <a:ext cx="7863840" cy="566928"/>
          </a:xfrm>
          <a:prstGeom prst="roundRect">
            <a:avLst>
              <a:gd name="adj" fmla="val 12903"/>
            </a:avLst>
          </a:prstGeom>
          <a:solidFill>
            <a:srgbClr val="17141F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7" y="4096512"/>
            <a:ext cx="7461504" cy="566928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BFBBC6"/>
                </a:solidFill>
                <a:latin typeface="Helvetica Neue"/>
                <a:ea typeface="Hiragino Sans GB"/>
              </a:rPr>
              <a:t>迈克尔·杰克逊否认了全部指控。这些疑问至今没有定论 —— 也无法与今天人们如何评价他的人生与作品分开。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8A96"/>
                </a:solidFill>
                <a:latin typeface="Helvetica Neue"/>
                <a:ea typeface="Hiragino Sans GB"/>
              </a:rPr>
              <a:t>迈克尔·杰克逊</a:t>
            </a: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   ·   流行音乐之王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69494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8B23A"/>
                </a:solidFill>
                <a:latin typeface="Helvetica Neue"/>
                <a:ea typeface="Hiragino Sans GB"/>
              </a:rPr>
              <a:t>遗产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68096"/>
            <a:ext cx="7863840" cy="5486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0" i="0">
                <a:solidFill>
                  <a:srgbClr val="F3EFE6"/>
                </a:solidFill>
                <a:latin typeface="Didot"/>
                <a:ea typeface="Hiragino Sans GB"/>
              </a:rPr>
              <a:t>现代流行巨星的模板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41044"/>
            <a:ext cx="1188720" cy="41148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0" y="402336"/>
            <a:ext cx="82296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E8B23A"/>
                </a:solidFill>
                <a:latin typeface="Didot"/>
                <a:ea typeface="Hiragino Sans GB"/>
              </a:rPr>
              <a:t>MJ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8244"/>
            <a:ext cx="4572000" cy="18288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F3EFE6"/>
                </a:solidFill>
                <a:latin typeface="Didot"/>
                <a:ea typeface="Hiragino Sans GB"/>
              </a:rPr>
              <a:t>此后每一段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F3EFE6"/>
                </a:solidFill>
                <a:latin typeface="Didot"/>
                <a:ea typeface="Hiragino Sans GB"/>
              </a:rPr>
              <a:t>坐满球馆、跨曲风、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E8B23A"/>
                </a:solidFill>
                <a:latin typeface="Didot"/>
                <a:ea typeface="Hiragino Sans GB"/>
              </a:rPr>
              <a:t>以录影带驱动</a:t>
            </a:r>
            <a:r>
              <a:rPr sz="2700" b="0" i="0">
                <a:solidFill>
                  <a:srgbClr val="F3EFE6"/>
                </a:solidFill>
                <a:latin typeface="Didot"/>
                <a:ea typeface="Hiragino Sans GB"/>
              </a:rPr>
              <a:t>的流行生涯，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F3EFE6"/>
                </a:solidFill>
                <a:latin typeface="Didot"/>
                <a:ea typeface="Hiragino Sans GB"/>
              </a:rPr>
              <a:t>跑的都是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F3EFE6"/>
                </a:solidFill>
                <a:latin typeface="Didot"/>
                <a:ea typeface="Hiragino Sans GB"/>
              </a:rPr>
              <a:t>他搭好的蓝图。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029963"/>
            <a:ext cx="1042416" cy="365760"/>
          </a:xfrm>
          <a:prstGeom prst="roundRect">
            <a:avLst>
              <a:gd name="adj" fmla="val 50000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29963"/>
            <a:ext cx="1042416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3A"/>
                </a:solidFill>
                <a:latin typeface="Helvetica Neue"/>
                <a:ea typeface="Hiragino Sans GB"/>
              </a:rPr>
              <a:t>专辑时代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5376" y="4029963"/>
            <a:ext cx="1225296" cy="365760"/>
          </a:xfrm>
          <a:prstGeom prst="roundRect">
            <a:avLst>
              <a:gd name="adj" fmla="val 50000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5376" y="4029963"/>
            <a:ext cx="1225296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3A"/>
                </a:solidFill>
                <a:latin typeface="Helvetica Neue"/>
                <a:ea typeface="Hiragino Sans GB"/>
              </a:rPr>
              <a:t>录影带时代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73552" y="4029963"/>
            <a:ext cx="1042416" cy="365760"/>
          </a:xfrm>
          <a:prstGeom prst="roundRect">
            <a:avLst>
              <a:gd name="adj" fmla="val 50000"/>
            </a:avLst>
          </a:prstGeom>
          <a:solidFill>
            <a:srgbClr val="1C1826"/>
          </a:solidFill>
          <a:ln w="12700">
            <a:solidFill>
              <a:srgbClr val="352E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73552" y="4029963"/>
            <a:ext cx="1042416" cy="365760"/>
          </a:xfrm>
          <a:prstGeom prst="rect">
            <a:avLst/>
          </a:prstGeom>
          <a:noFill/>
          <a:ln/>
        </p:spPr>
        <p:txBody>
          <a:bodyPr wrap="square" anchor="ctr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E8B23A"/>
                </a:solidFill>
                <a:latin typeface="Helvetica Neue"/>
                <a:ea typeface="Hiragino Sans GB"/>
              </a:rPr>
              <a:t>全球舞台</a:t>
            </a:r>
          </a:p>
        </p:txBody>
      </p:sp>
      <p:sp>
        <p:nvSpPr>
          <p:cNvPr id="14" name="Oval 13"/>
          <p:cNvSpPr/>
          <p:nvPr/>
        </p:nvSpPr>
        <p:spPr>
          <a:xfrm>
            <a:off x="5870448" y="1350772"/>
            <a:ext cx="2432304" cy="2432304"/>
          </a:xfrm>
          <a:prstGeom prst="ellipse">
            <a:avLst/>
          </a:prstGeom>
          <a:solidFill>
            <a:srgbClr val="171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916168" y="1396492"/>
            <a:ext cx="2340864" cy="2340864"/>
          </a:xfrm>
          <a:prstGeom prst="ellipse">
            <a:avLst/>
          </a:prstGeom>
          <a:noFill/>
          <a:ln w="27940">
            <a:solidFill>
              <a:srgbClr val="E8B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016490" y="1496814"/>
            <a:ext cx="2140218" cy="2140218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116813" y="1597137"/>
            <a:ext cx="1939573" cy="1939573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17136" y="1697460"/>
            <a:ext cx="1738927" cy="1738927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17458" y="1797782"/>
            <a:ext cx="1538282" cy="1538282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17781" y="1898105"/>
            <a:ext cx="1337636" cy="1337636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518104" y="1998428"/>
            <a:ext cx="1136991" cy="1136991"/>
          </a:xfrm>
          <a:prstGeom prst="ellipse">
            <a:avLst/>
          </a:prstGeom>
          <a:noFill/>
          <a:ln w="12700">
            <a:solidFill>
              <a:srgbClr val="B9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735470" y="2215794"/>
            <a:ext cx="702259" cy="702259"/>
          </a:xfrm>
          <a:prstGeom prst="ellipse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33930" y="2514254"/>
            <a:ext cx="105338" cy="105338"/>
          </a:xfrm>
          <a:prstGeom prst="ellipse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3892804"/>
            <a:ext cx="292608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58EA0"/>
                </a:solidFill>
                <a:latin typeface="Helvetica Neue"/>
                <a:ea typeface="Hiragino Sans GB"/>
              </a:rPr>
              <a:t>从《Off the Wall》到《Invincible》—— 至今仍在播放列表里。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718304"/>
            <a:ext cx="7863840" cy="9144"/>
          </a:xfrm>
          <a:prstGeom prst="rect">
            <a:avLst/>
          </a:prstGeom>
          <a:solidFill>
            <a:srgbClr val="352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773168"/>
            <a:ext cx="548640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E8B23A"/>
                </a:solidFill>
                <a:latin typeface="Helvetica Neue"/>
                <a:ea typeface="Hiragino Sans GB"/>
              </a:rPr>
              <a:t>迈克尔·杰克逊</a:t>
            </a: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   ·   流行音乐之王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4773168"/>
            <a:ext cx="14630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58EA0"/>
                </a:solidFill>
                <a:latin typeface="Helvetica Neue"/>
                <a:ea typeface="Hiragino Sans GB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0D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" title=""/>
          <p:cNvPicPr>
            <a:picLocks noChangeAspect="1"/>
          </p:cNvPicPr>
          <p:nvPr/>
        </p:nvPicPr>
        <p:blipFill>
          <a:blip r:embed="rId2"/>
          <a:srcRect t="21875" b="21875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50000"/>
                </a:srgbClr>
              </a:gs>
              <a:gs pos="50000">
                <a:srgbClr val="000000">
                  <a:alpha val="62000"/>
                </a:srgbClr>
              </a:gs>
              <a:gs pos="100000">
                <a:srgbClr val="000000">
                  <a:alpha val="66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3954780"/>
            <a:ext cx="9144000" cy="1188720"/>
          </a:xfrm>
          <a:prstGeom prst="rect">
            <a:avLst/>
          </a:prstGeom>
          <a:gradFill>
            <a:gsLst>
              <a:gs pos="0">
                <a:srgbClr val="0E0D13">
                  <a:alpha val="0"/>
                </a:srgbClr>
              </a:gs>
              <a:gs pos="100000">
                <a:srgbClr val="000000">
                  <a:alpha val="90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17320"/>
            <a:ext cx="7863840" cy="27432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8B23A"/>
                </a:solidFill>
                <a:latin typeface="Helvetica Neue"/>
                <a:ea typeface="Hiragino Sans GB"/>
              </a:rPr>
              <a:t>1 9 5 8   —   2 0 0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7863840" cy="100584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600" b="0" i="0">
                <a:solidFill>
                  <a:srgbClr val="F3EFE6"/>
                </a:solidFill>
                <a:latin typeface="Didot"/>
                <a:ea typeface="Hiragino Sans GB"/>
              </a:rPr>
              <a:t>流行音乐之王，永垂不朽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2880360"/>
            <a:ext cx="1280160" cy="36576"/>
          </a:xfrm>
          <a:prstGeom prst="rect">
            <a:avLst/>
          </a:prstGeom>
          <a:solidFill>
            <a:srgbClr val="E8B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108960"/>
            <a:ext cx="7863840" cy="45720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BC5D2"/>
                </a:solidFill>
                <a:latin typeface="Helvetica Neue"/>
                <a:ea typeface="Hiragino Sans GB"/>
              </a:rPr>
              <a:t>一套可复用的视觉系统 —— 换掉内容，留下设计。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78638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8B23A"/>
                </a:solidFill>
                <a:latin typeface="Helvetica Neue"/>
                <a:ea typeface="Hiragino Sans GB"/>
              </a:rPr>
              <a:t>来源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958EA0"/>
                </a:solidFill>
                <a:latin typeface="Helvetica Neue"/>
                <a:ea typeface="Hiragino Sans GB"/>
              </a:rPr>
              <a:t>Billboard · Wikipedia · GRAMMY.com · RIAA · Rock &amp; Roll Hall of Fame · Britannica · Variety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28032"/>
            <a:ext cx="7863840" cy="219456"/>
          </a:xfrm>
          <a:prstGeom prst="rect">
            <a:avLst/>
          </a:prstGeom>
          <a:noFill/>
          <a:ln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58EA0"/>
                </a:solidFill>
                <a:latin typeface="Helvetica Neue"/>
                <a:ea typeface="Hiragino Sans GB"/>
              </a:rPr>
              <a:t>示例模板  ·  SLIDE-MAKER 出品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