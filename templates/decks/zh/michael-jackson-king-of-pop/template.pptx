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开场：迈克尔·杰克逊，被誉为流行乐之王。今天用约十四页，回顾他从Jackson 5 的童星，到重新定义流行音乐、舞台与影像的一生。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先看全景。1958 年生于加里市；1969 年随兄弟们签约 Motown；1979 年凭 Off the Wall 作为成人独唱艺术家立足；1982 年的 Thriller 成为史上最畅销专辑，是整条曲线的顶点；1987 年 Bad 创下单张五首冠军单曲纪录；2009 年离世，全球哀悼。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杰克逊的起点是 Jackson 5。1969 年签约 Motown，1970 年 I Want You Back、ABC、The Love You Save、I'll Be There 连续四首登顶 Hot 100，史无前例。年幼的麦克尔以主唱身份成为焦点。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1979 年的 Off the Wall 是分水岭。第一次与 Quincy Jones 合作，融合 disco、放克、流行与灵魂乐。Don't Stop 'Til You Get Enough 为他赢得个人首座格莱美，也为三年后的Thriller 埋下伏笔。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1982 年的 Thriller 是整条曲线的顶点。吉尼斯认证的史上最畅销专辑；1984 年一举拿下八座格莱美，创下单届获奖纪录；RIAA 史上首张 30 倍多白金专辑；全球销量估计约七千万张（不同口径有出入）。这一切由 Quincy Jones 操刀制作。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 1979 到 2001，六张录音室专辑串起二十二年的创作弧线：Off the Wall 起步，Thriller 登顶，Bad 创下单张五首冠军单曲的纪录，Dangerous 转向 new jack swing，HIStory 是回顾加新作的双碟，Invincible 是最后一张。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1983 年的 Motown 25 特别节目上，杰克逊伴着 Billie Jean 首次公开表演月球漫步——他并非发明者，却让这个动作成为流行文化的符号。节目播出时约有四千七百万人收看。从这里开始，青色代表他在舞台与影像上的革新。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同样在 1983 年，Thriller 短片把 MV 变成了电影：近十四分钟、由电影导演 John Landis 执导、用 35mm 胶片以电影级规格拍摄。2009 年，它成为首支入选美国国家电影登记处的音乐录影带。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用数字丈量：十三座格莱美，外加格莱美传奇奖；十三首 Hot 100 冠军单曲；两度入选摇滚名人堂——1997 年以 Jackson 5 成员，2001 年以个人身份；以及 Bad 专辑史上首创的单张五首冠军单曲。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他的影响远超排行榜。以强势的 MV 帮助打破 MTV 早期的种族藩篱；把月球漫步和亮片手套变成一整套流行符号；把流行明星的量级推向全球规模；并共同创作了 We Are the World 等人道主义作品。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任何诚实的回顾都不能回避争议。容貌变化长期引发揣测，他本人称患有白癜风；1993 年一起指控庭外和解，2005 年受审后被判所有罪名不成立；晚年负债累累、淡出舞台；2009 年离世。这里只陈述事实，判断留给各位。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他的遗产是活着的。几乎每一位当代流行与舞蹈艺人都能在他的舞台、编舞与影像里找到源头。他把演唱会升级为整体视觉奇观，确立了 MV 作为主流艺术形式，并保持着持续的文化在场。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收束在一句话上：他把流行音乐、舞蹈与影像熔铸成一种世界通用的语言。这是流行乐之王留给世界的东西。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感谢观看。这是一份 slide-maker 的示例 deck：内容真实、事实经核实，而整套暗色致敬视觉系统可以直接复用，替换成你自己的主题。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26000"/>
                </a:srgbClr>
              </a:gs>
              <a:gs pos="40000">
                <a:srgbClr val="E8B84B">
                  <a:alpha val="13000"/>
                </a:srgbClr>
              </a:gs>
              <a:gs pos="70000">
                <a:srgbClr val="E8B84B">
                  <a:alpha val="364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26280" y="0"/>
            <a:ext cx="91440" cy="5143500"/>
          </a:xfrm>
          <a:prstGeom prst="rect">
            <a:avLst/>
          </a:prstGeom>
          <a:gradFill>
            <a:gsLst>
              <a:gs pos="0">
                <a:srgbClr val="E8B84B">
                  <a:alpha val="28000"/>
                </a:srgbClr>
              </a:gs>
              <a:gs pos="100000">
                <a:srgbClr val="E8B84B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皇冠标记" title="皇冠标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566928"/>
            <a:ext cx="621792" cy="6217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371600"/>
            <a:ext cx="786384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4B"/>
                </a:solidFill>
                <a:latin typeface="Hiragino Sans GB"/>
                <a:ea typeface="Hiragino Sans GB"/>
              </a:rPr>
              <a:t>音乐生涯人物志</a:t>
            </a:r>
            <a:r>
              <a:rPr sz="1200" b="0" i="0">
                <a:solidFill>
                  <a:srgbClr val="939BB0"/>
                </a:solidFill>
                <a:latin typeface="Helvetica Neue"/>
                <a:ea typeface="Hiragino Sans GB"/>
              </a:rPr>
              <a:t>     A TRIBUTE TO THE KING OF POP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229600" cy="12801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F5F1E8"/>
                </a:solidFill>
                <a:latin typeface="Songti SC"/>
                <a:ea typeface="Hiragino Sans GB"/>
              </a:rPr>
              <a:t>流行乐之王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8B84B"/>
                </a:solidFill>
                <a:latin typeface="Didot"/>
                <a:ea typeface="Hiragino Sans GB"/>
              </a:rPr>
              <a:t>M I C H A E L   J A C K S O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3639312"/>
            <a:ext cx="164592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822191"/>
            <a:ext cx="8229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5F1E8"/>
                </a:solidFill>
                <a:latin typeface="Helvetica Neue"/>
                <a:ea typeface="Hiragino Sans GB"/>
              </a:rPr>
              <a:t>1958 — 2009</a:t>
            </a:r>
            <a:r>
              <a:rPr sz="1400" b="0" i="0">
                <a:solidFill>
                  <a:srgbClr val="D7DAE4"/>
                </a:solidFill>
                <a:latin typeface="Hiragino Sans GB"/>
                <a:ea typeface="Hiragino Sans GB"/>
              </a:rPr>
              <a:t>　·　从 Jackson 5 到独立巨星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91456"/>
            <a:ext cx="8229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39BB0"/>
                </a:solidFill>
                <a:latin typeface="Hiragino Sans GB"/>
                <a:ea typeface="Hiragino Sans GB"/>
              </a:rPr>
              <a:t>slide-maker 示例模板 · 真实内容示例，视觉系统可复用替换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生平速览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A LIFE IN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从加里市的男孩，到全球偶像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02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786384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39BB0"/>
                </a:solidFill>
                <a:latin typeface="Hiragino Sans GB"/>
                <a:ea typeface="Hiragino Sans GB"/>
              </a:rPr>
              <a:t>1958 — 2009，半个世纪的坐标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3097987"/>
            <a:ext cx="7534656" cy="21945"/>
          </a:xfrm>
          <a:prstGeom prst="rect">
            <a:avLst/>
          </a:prstGeom>
          <a:solidFill>
            <a:srgbClr val="93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3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3273552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Helvetica Neue"/>
                <a:ea typeface="Hiragino Sans GB"/>
              </a:rPr>
              <a:t>1958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3566160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1E8"/>
                </a:solidFill>
                <a:latin typeface="Helvetica Neue"/>
                <a:ea typeface="Hiragino Sans GB"/>
              </a:rPr>
              <a:t>出生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822191"/>
            <a:ext cx="170078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Helvetica Neue"/>
                <a:ea typeface="Hiragino Sans GB"/>
              </a:rPr>
              <a:t>印第安纳州加里市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29307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3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2651" y="2670048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Helvetica Neue"/>
                <a:ea typeface="Hiragino Sans GB"/>
              </a:rPr>
              <a:t>1969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2651" y="2377439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1E8"/>
                </a:solidFill>
                <a:latin typeface="Helvetica Neue"/>
                <a:ea typeface="Hiragino Sans GB"/>
              </a:rPr>
              <a:t>加盟 Motown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211" y="1920239"/>
            <a:ext cx="1700784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Helvetica Neue"/>
                <a:ea typeface="Hiragino Sans GB"/>
              </a:rPr>
              <a:t>Jackson 5 出道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36238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3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9582" y="3273552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Helvetica Neue"/>
                <a:ea typeface="Hiragino Sans GB"/>
              </a:rPr>
              <a:t>1979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9582" y="3566160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1E8"/>
                </a:solidFill>
                <a:latin typeface="Helvetica Neue"/>
                <a:ea typeface="Hiragino Sans GB"/>
              </a:rPr>
              <a:t>Off the Wall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8142" y="3822191"/>
            <a:ext cx="170078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Helvetica Neue"/>
                <a:ea typeface="Hiragino Sans GB"/>
              </a:rPr>
              <a:t>首张成人独唱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43169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66513" y="2670048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B84B"/>
                </a:solidFill>
                <a:latin typeface="Helvetica Neue"/>
                <a:ea typeface="Hiragino Sans GB"/>
              </a:rPr>
              <a:t>1982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513" y="2377439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1E8"/>
                </a:solidFill>
                <a:latin typeface="Helvetica Neue"/>
                <a:ea typeface="Hiragino Sans GB"/>
              </a:rPr>
              <a:t>Thriller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5073" y="1920239"/>
            <a:ext cx="1700784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Helvetica Neue"/>
                <a:ea typeface="Hiragino Sans GB"/>
              </a:rPr>
              <a:t>史上最畅销专辑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50100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3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73444" y="3273552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Helvetica Neue"/>
                <a:ea typeface="Hiragino Sans GB"/>
              </a:rPr>
              <a:t>1987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3444" y="3566160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1E8"/>
                </a:solidFill>
                <a:latin typeface="Helvetica Neue"/>
                <a:ea typeface="Hiragino Sans GB"/>
              </a:rPr>
              <a:t>Bad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2004" y="3822191"/>
            <a:ext cx="170078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Helvetica Neue"/>
                <a:ea typeface="Hiragino Sans GB"/>
              </a:rPr>
              <a:t>五首冠军单曲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57032" y="3026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39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0375" y="2670048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A6472"/>
                </a:solidFill>
                <a:latin typeface="Helvetica Neue"/>
                <a:ea typeface="Hiragino Sans GB"/>
              </a:rPr>
              <a:t>2009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0375" y="2377439"/>
            <a:ext cx="1517904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5F1E8"/>
                </a:solidFill>
                <a:latin typeface="Helvetica Neue"/>
                <a:ea typeface="Hiragino Sans GB"/>
              </a:rPr>
              <a:t>离世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7496" y="1920239"/>
            <a:ext cx="1700784" cy="457200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A6472"/>
                </a:solidFill>
                <a:latin typeface="Helvetica Neue"/>
                <a:ea typeface="Hiragino Sans GB"/>
              </a:rPr>
              <a:t>全球哀悼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起点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THE JACKSON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五个印第安纳男孩，四首连冠单曲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03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3977639" cy="100584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0" b="1" i="0">
                <a:solidFill>
                  <a:srgbClr val="E8B84B"/>
                </a:solidFill>
                <a:latin typeface="Didot"/>
                <a:ea typeface="Hiragino Sans GB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971800"/>
            <a:ext cx="3977639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F5F1E8"/>
                </a:solidFill>
                <a:latin typeface="Hiragino Sans GB"/>
                <a:ea typeface="Hiragino Sans GB"/>
              </a:rPr>
              <a:t>首出道即登顶 Billboard Hot 100 的
连续单曲（1970）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828800"/>
            <a:ext cx="397763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7DAE4"/>
                </a:solidFill>
                <a:latin typeface="Hiragino Sans GB"/>
                <a:ea typeface="Hiragino Sans GB"/>
              </a:rPr>
              <a:t>1969 年签约 Motown，麦克尔以主唱身份成为焦点；次年四首单曲接连夺冠——在流行乐史上前所未有。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2788920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0600" y="2788920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788920"/>
            <a:ext cx="1933955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4B"/>
                </a:solidFill>
                <a:latin typeface="Didot"/>
                <a:ea typeface="Hiragino Sans GB"/>
              </a:rPr>
              <a:t>№1</a:t>
            </a:r>
            <a:r>
              <a:rPr sz="1200" b="0" i="0">
                <a:solidFill>
                  <a:srgbClr val="F5F1E8"/>
                </a:solidFill>
                <a:latin typeface="Helvetica Neue"/>
                <a:ea typeface="Hiragino Sans GB"/>
              </a:rPr>
              <a:t>  I Want You 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44283" y="2788920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44283" y="2788920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4283" y="2788920"/>
            <a:ext cx="1933955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4B"/>
                </a:solidFill>
                <a:latin typeface="Didot"/>
                <a:ea typeface="Hiragino Sans GB"/>
              </a:rPr>
              <a:t>№2</a:t>
            </a:r>
            <a:r>
              <a:rPr sz="1200" b="0" i="0">
                <a:solidFill>
                  <a:srgbClr val="F5F1E8"/>
                </a:solidFill>
                <a:latin typeface="Helvetica Neue"/>
                <a:ea typeface="Hiragino Sans GB"/>
              </a:rPr>
              <a:t>  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3447287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47287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3447287"/>
            <a:ext cx="1933955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4B"/>
                </a:solidFill>
                <a:latin typeface="Didot"/>
                <a:ea typeface="Hiragino Sans GB"/>
              </a:rPr>
              <a:t>№3</a:t>
            </a:r>
            <a:r>
              <a:rPr sz="1200" b="0" i="0">
                <a:solidFill>
                  <a:srgbClr val="F5F1E8"/>
                </a:solidFill>
                <a:latin typeface="Helvetica Neue"/>
                <a:ea typeface="Hiragino Sans GB"/>
              </a:rPr>
              <a:t>  The Love You Save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44283" y="3447287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44283" y="3447287"/>
            <a:ext cx="1933955" cy="548640"/>
          </a:xfrm>
          <a:prstGeom prst="roundRect">
            <a:avLst>
              <a:gd name="adj" fmla="val 16666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44283" y="3447287"/>
            <a:ext cx="1933955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B84B"/>
                </a:solidFill>
                <a:latin typeface="Didot"/>
                <a:ea typeface="Hiragino Sans GB"/>
              </a:rPr>
              <a:t>№4</a:t>
            </a:r>
            <a:r>
              <a:rPr sz="1200" b="0" i="0">
                <a:solidFill>
                  <a:srgbClr val="F5F1E8"/>
                </a:solidFill>
                <a:latin typeface="Helvetica Neue"/>
                <a:ea typeface="Hiragino Sans GB"/>
              </a:rPr>
              <a:t>  I'll Be There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单飞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GOING SOLO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一位独立艺术家的诞生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04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423069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1E8"/>
                </a:solidFill>
                <a:latin typeface="Didot"/>
                <a:ea typeface="Hiragino Sans GB"/>
              </a:rPr>
              <a:t>《Off the Wall》</a:t>
            </a:r>
            <a:r>
              <a:rPr sz="1800" b="1" i="0">
                <a:solidFill>
                  <a:srgbClr val="E8B84B"/>
                </a:solidFill>
                <a:latin typeface="Didot"/>
                <a:ea typeface="Hiragino Sans GB"/>
              </a:rPr>
              <a:t>  1979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87168"/>
            <a:ext cx="4230694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D7DAE4"/>
                </a:solidFill>
                <a:latin typeface="Hiragino Sans GB"/>
                <a:ea typeface="Hiragino Sans GB"/>
              </a:rPr>
              <a:t>与传奇制作人 Quincy Jones 首度合作，融合 disco、放克、流行与灵魂乐，塑造出成熟而个人化的声音。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274320" cy="41148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4224528"/>
            <a:ext cx="423069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939BB0"/>
                </a:solidFill>
                <a:latin typeface="Hiragino Sans GB"/>
                <a:ea typeface="Hiragino Sans GB"/>
              </a:rPr>
              <a:t>从 Motown 的童星，转身为掌控自己音乐的成年艺术家。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99374" y="1874519"/>
            <a:ext cx="3678865" cy="1005840"/>
          </a:xfrm>
          <a:prstGeom prst="roundRect">
            <a:avLst>
              <a:gd name="adj" fmla="val 10909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99374" y="1874519"/>
            <a:ext cx="3678865" cy="1005840"/>
          </a:xfrm>
          <a:prstGeom prst="roundRect">
            <a:avLst>
              <a:gd name="adj" fmla="val 10909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99374" y="2057400"/>
            <a:ext cx="45720" cy="64008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8830" y="2020824"/>
            <a:ext cx="331310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1E8"/>
                </a:solidFill>
                <a:latin typeface="Helvetica Neue"/>
                <a:ea typeface="Hiragino Sans GB"/>
              </a:rPr>
              <a:t>Don't Stop 'Til You Get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8830" y="2404872"/>
            <a:ext cx="3313105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AE4"/>
                </a:solidFill>
                <a:latin typeface="Hiragino Sans GB"/>
                <a:ea typeface="Hiragino Sans GB"/>
              </a:rPr>
              <a:t>凭此单曲赢得个人首座格莱美奖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9374" y="3044952"/>
            <a:ext cx="3678865" cy="1005840"/>
          </a:xfrm>
          <a:prstGeom prst="roundRect">
            <a:avLst>
              <a:gd name="adj" fmla="val 10909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99374" y="3044952"/>
            <a:ext cx="3678865" cy="1005840"/>
          </a:xfrm>
          <a:prstGeom prst="roundRect">
            <a:avLst>
              <a:gd name="adj" fmla="val 10909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9374" y="3227832"/>
            <a:ext cx="45720" cy="640080"/>
          </a:xfrm>
          <a:prstGeom prst="rect">
            <a:avLst/>
          </a:prstGeom>
          <a:solidFill>
            <a:srgbClr val="5CC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18830" y="3191256"/>
            <a:ext cx="331310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1E8"/>
                </a:solidFill>
                <a:latin typeface="Helvetica Neue"/>
                <a:ea typeface="Hiragino Sans GB"/>
              </a:rPr>
              <a:t>成熟的转型之作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8830" y="3575304"/>
            <a:ext cx="3313105" cy="411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AE4"/>
                </a:solidFill>
                <a:latin typeface="Hiragino Sans GB"/>
                <a:ea typeface="Hiragino Sans GB"/>
              </a:rPr>
              <a:t>为三年后的《Thriller》埋下伏笔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27000"/>
                </a:srgbClr>
              </a:gs>
              <a:gs pos="40000">
                <a:srgbClr val="E8B84B">
                  <a:alpha val="13500"/>
                </a:srgbClr>
              </a:gs>
              <a:gs pos="70000">
                <a:srgbClr val="E8B84B">
                  <a:alpha val="37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26280" y="0"/>
            <a:ext cx="91440" cy="2194560"/>
          </a:xfrm>
          <a:prstGeom prst="rect">
            <a:avLst/>
          </a:prstGeom>
          <a:gradFill>
            <a:gsLst>
              <a:gs pos="0">
                <a:srgbClr val="E8B84B">
                  <a:alpha val="32000"/>
                </a:srgbClr>
              </a:gs>
              <a:gs pos="100000">
                <a:srgbClr val="E8B84B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巅峰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THRILLER (1982)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31520"/>
            <a:ext cx="8229600" cy="64008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5F1E8"/>
                </a:solidFill>
                <a:latin typeface="Songti SC"/>
                <a:ea typeface="Hiragino Sans GB"/>
              </a:rPr>
              <a:t>史上最畅销专辑，一个时代的坐标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05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417320"/>
            <a:ext cx="79552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939BB0"/>
                </a:solidFill>
                <a:latin typeface="Hiragino Sans GB"/>
                <a:ea typeface="Hiragino Sans GB"/>
              </a:rPr>
              <a:t>由 Quincy Jones 制作 · 金色代表全片的里程碑时刻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2249424"/>
            <a:ext cx="274320" cy="45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2395728"/>
            <a:ext cx="1463040" cy="10744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F1E8"/>
                </a:solidFill>
                <a:latin typeface="Helvetica Neue"/>
                <a:ea typeface="Hiragino Sans GB"/>
              </a:rPr>
              <a:t>No.1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557016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吉尼斯认证 · 史上最畅销专辑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1488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61488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249424"/>
            <a:ext cx="274320" cy="45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2395728"/>
            <a:ext cx="1463040" cy="10744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5F1E8"/>
                </a:solidFill>
                <a:latin typeface="Helvetica Neue"/>
                <a:ea typeface="Hiragino Sans GB"/>
              </a:rPr>
              <a:t>8</a:t>
            </a:r>
            <a:r>
              <a:rPr sz="1400" b="1" i="0">
                <a:solidFill>
                  <a:srgbClr val="E8B84B"/>
                </a:solidFill>
                <a:latin typeface="Hiragino Sans GB"/>
                <a:ea typeface="Hiragino Sans GB"/>
              </a:rPr>
              <a:t>  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3557016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1984 年格莱美 · 单届获奖纪录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896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82896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84064" y="2249424"/>
            <a:ext cx="274320" cy="45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2395728"/>
            <a:ext cx="1463040" cy="10744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5F1E8"/>
                </a:solidFill>
                <a:latin typeface="Helvetica Neue"/>
                <a:ea typeface="Hiragino Sans GB"/>
              </a:rPr>
              <a:t>30×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557016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RIAA 史上首张 30× 多白金认证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4304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4304" y="2011680"/>
            <a:ext cx="1828800" cy="214884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5472" y="2249424"/>
            <a:ext cx="274320" cy="45720"/>
          </a:xfrm>
          <a:prstGeom prst="rect">
            <a:avLst/>
          </a:prstGeom>
          <a:solidFill>
            <a:srgbClr val="8F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87184" y="2395728"/>
            <a:ext cx="1463040" cy="10744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Helvetica Neue"/>
                <a:ea typeface="Hiragino Sans GB"/>
              </a:rPr>
              <a:t>≈7000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3557016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全球销量 · 估计，口径不一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828032"/>
            <a:ext cx="804672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作品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THE ALBUMS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六张录音室专辑，二十二年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06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37360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883664"/>
            <a:ext cx="2148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84B"/>
                </a:solidFill>
                <a:latin typeface="Didot"/>
                <a:ea typeface="Hiragino Sans GB"/>
              </a:rPr>
              <a:t>1979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194560"/>
            <a:ext cx="2148840" cy="38404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1E8"/>
                </a:solidFill>
                <a:latin typeface="Didot"/>
                <a:ea typeface="Hiragino Sans GB"/>
              </a:rPr>
              <a:t>Off the Wall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578608"/>
            <a:ext cx="2148840" cy="384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成人独唱的起点，与 Quincy Jones 首度合作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737360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E8B84B">
                  <a:alpha val="46000"/>
                </a:srgbClr>
              </a:gs>
              <a:gs pos="100000">
                <a:srgbClr val="E8B84B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20440" y="1737360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3520440" y="1737360"/>
            <a:ext cx="2514600" cy="5029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1883664"/>
            <a:ext cx="2148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84B"/>
                </a:solidFill>
                <a:latin typeface="Didot"/>
                <a:ea typeface="Hiragino Sans GB"/>
              </a:rPr>
              <a:t>1982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194560"/>
            <a:ext cx="2148840" cy="38404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1E8"/>
                </a:solidFill>
                <a:latin typeface="Didot"/>
                <a:ea typeface="Hiragino Sans GB"/>
              </a:rPr>
              <a:t>Thriller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2578608"/>
            <a:ext cx="2148840" cy="384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现象级里程碑，史上最畅销专辑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737360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737360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883664"/>
            <a:ext cx="2148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84B"/>
                </a:solidFill>
                <a:latin typeface="Didot"/>
                <a:ea typeface="Hiragino Sans GB"/>
              </a:rPr>
              <a:t>1987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194560"/>
            <a:ext cx="2148840" cy="38404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1E8"/>
                </a:solidFill>
                <a:latin typeface="Didot"/>
                <a:ea typeface="Hiragino Sans GB"/>
              </a:rPr>
              <a:t>Bad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578608"/>
            <a:ext cx="2148840" cy="384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史上首张五首冠军单曲的专辑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18688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3218688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364992"/>
            <a:ext cx="2148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84B"/>
                </a:solidFill>
                <a:latin typeface="Didot"/>
                <a:ea typeface="Hiragino Sans GB"/>
              </a:rPr>
              <a:t>1991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3675887"/>
            <a:ext cx="2148840" cy="38404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1E8"/>
                </a:solidFill>
                <a:latin typeface="Didot"/>
                <a:ea typeface="Hiragino Sans GB"/>
              </a:rPr>
              <a:t>Dangerous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4059936"/>
            <a:ext cx="2148840" cy="384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转向 new jack swing 的新声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20440" y="3218688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20440" y="3218688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03320" y="3364992"/>
            <a:ext cx="2148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84B"/>
                </a:solidFill>
                <a:latin typeface="Didot"/>
                <a:ea typeface="Hiragino Sans GB"/>
              </a:rPr>
              <a:t>1995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675887"/>
            <a:ext cx="2148840" cy="38404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1E8"/>
                </a:solidFill>
                <a:latin typeface="Didot"/>
                <a:ea typeface="Hiragino Sans GB"/>
              </a:rPr>
              <a:t>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059936"/>
            <a:ext cx="2148840" cy="384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回顾精选与新作的双碟企划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218688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0" y="3218688"/>
            <a:ext cx="2514600" cy="1298448"/>
          </a:xfrm>
          <a:prstGeom prst="roundRect">
            <a:avLst>
              <a:gd name="adj" fmla="val 845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364992"/>
            <a:ext cx="2148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8B84B"/>
                </a:solidFill>
                <a:latin typeface="Didot"/>
                <a:ea typeface="Hiragino Sans GB"/>
              </a:rPr>
              <a:t>2001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675887"/>
            <a:ext cx="2148840" cy="384048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5F1E8"/>
                </a:solidFill>
                <a:latin typeface="Didot"/>
                <a:ea typeface="Hiragino Sans GB"/>
              </a:rPr>
              <a:t>Invincible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59936"/>
            <a:ext cx="2148840" cy="3840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最后一张录音室专辑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CC7E0"/>
                </a:solidFill>
                <a:latin typeface="Hiragino Sans GB"/>
                <a:ea typeface="Hiragino Sans GB"/>
              </a:rPr>
              <a:t>舞台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THE MOONWALK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月球漫步：一个动作，定义一个时代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5CC7E0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C7E0"/>
                </a:solidFill>
                <a:latin typeface="Helvetica Neue"/>
                <a:ea typeface="Hiragino Sans GB"/>
              </a:rPr>
              <a:t>07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3880624" cy="2331720"/>
          </a:xfrm>
          <a:prstGeom prst="roundRect">
            <a:avLst>
              <a:gd name="adj" fmla="val 549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3880624" cy="2331720"/>
          </a:xfrm>
          <a:prstGeom prst="roundRect">
            <a:avLst>
              <a:gd name="adj" fmla="val 549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1632" y="1783080"/>
            <a:ext cx="2468880" cy="1828800"/>
          </a:xfrm>
          <a:prstGeom prst="ellipse">
            <a:avLst/>
          </a:prstGeom>
          <a:gradFill>
            <a:gsLst>
              <a:gs pos="0">
                <a:srgbClr val="5CC7E0">
                  <a:alpha val="30000"/>
                </a:srgbClr>
              </a:gs>
              <a:gs pos="34000">
                <a:srgbClr val="5CC7E0">
                  <a:alpha val="16500"/>
                </a:srgbClr>
              </a:gs>
              <a:gs pos="62000">
                <a:srgbClr val="5CC7E0">
                  <a:alpha val="6000"/>
                </a:srgbClr>
              </a:gs>
              <a:gs pos="82000">
                <a:srgbClr val="5CC7E0">
                  <a:alpha val="1800"/>
                </a:srgbClr>
              </a:gs>
              <a:gs pos="100000">
                <a:srgbClr val="5CC7E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月球漫步脚印意象" title="月球漫步脚印意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720" y="2212848"/>
            <a:ext cx="1060704" cy="106070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437392" y="3419856"/>
            <a:ext cx="1737360" cy="21945"/>
          </a:xfrm>
          <a:prstGeom prst="rect">
            <a:avLst/>
          </a:prstGeom>
          <a:gradFill>
            <a:gsLst>
              <a:gs pos="0">
                <a:srgbClr val="5CC7E0">
                  <a:alpha val="0"/>
                </a:srgbClr>
              </a:gs>
              <a:gs pos="50000">
                <a:srgbClr val="5CC7E0">
                  <a:alpha val="72000"/>
                </a:srgbClr>
              </a:gs>
              <a:gs pos="100000">
                <a:srgbClr val="5CC7E0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0272" y="3538728"/>
            <a:ext cx="1371600" cy="21945"/>
          </a:xfrm>
          <a:prstGeom prst="rect">
            <a:avLst/>
          </a:prstGeom>
          <a:gradFill>
            <a:gsLst>
              <a:gs pos="0">
                <a:srgbClr val="5CC7E0">
                  <a:alpha val="0"/>
                </a:srgbClr>
              </a:gs>
              <a:gs pos="50000">
                <a:srgbClr val="5CC7E0">
                  <a:alpha val="52000"/>
                </a:srgbClr>
              </a:gs>
              <a:gs pos="100000">
                <a:srgbClr val="5CC7E0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03152" y="3657600"/>
            <a:ext cx="1005840" cy="21945"/>
          </a:xfrm>
          <a:prstGeom prst="rect">
            <a:avLst/>
          </a:prstGeom>
          <a:gradFill>
            <a:gsLst>
              <a:gs pos="0">
                <a:srgbClr val="5CC7E0">
                  <a:alpha val="0"/>
                </a:srgbClr>
              </a:gs>
              <a:gs pos="50000">
                <a:srgbClr val="5CC7E0">
                  <a:alpha val="32000"/>
                </a:srgbClr>
              </a:gs>
              <a:gs pos="100000">
                <a:srgbClr val="5CC7E0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7"/>
            <a:ext cx="3880624" cy="4206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C7E0"/>
                </a:solidFill>
                <a:latin typeface="Helvetica Neue"/>
                <a:ea typeface="Hiragino Sans GB"/>
              </a:rPr>
              <a:t>Motown 25 · 1983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3584" y="1847088"/>
            <a:ext cx="4074655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D7DAE4"/>
                </a:solidFill>
                <a:latin typeface="Hiragino Sans GB"/>
                <a:ea typeface="Hiragino Sans GB"/>
              </a:rPr>
              <a:t>1983 年 3 月 25 日录制、5 月 16 日于 NBC 播出的 《Motown 25》特别节目中，杰克逊伴着《Billie Jean》首次公开表演月球漫步。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3584" y="3429000"/>
            <a:ext cx="4074655" cy="713232"/>
          </a:xfrm>
          <a:prstGeom prst="roundRect">
            <a:avLst>
              <a:gd name="adj" fmla="val 15384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3584" y="3429000"/>
            <a:ext cx="4074655" cy="713232"/>
          </a:xfrm>
          <a:prstGeom prst="roundRect">
            <a:avLst>
              <a:gd name="adj" fmla="val 15384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23040" y="3429000"/>
            <a:ext cx="3708895" cy="713232"/>
          </a:xfrm>
          <a:prstGeom prst="rect">
            <a:avLst/>
          </a:prstGeom>
          <a:noFill/>
          <a:ln/>
        </p:spPr>
        <p:txBody>
          <a:bodyPr wrap="non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5CC7E0"/>
                </a:solidFill>
                <a:latin typeface="Helvetica Neue"/>
                <a:ea typeface="Hiragino Sans GB"/>
              </a:rPr>
              <a:t>≈4700 万</a:t>
            </a:r>
            <a:r>
              <a:rPr sz="1300" b="0" i="0">
                <a:solidFill>
                  <a:srgbClr val="F5F1E8"/>
                </a:solidFill>
                <a:latin typeface="Hiragino Sans GB"/>
                <a:ea typeface="Hiragino Sans GB"/>
              </a:rPr>
              <a:t>  人收看这场演出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CC7E0"/>
                </a:solidFill>
                <a:latin typeface="Hiragino Sans GB"/>
                <a:ea typeface="Hiragino Sans GB"/>
              </a:rPr>
              <a:t>影像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THE SHORT FILM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把音乐录影带，变成电影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5CC7E0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CC7E0"/>
                </a:solidFill>
                <a:latin typeface="Helvetica Neue"/>
                <a:ea typeface="Hiragino Sans GB"/>
              </a:rPr>
              <a:t>08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79552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D7DAE4"/>
                </a:solidFill>
                <a:latin typeface="Hiragino Sans GB"/>
                <a:ea typeface="Hiragino Sans GB"/>
              </a:rPr>
              <a:t>1983 年的《Thriller》短片重新定义了 music video——不再是宣传片，而是一种有叙事、有制作规格的艺术形式。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2980944"/>
            <a:ext cx="274320" cy="45720"/>
          </a:xfrm>
          <a:prstGeom prst="rect">
            <a:avLst/>
          </a:prstGeom>
          <a:solidFill>
            <a:srgbClr val="5CC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127248"/>
            <a:ext cx="1463040" cy="8458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5F1E8"/>
                </a:solidFill>
                <a:latin typeface="Helvetica Neue"/>
                <a:ea typeface="Hiragino Sans GB"/>
              </a:rPr>
              <a:t>13:42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831335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近十四分钟的音乐恐怖短片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1488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61488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62656" y="2980944"/>
            <a:ext cx="274320" cy="4572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3127248"/>
            <a:ext cx="1463040" cy="8458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5F1E8"/>
                </a:solidFill>
                <a:latin typeface="Helvetica Neue"/>
                <a:ea typeface="Hiragino Sans GB"/>
              </a:rPr>
              <a:t>John Landis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2656" y="3831335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电影导演执导（《美国狼人在伦敦》）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896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82896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84064" y="2980944"/>
            <a:ext cx="274320" cy="45720"/>
          </a:xfrm>
          <a:prstGeom prst="rect">
            <a:avLst/>
          </a:prstGeom>
          <a:solidFill>
            <a:srgbClr val="5CC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3127248"/>
            <a:ext cx="1463040" cy="8458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1E8"/>
                </a:solidFill>
                <a:latin typeface="Helvetica Neue"/>
                <a:ea typeface="Hiragino Sans GB"/>
              </a:rPr>
              <a:t>35mm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31335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以胶片与电影级制作规格拍摄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04304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4304" y="2743200"/>
            <a:ext cx="1828800" cy="1691640"/>
          </a:xfrm>
          <a:prstGeom prst="roundRect">
            <a:avLst>
              <a:gd name="adj" fmla="val 7027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05472" y="2980944"/>
            <a:ext cx="274320" cy="45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87184" y="3127248"/>
            <a:ext cx="1463040" cy="84582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5F1E8"/>
                </a:solidFill>
                <a:latin typeface="Helvetica Neue"/>
                <a:ea typeface="Hiragino Sans GB"/>
              </a:rPr>
              <a:t>首支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3831335"/>
            <a:ext cx="1426464" cy="512064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2009 年入选美国国家电影登记处的 MV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成就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用数字丈量的传奇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09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格莱美奖，另获格莱美传奇奖" title="格莱美奖，另获格莱美传奇奖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084831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59" y="2670048"/>
            <a:ext cx="1517904" cy="54864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F1E8"/>
                </a:solidFill>
                <a:latin typeface="Helvetica Neue"/>
                <a:ea typeface="Hiragino Sans GB"/>
              </a:rPr>
              <a:t>13</a:t>
            </a:r>
            <a:r>
              <a:rPr sz="1300" b="1" i="0">
                <a:solidFill>
                  <a:srgbClr val="E8B84B"/>
                </a:solidFill>
                <a:latin typeface="Hiragino Sans GB"/>
                <a:ea typeface="Hiragino Sans GB"/>
              </a:rPr>
              <a:t> 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14630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格莱美奖，另获格莱美传奇奖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1488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illboard Hot 100 冠军单曲" title="Billboard Hot 100 冠军单曲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2084831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44368" y="2670048"/>
            <a:ext cx="1517904" cy="54864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F1E8"/>
                </a:solidFill>
                <a:latin typeface="Helvetica Neue"/>
                <a:ea typeface="Hiragino Sans GB"/>
              </a:rPr>
              <a:t>13</a:t>
            </a:r>
            <a:r>
              <a:rPr sz="1300" b="1" i="0">
                <a:solidFill>
                  <a:srgbClr val="E8B84B"/>
                </a:solidFill>
                <a:latin typeface="Hiragino Sans GB"/>
                <a:ea typeface="Hiragino Sans GB"/>
              </a:rPr>
              <a:t> 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2656" y="3310128"/>
            <a:ext cx="14630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Billboard Hot 100 冠军单曲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82896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82896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入选摇滚名人堂（1997 群体 / 2001 个人）" title="入选摇滚名人堂（1997 群体 / 2001 个人）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2084831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065776" y="2670048"/>
            <a:ext cx="1517904" cy="54864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F1E8"/>
                </a:solidFill>
                <a:latin typeface="Helvetica Neue"/>
                <a:ea typeface="Hiragino Sans GB"/>
              </a:rPr>
              <a:t>2</a:t>
            </a:r>
            <a:r>
              <a:rPr sz="1300" b="1" i="0">
                <a:solidFill>
                  <a:srgbClr val="E8B84B"/>
                </a:solidFill>
                <a:latin typeface="Hiragino Sans GB"/>
                <a:ea typeface="Hiragino Sans GB"/>
              </a:rPr>
              <a:t> 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310128"/>
            <a:ext cx="14630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入选摇滚名人堂（1997 群体 / 2001 个人）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04304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04304" y="1874519"/>
            <a:ext cx="1828800" cy="224028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《Bad》专辑冠军单曲 · 史上首张" title="《Bad》专辑冠军单曲 · 史上首张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084831"/>
            <a:ext cx="384048" cy="3840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187184" y="2670048"/>
            <a:ext cx="1517904" cy="548640"/>
          </a:xfrm>
          <a:prstGeom prst="rect">
            <a:avLst/>
          </a:prstGeom>
          <a:noFill/>
          <a:ln/>
        </p:spPr>
        <p:txBody>
          <a:bodyPr wrap="non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5F1E8"/>
                </a:solidFill>
                <a:latin typeface="Helvetica Neue"/>
                <a:ea typeface="Hiragino Sans GB"/>
              </a:rPr>
              <a:t>5</a:t>
            </a:r>
            <a:r>
              <a:rPr sz="1300" b="1" i="0">
                <a:solidFill>
                  <a:srgbClr val="E8B84B"/>
                </a:solidFill>
                <a:latin typeface="Hiragino Sans GB"/>
                <a:ea typeface="Hiragino Sans GB"/>
              </a:rPr>
              <a:t> 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05472" y="3310128"/>
            <a:ext cx="14630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《Bad》专辑冠军单曲 · 史上首张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影响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CULTURAL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他改变的，不只是排行榜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10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640080" y="1828800"/>
            <a:ext cx="1828800" cy="45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CC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打破影像壁垒" title="打破影像壁垒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2121408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384" y="2816352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打破影像壁垒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18688"/>
            <a:ext cx="1499616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以强势的 MV 帮助打破 MTV 早期的种族藩篱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5176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 Same Side Corner Rectangle 16"/>
          <p:cNvSpPr/>
          <p:nvPr/>
        </p:nvSpPr>
        <p:spPr>
          <a:xfrm>
            <a:off x="2651760" y="1828800"/>
            <a:ext cx="1828800" cy="45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舞蹈与时尚语言" title="舞蹈与时尚语言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2121408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98064" y="2816352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舞蹈与时尚语言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6352" y="3218688"/>
            <a:ext cx="1499616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月球漫步、亮片手套——化为一整套流行符号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344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663440" y="1828800"/>
            <a:ext cx="1828800" cy="45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8F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全球化偶像" title="全球化偶像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1807" y="2121408"/>
            <a:ext cx="512064" cy="5120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809744" y="2816352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全球化偶像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8031" y="3218688"/>
            <a:ext cx="1499616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把流行明星的量级，推向真正的全球规模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675120" y="1828800"/>
            <a:ext cx="1828800" cy="2331720"/>
          </a:xfrm>
          <a:prstGeom prst="roundRect">
            <a:avLst>
              <a:gd name="adj" fmla="val 6500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675120" y="1828800"/>
            <a:ext cx="1828800" cy="4572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7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人道主义" title="人道主义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3488" y="2121408"/>
            <a:ext cx="512064" cy="5120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21424" y="2816352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人道主义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218688"/>
            <a:ext cx="1499616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7DAE4"/>
                </a:solidFill>
                <a:latin typeface="Hiragino Sans GB"/>
                <a:ea typeface="Hiragino Sans GB"/>
              </a:rPr>
              <a:t>共同创作《We Are the World》（1985）等公益作品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75A72"/>
                </a:solidFill>
                <a:latin typeface="Hiragino Sans GB"/>
                <a:ea typeface="Hiragino Sans GB"/>
              </a:rPr>
              <a:t>复杂性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THE CONTROVERSIES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一位复杂的公众人物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75A72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75A72"/>
                </a:solidFill>
                <a:latin typeface="Helvetica Neue"/>
                <a:ea typeface="Hiragino Sans GB"/>
              </a:rPr>
              <a:t>11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81328"/>
            <a:ext cx="79552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939BB0"/>
                </a:solidFill>
                <a:latin typeface="Hiragino Sans GB"/>
                <a:ea typeface="Hiragino Sans GB"/>
              </a:rPr>
              <a:t>以客观事实呈现，判断留给听众。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03120"/>
            <a:ext cx="45720" cy="384048"/>
          </a:xfrm>
          <a:prstGeom prst="rect">
            <a:avLst/>
          </a:prstGeom>
          <a:solidFill>
            <a:srgbClr val="E7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975104"/>
            <a:ext cx="18288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外貌与健康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975104"/>
            <a:ext cx="5742432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7DAE4"/>
                </a:solidFill>
                <a:latin typeface="Hiragino Sans GB"/>
                <a:ea typeface="Hiragino Sans GB"/>
              </a:rPr>
              <a:t>容貌变化长期引发揣测；他本人称患有白癜风。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2633472"/>
            <a:ext cx="7607808" cy="10972"/>
          </a:xfrm>
          <a:prstGeom prst="rect">
            <a:avLst/>
          </a:prstGeom>
          <a:gradFill>
            <a:gsLst>
              <a:gs pos="0">
                <a:srgbClr val="939BB0">
                  <a:alpha val="0"/>
                </a:srgbClr>
              </a:gs>
              <a:gs pos="50000">
                <a:srgbClr val="939BB0">
                  <a:alpha val="50000"/>
                </a:srgbClr>
              </a:gs>
              <a:gs pos="100000">
                <a:srgbClr val="939BB0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2834640"/>
            <a:ext cx="45720" cy="384048"/>
          </a:xfrm>
          <a:prstGeom prst="rect">
            <a:avLst/>
          </a:prstGeom>
          <a:solidFill>
            <a:srgbClr val="E7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2706624"/>
            <a:ext cx="18288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法律指控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706624"/>
            <a:ext cx="5742432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7DAE4"/>
                </a:solidFill>
                <a:latin typeface="Hiragino Sans GB"/>
                <a:ea typeface="Hiragino Sans GB"/>
              </a:rPr>
              <a:t>1993 年一起指控庭外和解；2005 年受审后被判所有罪名不成立。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3364991"/>
            <a:ext cx="7607808" cy="10972"/>
          </a:xfrm>
          <a:prstGeom prst="rect">
            <a:avLst/>
          </a:prstGeom>
          <a:gradFill>
            <a:gsLst>
              <a:gs pos="0">
                <a:srgbClr val="939BB0">
                  <a:alpha val="0"/>
                </a:srgbClr>
              </a:gs>
              <a:gs pos="50000">
                <a:srgbClr val="939BB0">
                  <a:alpha val="50000"/>
                </a:srgbClr>
              </a:gs>
              <a:gs pos="100000">
                <a:srgbClr val="939BB0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566160"/>
            <a:ext cx="45720" cy="384048"/>
          </a:xfrm>
          <a:prstGeom prst="rect">
            <a:avLst/>
          </a:prstGeom>
          <a:solidFill>
            <a:srgbClr val="E7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438144"/>
            <a:ext cx="18288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财务与晚年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438144"/>
            <a:ext cx="5742432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7DAE4"/>
                </a:solidFill>
                <a:latin typeface="Hiragino Sans GB"/>
                <a:ea typeface="Hiragino Sans GB"/>
              </a:rPr>
              <a:t>背负巨额债务，晚年长期淡出舞台。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4096511"/>
            <a:ext cx="7607808" cy="10972"/>
          </a:xfrm>
          <a:prstGeom prst="rect">
            <a:avLst/>
          </a:prstGeom>
          <a:gradFill>
            <a:gsLst>
              <a:gs pos="0">
                <a:srgbClr val="939BB0">
                  <a:alpha val="0"/>
                </a:srgbClr>
              </a:gs>
              <a:gs pos="50000">
                <a:srgbClr val="939BB0">
                  <a:alpha val="50000"/>
                </a:srgbClr>
              </a:gs>
              <a:gs pos="100000">
                <a:srgbClr val="939BB0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4297679"/>
            <a:ext cx="45720" cy="384048"/>
          </a:xfrm>
          <a:prstGeom prst="rect">
            <a:avLst/>
          </a:prstGeom>
          <a:solidFill>
            <a:srgbClr val="E7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4169663"/>
            <a:ext cx="18288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5F1E8"/>
                </a:solidFill>
                <a:latin typeface="Hiragino Sans GB"/>
                <a:ea typeface="Hiragino Sans GB"/>
              </a:rPr>
              <a:t>离世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169663"/>
            <a:ext cx="5742432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D7DAE4"/>
                </a:solidFill>
                <a:latin typeface="Hiragino Sans GB"/>
                <a:ea typeface="Hiragino Sans GB"/>
              </a:rPr>
              <a:t>2009 年 6 月 25 日于洛杉矶离世，引发全球哀悼。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17000"/>
                </a:srgbClr>
              </a:gs>
              <a:gs pos="40000">
                <a:srgbClr val="E8B84B">
                  <a:alpha val="8500"/>
                </a:srgbClr>
              </a:gs>
              <a:gs pos="70000">
                <a:srgbClr val="E8B84B">
                  <a:alpha val="23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20624"/>
            <a:ext cx="694944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B84B"/>
                </a:solidFill>
                <a:latin typeface="Hiragino Sans GB"/>
                <a:ea typeface="Hiragino Sans GB"/>
              </a:rPr>
              <a:t>遗产</a:t>
            </a:r>
            <a:r>
              <a:rPr sz="1050" b="0" i="0">
                <a:solidFill>
                  <a:srgbClr val="939BB0"/>
                </a:solidFill>
                <a:latin typeface="Helvetica Neue"/>
                <a:ea typeface="Hiragino Sans GB"/>
              </a:rPr>
              <a:t>   THE LEGACY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7955279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F1E8"/>
                </a:solidFill>
                <a:latin typeface="Songti SC"/>
                <a:ea typeface="Hiragino Sans GB"/>
              </a:rPr>
              <a:t>“流行乐之王”的称号，留了下来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" y="1426464"/>
            <a:ext cx="192024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457200"/>
            <a:ext cx="14173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elvetica Neue"/>
                <a:ea typeface="Hiragino Sans GB"/>
              </a:rPr>
              <a:t>12</a:t>
            </a:r>
            <a:r>
              <a:rPr sz="1100" b="0" i="0">
                <a:solidFill>
                  <a:srgbClr val="939BB0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10512"/>
            <a:ext cx="795527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D7DAE4"/>
                </a:solidFill>
                <a:latin typeface="Hiragino Sans GB"/>
                <a:ea typeface="Hiragino Sans GB"/>
              </a:rPr>
              <a:t>几乎每一位当代流行与舞蹈艺人，都能在他的舞台、编舞与影像里，找到自己的源头。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2432304" cy="1280160"/>
          </a:xfrm>
          <a:prstGeom prst="roundRect">
            <a:avLst>
              <a:gd name="adj" fmla="val 8571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2432304" cy="1280160"/>
          </a:xfrm>
          <a:prstGeom prst="roundRect">
            <a:avLst>
              <a:gd name="adj" fmla="val 857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7" y="3108960"/>
            <a:ext cx="292608" cy="45720"/>
          </a:xfrm>
          <a:prstGeom prst="rect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246120"/>
            <a:ext cx="20299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1E8"/>
                </a:solidFill>
                <a:latin typeface="Hiragino Sans GB"/>
                <a:ea typeface="Hiragino Sans GB"/>
              </a:rPr>
              <a:t>现场与编舞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639312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AE4"/>
                </a:solidFill>
                <a:latin typeface="Hiragino Sans GB"/>
                <a:ea typeface="Hiragino Sans GB"/>
              </a:rPr>
              <a:t>把演唱会升级为整体视觉奇观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6704" y="2880360"/>
            <a:ext cx="2432304" cy="1280160"/>
          </a:xfrm>
          <a:prstGeom prst="roundRect">
            <a:avLst>
              <a:gd name="adj" fmla="val 8571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46704" y="2880360"/>
            <a:ext cx="2432304" cy="1280160"/>
          </a:xfrm>
          <a:prstGeom prst="roundRect">
            <a:avLst>
              <a:gd name="adj" fmla="val 857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47872" y="3108960"/>
            <a:ext cx="292608" cy="45720"/>
          </a:xfrm>
          <a:prstGeom prst="rect">
            <a:avLst/>
          </a:prstGeom>
          <a:solidFill>
            <a:srgbClr val="5CC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47872" y="3246120"/>
            <a:ext cx="20299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1E8"/>
                </a:solidFill>
                <a:latin typeface="Hiragino Sans GB"/>
                <a:ea typeface="Hiragino Sans GB"/>
              </a:rPr>
              <a:t>影像语言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872" y="3639312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AE4"/>
                </a:solidFill>
                <a:latin typeface="Hiragino Sans GB"/>
                <a:ea typeface="Hiragino Sans GB"/>
              </a:rPr>
              <a:t>确立 MV 作为主流艺术形式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2880360"/>
            <a:ext cx="2432304" cy="1280160"/>
          </a:xfrm>
          <a:prstGeom prst="roundRect">
            <a:avLst>
              <a:gd name="adj" fmla="val 8571"/>
            </a:avLst>
          </a:prstGeom>
          <a:gradFill>
            <a:gsLst>
              <a:gs pos="0">
                <a:srgbClr val="333D57">
                  <a:alpha val="46000"/>
                </a:srgbClr>
              </a:gs>
              <a:gs pos="100000">
                <a:srgbClr val="333D57">
                  <a:alpha val="20000"/>
                </a:srgbClr>
              </a:gs>
            </a:gsLst>
            <a:lin ang="7200000" scaled="1"/>
          </a:gra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53328" y="2880360"/>
            <a:ext cx="2432304" cy="1280160"/>
          </a:xfrm>
          <a:prstGeom prst="roundRect">
            <a:avLst>
              <a:gd name="adj" fmla="val 8571"/>
            </a:avLst>
          </a:prstGeom>
          <a:gradFill>
            <a:gsLst>
              <a:gs pos="0">
                <a:srgbClr val="FFFFFF">
                  <a:alpha val="20000"/>
                </a:srgbClr>
              </a:gs>
              <a:gs pos="45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3108960"/>
            <a:ext cx="292608" cy="45720"/>
          </a:xfrm>
          <a:prstGeom prst="rect">
            <a:avLst/>
          </a:prstGeom>
          <a:solidFill>
            <a:srgbClr val="8F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4496" y="3246120"/>
            <a:ext cx="20299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5F1E8"/>
                </a:solidFill>
                <a:latin typeface="Hiragino Sans GB"/>
                <a:ea typeface="Hiragino Sans GB"/>
              </a:rPr>
              <a:t>持续的文化在场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3639312"/>
            <a:ext cx="202996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7DAE4"/>
                </a:solidFill>
                <a:latin typeface="Hiragino Sans GB"/>
                <a:ea typeface="Hiragino Sans GB"/>
              </a:rPr>
              <a:t>音乐、纪念与再创作从未停歇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28032"/>
            <a:ext cx="594360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828032"/>
            <a:ext cx="10972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742A"/>
                </a:solidFill>
                <a:latin typeface="Didot"/>
                <a:ea typeface="Hiragino Sans GB"/>
              </a:rPr>
              <a:t>MJ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24000"/>
                </a:srgbClr>
              </a:gs>
              <a:gs pos="40000">
                <a:srgbClr val="E8B84B">
                  <a:alpha val="12000"/>
                </a:srgbClr>
              </a:gs>
              <a:gs pos="70000">
                <a:srgbClr val="E8B84B">
                  <a:alpha val="336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74519"/>
            <a:ext cx="9144000" cy="18288"/>
          </a:xfrm>
          <a:prstGeom prst="rect">
            <a:avLst/>
          </a:prstGeom>
          <a:gradFill>
            <a:gsLst>
              <a:gs pos="0">
                <a:srgbClr val="E8B84B">
                  <a:alpha val="0"/>
                </a:srgbClr>
              </a:gs>
              <a:gs pos="50000">
                <a:srgbClr val="E8B84B">
                  <a:alpha val="55000"/>
                </a:srgbClr>
              </a:gs>
              <a:gs pos="100000">
                <a:srgbClr val="E8B84B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7680960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B84B"/>
                </a:solidFill>
                <a:latin typeface="Hiragino Sans GB"/>
                <a:ea typeface="Hiragino Sans GB"/>
              </a:rPr>
              <a:t>尾声 · CODA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6400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E8B84B"/>
                </a:solidFill>
                <a:latin typeface="Songti SC"/>
                <a:ea typeface="Hiragino Sans GB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606040"/>
            <a:ext cx="6217920" cy="838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0" i="1">
                <a:solidFill>
                  <a:srgbClr val="F5F1E8"/>
                </a:solidFill>
                <a:latin typeface="Songti SC"/>
                <a:ea typeface="Hiragino Sans GB"/>
              </a:rPr>
              <a:t>他把流行音乐、舞蹈与影像，熔铸成一种世界通用的语言。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53968"/>
            <a:ext cx="62179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Helvetica Neue"/>
                <a:ea typeface="Hiragino Sans GB"/>
              </a:rPr>
              <a:t>— 迈克尔·杰克逊 · 音乐生涯人物志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28032"/>
            <a:ext cx="804672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39BB0"/>
                </a:solidFill>
                <a:latin typeface="Hiragino Sans GB"/>
                <a:ea typeface="Hiragino Sans GB"/>
              </a:rPr>
              <a:t>流行乐之王 · 音乐生涯人物志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141A2E">
                  <a:alpha val="100000"/>
                </a:srgbClr>
              </a:gs>
              <a:gs pos="55000">
                <a:srgbClr val="070A14">
                  <a:alpha val="100000"/>
                </a:srgbClr>
              </a:gs>
              <a:gs pos="100000">
                <a:srgbClr val="070A1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8B84B">
                  <a:alpha val="22000"/>
                </a:srgbClr>
              </a:gs>
              <a:gs pos="40000">
                <a:srgbClr val="E8B84B">
                  <a:alpha val="11000"/>
                </a:srgbClr>
              </a:gs>
              <a:gs pos="70000">
                <a:srgbClr val="E8B84B">
                  <a:alpha val="3080"/>
                </a:srgbClr>
              </a:gs>
              <a:gs pos="100000">
                <a:srgbClr val="E8B8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22182A">
                  <a:alpha val="0"/>
                </a:srgbClr>
              </a:gs>
              <a:gs pos="100000">
                <a:srgbClr val="22182A">
                  <a:alpha val="26000"/>
                </a:srgbClr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26280" y="3108960"/>
            <a:ext cx="91440" cy="2011680"/>
          </a:xfrm>
          <a:prstGeom prst="rect">
            <a:avLst/>
          </a:prstGeom>
          <a:gradFill>
            <a:gsLst>
              <a:gs pos="0">
                <a:srgbClr val="E8B84B">
                  <a:alpha val="0"/>
                </a:srgbClr>
              </a:gs>
              <a:gs pos="100000">
                <a:srgbClr val="E8B84B">
                  <a:alpha val="3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皇冠标记" title="皇冠标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5156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5F1E8"/>
                </a:solidFill>
                <a:latin typeface="Songti SC"/>
                <a:ea typeface="Hiragino Sans GB"/>
              </a:rPr>
              <a:t>流行乐之王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8B84B"/>
                </a:solidFill>
                <a:latin typeface="Didot"/>
                <a:ea typeface="Hiragino Sans GB"/>
              </a:rPr>
              <a:t>M I C H A E L   J A C K S O N   ·   1958 — 2009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3310128"/>
            <a:ext cx="1645920" cy="27432"/>
          </a:xfrm>
          <a:prstGeom prst="rect">
            <a:avLst/>
          </a:prstGeom>
          <a:gradFill rotWithShape="1">
            <a:gsLst>
              <a:gs pos="0">
                <a:srgbClr val="E8B84B"/>
              </a:gs>
              <a:gs pos="100000">
                <a:srgbClr val="070A1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5F1E8"/>
                </a:solidFill>
                <a:latin typeface="Hiragino Sans GB"/>
                <a:ea typeface="Hiragino Sans GB"/>
              </a:rPr>
              <a:t>感谢观看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9BB0"/>
                </a:solidFill>
                <a:latin typeface="Hiragino Sans GB"/>
                <a:ea typeface="Hiragino Sans GB"/>
              </a:rPr>
              <a:t>slide-maker 示例模板 · 事实经核实的真实内容示例，可复用此视觉系统替换为你的主题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