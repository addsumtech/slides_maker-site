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2377440" y="0"/>
            <a:ext cx="4389120" cy="5074920"/>
          </a:xfrm>
          <a:prstGeom prst="triangle">
            <a:avLst/>
          </a:prstGeom>
          <a:gradFill>
            <a:gsLst>
              <a:gs pos="0">
                <a:srgbClr val="E8B23A">
                  <a:alpha val="17000"/>
                </a:srgbClr>
              </a:gs>
              <a:gs pos="100000">
                <a:srgbClr val="E8B23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1760" y="0"/>
            <a:ext cx="3840480" cy="2286000"/>
          </a:xfrm>
          <a:prstGeom prst="ellipse">
            <a:avLst/>
          </a:prstGeom>
          <a:gradFill>
            <a:gsLst>
              <a:gs pos="0">
                <a:srgbClr val="E8B23A">
                  <a:alpha val="15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20440" y="0"/>
            <a:ext cx="2103120" cy="1737360"/>
          </a:xfrm>
          <a:prstGeom prst="ellipse">
            <a:avLst/>
          </a:prstGeom>
          <a:gradFill>
            <a:gsLst>
              <a:gs pos="0">
                <a:srgbClr val="E8B23A">
                  <a:alpha val="44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19" y="91439"/>
            <a:ext cx="7680960" cy="4937760"/>
          </a:xfrm>
          <a:prstGeom prst="ellipse">
            <a:avLst/>
          </a:prstGeom>
          <a:gradFill>
            <a:gsLst>
              <a:gs pos="0">
                <a:srgbClr val="E8B23A">
                  <a:alpha val="1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19" y="3749039"/>
            <a:ext cx="5852160" cy="1371600"/>
          </a:xfrm>
          <a:prstGeom prst="ellipse">
            <a:avLst/>
          </a:prstGeom>
          <a:gradFill>
            <a:gsLst>
              <a:gs pos="0">
                <a:srgbClr val="E8B23A">
                  <a:alpha val="2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091939"/>
            <a:ext cx="9144000" cy="1051560"/>
          </a:xfrm>
          <a:prstGeom prst="rect">
            <a:avLst/>
          </a:prstGeom>
          <a:gradFill>
            <a:gsLst>
              <a:gs pos="0">
                <a:srgbClr val="0E0D13">
                  <a:alpha val="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3A"/>
                </a:solidFill>
                <a:latin typeface="Helvetica Neue"/>
                <a:ea typeface="PingFang SC"/>
              </a:rPr>
              <a:t>生 涯 回 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17904"/>
            <a:ext cx="7863840" cy="10515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0" i="0">
                <a:solidFill>
                  <a:srgbClr val="F3EFE6"/>
                </a:solidFill>
                <a:latin typeface="Didot"/>
                <a:ea typeface="PingFang SC"/>
              </a:rPr>
              <a:t>Michael Jackson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15184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E8B23A"/>
                </a:solidFill>
                <a:latin typeface="Didot"/>
                <a:ea typeface="PingFang SC"/>
              </a:rPr>
              <a:t>流行乐之王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310128"/>
            <a:ext cx="1280160" cy="3657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93008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  <a:ea typeface="PingFang SC"/>
              </a:rPr>
              <a:t>从 Jackson 5 到全球偶像 —— 十四页，回顾一段传奇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  <a:ea typeface="PingFang SC"/>
              </a:rPr>
              <a:t>1958  —  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28032"/>
            <a:ext cx="78638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58EA0"/>
                </a:solidFill>
                <a:latin typeface="Helvetica Neue"/>
                <a:ea typeface="PingFang SC"/>
              </a:rPr>
              <a:t>示例 DECK  ·  由 SLIDE-MAKER 构建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生涯脉络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一生，以无数个「第一次」丈量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61084"/>
            <a:ext cx="4343400" cy="2743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  <a:ea typeface="PingFang SC"/>
              </a:rPr>
              <a:t>1958 年生于印第安纳州加里市，迈克尔·杰克逊从一支 Motown 组合里最年轻的嗓音，一路成长为全世界最著名的演艺巨星。四十年间，他一次次重新定义了一张流行唱片、一支音乐录影带、一场现场演出所能抵达的高度 —— 也成了此后每一位全球流行巨星被拿来对照的那把标尺。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0912" y="1561084"/>
            <a:ext cx="18288" cy="2880360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533652"/>
            <a:ext cx="3291840" cy="660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B23A"/>
                </a:solidFill>
                <a:latin typeface="Helvetica Neue"/>
                <a:ea typeface="PingFang SC"/>
              </a:rPr>
              <a:t>400M+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21807" y="2183892"/>
            <a:ext cx="3291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  <a:ea typeface="PingFang SC"/>
              </a:rPr>
              <a:t>全球唱片销量（估计）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48052"/>
            <a:ext cx="3291840" cy="660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B23A"/>
                </a:solidFill>
                <a:latin typeface="Helvetica Neue"/>
                <a:ea typeface="PingFang SC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3098292"/>
            <a:ext cx="3291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  <a:ea typeface="PingFang SC"/>
              </a:rPr>
              <a:t>个人身份的美国冠军单曲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362452"/>
            <a:ext cx="3291840" cy="660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B23A"/>
                </a:solidFill>
                <a:latin typeface="Helvetica Neue"/>
                <a:ea typeface="PingFang SC"/>
              </a:rPr>
              <a:t>67M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7" y="4012692"/>
            <a:ext cx="3291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  <a:ea typeface="PingFang SC"/>
              </a:rPr>
              <a:t>《Thriller》销量 —— 史上最畅销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1969–1975 · JACKSON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四支单曲，四次登顶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5364"/>
            <a:ext cx="78638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BC5D2"/>
                </a:solidFill>
                <a:latin typeface="Helvetica Neue"/>
                <a:ea typeface="PingFang SC"/>
              </a:rPr>
              <a:t>1968 年签约 Motown，这五位来自加里市的兄弟，很快就创造了历史。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9923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  <a:ea typeface="PingFang SC"/>
              </a:rPr>
              <a:t>N o .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331012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331012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  <a:ea typeface="PingFang SC"/>
              </a:rPr>
              <a:t>I Want You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785615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  <a:ea typeface="PingFang SC"/>
              </a:rPr>
              <a:t>1969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59736" y="3767328"/>
            <a:ext cx="164592" cy="27432"/>
          </a:xfrm>
          <a:prstGeom prst="rect">
            <a:avLst/>
          </a:prstGeom>
          <a:solidFill>
            <a:srgbClr val="B9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263347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  <a:ea typeface="PingFang SC"/>
              </a:rPr>
              <a:t>N o .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94436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06040" y="294436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9776" y="307238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  <a:ea typeface="PingFang SC"/>
              </a:rPr>
              <a:t>ABC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3419856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  <a:ea typeface="PingFang SC"/>
              </a:rPr>
              <a:t>1970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8264" y="3401568"/>
            <a:ext cx="164592" cy="27432"/>
          </a:xfrm>
          <a:prstGeom prst="rect">
            <a:avLst/>
          </a:prstGeom>
          <a:solidFill>
            <a:srgbClr val="B9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226771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  <a:ea typeface="PingFang SC"/>
              </a:rPr>
              <a:t>N o .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57860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44568" y="257860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270662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  <a:ea typeface="PingFang SC"/>
              </a:rPr>
              <a:t>The Love You Save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4" y="3054096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  <a:ea typeface="PingFang SC"/>
              </a:rPr>
              <a:t>1970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36792" y="3035808"/>
            <a:ext cx="164592" cy="27432"/>
          </a:xfrm>
          <a:prstGeom prst="rect">
            <a:avLst/>
          </a:prstGeom>
          <a:solidFill>
            <a:srgbClr val="B9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3096" y="190195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  <a:ea typeface="PingFang SC"/>
              </a:rPr>
              <a:t>N o .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83096" y="221284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83096" y="221284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234086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  <a:ea typeface="PingFang SC"/>
              </a:rPr>
              <a:t>I'll Be There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2688336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  <a:ea typeface="PingFang SC"/>
              </a:rPr>
              <a:t>1970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297680"/>
            <a:ext cx="786384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B23A"/>
                </a:solidFill>
                <a:latin typeface="Helvetica Neue"/>
                <a:ea typeface="PingFang SC"/>
              </a:rPr>
              <a:t>史上首个「出道即连续四支 Billboard Hot 100 冠军单曲」的组合。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1979 · OFF THE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从神童到大师的转身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Oval 6"/>
          <p:cNvSpPr/>
          <p:nvPr/>
        </p:nvSpPr>
        <p:spPr>
          <a:xfrm>
            <a:off x="987551" y="1588516"/>
            <a:ext cx="2688336" cy="268833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1" y="1634236"/>
            <a:ext cx="2596896" cy="2596896"/>
          </a:xfrm>
          <a:prstGeom prst="ellipse">
            <a:avLst/>
          </a:prstGeom>
          <a:noFill/>
          <a:ln w="2794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4567" y="1745531"/>
            <a:ext cx="2374304" cy="2374304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55863" y="1856827"/>
            <a:ext cx="2151713" cy="2151713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67158" y="1968122"/>
            <a:ext cx="1929122" cy="1929122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78454" y="2079418"/>
            <a:ext cx="1706531" cy="1706531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89749" y="2190713"/>
            <a:ext cx="1483940" cy="1483940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01045" y="2302009"/>
            <a:ext cx="1261349" cy="1261349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42185" y="2543149"/>
            <a:ext cx="779068" cy="779068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3289" y="2874253"/>
            <a:ext cx="116860" cy="116860"/>
          </a:xfrm>
          <a:prstGeom prst="ellipse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588516"/>
            <a:ext cx="3977639" cy="1066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  <a:ea typeface="PingFang SC"/>
              </a:rPr>
              <a:t>与制作人 Quincy Jones 再度携手，这张成年后的首张个人专辑把 disco、放克与流行熔于一炉，打磨出一种精致、且只属于他的声音 —— 也成了此后一切的起点。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112516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  <a:latin typeface="Helvetica Neue"/>
                <a:ea typeface="PingFang SC"/>
              </a:rPr>
              <a:t>发行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094228"/>
            <a:ext cx="2377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EFE6"/>
                </a:solidFill>
                <a:latin typeface="Helvetica Neue"/>
                <a:ea typeface="PingFang SC"/>
              </a:rPr>
              <a:t>1979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3423412"/>
            <a:ext cx="397763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551428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  <a:latin typeface="Helvetica Neue"/>
                <a:ea typeface="PingFang SC"/>
              </a:rPr>
              <a:t>制作人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533140"/>
            <a:ext cx="2377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EFE6"/>
                </a:solidFill>
                <a:latin typeface="Helvetica Neue"/>
                <a:ea typeface="PingFang SC"/>
              </a:rPr>
              <a:t>Quincy Jones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80" y="3862324"/>
            <a:ext cx="397763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3990340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  <a:latin typeface="Helvetica Neue"/>
                <a:ea typeface="PingFang SC"/>
              </a:rPr>
              <a:t>曲风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972052"/>
            <a:ext cx="2377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EFE6"/>
                </a:solidFill>
                <a:latin typeface="Helvetica Neue"/>
                <a:ea typeface="PingFang SC"/>
              </a:rPr>
              <a:t>Disco · 放克 · 流行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4301236"/>
            <a:ext cx="397763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822960"/>
            <a:ext cx="5120640" cy="3566160"/>
          </a:xfrm>
          <a:prstGeom prst="ellipse">
            <a:avLst/>
          </a:prstGeom>
          <a:gradFill>
            <a:gsLst>
              <a:gs pos="0">
                <a:srgbClr val="E8B23A">
                  <a:alpha val="9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1982 · THRILLER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史上最畅销的专辑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70228"/>
            <a:ext cx="30175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>
                <a:solidFill>
                  <a:srgbClr val="E8B23A"/>
                </a:solidFill>
                <a:latin typeface="Helvetica Neue"/>
                <a:ea typeface="PingFang SC"/>
              </a:rPr>
              <a:t>67M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0116"/>
            <a:ext cx="288036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3EFE6"/>
                </a:solidFill>
                <a:latin typeface="Helvetica Neue"/>
                <a:ea typeface="PingFang SC"/>
              </a:rPr>
              <a:t>全球销量（估计）—— 至今没有一张专辑卖得更多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570228"/>
            <a:ext cx="1536192" cy="1828800"/>
          </a:xfrm>
          <a:prstGeom prst="roundRect">
            <a:avLst>
              <a:gd name="adj" fmla="val 595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703320" y="1570228"/>
            <a:ext cx="153619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7" y="1789684"/>
            <a:ext cx="1133856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8B23A"/>
                </a:solidFill>
                <a:latin typeface="Helvetica Neue"/>
                <a:ea typeface="PingFang SC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4487" y="2539492"/>
            <a:ext cx="1133856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  <a:ea typeface="PingFang SC"/>
              </a:rPr>
              <a:t>一夜之间斩获的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  <a:ea typeface="PingFang SC"/>
              </a:rPr>
              <a:t>格莱美（1984）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8968" y="1570228"/>
            <a:ext cx="1536192" cy="1828800"/>
          </a:xfrm>
          <a:prstGeom prst="roundRect">
            <a:avLst>
              <a:gd name="adj" fmla="val 595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5458968" y="1570228"/>
            <a:ext cx="153619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0136" y="1789684"/>
            <a:ext cx="1133856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8B23A"/>
                </a:solidFill>
                <a:latin typeface="Helvetica Neue"/>
                <a:ea typeface="PingFang S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0136" y="2539492"/>
            <a:ext cx="1133856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  <a:ea typeface="PingFang SC"/>
              </a:rPr>
              <a:t>支单曲进入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  <a:ea typeface="PingFang SC"/>
              </a:rPr>
              <a:t>美国榜前十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4616" y="1570228"/>
            <a:ext cx="1536192" cy="1828800"/>
          </a:xfrm>
          <a:prstGeom prst="roundRect">
            <a:avLst>
              <a:gd name="adj" fmla="val 595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7214616" y="1570228"/>
            <a:ext cx="153619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15783" y="1789684"/>
            <a:ext cx="1133856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8B23A"/>
                </a:solidFill>
                <a:latin typeface="Helvetica Neue"/>
                <a:ea typeface="PingFang SC"/>
              </a:rPr>
              <a:t>30×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3" y="2539492"/>
            <a:ext cx="1133856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  <a:ea typeface="PingFang SC"/>
              </a:rPr>
              <a:t>首张获认证的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  <a:ea typeface="PingFang SC"/>
              </a:rPr>
              <a:t>30× 白金专辑（RIAA）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59936"/>
            <a:ext cx="7863840" cy="548640"/>
          </a:xfrm>
          <a:prstGeom prst="roundRect">
            <a:avLst>
              <a:gd name="adj" fmla="val 13333"/>
            </a:avLst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5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059936"/>
            <a:ext cx="7461504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EFE6"/>
                </a:solidFill>
                <a:latin typeface="Helvetica Neue"/>
                <a:ea typeface="PingFang SC"/>
              </a:rPr>
              <a:t>一夜之间八座格莱美（1984 年 2 月 28 日），创下当时纪录 —— 并同时送出两支 Hot 100 冠军单曲：</a:t>
            </a:r>
            <a:r>
              <a:rPr sz="1200" b="1" i="1">
                <a:solidFill>
                  <a:srgbClr val="E8B23A"/>
                </a:solidFill>
                <a:latin typeface="Helvetica Neue"/>
                <a:ea typeface="PingFang SC"/>
              </a:rPr>
              <a:t>Billie Jean</a:t>
            </a:r>
            <a:r>
              <a:rPr sz="1200" b="0" i="0">
                <a:solidFill>
                  <a:srgbClr val="F3EFE6"/>
                </a:solidFill>
                <a:latin typeface="Helvetica Neue"/>
                <a:ea typeface="PingFang SC"/>
              </a:rPr>
              <a:t> 与 </a:t>
            </a:r>
            <a:r>
              <a:rPr sz="1200" b="1" i="1">
                <a:solidFill>
                  <a:srgbClr val="E8B23A"/>
                </a:solidFill>
                <a:latin typeface="Helvetica Neue"/>
                <a:ea typeface="PingFang SC"/>
              </a:rPr>
              <a:t>Beat It</a:t>
            </a:r>
            <a:r>
              <a:rPr sz="1200" b="0" i="0">
                <a:solidFill>
                  <a:srgbClr val="F3EFE6"/>
                </a:solidFill>
                <a:latin typeface="Helvetica Neue"/>
                <a:ea typeface="PingFang SC"/>
              </a:rPr>
              <a:t>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2377440" y="0"/>
            <a:ext cx="4389120" cy="5074920"/>
          </a:xfrm>
          <a:prstGeom prst="triangle">
            <a:avLst/>
          </a:prstGeom>
          <a:gradFill>
            <a:gsLst>
              <a:gs pos="0">
                <a:srgbClr val="E8B23A">
                  <a:alpha val="17000"/>
                </a:srgbClr>
              </a:gs>
              <a:gs pos="100000">
                <a:srgbClr val="E8B23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1760" y="0"/>
            <a:ext cx="3840480" cy="2286000"/>
          </a:xfrm>
          <a:prstGeom prst="ellipse">
            <a:avLst/>
          </a:prstGeom>
          <a:gradFill>
            <a:gsLst>
              <a:gs pos="0">
                <a:srgbClr val="E8B23A">
                  <a:alpha val="15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20440" y="0"/>
            <a:ext cx="2103120" cy="1737360"/>
          </a:xfrm>
          <a:prstGeom prst="ellipse">
            <a:avLst/>
          </a:prstGeom>
          <a:gradFill>
            <a:gsLst>
              <a:gs pos="0">
                <a:srgbClr val="E8B23A">
                  <a:alpha val="44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19" y="91439"/>
            <a:ext cx="7680960" cy="4937760"/>
          </a:xfrm>
          <a:prstGeom prst="ellipse">
            <a:avLst/>
          </a:prstGeom>
          <a:gradFill>
            <a:gsLst>
              <a:gs pos="0">
                <a:srgbClr val="E8B23A">
                  <a:alpha val="1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19" y="3749039"/>
            <a:ext cx="5852160" cy="1371600"/>
          </a:xfrm>
          <a:prstGeom prst="ellipse">
            <a:avLst/>
          </a:prstGeom>
          <a:gradFill>
            <a:gsLst>
              <a:gs pos="0">
                <a:srgbClr val="E8B23A">
                  <a:alpha val="2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  <a:ea typeface="PingFang SC"/>
              </a:rPr>
              <a:t>1 9 8 3 年 5 月 1 6 日   ·   M O T O W N   2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786384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0" i="0">
                <a:solidFill>
                  <a:srgbClr val="F3EFE6"/>
                </a:solidFill>
                <a:latin typeface="Didot"/>
                <a:ea typeface="PingFang SC"/>
              </a:rPr>
              <a:t>那一夜，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0" i="1">
                <a:solidFill>
                  <a:srgbClr val="E8B23A"/>
                </a:solidFill>
                <a:latin typeface="Didot"/>
                <a:ea typeface="PingFang SC"/>
              </a:rPr>
              <a:t>太空步</a:t>
            </a:r>
            <a:r>
              <a:rPr sz="4000" b="0" i="0">
                <a:solidFill>
                  <a:srgbClr val="F3EFE6"/>
                </a:solidFill>
                <a:latin typeface="Didot"/>
                <a:ea typeface="PingFang SC"/>
              </a:rPr>
              <a:t>  惊艳登场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977639"/>
            <a:ext cx="60350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  <a:ea typeface="PingFang SC"/>
              </a:rPr>
              <a:t>在 NBC《Motown 25》特别节目上表演《Billie Jean》时，杰克逊向后滑过整个舞台，首次亮出了那个日后定义了他的动作。约 4700 万观众收看 —— 《Thriller》也随之再攀新高。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1983 年 12 月 · 短片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他把音乐录影带拍成了电影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61084"/>
            <a:ext cx="3977639" cy="21945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BC5D2"/>
                </a:solidFill>
                <a:latin typeface="Helvetica Neue"/>
                <a:ea typeface="PingFang SC"/>
              </a:rPr>
              <a:t>由 John Landis 执导、长达 14 分钟的恐怖短片 ——《Thriller》MV 把一支流行单曲当成电影来拍：有故事、有预算、有特效化妆，还有让人一看再看的编舞。它让 MTV 成了非看不可的频道。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06804"/>
            <a:ext cx="3886200" cy="1783080"/>
          </a:xfrm>
          <a:prstGeom prst="roundRect">
            <a:avLst>
              <a:gd name="adj" fmla="val 3076"/>
            </a:avLst>
          </a:prstGeom>
          <a:solidFill>
            <a:srgbClr val="17141F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1888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1888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8464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8464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50407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50407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1616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1616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1927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4768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4768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7920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7920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44967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44967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92040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  <a:ea typeface="PingFang SC"/>
              </a:rPr>
              <a:t>故事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3005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3005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  <a:ea typeface="PingFang SC"/>
              </a:rPr>
              <a:t>恐怖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33972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33972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  <a:ea typeface="PingFang SC"/>
              </a:rPr>
              <a:t>舞蹈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04938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04938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  <a:ea typeface="PingFang SC"/>
              </a:rPr>
              <a:t>14 分钟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682492"/>
            <a:ext cx="24384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B23A"/>
                </a:solidFill>
                <a:latin typeface="Helvetica Neue"/>
                <a:ea typeface="PingFang SC"/>
              </a:rPr>
              <a:t>14 分钟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011676"/>
            <a:ext cx="2438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  <a:ea typeface="PingFang SC"/>
              </a:rPr>
              <a:t>时长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61360" y="3682492"/>
            <a:ext cx="24384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B23A"/>
                </a:solidFill>
                <a:latin typeface="Helvetica Neue"/>
                <a:ea typeface="PingFang SC"/>
              </a:rPr>
              <a:t>John Landis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1360" y="4011676"/>
            <a:ext cx="2438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  <a:ea typeface="PingFang SC"/>
              </a:rPr>
              <a:t>导演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2640" y="3682492"/>
            <a:ext cx="24384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B23A"/>
                </a:solidFill>
                <a:latin typeface="Helvetica Neue"/>
                <a:ea typeface="PingFang SC"/>
              </a:rPr>
              <a:t>史上首支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82640" y="4011676"/>
            <a:ext cx="2438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  <a:ea typeface="PingFang SC"/>
              </a:rPr>
              <a:t>入选美国国家电影登记处的 MV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1979–2001 · 个人专辑全集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六张专辑，挪动了流行乐的重心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33652"/>
            <a:ext cx="78638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BC5D2"/>
                </a:solidFill>
                <a:latin typeface="Helvetica Neue"/>
                <a:ea typeface="PingFang SC"/>
              </a:rPr>
              <a:t>跨越三十年的六张录音室专辑 —— 从迪斯科流行到新杰克摇摆。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2555951"/>
            <a:ext cx="7754112" cy="2194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  <a:ea typeface="PingFang SC"/>
              </a:rPr>
              <a:t>1979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  <a:ea typeface="PingFang SC"/>
              </a:rPr>
              <a:t>Off the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  <a:ea typeface="PingFang SC"/>
              </a:rPr>
              <a:t>突破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470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6542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  <a:ea typeface="PingFang SC"/>
              </a:rPr>
              <a:t>1982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6542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  <a:ea typeface="PingFang SC"/>
              </a:rPr>
              <a:t>Thriller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5102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  <a:ea typeface="PingFang SC"/>
              </a:rPr>
              <a:t>最畅销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14292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7364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3A"/>
                </a:solidFill>
                <a:latin typeface="Helvetica Neue"/>
                <a:ea typeface="PingFang SC"/>
              </a:rPr>
              <a:t>1987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7364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  <a:ea typeface="PingFang SC"/>
              </a:rPr>
              <a:t>Bad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5924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  <a:ea typeface="PingFang SC"/>
              </a:rPr>
              <a:t>五支冠军单曲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65115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8187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  <a:ea typeface="PingFang SC"/>
              </a:rPr>
              <a:t>1991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8187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  <a:ea typeface="PingFang SC"/>
              </a:rPr>
              <a:t>Dangerous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6747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  <a:ea typeface="PingFang SC"/>
              </a:rPr>
              <a:t>新杰克摇摆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5937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9009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  <a:ea typeface="PingFang SC"/>
              </a:rPr>
              <a:t>1995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9009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  <a:ea typeface="PingFang SC"/>
              </a:rPr>
              <a:t>HIStory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7569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  <a:ea typeface="PingFang SC"/>
              </a:rPr>
              <a:t>精选 + 新作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66760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9831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  <a:ea typeface="PingFang SC"/>
              </a:rPr>
              <a:t>2001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9831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  <a:ea typeface="PingFang SC"/>
              </a:rPr>
              <a:t>Invincible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2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  <a:ea typeface="PingFang SC"/>
              </a:rPr>
              <a:t>最后一张录音室专辑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7863840" cy="566928"/>
          </a:xfrm>
          <a:prstGeom prst="roundRect">
            <a:avLst>
              <a:gd name="adj" fmla="val 12903"/>
            </a:avLst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5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3840480"/>
            <a:ext cx="7461504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E8B23A"/>
                </a:solidFill>
                <a:latin typeface="Helvetica Neue"/>
                <a:ea typeface="PingFang SC"/>
              </a:rPr>
              <a:t>Bad</a:t>
            </a:r>
            <a:r>
              <a:rPr sz="1200" b="0" i="0">
                <a:solidFill>
                  <a:srgbClr val="F3EFE6"/>
                </a:solidFill>
                <a:latin typeface="Helvetica Neue"/>
                <a:ea typeface="PingFang SC"/>
              </a:rPr>
              <a:t>（1987）成为史上首张将五支单曲送上 Billboard Hot 100 冠军的专辑。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1993 年 1 月 31 日 · SUPER BOWL XXVII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他把中场秀变成了正场大戏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1940"/>
            <a:ext cx="7863840" cy="16459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1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53895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3623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4560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04288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5224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4952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75887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85615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6552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6280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57216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66944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97880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07608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38544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48272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79207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88935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19871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9599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1917700"/>
            <a:ext cx="4297680" cy="2103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  <a:ea typeface="PingFang SC"/>
              </a:rPr>
              <a:t>在迈克尔·杰克逊之前，观众会趁中场换台。他坐满了玫瑰碗球场，开场时纹丝不动地站了近两分钟，随后牢牢抓住全场 —— 也抓住了收视率 —— 直到演出结束。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911092"/>
            <a:ext cx="4297680" cy="566928"/>
          </a:xfrm>
          <a:prstGeom prst="roundRect">
            <a:avLst>
              <a:gd name="adj" fmla="val 12903"/>
            </a:avLst>
          </a:prstGeom>
          <a:gradFill>
            <a:gsLst>
              <a:gs pos="0">
                <a:srgbClr val="E8B23A">
                  <a:alpha val="14000"/>
                </a:srgbClr>
              </a:gs>
              <a:gs pos="100000">
                <a:srgbClr val="E8B23A">
                  <a:alpha val="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3911092"/>
            <a:ext cx="411480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F3EFE6"/>
                </a:solidFill>
                <a:latin typeface="Helvetica Neue"/>
                <a:ea typeface="PingFang SC"/>
              </a:rPr>
              <a:t>此后每一场重磅中场秀的蓝本。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1917700"/>
            <a:ext cx="18288" cy="2514600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1917700"/>
            <a:ext cx="3108960" cy="10058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E8B23A"/>
                </a:solidFill>
                <a:latin typeface="Helvetica Neue"/>
                <a:ea typeface="PingFang SC"/>
              </a:rPr>
              <a:t>133.4M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2905252"/>
            <a:ext cx="30175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FE6"/>
                </a:solidFill>
                <a:latin typeface="Helvetica Neue"/>
                <a:ea typeface="PingFang SC"/>
              </a:rPr>
              <a:t>美国观众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3389884"/>
            <a:ext cx="3017520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  <a:ea typeface="PingFang SC"/>
              </a:rPr>
              <a:t>▲  史上首次超级碗的收视人数在中场之后不降反升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榜单之外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19" y="1588516"/>
            <a:ext cx="2542032" cy="2907792"/>
          </a:xfrm>
          <a:prstGeom prst="roundRect">
            <a:avLst>
              <a:gd name="adj" fmla="val 4316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502919" y="1588516"/>
            <a:ext cx="254203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8951" y="1862836"/>
            <a:ext cx="768096" cy="76809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oad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656" y="2062540"/>
            <a:ext cx="368686" cy="3686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1" y="2777236"/>
            <a:ext cx="202996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FE6"/>
                </a:solidFill>
                <a:latin typeface="Didot"/>
                <a:ea typeface="PingFang SC"/>
              </a:rPr>
              <a:t>打破壁垒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" y="3179572"/>
            <a:ext cx="2029967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  <a:ea typeface="PingFang SC"/>
              </a:rPr>
              <a:t>他是最早进入 MTV 高频轮播的黑人艺术家之一 —— 他的 MV 帮这个年轻的频道打破了肤色的壁垒。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0983" y="1588516"/>
            <a:ext cx="2542032" cy="2907792"/>
          </a:xfrm>
          <a:prstGeom prst="roundRect">
            <a:avLst>
              <a:gd name="adj" fmla="val 4316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3300983" y="1588516"/>
            <a:ext cx="254203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7015" y="1862836"/>
            <a:ext cx="768096" cy="76809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uman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720" y="2062540"/>
            <a:ext cx="368686" cy="36868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57015" y="2777236"/>
            <a:ext cx="202996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FE6"/>
                </a:solidFill>
                <a:latin typeface="Didot"/>
                <a:ea typeface="PingFang SC"/>
              </a:rPr>
              <a:t>人道主义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5" y="3179572"/>
            <a:ext cx="2029967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  <a:ea typeface="PingFang SC"/>
              </a:rPr>
              <a:t>与 Lionel Richie 合写《We Are the World》（1985）；这支 USA for Africa 单曲为饥荒救援筹得数千万美元。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7" y="1588516"/>
            <a:ext cx="2542032" cy="2907792"/>
          </a:xfrm>
          <a:prstGeom prst="roundRect">
            <a:avLst>
              <a:gd name="adj" fmla="val 4316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099047" y="1588516"/>
            <a:ext cx="254203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79" y="1862836"/>
            <a:ext cx="768096" cy="76809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784" y="2062540"/>
            <a:ext cx="368686" cy="36868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55079" y="2777236"/>
            <a:ext cx="202996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FE6"/>
                </a:solidFill>
                <a:latin typeface="Didot"/>
                <a:ea typeface="PingFang SC"/>
              </a:rPr>
              <a:t>全球蓝本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3179572"/>
            <a:ext cx="2029967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  <a:ea typeface="PingFang SC"/>
              </a:rPr>
              <a:t>专辑时代、MV 时代、世界巡演 —— 他把它们熔铸成现代、跨越边界的流行巨星范式。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荣誉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流行史上获奖最多的生涯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509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5092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  <a:ea typeface="PingFang SC"/>
              </a:rPr>
              <a:t>1984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606804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  <a:ea typeface="PingFang SC"/>
              </a:rPr>
              <a:t>凭《Thriller》斩获八座格莱美 —— 创下当时的单夜纪录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2182876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24231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2312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  <a:ea typeface="PingFang SC"/>
              </a:rPr>
              <a:t>1993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224024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  <a:ea typeface="PingFang SC"/>
              </a:rPr>
              <a:t>格莱美传奇奖，于第 35 届格莱美颁出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960" y="2800096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85953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59532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  <a:ea typeface="PingFang SC"/>
              </a:rPr>
              <a:t>1997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2841244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  <a:ea typeface="PingFang SC"/>
              </a:rPr>
              <a:t>摇滚名人堂 —— 以 Jackson 5 成员身份入选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3417316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476751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76751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  <a:ea typeface="PingFang SC"/>
              </a:rPr>
              <a:t>2001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458463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  <a:ea typeface="PingFang SC"/>
              </a:rPr>
              <a:t>摇滚名人堂 —— 以个人身份入选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4034535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093971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93971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  <a:ea typeface="PingFang SC"/>
              </a:rPr>
              <a:t>生涯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075683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8B23A"/>
                </a:solidFill>
                <a:latin typeface="Helvetica Neue"/>
                <a:ea typeface="PingFang SC"/>
              </a:rPr>
              <a:t>个人 13 支 Billboard Hot 100 冠军单曲 —— 含 Jackson 5 共 17 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E8A96"/>
                </a:solidFill>
                <a:latin typeface="Helvetica Neue"/>
                <a:ea typeface="PingFang SC"/>
              </a:rPr>
              <a:t>争议的一章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至今悬而未决的遗产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8E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8E8A96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162509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FB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570228"/>
            <a:ext cx="1188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FBBC6"/>
                </a:solidFill>
                <a:latin typeface="Helvetica Neue"/>
                <a:ea typeface="PingFang SC"/>
              </a:rPr>
              <a:t>1993–94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551940"/>
            <a:ext cx="603504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  <a:ea typeface="PingFang SC"/>
              </a:rPr>
              <a:t>被控性侵儿童。杰克逊于 1994 年就一桩民事诉讼达成和解；当时未被提起刑事指控，他否认有任何不当行为。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4114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FB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356612"/>
            <a:ext cx="1188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FBBC6"/>
                </a:solidFill>
                <a:latin typeface="Helvetica Neue"/>
                <a:ea typeface="PingFang SC"/>
              </a:rPr>
              <a:t>2005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2338324"/>
            <a:ext cx="603504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  <a:ea typeface="PingFang SC"/>
              </a:rPr>
              <a:t>在加州就刑事指控受审（People v. Jackson），全部罪名不成立。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19786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FB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3142996"/>
            <a:ext cx="1188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FBBC6"/>
                </a:solidFill>
                <a:latin typeface="Helvetica Neue"/>
                <a:ea typeface="PingFang SC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0008" y="3124708"/>
            <a:ext cx="603504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  <a:ea typeface="PingFang SC"/>
              </a:rPr>
              <a:t>纪录片《Leaving Neverland》播出了两名男子的新指控；杰克逊遗产管理方对该片提出异议。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8835" y="1707388"/>
            <a:ext cx="21945" cy="1572768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4096512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17141F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4096512"/>
            <a:ext cx="7461504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FBBC6"/>
                </a:solidFill>
                <a:latin typeface="Helvetica Neue"/>
                <a:ea typeface="PingFang SC"/>
              </a:rPr>
              <a:t>迈克尔·杰克逊否认了全部指控。这些疑问至今没有答案 —— 也无法与今天人们衡量他的生平与作品的方式割裂开来。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A96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  <a:ea typeface="PingFang SC"/>
              </a:rPr>
              <a:t>遗产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  <a:ea typeface="PingFang SC"/>
              </a:rPr>
              <a:t>现代流行巨星的范本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  <a:ea typeface="PingFang SC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8244"/>
            <a:ext cx="4572000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  <a:ea typeface="PingFang SC"/>
              </a:rPr>
              <a:t>此后每一段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  <a:ea typeface="PingFang SC"/>
              </a:rPr>
              <a:t>坐满场馆、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  <a:ea typeface="PingFang SC"/>
              </a:rPr>
              <a:t>跨越曲风、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1">
                <a:solidFill>
                  <a:srgbClr val="E8B23A"/>
                </a:solidFill>
                <a:latin typeface="Didot"/>
                <a:ea typeface="PingFang SC"/>
              </a:rPr>
              <a:t>由 MV 驱动</a:t>
            </a:r>
            <a:r>
              <a:rPr sz="2700" b="0" i="0">
                <a:solidFill>
                  <a:srgbClr val="F3EFE6"/>
                </a:solidFill>
                <a:latin typeface="Didot"/>
                <a:ea typeface="PingFang SC"/>
              </a:rPr>
              <a:t>的流行生涯，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  <a:ea typeface="PingFang SC"/>
              </a:rPr>
              <a:t>都跑在他搭好的蓝图上。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9963"/>
            <a:ext cx="1060704" cy="365760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9963"/>
            <a:ext cx="1060704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  <a:ea typeface="PingFang SC"/>
              </a:rPr>
              <a:t>专辑时代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3664" y="4029963"/>
            <a:ext cx="1243584" cy="365760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83664" y="4029963"/>
            <a:ext cx="1243584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  <a:ea typeface="PingFang SC"/>
              </a:rPr>
              <a:t>MV 时代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4029963"/>
            <a:ext cx="1060704" cy="365760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4029963"/>
            <a:ext cx="1060704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  <a:ea typeface="PingFang SC"/>
              </a:rPr>
              <a:t>全球舞台</a:t>
            </a:r>
          </a:p>
        </p:txBody>
      </p:sp>
      <p:sp>
        <p:nvSpPr>
          <p:cNvPr id="14" name="Oval 13"/>
          <p:cNvSpPr/>
          <p:nvPr/>
        </p:nvSpPr>
        <p:spPr>
          <a:xfrm>
            <a:off x="5870448" y="1350772"/>
            <a:ext cx="2432304" cy="2432304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16168" y="1396492"/>
            <a:ext cx="2340864" cy="2340864"/>
          </a:xfrm>
          <a:prstGeom prst="ellipse">
            <a:avLst/>
          </a:prstGeom>
          <a:noFill/>
          <a:ln w="2794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16490" y="1496814"/>
            <a:ext cx="2140218" cy="2140218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116813" y="1597137"/>
            <a:ext cx="1939573" cy="1939573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136" y="1697460"/>
            <a:ext cx="1738927" cy="1738927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17458" y="1797782"/>
            <a:ext cx="1538282" cy="1538282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17781" y="1898105"/>
            <a:ext cx="1337636" cy="1337636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18104" y="1998428"/>
            <a:ext cx="1136991" cy="1136991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35470" y="2215794"/>
            <a:ext cx="702259" cy="702259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33930" y="2514254"/>
            <a:ext cx="105338" cy="105338"/>
          </a:xfrm>
          <a:prstGeom prst="ellipse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3892804"/>
            <a:ext cx="292608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958EA0"/>
                </a:solidFill>
                <a:latin typeface="Helvetica Neue"/>
                <a:ea typeface="PingFang SC"/>
              </a:rPr>
              <a:t>从《Off the Wall》到《Invincible》—— 至今仍在播放。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  <a:ea typeface="PingFang SC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   ·   流行乐之王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  <a:ea typeface="PingFang SC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2377440" y="0"/>
            <a:ext cx="4389120" cy="5074920"/>
          </a:xfrm>
          <a:prstGeom prst="triangle">
            <a:avLst/>
          </a:prstGeom>
          <a:gradFill>
            <a:gsLst>
              <a:gs pos="0">
                <a:srgbClr val="E8B23A">
                  <a:alpha val="17000"/>
                </a:srgbClr>
              </a:gs>
              <a:gs pos="100000">
                <a:srgbClr val="E8B23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1760" y="0"/>
            <a:ext cx="3840480" cy="2286000"/>
          </a:xfrm>
          <a:prstGeom prst="ellipse">
            <a:avLst/>
          </a:prstGeom>
          <a:gradFill>
            <a:gsLst>
              <a:gs pos="0">
                <a:srgbClr val="E8B23A">
                  <a:alpha val="15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20440" y="0"/>
            <a:ext cx="2103120" cy="1737360"/>
          </a:xfrm>
          <a:prstGeom prst="ellipse">
            <a:avLst/>
          </a:prstGeom>
          <a:gradFill>
            <a:gsLst>
              <a:gs pos="0">
                <a:srgbClr val="E8B23A">
                  <a:alpha val="44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19" y="91439"/>
            <a:ext cx="7680960" cy="4937760"/>
          </a:xfrm>
          <a:prstGeom prst="ellipse">
            <a:avLst/>
          </a:prstGeom>
          <a:gradFill>
            <a:gsLst>
              <a:gs pos="0">
                <a:srgbClr val="E8B23A">
                  <a:alpha val="1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19" y="3749039"/>
            <a:ext cx="5852160" cy="1371600"/>
          </a:xfrm>
          <a:prstGeom prst="ellipse">
            <a:avLst/>
          </a:prstGeom>
          <a:gradFill>
            <a:gsLst>
              <a:gs pos="0">
                <a:srgbClr val="E8B23A">
                  <a:alpha val="2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954780"/>
            <a:ext cx="9144000" cy="1188720"/>
          </a:xfrm>
          <a:prstGeom prst="rect">
            <a:avLst/>
          </a:prstGeom>
          <a:gradFill>
            <a:gsLst>
              <a:gs pos="0">
                <a:srgbClr val="0E0D13">
                  <a:alpha val="0"/>
                </a:srgbClr>
              </a:gs>
              <a:gs pos="100000">
                <a:srgbClr val="000000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3A"/>
                </a:solidFill>
                <a:latin typeface="Helvetica Neue"/>
                <a:ea typeface="PingFang SC"/>
              </a:rPr>
              <a:t>1 9 5 8   —   2 0 0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7863840" cy="10058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3EFE6"/>
                </a:solidFill>
                <a:latin typeface="Didot"/>
                <a:ea typeface="PingFang SC"/>
              </a:rPr>
              <a:t>流行乐之王，永垂不朽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880360"/>
            <a:ext cx="1280160" cy="3657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CBC5D2"/>
                </a:solidFill>
                <a:latin typeface="Helvetica Neue"/>
                <a:ea typeface="PingFang SC"/>
              </a:rPr>
              <a:t>一套可复用的视觉系统 —— 换内容，留设计。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78638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23A"/>
                </a:solidFill>
                <a:latin typeface="Helvetica Neue"/>
                <a:ea typeface="PingFang SC"/>
              </a:rPr>
              <a:t>来源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58EA0"/>
                </a:solidFill>
                <a:latin typeface="Helvetica Neue"/>
                <a:ea typeface="PingFang SC"/>
              </a:rPr>
              <a:t>Billboard · Wikipedia · GRAMMY.com · RIAA · Rock &amp; Roll Hall of Fame · Britannica · Variety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28032"/>
            <a:ext cx="78638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58EA0"/>
                </a:solidFill>
                <a:latin typeface="Helvetica Neue"/>
                <a:ea typeface="PingFang SC"/>
              </a:rPr>
              <a:t>示例 DECK  ·  由 SLIDE-MAKER 构建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