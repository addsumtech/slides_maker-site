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8600"/>
                </a:srgbClr>
              </a:gs>
              <a:gs pos="50000">
                <a:srgbClr val="E9AC43">
                  <a:alpha val="7440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30000"/>
                </a:srgbClr>
              </a:gs>
              <a:gs pos="55000">
                <a:srgbClr val="E9AC43">
                  <a:alpha val="6600"/>
                </a:srgbClr>
              </a:gs>
              <a:gs pos="100000">
                <a:srgbClr val="E9AC43">
                  <a:alpha val="0"/>
                </a:srgbClr>
              </a:gs>
            </a:gsLst>
            <a:lin ang="135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舞台麦克风" title="舞台麦克风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05156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813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60">
                <a:solidFill>
                  <a:srgbClr val="E9AC43"/>
                </a:solidFill>
                <a:latin typeface="Menlo"/>
                <a:ea typeface="Hiragino Sans GB"/>
              </a:rPr>
              <a:t>A BRIEF HISTORY OF STAND-UP COMEDY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47088"/>
            <a:ext cx="603504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3E9D6"/>
                </a:solidFill>
                <a:latin typeface="Songti SC"/>
                <a:ea typeface="Songti SC"/>
              </a:rPr>
              <a:t>脱口秀简史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" y="3035808"/>
            <a:ext cx="1371600" cy="64008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60350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D6CBB2"/>
                </a:solidFill>
                <a:latin typeface="Helvetica Neue"/>
                <a:ea typeface="Hiragino Sans GB"/>
              </a:rPr>
              <a:t>一个人，一支麦克风，如何成为一门手艺。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9C8F76"/>
                </a:solidFill>
                <a:latin typeface="Menlo"/>
                <a:ea typeface="Hiragino Sans GB"/>
              </a:rPr>
              <a:t>文化科普示例 · SLIDE-MAKER 画廊作品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2400"/>
                </a:srgbClr>
              </a:gs>
              <a:gs pos="50000">
                <a:srgbClr val="E9AC43">
                  <a:alpha val="4960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20000"/>
                </a:srgbClr>
              </a:gs>
              <a:gs pos="55000">
                <a:srgbClr val="E9AC43">
                  <a:alpha val="4400"/>
                </a:srgbClr>
              </a:gs>
              <a:gs pos="100000">
                <a:srgbClr val="E9AC43">
                  <a:alpha val="0"/>
                </a:srgbClr>
              </a:gs>
            </a:gsLst>
            <a:lin ang="135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E9AC43"/>
                </a:solidFill>
                <a:latin typeface="Menlo"/>
                <a:ea typeface="Hiragino Sans GB"/>
              </a:rPr>
              <a:t>WHAT IT IS · 定义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3E9D6"/>
                </a:solidFill>
                <a:latin typeface="Songti SC"/>
                <a:ea typeface="Songti SC"/>
              </a:rPr>
              <a:t>一个人，一支麦克风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02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4206240" cy="23774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3E9D6"/>
                </a:solidFill>
                <a:latin typeface="Songti SC"/>
                <a:ea typeface="Hiragino Sans GB"/>
              </a:rPr>
              <a:t>单口喜剧（stand-up），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3E9D6"/>
                </a:solidFill>
                <a:latin typeface="Helvetica Neue"/>
                <a:ea typeface="Hiragino Sans GB"/>
              </a:rPr>
              <a:t>是一个人站在观众面前，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3E9D6"/>
                </a:solidFill>
                <a:latin typeface="Helvetica Neue"/>
                <a:ea typeface="Hiragino Sans GB"/>
              </a:rPr>
              <a:t>不靠角色、不靠搭档，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3E9D6"/>
                </a:solidFill>
                <a:latin typeface="Helvetica Neue"/>
                <a:ea typeface="Hiragino Sans GB"/>
              </a:rPr>
              <a:t>用语言把观察、尴尬与真话，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3E9D6"/>
                </a:solidFill>
                <a:latin typeface="Helvetica Neue"/>
                <a:ea typeface="Hiragino Sans GB"/>
              </a:rPr>
              <a:t>直接换成</a:t>
            </a:r>
            <a:r>
              <a:rPr sz="1700" b="1" i="0">
                <a:solidFill>
                  <a:srgbClr val="E9AC43"/>
                </a:solidFill>
                <a:latin typeface="Songti SC"/>
                <a:ea typeface="Hiragino Sans GB"/>
              </a:rPr>
              <a:t>当场的笑声</a:t>
            </a:r>
            <a:r>
              <a:rPr sz="1700" b="0" i="0">
                <a:solidFill>
                  <a:srgbClr val="F3E9D6"/>
                </a:solidFill>
                <a:latin typeface="Helvetica Neue"/>
                <a:ea typeface="Hiragino Sans GB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05072"/>
            <a:ext cx="4206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D6CBB2"/>
                </a:solidFill>
                <a:latin typeface="Songti SC"/>
                <a:ea typeface="Hiragino Sans GB"/>
              </a:rPr>
              <a:t>它是所有表演艺术里，门槛最低、也最诚实的一种。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572768"/>
            <a:ext cx="3657600" cy="806196"/>
          </a:xfrm>
          <a:prstGeom prst="roundRect">
            <a:avLst>
              <a:gd name="adj" fmla="val 12476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5120640" y="1572768"/>
            <a:ext cx="36576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21807" y="1683257"/>
            <a:ext cx="585216" cy="585216"/>
          </a:xfrm>
          <a:prstGeom prst="ellipse">
            <a:avLst/>
          </a:prstGeom>
          <a:solidFill>
            <a:srgbClr val="2E2617"/>
          </a:solidFill>
          <a:ln w="1778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user_E9AC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3964" y="1835414"/>
            <a:ext cx="280903" cy="2809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89904" y="1719072"/>
            <a:ext cx="25603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9D6"/>
                </a:solidFill>
                <a:latin typeface="Songti SC"/>
                <a:ea typeface="Songti SC"/>
              </a:rPr>
              <a:t>一个人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84832"/>
            <a:ext cx="25603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6CBB2"/>
                </a:solidFill>
                <a:latin typeface="Helvetica Neue"/>
                <a:ea typeface="Hiragino Sans GB"/>
              </a:rPr>
              <a:t>无剧本搭档，独自直面全场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2634996"/>
            <a:ext cx="3657600" cy="806196"/>
          </a:xfrm>
          <a:prstGeom prst="roundRect">
            <a:avLst>
              <a:gd name="adj" fmla="val 12476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5120640" y="2634996"/>
            <a:ext cx="36576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21807" y="2745486"/>
            <a:ext cx="585216" cy="585216"/>
          </a:xfrm>
          <a:prstGeom prst="ellipse">
            <a:avLst/>
          </a:prstGeom>
          <a:solidFill>
            <a:srgbClr val="2E2617"/>
          </a:solidFill>
          <a:ln w="1778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hosphor_microphone_E9AC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964" y="2897642"/>
            <a:ext cx="280903" cy="28090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9904" y="2781300"/>
            <a:ext cx="25603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9D6"/>
                </a:solidFill>
                <a:latin typeface="Songti SC"/>
                <a:ea typeface="Songti SC"/>
              </a:rPr>
              <a:t>一支麦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147060"/>
            <a:ext cx="25603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6CBB2"/>
                </a:solidFill>
                <a:latin typeface="Helvetica Neue"/>
                <a:ea typeface="Hiragino Sans GB"/>
              </a:rPr>
              <a:t>最低成本的舞台，随处可演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3697223"/>
            <a:ext cx="3657600" cy="806196"/>
          </a:xfrm>
          <a:prstGeom prst="roundRect">
            <a:avLst>
              <a:gd name="adj" fmla="val 12476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5120640" y="3697223"/>
            <a:ext cx="36576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21807" y="3807713"/>
            <a:ext cx="585216" cy="585216"/>
          </a:xfrm>
          <a:prstGeom prst="ellipse">
            <a:avLst/>
          </a:prstGeom>
          <a:solidFill>
            <a:srgbClr val="2E2617"/>
          </a:solidFill>
          <a:ln w="1778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chat-circle-text_E9AC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3964" y="3959870"/>
            <a:ext cx="280903" cy="28090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89904" y="3843528"/>
            <a:ext cx="25603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9D6"/>
                </a:solidFill>
                <a:latin typeface="Songti SC"/>
                <a:ea typeface="Songti SC"/>
              </a:rPr>
              <a:t>说真话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4209288"/>
            <a:ext cx="25603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6CBB2"/>
                </a:solidFill>
                <a:latin typeface="Helvetica Neue"/>
                <a:ea typeface="Hiragino Sans GB"/>
              </a:rPr>
              <a:t>把私人观察变成公共笑声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DA6444">
                  <a:alpha val="12400"/>
                </a:srgbClr>
              </a:gs>
              <a:gs pos="50000">
                <a:srgbClr val="DA6444">
                  <a:alpha val="4960"/>
                </a:srgbClr>
              </a:gs>
              <a:gs pos="100000">
                <a:srgbClr val="DA6444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DA6444">
                  <a:alpha val="20000"/>
                </a:srgbClr>
              </a:gs>
              <a:gs pos="55000">
                <a:srgbClr val="DA6444">
                  <a:alpha val="4400"/>
                </a:srgbClr>
              </a:gs>
              <a:gs pos="100000">
                <a:srgbClr val="DA6444">
                  <a:alpha val="0"/>
                </a:srgbClr>
              </a:gs>
            </a:gsLst>
            <a:lin ang="16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E9AC43"/>
                </a:solidFill>
                <a:latin typeface="Menlo"/>
                <a:ea typeface="Hiragino Sans GB"/>
              </a:rPr>
              <a:t>A NAME LOST IN TRANSLATION · 名字的误会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3E9D6"/>
                </a:solidFill>
                <a:latin typeface="Songti SC"/>
                <a:ea typeface="Songti SC"/>
              </a:rPr>
              <a:t>我们说的“脱口秀”，其实是……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03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7863840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3E9D6"/>
                </a:solidFill>
                <a:latin typeface="Songti SC"/>
                <a:ea typeface="Songti SC"/>
              </a:rPr>
              <a:t>脱口秀</a:t>
            </a:r>
            <a:r>
              <a:rPr sz="3000" b="1" i="0">
                <a:solidFill>
                  <a:srgbClr val="E9AC43"/>
                </a:solidFill>
                <a:latin typeface="Songti SC"/>
                <a:ea typeface="Songti SC"/>
              </a:rPr>
              <a:t>  ←  </a:t>
            </a:r>
            <a:r>
              <a:rPr sz="3400" b="1" i="0">
                <a:solidFill>
                  <a:srgbClr val="F3E9D6"/>
                </a:solidFill>
                <a:latin typeface="Songti SC"/>
                <a:ea typeface="Songti SC"/>
              </a:rPr>
              <a:t>talk show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D6CBB2"/>
                </a:solidFill>
                <a:latin typeface="Songti SC"/>
                <a:ea typeface="Hiragino Sans GB"/>
              </a:rPr>
              <a:t>——只是英文 talk show 的音译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39" y="3200400"/>
            <a:ext cx="1645920" cy="18288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D6CBB2"/>
                </a:solidFill>
                <a:latin typeface="Helvetica Neue"/>
                <a:ea typeface="Songti SC"/>
              </a:rPr>
              <a:t>而这门手艺真正的名字，是 </a:t>
            </a:r>
            <a:r>
              <a:rPr sz="2000" b="1" i="0">
                <a:solidFill>
                  <a:srgbClr val="E9AC43"/>
                </a:solidFill>
                <a:latin typeface="Songti SC"/>
                <a:ea typeface="Songti SC"/>
              </a:rPr>
              <a:t>单口喜剧 · stand-up comedy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C8F76"/>
                </a:solidFill>
                <a:latin typeface="Helvetica Neue"/>
                <a:ea typeface="Hiragino Sans GB"/>
              </a:rPr>
              <a:t>本片用“脱口秀”指代大众熟悉的这门单口表演——但记得，它的根，在舞台，不在演播室。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DA6444">
                  <a:alpha val="13640"/>
                </a:srgbClr>
              </a:gs>
              <a:gs pos="50000">
                <a:srgbClr val="DA6444">
                  <a:alpha val="5456"/>
                </a:srgbClr>
              </a:gs>
              <a:gs pos="100000">
                <a:srgbClr val="DA6444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DA6444">
                  <a:alpha val="22000"/>
                </a:srgbClr>
              </a:gs>
              <a:gs pos="55000">
                <a:srgbClr val="DA6444">
                  <a:alpha val="4840"/>
                </a:srgbClr>
              </a:gs>
              <a:gs pos="100000">
                <a:srgbClr val="DA6444">
                  <a:alpha val="0"/>
                </a:srgbClr>
              </a:gs>
            </a:gsLst>
            <a:lin ang="18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DA6444"/>
                </a:solidFill>
                <a:latin typeface="Menlo"/>
                <a:ea typeface="Hiragino Sans GB"/>
              </a:rPr>
              <a:t>ORIGINS · 起源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3E9D6"/>
                </a:solidFill>
                <a:latin typeface="Songti SC"/>
                <a:ea typeface="Songti SC"/>
              </a:rPr>
              <a:t>从游艺场，到讲台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04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2412187"/>
            <a:ext cx="6492240" cy="21945"/>
          </a:xfrm>
          <a:prstGeom prst="rect">
            <a:avLst/>
          </a:prstGeom>
          <a:solidFill>
            <a:srgbClr val="9C8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4358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A6444"/>
                </a:solidFill>
                <a:latin typeface="Helvetica Neue"/>
                <a:ea typeface="Hiragino Sans GB"/>
              </a:rPr>
              <a:t>19C 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9D6"/>
                </a:solidFill>
                <a:latin typeface="Helvetica Neue"/>
                <a:ea typeface="Hiragino Sans GB"/>
              </a:rPr>
              <a:t>游艺舞台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27432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C8F76"/>
                </a:solidFill>
                <a:latin typeface="Helvetica Neue"/>
                <a:ea typeface="Hiragino Sans GB"/>
              </a:rPr>
              <a:t>喜剧独白从杂耍、游艺等舞台边缘萌生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2587752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A6444"/>
                </a:solidFill>
                <a:latin typeface="Helvetica Neue"/>
                <a:ea typeface="Hiragino Sans GB"/>
              </a:rPr>
              <a:t>1866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880360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9D6"/>
                </a:solidFill>
                <a:latin typeface="Helvetica Neue"/>
                <a:ea typeface="Hiragino Sans GB"/>
              </a:rPr>
              <a:t>马克·吐温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36392"/>
            <a:ext cx="27432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C8F76"/>
                </a:solidFill>
                <a:latin typeface="Helvetica Neue"/>
                <a:ea typeface="Hiragino Sans GB"/>
              </a:rPr>
              <a:t>首个幽默演讲巡演，被视作单口最早的雏形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3582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59" y="2587752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A6444"/>
                </a:solidFill>
                <a:latin typeface="Helvetica Neue"/>
                <a:ea typeface="Hiragino Sans GB"/>
              </a:rPr>
              <a:t>1900 前后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2880360"/>
            <a:ext cx="2560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9D6"/>
                </a:solidFill>
                <a:latin typeface="Helvetica Neue"/>
                <a:ea typeface="Hiragino Sans GB"/>
              </a:rPr>
              <a:t>查理·凯斯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36392"/>
            <a:ext cx="27432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C8F76"/>
                </a:solidFill>
                <a:latin typeface="Helvetica Neue"/>
                <a:ea typeface="Hiragino Sans GB"/>
              </a:rPr>
              <a:t>无道具、无戏服的独白，已近现代单口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7863840" cy="498347"/>
          </a:xfrm>
          <a:prstGeom prst="roundRect">
            <a:avLst>
              <a:gd name="adj" fmla="val 8000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90659"/>
            <a:ext cx="64008" cy="418612"/>
          </a:xfrm>
          <a:prstGeom prst="rect">
            <a:avLst/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050791"/>
            <a:ext cx="746150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A6444"/>
                </a:solidFill>
                <a:latin typeface="Helvetica Neue"/>
                <a:ea typeface="Hiragino Sans GB"/>
              </a:rPr>
              <a:t>一句话  </a:t>
            </a:r>
            <a:r>
              <a:rPr sz="1250" b="0" i="0">
                <a:solidFill>
                  <a:srgbClr val="F3E9D6"/>
                </a:solidFill>
                <a:latin typeface="Helvetica Neue"/>
                <a:ea typeface="Hiragino Sans GB"/>
              </a:rPr>
              <a:t>单口喜剧不是某天被“发明”的——它是从一百多年的舞台边缘，一点点长出来的。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DA6444">
                  <a:alpha val="14880"/>
                </a:srgbClr>
              </a:gs>
              <a:gs pos="50000">
                <a:srgbClr val="DA6444">
                  <a:alpha val="5952"/>
                </a:srgbClr>
              </a:gs>
              <a:gs pos="100000">
                <a:srgbClr val="DA6444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DA6444">
                  <a:alpha val="24000"/>
                </a:srgbClr>
              </a:gs>
              <a:gs pos="55000">
                <a:srgbClr val="DA6444">
                  <a:alpha val="5280"/>
                </a:srgbClr>
              </a:gs>
              <a:gs pos="100000">
                <a:srgbClr val="DA6444">
                  <a:alpha val="0"/>
                </a:srgbClr>
              </a:gs>
            </a:gsLst>
            <a:lin ang="135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DA6444"/>
                </a:solidFill>
                <a:latin typeface="Menlo"/>
                <a:ea typeface="Hiragino Sans GB"/>
              </a:rPr>
              <a:t>THE GOLDEN AGE · 美式黄金年代（1950S–70S）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3E9D6"/>
                </a:solidFill>
                <a:latin typeface="Songti SC"/>
                <a:ea typeface="Songti SC"/>
              </a:rPr>
              <a:t>单口，成了社会的声音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05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0800" cy="2080260"/>
          </a:xfrm>
          <a:prstGeom prst="roundRect">
            <a:avLst>
              <a:gd name="adj" fmla="val 4835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08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048256"/>
            <a:ext cx="215188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E9D6"/>
                </a:solidFill>
                <a:latin typeface="Songti SC"/>
                <a:ea typeface="Songti SC"/>
              </a:rPr>
              <a:t>兰尼·布鲁斯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395728"/>
            <a:ext cx="21518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C8F76"/>
                </a:solidFill>
                <a:latin typeface="Menlo"/>
                <a:ea typeface="Hiragino Sans GB"/>
              </a:rPr>
              <a:t>Lenny Bruce</a:t>
            </a:r>
            <a:r>
              <a:rPr sz="1000" b="1" i="0">
                <a:solidFill>
                  <a:srgbClr val="DA6444"/>
                </a:solidFill>
                <a:latin typeface="Menlo"/>
                <a:ea typeface="Hiragino Sans GB"/>
              </a:rPr>
              <a:t>  ·  1925–1966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724912"/>
            <a:ext cx="2151888" cy="12801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871215"/>
            <a:ext cx="2151888" cy="89153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把单口变成社会批评，
因表演内容多次被捕——
言论自由的先声。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6600" y="1828800"/>
            <a:ext cx="2590800" cy="2080260"/>
          </a:xfrm>
          <a:prstGeom prst="roundRect">
            <a:avLst>
              <a:gd name="adj" fmla="val 4835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3276600" y="1828800"/>
            <a:ext cx="25908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6056" y="2048256"/>
            <a:ext cx="215188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E9D6"/>
                </a:solidFill>
                <a:latin typeface="Songti SC"/>
                <a:ea typeface="Songti SC"/>
              </a:rPr>
              <a:t>乔治·卡林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6056" y="2395728"/>
            <a:ext cx="21518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C8F76"/>
                </a:solidFill>
                <a:latin typeface="Menlo"/>
                <a:ea typeface="Hiragino Sans GB"/>
              </a:rPr>
              <a:t>George Carlin</a:t>
            </a:r>
            <a:r>
              <a:rPr sz="1000" b="1" i="0">
                <a:solidFill>
                  <a:srgbClr val="DA6444"/>
                </a:solidFill>
                <a:latin typeface="Menlo"/>
                <a:ea typeface="Hiragino Sans GB"/>
              </a:rPr>
              <a:t>  ·  1937–2008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6056" y="2724912"/>
            <a:ext cx="2151888" cy="12801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6056" y="2871215"/>
            <a:ext cx="2151888" cy="89153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1972《七个不能说的
脏词》，把语言与禁忌
本身当成题材。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440" y="1828800"/>
            <a:ext cx="2590800" cy="2080260"/>
          </a:xfrm>
          <a:prstGeom prst="roundRect">
            <a:avLst>
              <a:gd name="adj" fmla="val 4835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187440" y="1828800"/>
            <a:ext cx="25908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6896" y="2048256"/>
            <a:ext cx="215188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E9D6"/>
                </a:solidFill>
                <a:latin typeface="Songti SC"/>
                <a:ea typeface="Songti SC"/>
              </a:rPr>
              <a:t>理查德·普赖尔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896" y="2395728"/>
            <a:ext cx="21518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C8F76"/>
                </a:solidFill>
                <a:latin typeface="Menlo"/>
                <a:ea typeface="Hiragino Sans GB"/>
              </a:rPr>
              <a:t>Richard Pryor</a:t>
            </a:r>
            <a:r>
              <a:rPr sz="1000" b="1" i="0">
                <a:solidFill>
                  <a:srgbClr val="DA6444"/>
                </a:solidFill>
                <a:latin typeface="Menlo"/>
                <a:ea typeface="Hiragino Sans GB"/>
              </a:rPr>
              <a:t>  ·  1940–2005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6896" y="2724912"/>
            <a:ext cx="2151888" cy="12801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6896" y="2871215"/>
            <a:ext cx="2151888" cy="89153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用近乎残酷的坦诚讲
种族与自我，重新
定义了“真实”。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826763"/>
            <a:ext cx="7863840" cy="722376"/>
          </a:xfrm>
          <a:prstGeom prst="roundRect">
            <a:avLst>
              <a:gd name="adj" fmla="val 8000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884554"/>
            <a:ext cx="64008" cy="606795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826763"/>
            <a:ext cx="746150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AC43"/>
                </a:solidFill>
                <a:latin typeface="Helvetica Neue"/>
                <a:ea typeface="Hiragino Sans GB"/>
              </a:rPr>
              <a:t>俱乐部时代  </a:t>
            </a:r>
            <a:r>
              <a:rPr sz="1250" b="0" i="0">
                <a:solidFill>
                  <a:srgbClr val="F3E9D6"/>
                </a:solidFill>
                <a:latin typeface="Helvetica Neue"/>
                <a:ea typeface="Hiragino Sans GB"/>
              </a:rPr>
              <a:t>1972 年 The Comedy Store 在西好莱坞开业——喜剧俱乐部成为单口的“道场”，演员每晚上台打磨段子，一代锋芒由此诞生。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1160"/>
                </a:srgbClr>
              </a:gs>
              <a:gs pos="50000">
                <a:srgbClr val="E9AC43">
                  <a:alpha val="4464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8000"/>
                </a:srgbClr>
              </a:gs>
              <a:gs pos="55000">
                <a:srgbClr val="E9AC43">
                  <a:alpha val="3960"/>
                </a:srgbClr>
              </a:gs>
              <a:gs pos="100000">
                <a:srgbClr val="E9AC43">
                  <a:alpha val="0"/>
                </a:srgbClr>
              </a:gs>
            </a:gsLst>
            <a:lin ang="18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E9AC43"/>
                </a:solidFill>
                <a:latin typeface="Menlo"/>
                <a:ea typeface="Hiragino Sans GB"/>
              </a:rPr>
              <a:t>HOW THE STYLE EVOLVED · 风格流变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3E9D6"/>
                </a:solidFill>
                <a:latin typeface="Songti SC"/>
                <a:ea typeface="Songti SC"/>
              </a:rPr>
              <a:t>从“说观点”，到“讲生活”，再到全球专场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06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61488"/>
            <a:ext cx="7863840" cy="12801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DA6444">
                  <a:alpha val="100000"/>
                </a:srgbClr>
              </a:gs>
              <a:gs pos="45000">
                <a:srgbClr val="E9AC43">
                  <a:alpha val="100000"/>
                </a:srgbClr>
              </a:gs>
              <a:gs pos="100000">
                <a:srgbClr val="5CAB9B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8115" y="2715768"/>
            <a:ext cx="201168" cy="219456"/>
          </a:xfrm>
          <a:prstGeom prst="roundRect">
            <a:avLst>
              <a:gd name="adj" fmla="val 27272"/>
            </a:avLst>
          </a:prstGeom>
          <a:solidFill>
            <a:srgbClr val="DA6444"/>
          </a:solidFill>
          <a:ln w="19050">
            <a:solidFill>
              <a:srgbClr val="15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1975104"/>
            <a:ext cx="1965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E9D6"/>
                </a:solidFill>
                <a:latin typeface="Songti SC"/>
                <a:ea typeface="Songti SC"/>
              </a:rPr>
              <a:t>政治讽刺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304288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A6444"/>
                </a:solidFill>
                <a:latin typeface="Menlo"/>
                <a:ea typeface="Hiragino Sans GB"/>
              </a:rPr>
              <a:t>1950–60s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072384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6CBB2"/>
                </a:solidFill>
                <a:latin typeface="Helvetica Neue"/>
                <a:ea typeface="Hiragino Sans GB"/>
              </a:rPr>
              <a:t>萨尔、布鲁斯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3649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C8F76"/>
                </a:solidFill>
                <a:latin typeface="Helvetica Neue"/>
                <a:ea typeface="Hiragino Sans GB"/>
              </a:rPr>
              <a:t>单口作为一种观点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0316" y="2715768"/>
            <a:ext cx="201168" cy="219456"/>
          </a:xfrm>
          <a:prstGeom prst="roundRect">
            <a:avLst>
              <a:gd name="adj" fmla="val 27272"/>
            </a:avLst>
          </a:prstGeom>
          <a:solidFill>
            <a:srgbClr val="DA6444"/>
          </a:solidFill>
          <a:ln w="19050">
            <a:solidFill>
              <a:srgbClr val="15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07920" y="1975104"/>
            <a:ext cx="1965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E9D6"/>
                </a:solidFill>
                <a:latin typeface="Songti SC"/>
                <a:ea typeface="Songti SC"/>
              </a:rPr>
              <a:t>直白坦诚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7920" y="2304288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A6444"/>
                </a:solidFill>
                <a:latin typeface="Menlo"/>
                <a:ea typeface="Hiragino Sans GB"/>
              </a:rPr>
              <a:t>1970s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7920" y="3072384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6CBB2"/>
                </a:solidFill>
                <a:latin typeface="Helvetica Neue"/>
                <a:ea typeface="Hiragino Sans GB"/>
              </a:rPr>
              <a:t>卡林、普赖尔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07920" y="33649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C8F76"/>
                </a:solidFill>
                <a:latin typeface="Helvetica Neue"/>
                <a:ea typeface="Hiragino Sans GB"/>
              </a:rPr>
              <a:t>把禁忌与自我摊开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2516" y="2715768"/>
            <a:ext cx="201168" cy="219456"/>
          </a:xfrm>
          <a:prstGeom prst="roundRect">
            <a:avLst>
              <a:gd name="adj" fmla="val 27272"/>
            </a:avLst>
          </a:prstGeom>
          <a:solidFill>
            <a:srgbClr val="E9AC43"/>
          </a:solidFill>
          <a:ln w="19050">
            <a:solidFill>
              <a:srgbClr val="15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0120" y="1975104"/>
            <a:ext cx="1965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E9D6"/>
                </a:solidFill>
                <a:latin typeface="Songti SC"/>
                <a:ea typeface="Songti SC"/>
              </a:rPr>
              <a:t>观察式喜剧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70120" y="2304288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9AC43"/>
                </a:solidFill>
                <a:latin typeface="Menlo"/>
                <a:ea typeface="Hiragino Sans GB"/>
              </a:rPr>
              <a:t>1980–90s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0120" y="3072384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6CBB2"/>
                </a:solidFill>
                <a:latin typeface="Helvetica Neue"/>
                <a:ea typeface="Hiragino Sans GB"/>
              </a:rPr>
              <a:t>宋飞（Seinfeld）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0120" y="33649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C8F76"/>
                </a:solidFill>
                <a:latin typeface="Helvetica Neue"/>
                <a:ea typeface="Hiragino Sans GB"/>
              </a:rPr>
              <a:t>“生活里的小事”登峰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4716" y="2715768"/>
            <a:ext cx="201168" cy="219456"/>
          </a:xfrm>
          <a:prstGeom prst="roundRect">
            <a:avLst>
              <a:gd name="adj" fmla="val 27272"/>
            </a:avLst>
          </a:prstGeom>
          <a:solidFill>
            <a:srgbClr val="5CAB9B"/>
          </a:solidFill>
          <a:ln w="19050">
            <a:solidFill>
              <a:srgbClr val="15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1975104"/>
            <a:ext cx="1965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E9D6"/>
                </a:solidFill>
                <a:latin typeface="Songti SC"/>
                <a:ea typeface="Songti SC"/>
              </a:rPr>
              <a:t>流媒体专场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04288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CAB9B"/>
                </a:solidFill>
                <a:latin typeface="Menlo"/>
                <a:ea typeface="Hiragino Sans GB"/>
              </a:rPr>
              <a:t>2010s–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072384"/>
            <a:ext cx="1965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6CBB2"/>
                </a:solidFill>
                <a:latin typeface="Helvetica Neue"/>
                <a:ea typeface="Hiragino Sans GB"/>
              </a:rPr>
              <a:t>Netflix 专场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3649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C8F76"/>
                </a:solidFill>
                <a:latin typeface="Helvetica Neue"/>
                <a:ea typeface="Hiragino Sans GB"/>
              </a:rPr>
              <a:t>让单口走向全球化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5CAB9B">
                  <a:alpha val="13640"/>
                </a:srgbClr>
              </a:gs>
              <a:gs pos="50000">
                <a:srgbClr val="5CAB9B">
                  <a:alpha val="5456"/>
                </a:srgbClr>
              </a:gs>
              <a:gs pos="100000">
                <a:srgbClr val="5CAB9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5CAB9B">
                  <a:alpha val="22000"/>
                </a:srgbClr>
              </a:gs>
              <a:gs pos="55000">
                <a:srgbClr val="5CAB9B">
                  <a:alpha val="4840"/>
                </a:srgbClr>
              </a:gs>
              <a:gs pos="100000">
                <a:srgbClr val="5CAB9B">
                  <a:alpha val="0"/>
                </a:srgbClr>
              </a:gs>
            </a:gsLst>
            <a:lin ang="135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CAB9B"/>
                </a:solidFill>
                <a:latin typeface="Menlo"/>
                <a:ea typeface="Hiragino Sans GB"/>
              </a:rPr>
              <a:t>THE RISE IN CHINA · 中文脱口秀的兴起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3E9D6"/>
                </a:solidFill>
                <a:latin typeface="Songti SC"/>
                <a:ea typeface="Songti SC"/>
              </a:rPr>
              <a:t>从舶来品，到本土顶流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71" y="1664208"/>
            <a:ext cx="21945" cy="2930652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8620" y="1719072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9C8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45919"/>
            <a:ext cx="35204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AB9B"/>
                </a:solidFill>
                <a:latin typeface="Menlo"/>
                <a:ea typeface="Hiragino Sans GB"/>
              </a:rPr>
              <a:t>2012  </a:t>
            </a:r>
            <a:r>
              <a:rPr sz="1350" b="1" i="0">
                <a:solidFill>
                  <a:srgbClr val="F3E9D6"/>
                </a:solidFill>
                <a:latin typeface="Songti SC"/>
                <a:ea typeface="Hiragino Sans GB"/>
              </a:rPr>
              <a:t>《今晚80后脱口秀》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56815"/>
            <a:ext cx="35204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CBB2"/>
                </a:solidFill>
                <a:latin typeface="Helvetica Neue"/>
                <a:ea typeface="Hiragino Sans GB"/>
              </a:rPr>
              <a:t>王自健主持，舶来的“脱口秀”走进大众视野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" y="269595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9C8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622804"/>
            <a:ext cx="35204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AB9B"/>
                </a:solidFill>
                <a:latin typeface="Menlo"/>
                <a:ea typeface="Hiragino Sans GB"/>
              </a:rPr>
              <a:t>2014  </a:t>
            </a:r>
            <a:r>
              <a:rPr sz="1350" b="1" i="0">
                <a:solidFill>
                  <a:srgbClr val="F3E9D6"/>
                </a:solidFill>
                <a:latin typeface="Songti SC"/>
                <a:ea typeface="Hiragino Sans GB"/>
              </a:rPr>
              <a:t>笑果文化成立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2933699"/>
            <a:ext cx="35204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CBB2"/>
                </a:solidFill>
                <a:latin typeface="Helvetica Neue"/>
                <a:ea typeface="Hiragino Sans GB"/>
              </a:rPr>
              <a:t>开始大量线下开放麦与剧场演出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8620" y="367284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599688"/>
            <a:ext cx="35204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AB9B"/>
                </a:solidFill>
                <a:latin typeface="Menlo"/>
                <a:ea typeface="Hiragino Sans GB"/>
              </a:rPr>
              <a:t>2017  </a:t>
            </a:r>
            <a:r>
              <a:rPr sz="1350" b="1" i="0">
                <a:solidFill>
                  <a:srgbClr val="F3E9D6"/>
                </a:solidFill>
                <a:latin typeface="Songti SC"/>
                <a:ea typeface="Hiragino Sans GB"/>
              </a:rPr>
              <a:t>《吐槽大会》《脱口秀大会》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10584"/>
            <a:ext cx="35204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CBB2"/>
                </a:solidFill>
                <a:latin typeface="Helvetica Neue"/>
                <a:ea typeface="Hiragino Sans GB"/>
              </a:rPr>
              <a:t>现象级综艺上线，脱口秀强势出圈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0211" y="1664208"/>
            <a:ext cx="21945" cy="2930652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23460" y="1719072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9C8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84648" y="1645919"/>
            <a:ext cx="35204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AB9B"/>
                </a:solidFill>
                <a:latin typeface="Menlo"/>
                <a:ea typeface="Hiragino Sans GB"/>
              </a:rPr>
              <a:t>2019  </a:t>
            </a:r>
            <a:r>
              <a:rPr sz="1350" b="1" i="0">
                <a:solidFill>
                  <a:srgbClr val="F3E9D6"/>
                </a:solidFill>
                <a:latin typeface="Songti SC"/>
                <a:ea typeface="Hiragino Sans GB"/>
              </a:rPr>
              <a:t>行业分水岭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956815"/>
            <a:ext cx="35204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CBB2"/>
                </a:solidFill>
                <a:latin typeface="Helvetica Neue"/>
                <a:ea typeface="Hiragino Sans GB"/>
              </a:rPr>
              <a:t>呼兰、王勉等走红，脱口秀成综艺顶流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460" y="269595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9C8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4648" y="2622804"/>
            <a:ext cx="35204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AB9B"/>
                </a:solidFill>
                <a:latin typeface="Menlo"/>
                <a:ea typeface="Hiragino Sans GB"/>
              </a:rPr>
              <a:t>2023  </a:t>
            </a:r>
            <a:r>
              <a:rPr sz="1350" b="1" i="0">
                <a:solidFill>
                  <a:srgbClr val="F3E9D6"/>
                </a:solidFill>
                <a:latin typeface="Songti SC"/>
                <a:ea typeface="Hiragino Sans GB"/>
              </a:rPr>
              <a:t>行业震荡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4648" y="2933699"/>
            <a:ext cx="35204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CBB2"/>
                </a:solidFill>
                <a:latin typeface="Helvetica Neue"/>
                <a:ea typeface="Hiragino Sans GB"/>
              </a:rPr>
              <a:t>风波之后，头部节目一度暂停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23460" y="367284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84648" y="3599688"/>
            <a:ext cx="35204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AB9B"/>
                </a:solidFill>
                <a:latin typeface="Menlo"/>
                <a:ea typeface="Hiragino Sans GB"/>
              </a:rPr>
              <a:t>2024  </a:t>
            </a:r>
            <a:r>
              <a:rPr sz="1350" b="1" i="0">
                <a:solidFill>
                  <a:srgbClr val="F3E9D6"/>
                </a:solidFill>
                <a:latin typeface="Songti SC"/>
                <a:ea typeface="Hiragino Sans GB"/>
              </a:rPr>
              <a:t>双综回归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4648" y="3910584"/>
            <a:ext cx="35204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CBB2"/>
                </a:solidFill>
                <a:latin typeface="Helvetica Neue"/>
                <a:ea typeface="Hiragino Sans GB"/>
              </a:rPr>
              <a:t>《喜剧之王·单口季》《脱口秀和Ta的朋友们》同台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5CAB9B">
                  <a:alpha val="13640"/>
                </a:srgbClr>
              </a:gs>
              <a:gs pos="50000">
                <a:srgbClr val="5CAB9B">
                  <a:alpha val="5456"/>
                </a:srgbClr>
              </a:gs>
              <a:gs pos="100000">
                <a:srgbClr val="5CAB9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5CAB9B">
                  <a:alpha val="22000"/>
                </a:srgbClr>
              </a:gs>
              <a:gs pos="55000">
                <a:srgbClr val="5CAB9B">
                  <a:alpha val="4840"/>
                </a:srgbClr>
              </a:gs>
              <a:gs pos="100000">
                <a:srgbClr val="5CAB9B">
                  <a:alpha val="0"/>
                </a:srgbClr>
              </a:gs>
            </a:gsLst>
            <a:lin ang="18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CAB9B"/>
                </a:solidFill>
                <a:latin typeface="Menlo"/>
                <a:ea typeface="Hiragino Sans GB"/>
              </a:rPr>
              <a:t>THE FACES · 中文场的面孔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3E9D6"/>
                </a:solidFill>
                <a:latin typeface="Songti SC"/>
                <a:ea typeface="Songti SC"/>
              </a:rPr>
              <a:t>从综艺造星，到真正破圈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2571"/>
            <a:ext cx="4440454" cy="10972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700784"/>
            <a:ext cx="82296" cy="325755"/>
          </a:xfrm>
          <a:prstGeom prst="roundRect">
            <a:avLst>
              <a:gd name="adj" fmla="val 44444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664208"/>
            <a:ext cx="416613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李诞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993392"/>
            <a:ext cx="4166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6CBB2"/>
                </a:solidFill>
                <a:latin typeface="Helvetica Neue"/>
                <a:ea typeface="Hiragino Sans GB"/>
              </a:rPr>
              <a:t>早期核心与行业推手，“人间不值得”一代人的口头禅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010662"/>
            <a:ext cx="4440454" cy="10972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2428875"/>
            <a:ext cx="82296" cy="325755"/>
          </a:xfrm>
          <a:prstGeom prst="roundRect">
            <a:avLst>
              <a:gd name="adj" fmla="val 44444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392299"/>
            <a:ext cx="416613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呼兰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2721483"/>
            <a:ext cx="4166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6CBB2"/>
                </a:solidFill>
                <a:latin typeface="Helvetica Neue"/>
                <a:ea typeface="Hiragino Sans GB"/>
              </a:rPr>
              <a:t>结构精密的“打工人”叙事，逻辑感极强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738753"/>
            <a:ext cx="4440454" cy="10972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3156966"/>
            <a:ext cx="82296" cy="325755"/>
          </a:xfrm>
          <a:prstGeom prst="roundRect">
            <a:avLst>
              <a:gd name="adj" fmla="val 44444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120390"/>
            <a:ext cx="416613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王勉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3449574"/>
            <a:ext cx="4166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6CBB2"/>
                </a:solidFill>
                <a:latin typeface="Helvetica Neue"/>
                <a:ea typeface="Hiragino Sans GB"/>
              </a:rPr>
              <a:t>脱口秀 × 音乐的“脱口秀歌手”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466844"/>
            <a:ext cx="4440454" cy="10972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0" y="3885057"/>
            <a:ext cx="82296" cy="325755"/>
          </a:xfrm>
          <a:prstGeom prst="roundRect">
            <a:avLst>
              <a:gd name="adj" fmla="val 44444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848481"/>
            <a:ext cx="416613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杨笠 · 鸟鸟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4177665"/>
            <a:ext cx="4166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6CBB2"/>
                </a:solidFill>
                <a:latin typeface="Helvetica Neue"/>
                <a:ea typeface="Hiragino Sans GB"/>
              </a:rPr>
              <a:t>女性视角：一个犀利，一个内向式的绵里藏针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9134" y="1572768"/>
            <a:ext cx="3469105" cy="2912364"/>
          </a:xfrm>
          <a:prstGeom prst="roundRect">
            <a:avLst>
              <a:gd name="adj" fmla="val 3453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 Same Side Corner Rectangle 26"/>
          <p:cNvSpPr/>
          <p:nvPr/>
        </p:nvSpPr>
        <p:spPr>
          <a:xfrm>
            <a:off x="5309134" y="1572768"/>
            <a:ext cx="3469105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46878" y="1792224"/>
            <a:ext cx="299361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2024：双冠军 &amp; 新面孔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46878" y="2231136"/>
            <a:ext cx="29936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AC43"/>
                </a:solidFill>
                <a:latin typeface="Helvetica Neue"/>
                <a:ea typeface="Hiragino Sans GB"/>
              </a:rPr>
              <a:t>🏆 </a:t>
            </a:r>
            <a:r>
              <a:rPr sz="1400" b="1" i="0">
                <a:solidFill>
                  <a:srgbClr val="F4CE86"/>
                </a:solidFill>
                <a:latin typeface="Songti SC"/>
                <a:ea typeface="Hiragino Sans GB"/>
              </a:rPr>
              <a:t>付航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46878" y="2487168"/>
            <a:ext cx="29936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《喜剧之王·单口季》年度总冠军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6878" y="2798064"/>
            <a:ext cx="29936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AC43"/>
                </a:solidFill>
                <a:latin typeface="Helvetica Neue"/>
                <a:ea typeface="Hiragino Sans GB"/>
              </a:rPr>
              <a:t>🏆 </a:t>
            </a:r>
            <a:r>
              <a:rPr sz="1400" b="1" i="0">
                <a:solidFill>
                  <a:srgbClr val="F4CE86"/>
                </a:solidFill>
                <a:latin typeface="Songti SC"/>
                <a:ea typeface="Hiragino Sans GB"/>
              </a:rPr>
              <a:t>漫才兄弟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46878" y="3054096"/>
            <a:ext cx="29936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《脱口秀和Ta的朋友们》冠军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46878" y="3236976"/>
            <a:ext cx="2993617" cy="10972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46878" y="3419856"/>
            <a:ext cx="2353537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C8F76"/>
                </a:solidFill>
                <a:latin typeface="Helvetica Neue"/>
                <a:ea typeface="Hiragino Sans GB"/>
              </a:rPr>
              <a:t>2024 两档综艺 · 女性演员占比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46878" y="3730752"/>
            <a:ext cx="2353537" cy="219456"/>
          </a:xfrm>
          <a:prstGeom prst="roundRect">
            <a:avLst>
              <a:gd name="adj" fmla="val 50000"/>
            </a:avLst>
          </a:prstGeom>
          <a:solidFill>
            <a:srgbClr val="2E2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46878" y="3730752"/>
            <a:ext cx="917879" cy="219456"/>
          </a:xfrm>
          <a:prstGeom prst="roundRect">
            <a:avLst>
              <a:gd name="adj" fmla="val 50000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5" y="3730752"/>
            <a:ext cx="731520" cy="21945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3E9D6"/>
                </a:solidFill>
                <a:latin typeface="Helvetica Neue"/>
                <a:ea typeface="Hiragino Sans GB"/>
              </a:rPr>
              <a:t>39</a:t>
            </a:r>
            <a:r>
              <a:rPr sz="1100" b="1" i="0">
                <a:solidFill>
                  <a:srgbClr val="9C8F76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46878" y="3968496"/>
            <a:ext cx="299361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C8F76"/>
                </a:solidFill>
                <a:latin typeface="Helvetica Neue"/>
                <a:ea typeface="Hiragino Sans GB"/>
              </a:rPr>
              <a:t>107 位演员中 42 位女性，女性表达尤为亮眼。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1160"/>
                </a:srgbClr>
              </a:gs>
              <a:gs pos="50000">
                <a:srgbClr val="E9AC43">
                  <a:alpha val="4464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8000"/>
                </a:srgbClr>
              </a:gs>
              <a:gs pos="55000">
                <a:srgbClr val="E9AC43">
                  <a:alpha val="3960"/>
                </a:srgbClr>
              </a:gs>
              <a:gs pos="100000">
                <a:srgbClr val="E9AC43">
                  <a:alpha val="0"/>
                </a:srgbClr>
              </a:gs>
            </a:gsLst>
            <a:lin ang="16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E9AC43"/>
                </a:solidFill>
                <a:latin typeface="Menlo"/>
                <a:ea typeface="Hiragino Sans GB"/>
              </a:rPr>
              <a:t>THE INDUSTRY NOW · 行业现状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9D6"/>
                </a:solidFill>
                <a:latin typeface="Songti SC"/>
                <a:ea typeface="Songti SC"/>
              </a:rPr>
              <a:t>分裂的生态：出圈在综艺，功夫在剧场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09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37360"/>
            <a:ext cx="4000500" cy="1988819"/>
          </a:xfrm>
          <a:prstGeom prst="roundRect">
            <a:avLst>
              <a:gd name="adj" fmla="val 5057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737360"/>
            <a:ext cx="40005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75104"/>
            <a:ext cx="348843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9AC43"/>
                </a:solidFill>
                <a:latin typeface="Menlo"/>
                <a:ea typeface="Hiragino Sans GB"/>
              </a:rPr>
              <a:t>线上 · 综艺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249424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E9D6"/>
                </a:solidFill>
                <a:latin typeface="Songti SC"/>
                <a:ea typeface="Songti SC"/>
              </a:rPr>
              <a:t>流量与造星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9AC43"/>
                </a:solidFill>
                <a:latin typeface="Helvetica Neue"/>
                <a:ea typeface="Hiragino Sans GB"/>
              </a:rPr>
              <a:t>— </a:t>
            </a: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爱奇艺《喜单》 × 腾讯《脱友》，双雄同台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163824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9AC43"/>
                </a:solidFill>
                <a:latin typeface="Helvetica Neue"/>
                <a:ea typeface="Hiragino Sans GB"/>
              </a:rPr>
              <a:t>— </a:t>
            </a: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负责出圈、造星与话题度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9AC43"/>
                </a:solidFill>
                <a:latin typeface="Helvetica Neue"/>
                <a:ea typeface="Hiragino Sans GB"/>
              </a:rPr>
              <a:t>— </a:t>
            </a: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台上演员：2020 不足 50 → 2025 逾百位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7740" y="1737360"/>
            <a:ext cx="4000500" cy="1988819"/>
          </a:xfrm>
          <a:prstGeom prst="roundRect">
            <a:avLst>
              <a:gd name="adj" fmla="val 5057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77740" y="1737360"/>
            <a:ext cx="4000500" cy="640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A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3772" y="1975104"/>
            <a:ext cx="348843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CAB9B"/>
                </a:solidFill>
                <a:latin typeface="Menlo"/>
                <a:ea typeface="Hiragino Sans GB"/>
              </a:rPr>
              <a:t>线下 · 剧场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3772" y="2249424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E9D6"/>
                </a:solidFill>
                <a:latin typeface="Songti SC"/>
                <a:ea typeface="Songti SC"/>
              </a:rPr>
              <a:t>训练与生计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3772" y="2761488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CAB9B"/>
                </a:solidFill>
                <a:latin typeface="Helvetica Neue"/>
                <a:ea typeface="Hiragino Sans GB"/>
              </a:rPr>
              <a:t>— </a:t>
            </a: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开放麦 · 剧场 · 专场巡演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3772" y="3163824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CAB9B"/>
                </a:solidFill>
                <a:latin typeface="Helvetica Neue"/>
                <a:ea typeface="Hiragino Sans GB"/>
              </a:rPr>
              <a:t>— </a:t>
            </a: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演员真正的“道场”与收入来源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3772" y="3566160"/>
            <a:ext cx="348843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CAB9B"/>
                </a:solidFill>
                <a:latin typeface="Helvetica Neue"/>
                <a:ea typeface="Hiragino Sans GB"/>
              </a:rPr>
              <a:t>— </a:t>
            </a: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核心观众：Z / Y 世代高学历都市青年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26763"/>
            <a:ext cx="7863840" cy="722376"/>
          </a:xfrm>
          <a:prstGeom prst="roundRect">
            <a:avLst>
              <a:gd name="adj" fmla="val 8000"/>
            </a:avLst>
          </a:prstGeom>
          <a:solidFill>
            <a:srgbClr val="221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84554"/>
            <a:ext cx="64008" cy="606795"/>
          </a:xfrm>
          <a:prstGeom prst="rect">
            <a:avLst/>
          </a:prstGeom>
          <a:solidFill>
            <a:srgbClr val="DA6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826763"/>
            <a:ext cx="746150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A6444"/>
                </a:solidFill>
                <a:latin typeface="Helvetica Neue"/>
                <a:ea typeface="Hiragino Sans GB"/>
              </a:rPr>
              <a:t>隐忧  </a:t>
            </a:r>
            <a:r>
              <a:rPr sz="1250" b="0" i="0">
                <a:solidFill>
                  <a:srgbClr val="D6CBB2"/>
                </a:solidFill>
                <a:latin typeface="Helvetica Neue"/>
                <a:ea typeface="Hiragino Sans GB"/>
              </a:rPr>
              <a:t>综艺红利之下，部分成熟演员转向“行业内梗”，段子写作也有“工业化”之虞——真正的功夫，仍在剧场。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2400"/>
                </a:srgbClr>
              </a:gs>
              <a:gs pos="50000">
                <a:srgbClr val="E9AC43">
                  <a:alpha val="4960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20000"/>
                </a:srgbClr>
              </a:gs>
              <a:gs pos="55000">
                <a:srgbClr val="E9AC43">
                  <a:alpha val="4400"/>
                </a:srgbClr>
              </a:gs>
              <a:gs pos="100000">
                <a:srgbClr val="E9AC43">
                  <a:alpha val="0"/>
                </a:srgbClr>
              </a:gs>
            </a:gsLst>
            <a:lin ang="135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E9AC43"/>
                </a:solidFill>
                <a:latin typeface="Menlo"/>
                <a:ea typeface="Hiragino Sans GB"/>
              </a:rPr>
              <a:t>ANATOMY OF A BIT · 手艺解剖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3E9D6"/>
                </a:solidFill>
                <a:latin typeface="Songti SC"/>
                <a:ea typeface="Songti SC"/>
              </a:rPr>
              <a:t>拆开一个“包袱”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10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0784"/>
            <a:ext cx="7863840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3E9D6"/>
                </a:solidFill>
                <a:latin typeface="Songti SC"/>
                <a:ea typeface="Songti SC"/>
              </a:rPr>
              <a:t>好笑</a:t>
            </a:r>
            <a:r>
              <a:rPr sz="2500" b="1" i="0">
                <a:solidFill>
                  <a:srgbClr val="E9AC43"/>
                </a:solidFill>
                <a:latin typeface="Songti SC"/>
                <a:ea typeface="Songti SC"/>
              </a:rPr>
              <a:t>  =  </a:t>
            </a:r>
            <a:r>
              <a:rPr sz="2500" b="1" i="0">
                <a:solidFill>
                  <a:srgbClr val="F3E9D6"/>
                </a:solidFill>
                <a:latin typeface="Songti SC"/>
                <a:ea typeface="Songti SC"/>
              </a:rPr>
              <a:t>意料之外</a:t>
            </a:r>
            <a:r>
              <a:rPr sz="2500" b="1" i="0">
                <a:solidFill>
                  <a:srgbClr val="E9AC43"/>
                </a:solidFill>
                <a:latin typeface="Songti SC"/>
                <a:ea typeface="Songti SC"/>
              </a:rPr>
              <a:t>  +  </a:t>
            </a:r>
            <a:r>
              <a:rPr sz="2500" b="1" i="0">
                <a:solidFill>
                  <a:srgbClr val="F3E9D6"/>
                </a:solidFill>
                <a:latin typeface="Songti SC"/>
                <a:ea typeface="Songti SC"/>
              </a:rPr>
              <a:t>情理之中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3063240"/>
            <a:ext cx="5852160" cy="20116"/>
          </a:xfrm>
          <a:prstGeom prst="rect">
            <a:avLst/>
          </a:prstGeom>
          <a:solidFill>
            <a:srgbClr val="3A2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62456" y="2788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2E2617"/>
          </a:solidFill>
          <a:ln w="1778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62456" y="2788920"/>
            <a:ext cx="56692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9AC43"/>
                </a:solidFill>
                <a:latin typeface="Georgia"/>
                <a:ea typeface="Hiragino Sans GB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65576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铺垫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58184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14215"/>
            <a:ext cx="201168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先建立一个共同的预期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3176" y="2788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2E2617"/>
          </a:solidFill>
          <a:ln w="1778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3176" y="2788920"/>
            <a:ext cx="56692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9AC43"/>
                </a:solidFill>
                <a:latin typeface="Georgia"/>
                <a:ea typeface="Hiragino Sans GB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90800" y="3465576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误导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0800" y="3758184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Misdirect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0800" y="4014215"/>
            <a:ext cx="201168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顺着预期，把注意力引偏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3896" y="2788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9AC43"/>
          </a:solidFill>
          <a:ln w="1778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3896" y="2788920"/>
            <a:ext cx="56692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5120C"/>
                </a:solidFill>
                <a:latin typeface="Georgia"/>
                <a:ea typeface="Hiragino Sans GB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1520" y="3465576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反转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1520" y="3758184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Punchline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4014215"/>
            <a:ext cx="201168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一句话打破预期，笑点在此爆发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14616" y="2788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2E2617"/>
          </a:solidFill>
          <a:ln w="1778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4616" y="2788920"/>
            <a:ext cx="56692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9AC43"/>
                </a:solidFill>
                <a:latin typeface="Georgia"/>
                <a:ea typeface="Hiragino Sans GB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465576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9D6"/>
                </a:solidFill>
                <a:latin typeface="Songti SC"/>
                <a:ea typeface="Songti SC"/>
              </a:rPr>
              <a:t>回扣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758184"/>
            <a:ext cx="20116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Callback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014215"/>
            <a:ext cx="201168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呼应前文再加料，笑声二次叠加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4880"/>
                </a:srgbClr>
              </a:gs>
              <a:gs pos="50000">
                <a:srgbClr val="E9AC43">
                  <a:alpha val="5952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24000"/>
                </a:srgbClr>
              </a:gs>
              <a:gs pos="55000">
                <a:srgbClr val="E9AC43">
                  <a:alpha val="5280"/>
                </a:srgbClr>
              </a:gs>
              <a:gs pos="100000">
                <a:srgbClr val="E9AC43">
                  <a:alpha val="0"/>
                </a:srgbClr>
              </a:gs>
            </a:gsLst>
            <a:lin ang="16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233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E9AC43"/>
                </a:solidFill>
                <a:latin typeface="Menlo"/>
                <a:ea typeface="Hiragino Sans GB"/>
              </a:rPr>
              <a:t>WHY THE CRAFT MATTERS · 为什么这门手艺重要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76656"/>
            <a:ext cx="78638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9D6"/>
                </a:solidFill>
                <a:latin typeface="Songti SC"/>
                <a:ea typeface="Songti SC"/>
              </a:rPr>
              <a:t>一个人一支麦，为什么值得认真对待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822960" cy="45720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14316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8F76"/>
                </a:solidFill>
                <a:latin typeface="Menlo"/>
                <a:ea typeface="Hiragino Sans GB"/>
              </a:rPr>
              <a:t>脱口秀简史 · A Brief History of Stand-up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8F76"/>
                </a:solidFill>
                <a:latin typeface="Menlo"/>
                <a:ea typeface="Hiragino Sans GB"/>
              </a:rPr>
              <a:t>11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92249"/>
            <a:ext cx="621792" cy="621792"/>
          </a:xfrm>
          <a:prstGeom prst="roundRect">
            <a:avLst>
              <a:gd name="adj" fmla="val 24000"/>
            </a:avLst>
          </a:prstGeom>
          <a:solidFill>
            <a:srgbClr val="2E2617"/>
          </a:solidFill>
          <a:ln w="19050">
            <a:solidFill>
              <a:srgbClr val="E9A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sphor_megaphone_E9AC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25" y="2153914"/>
            <a:ext cx="298460" cy="298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7008" y="1792224"/>
            <a:ext cx="310895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9D6"/>
                </a:solidFill>
                <a:latin typeface="Songti SC"/>
                <a:ea typeface="Songti SC"/>
              </a:rPr>
              <a:t>最低成本的公共表达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157984"/>
            <a:ext cx="3108959" cy="67437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一个人、一支麦，就能对着一屋子人发出声音。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0" y="1992249"/>
            <a:ext cx="621792" cy="621792"/>
          </a:xfrm>
          <a:prstGeom prst="roundRect">
            <a:avLst>
              <a:gd name="adj" fmla="val 24000"/>
            </a:avLst>
          </a:prstGeom>
          <a:solidFill>
            <a:srgbClr val="2E2617"/>
          </a:solidFill>
          <a:ln w="19050">
            <a:solidFill>
              <a:srgbClr val="DA6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shield-check_DA64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265" y="2153914"/>
            <a:ext cx="298460" cy="2984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41848" y="1792224"/>
            <a:ext cx="310895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9D6"/>
                </a:solidFill>
                <a:latin typeface="Songti SC"/>
                <a:ea typeface="Songti SC"/>
              </a:rPr>
              <a:t>社会情绪的减压阀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41848" y="2157984"/>
            <a:ext cx="3108959" cy="67437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把焦虑、冒犯与禁忌放到台上，在安全的距离里谈论。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489579"/>
            <a:ext cx="621792" cy="621792"/>
          </a:xfrm>
          <a:prstGeom prst="roundRect">
            <a:avLst>
              <a:gd name="adj" fmla="val 24000"/>
            </a:avLst>
          </a:prstGeom>
          <a:solidFill>
            <a:srgbClr val="2E2617"/>
          </a:solidFill>
          <a:ln w="19050">
            <a:solidFill>
              <a:srgbClr val="5CAB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osphor_users-three_5CA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425" y="3651244"/>
            <a:ext cx="298460" cy="2984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07008" y="3289554"/>
            <a:ext cx="310895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9D6"/>
                </a:solidFill>
                <a:latin typeface="Songti SC"/>
                <a:ea typeface="Songti SC"/>
              </a:rPr>
              <a:t>把私人经验变成共情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3655314"/>
            <a:ext cx="3108959" cy="67437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个体的尴尬与痛，让台下人发现“原来不只我这样”。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3489579"/>
            <a:ext cx="621792" cy="621792"/>
          </a:xfrm>
          <a:prstGeom prst="roundRect">
            <a:avLst>
              <a:gd name="adj" fmla="val 24000"/>
            </a:avLst>
          </a:prstGeom>
          <a:solidFill>
            <a:srgbClr val="2E2617"/>
          </a:solidFill>
          <a:ln w="19050">
            <a:solidFill>
              <a:srgbClr val="F4CE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eye_F4CE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2265" y="3651244"/>
            <a:ext cx="298460" cy="298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41848" y="3289554"/>
            <a:ext cx="310895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9D6"/>
                </a:solidFill>
                <a:latin typeface="Songti SC"/>
                <a:ea typeface="Songti SC"/>
              </a:rPr>
              <a:t>一种诚实的训练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41848" y="3655314"/>
            <a:ext cx="3108959" cy="67437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它逼你观察生活、结构化表达，并且——说真话。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8600"/>
                </a:srgbClr>
              </a:gs>
              <a:gs pos="50000">
                <a:srgbClr val="E9AC43">
                  <a:alpha val="7440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30000"/>
                </a:srgbClr>
              </a:gs>
              <a:gs pos="55000">
                <a:srgbClr val="E9AC43">
                  <a:alpha val="6600"/>
                </a:srgbClr>
              </a:gs>
              <a:gs pos="100000">
                <a:srgbClr val="E9AC43">
                  <a:alpha val="0"/>
                </a:srgbClr>
              </a:gs>
            </a:gsLst>
            <a:lin ang="16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舞台麦克风" title="舞台麦克风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77724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084831"/>
            <a:ext cx="9144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40">
                <a:solidFill>
                  <a:srgbClr val="E9AC43"/>
                </a:solidFill>
                <a:latin typeface="Menlo"/>
                <a:ea typeface="Hiragino Sans GB"/>
              </a:rPr>
              <a:t>CURTAIN CALL · 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7863840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3E9D6"/>
                </a:solidFill>
                <a:latin typeface="Songti SC"/>
                <a:ea typeface="Songti SC"/>
              </a:rPr>
              <a:t>一个人，一支麦，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3E9D6"/>
                </a:solidFill>
                <a:latin typeface="Songti SC"/>
                <a:ea typeface="Songti SC"/>
              </a:rPr>
              <a:t>至今仍是最锋利的表达。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3639312"/>
            <a:ext cx="1280160" cy="54864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4576572"/>
            <a:ext cx="9144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9C8F76"/>
                </a:solidFill>
                <a:latin typeface="Menlo"/>
                <a:ea typeface="Hiragino Sans GB"/>
              </a:rPr>
              <a:t>SLIDE-MAKER 画廊示例 · 脱口秀简史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8680"/>
                </a:srgbClr>
              </a:gs>
              <a:gs pos="50000">
                <a:srgbClr val="E9AC43">
                  <a:alpha val="3472"/>
                </a:srgbClr>
              </a:gs>
              <a:gs pos="100000">
                <a:srgbClr val="E9AC4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9AC43">
                  <a:alpha val="14000"/>
                </a:srgbClr>
              </a:gs>
              <a:gs pos="55000">
                <a:srgbClr val="E9AC43">
                  <a:alpha val="3080"/>
                </a:srgbClr>
              </a:gs>
              <a:gs pos="100000">
                <a:srgbClr val="E9AC43">
                  <a:alpha val="0"/>
                </a:srgbClr>
              </a:gs>
            </a:gsLst>
            <a:lin ang="18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E9AC43"/>
                </a:solidFill>
                <a:latin typeface="Menlo"/>
                <a:ea typeface="Hiragino Sans GB"/>
              </a:rPr>
              <a:t>SOURCES &amp; NOTES · 来源与说明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1005840" cy="45720"/>
          </a:xfrm>
          <a:prstGeom prst="rect">
            <a:avLst/>
          </a:prstGeom>
          <a:solidFill>
            <a:srgbClr val="E9A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60704"/>
            <a:ext cx="78638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6CBB2"/>
                </a:solidFill>
                <a:latin typeface="Helvetica Neue"/>
                <a:ea typeface="Hiragino Sans GB"/>
              </a:rPr>
              <a:t>事实与年代均经公开资料核对；存疑或快速变化处作定性表达，未作杜撰。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01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History of stand-up comedy — Wikipedia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02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Stand-up comedy — Britannica / EBSCO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03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Lenny Bruce / Carlin / Pryor — Wikipedia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9584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04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Jerry Seinfeld — Wikipedia（观察式喜剧）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828800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05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中国脱口秀发展史 · 笑果文化 — 澎湃 / CEIBS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395728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06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脱口秀回归“新人”势头猛 — 新华网（2024）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62656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07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《喜剧之王·单口季》收官 付航夺冠 — 爱奇艺（2024）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529584"/>
            <a:ext cx="37033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9AC43"/>
                </a:solidFill>
                <a:latin typeface="Menlo"/>
                <a:ea typeface="Hiragino Sans GB"/>
              </a:rPr>
              <a:t>08  </a:t>
            </a:r>
            <a:r>
              <a:rPr sz="1050" b="0" i="0">
                <a:solidFill>
                  <a:srgbClr val="D6CBB2"/>
                </a:solidFill>
                <a:latin typeface="Helvetica Neue"/>
                <a:ea typeface="Hiragino Sans GB"/>
              </a:rPr>
              <a:t>2020–2025 脱口秀“分裂”的生态 — 澎湃 · 21经济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8630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C8F76"/>
                </a:solidFill>
                <a:latin typeface="Menlo"/>
                <a:ea typeface="Hiragino Sans GB"/>
              </a:rPr>
              <a:t>slide-maker · 画廊示例 · 字体 Songti SC / Hiragino Sans GB / Menlo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