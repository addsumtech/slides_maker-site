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开场。脱口秀——stand-up comedy——最纯粹的舞台形式：一个人、一支麦克风，直接对观众说话。今天用十来分钟，把它从1866年到今天的历史走一遍：它怎么来的，怎么长成今天的样子。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先说清楚它是什么。脱口秀有三个要素：一个人（不是群口、不是相声的搭档）；一支麦（不靠道具服装）；以及最关键的——你是以你自己的身份，直接和观众对话。三者合起来，就是把真实讲成笑声。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往前追。很多人把马克·吐温当作单口的“祖师爷”——他1866年就在全国巡回做幽默演讲。当然那还不是今天的脱口秀，是七到十五分钟的幽默故事。但它长在一片土壤上：杂耍、歌舞厅、滑稽独白——一个人站着对观众讲话的传统，就是从这儿开始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十九世纪末到二十世纪初，最火的是杂耍综艺——一台节目里杂技、歌舞、短剧什么都有，是个大拼盘。转折点是：有人开始只用自己、不靠道具，直接对观众讲话，比如查理·凯斯。表演者卸下道具和角色的那一刻，脱口秀的雏形就出现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到了四五十年代，两件事让它真正成型。一是电子麦克风——一个人不用扯着嗓子也能撑满全场。二是夜总会，尤其是度假区的夜总会，给了喜剧人大量练习和演出的场子。节奏也变了：从讲长故事，变成一个接一个的快段子。“stand-up”这个现代形态，就此定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五六十年代出现了反叛者，代表就是莱尼·布鲁斯。他把脱口秀变成尖锐的社会评论，讲禁忌话题，结果不断被捕：1961年旧金山被抓，1964年被判猥亵罪。直到2003年他才被追赦，是美国史上第一例。他用自己的代价，为后来的卡林、普赖尔把‘什么能说’的边界往前推了一大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七十年代是黄金一代，分出两条路。一条是观察式，代表是乔治·卡林——他那段《七个不能说的脏词》太有名了，1972年还因为表演它被捕，本质是场语言和审查的战争。另一条是自白式，代表是理查德·普赖尔——他把种族、贫穷、自己的挣扎全搬上台，坦诚又粗粝。观察世界，还是剖白自己——这两条路走到今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七八十年代是产业大繁荣。喜剧俱乐部成了造星工厂，比如1972年开的The Comedy Store。喜剧人也开始争取权益——1979年约150人罢工六周，就为了‘表演也得付钱’。再加上深夜秀和HBO特辑，脱口秀从夜店副业，变成了有俱乐部、有电视、有明星的一整门产业。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九十年代到两千年代，脱口秀一边深化、一边扩散。所谓另类喜剧反套路、反主流，在小酒吧里长出新声音；同时靠俱乐部连锁、巡演和DVD把盘子做大。它成了英语世界的主流娱乐，也开始向全世界扩散。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然后是我们正在经历的流媒体时代。2013年Netflix推出第一部原创脱口秀特辑。之后十年，两百多位喜剧人、三百五十多部特辑上线。全球点播加上平台的算法推荐，一场特辑能一夜之间传遍世界——这被称为喜剧的‘第二次繁荣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看中国。脱口秀是舶来品。2012年，导演叶烽推出《今晚80后脱口秀》，让它第一次正式亮相大众；2014年笑果文化成立，李诞、王建国这些日后的核心都在;2017年《吐槽大会》和《脱口秀大会》一起引爆，这是中国脱口秀大众化、产业化的元年。它在中国找到了自己的语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收尾。你看，从马克·吐温到Netflix，从纽约的地下室到中国的脱口秀大会，一百多年里形式几乎没变：还是一个人、一支麦。它是最便宜的舞台，也是最自由的麦克风——把真话讲成笑声。谢谢，欢迎提问。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o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024128"/>
            <a:ext cx="411480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048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13232" y="1298448"/>
            <a:ext cx="1783080" cy="402336"/>
          </a:xfrm>
          <a:prstGeom prst="roundRect">
            <a:avLst>
              <a:gd name="adj" fmla="val 50000"/>
            </a:avLst>
          </a:prstGeom>
          <a:solidFill>
            <a:srgbClr val="FF2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298448"/>
            <a:ext cx="1600200" cy="40233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Hiragino Sans GB"/>
                <a:ea typeface="Hiragino Sans GB"/>
              </a:rPr>
              <a:t>1866 → 今天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10512"/>
            <a:ext cx="3657600" cy="8229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00" b="1" i="0">
                <a:solidFill>
                  <a:srgbClr val="1A1A1A"/>
                </a:solidFill>
                <a:latin typeface="Arial"/>
                <a:ea typeface="Hiragino Sans GB"/>
              </a:rPr>
              <a:t>脱口秀简史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24912"/>
            <a:ext cx="36576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4A4540"/>
                </a:solidFill>
                <a:latin typeface="Arial"/>
                <a:ea typeface="Hiragino Sans GB"/>
              </a:rPr>
              <a:t>A BRIEF HISTORY OF STAND-UP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27248"/>
            <a:ext cx="3657600" cy="4114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A1A1A"/>
                </a:solidFill>
                <a:latin typeface="Hiragino Sans GB"/>
                <a:ea typeface="Hiragino Sans GB"/>
              </a:rPr>
              <a:t>一个人 · 一支麦 · 把真话讲成笑声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g_plate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74320"/>
            <a:ext cx="804672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2E93"/>
                </a:solidFill>
                <a:latin typeface="Hiragino Sans GB"/>
                <a:ea typeface="Hiragino Sans GB"/>
              </a:rPr>
              <a:t>定义 · WHAT IS STAND-UP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8046720" cy="6583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Arial Black"/>
                <a:ea typeface="Hiragino Sans GB"/>
              </a:rPr>
              <a:t>什么是脱口秀？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70432"/>
            <a:ext cx="1234440" cy="73152"/>
          </a:xfrm>
          <a:prstGeom prst="rect">
            <a:avLst/>
          </a:prstGeom>
          <a:solidFill>
            <a:srgbClr val="FF2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74519" y="1170432"/>
            <a:ext cx="274320" cy="7315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4050791"/>
            <a:ext cx="8046720" cy="498347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4090659"/>
            <a:ext cx="64008" cy="418612"/>
          </a:xfrm>
          <a:prstGeom prst="rect">
            <a:avLst/>
          </a:prstGeom>
          <a:solidFill>
            <a:srgbClr val="FFC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4050791"/>
            <a:ext cx="7644384" cy="498347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C522"/>
                </a:solidFill>
                <a:latin typeface="Arial"/>
                <a:ea typeface="Hiragino Sans GB"/>
              </a:rPr>
              <a:t>一句话  </a:t>
            </a:r>
            <a:r>
              <a:rPr sz="1250" b="0" i="0">
                <a:solidFill>
                  <a:srgbClr val="FFFFFF"/>
                </a:solidFill>
                <a:latin typeface="Arial"/>
                <a:ea typeface="Hiragino Sans GB"/>
              </a:rPr>
              <a:t>脱口秀 = 一个人，用自己的话，把观察与真实讲成笑声——最简单、也最自由的舞台形式。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517904"/>
            <a:ext cx="2560319" cy="2221991"/>
          </a:xfrm>
          <a:prstGeom prst="roundRect">
            <a:avLst>
              <a:gd name="adj" fmla="val 6584"/>
            </a:avLst>
          </a:prstGeom>
          <a:solidFill>
            <a:srgbClr val="FFE4F1"/>
          </a:solidFill>
          <a:ln w="3048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>
            <a:off x="365760" y="1517904"/>
            <a:ext cx="2560319" cy="475488"/>
          </a:xfrm>
          <a:prstGeom prst="round2SameRect">
            <a:avLst>
              <a:gd name="adj1" fmla="val 30769"/>
              <a:gd name="adj2" fmla="val 0"/>
            </a:avLst>
          </a:prstGeom>
          <a:solidFill>
            <a:srgbClr val="FF2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517904"/>
            <a:ext cx="2194559" cy="47548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A1A1A"/>
                </a:solidFill>
                <a:latin typeface="Hiragino Sans GB"/>
                <a:ea typeface="Hiragino Sans GB"/>
              </a:rPr>
              <a:t>一个人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103120"/>
            <a:ext cx="2194559" cy="1453895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Hiragino Sans GB"/>
                <a:ea typeface="Hiragino Sans GB"/>
              </a:rPr>
              <a:t>没有搭档，没有乐队——聚光灯下只有你自己。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91839" y="1517904"/>
            <a:ext cx="2560319" cy="2221991"/>
          </a:xfrm>
          <a:prstGeom prst="roundRect">
            <a:avLst>
              <a:gd name="adj" fmla="val 6584"/>
            </a:avLst>
          </a:prstGeom>
          <a:solidFill>
            <a:srgbClr val="DFF7FA"/>
          </a:solidFill>
          <a:ln w="3048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>
            <a:off x="3291839" y="1517904"/>
            <a:ext cx="2560319" cy="475488"/>
          </a:xfrm>
          <a:prstGeom prst="round2SameRect">
            <a:avLst>
              <a:gd name="adj1" fmla="val 30769"/>
              <a:gd name="adj2" fmla="val 0"/>
            </a:avLst>
          </a:prstGeom>
          <a:solidFill>
            <a:srgbClr val="07B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19" y="1517904"/>
            <a:ext cx="2194559" cy="47548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A1A1A"/>
                </a:solidFill>
                <a:latin typeface="Hiragino Sans GB"/>
                <a:ea typeface="Hiragino Sans GB"/>
              </a:rPr>
              <a:t>一支麦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19" y="2103120"/>
            <a:ext cx="2194559" cy="1453895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Hiragino Sans GB"/>
                <a:ea typeface="Hiragino Sans GB"/>
              </a:rPr>
              <a:t>不靠道具、不扮角色，只有麦克风和段子。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19" y="1517904"/>
            <a:ext cx="2560319" cy="2221991"/>
          </a:xfrm>
          <a:prstGeom prst="roundRect">
            <a:avLst>
              <a:gd name="adj" fmla="val 6584"/>
            </a:avLst>
          </a:prstGeom>
          <a:solidFill>
            <a:srgbClr val="FFECE4"/>
          </a:solidFill>
          <a:ln w="3048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 Same Side Corner Rectangle 19"/>
          <p:cNvSpPr/>
          <p:nvPr/>
        </p:nvSpPr>
        <p:spPr>
          <a:xfrm>
            <a:off x="6217919" y="1517904"/>
            <a:ext cx="2560319" cy="475488"/>
          </a:xfrm>
          <a:prstGeom prst="round2SameRect">
            <a:avLst>
              <a:gd name="adj1" fmla="val 30769"/>
              <a:gd name="adj2" fmla="val 0"/>
            </a:avLst>
          </a:prstGeom>
          <a:solidFill>
            <a:srgbClr val="FF6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799" y="1517904"/>
            <a:ext cx="2194559" cy="47548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A1A1A"/>
                </a:solidFill>
                <a:latin typeface="Hiragino Sans GB"/>
                <a:ea typeface="Hiragino Sans GB"/>
              </a:rPr>
              <a:t>直面观众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799" y="2103120"/>
            <a:ext cx="2194559" cy="1453895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Hiragino Sans GB"/>
                <a:ea typeface="Hiragino Sans GB"/>
              </a:rPr>
              <a:t>以“自己”的身份说话，直接和台下对话。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814316"/>
            <a:ext cx="45720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A4540"/>
                </a:solidFill>
                <a:latin typeface="Hiragino Sans GB"/>
                <a:ea typeface="Hiragino Sans GB"/>
              </a:rPr>
              <a:t>脱口秀简史 · A Brief History of Stand-Up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4814316"/>
            <a:ext cx="5486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1A1A"/>
                </a:solidFill>
                <a:latin typeface="Arial"/>
                <a:ea typeface="Hiragino Sans GB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g_plate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74320"/>
            <a:ext cx="804672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7BEDB"/>
                </a:solidFill>
                <a:latin typeface="Hiragino Sans GB"/>
                <a:ea typeface="Hiragino Sans GB"/>
              </a:rPr>
              <a:t>19 世纪 · THE LECTURE CIRCUIT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8046720" cy="6583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Arial Black"/>
                <a:ea typeface="Hiragino Sans GB"/>
              </a:rPr>
              <a:t>起源 · 喜剧讲演的年代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70432"/>
            <a:ext cx="1234440" cy="73152"/>
          </a:xfrm>
          <a:prstGeom prst="rect">
            <a:avLst/>
          </a:prstGeom>
          <a:solidFill>
            <a:srgbClr val="07B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74519" y="1170432"/>
            <a:ext cx="274320" cy="7315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4050791"/>
            <a:ext cx="8046720" cy="498347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4090659"/>
            <a:ext cx="64008" cy="418612"/>
          </a:xfrm>
          <a:prstGeom prst="rect">
            <a:avLst/>
          </a:prstGeom>
          <a:solidFill>
            <a:srgbClr val="07B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4050791"/>
            <a:ext cx="7644384" cy="498347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7BEDB"/>
                </a:solidFill>
                <a:latin typeface="Arial"/>
                <a:ea typeface="Hiragino Sans GB"/>
              </a:rPr>
              <a:t>起点  </a:t>
            </a:r>
            <a:r>
              <a:rPr sz="1250" b="0" i="0">
                <a:solidFill>
                  <a:srgbClr val="FFFFFF"/>
                </a:solidFill>
                <a:latin typeface="Arial"/>
                <a:ea typeface="Hiragino Sans GB"/>
              </a:rPr>
              <a:t>还不是今天的脱口秀，但“一个人站着，把故事讲成笑声”的基因，已经出现。</a:t>
            </a:r>
          </a:p>
        </p:txBody>
      </p:sp>
      <p:pic>
        <p:nvPicPr>
          <p:cNvPr id="11" name="Picture 10" descr="第 3 页 Memphis 插画" title="第 3 页 Memphis 插画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2276856" cy="2276856"/>
          </a:xfrm>
          <a:prstGeom prst="roundRect">
            <a:avLst>
              <a:gd name="adj" fmla="val 6425"/>
            </a:avLst>
          </a:prstGeom>
        </p:spPr>
      </p:pic>
      <p:sp>
        <p:nvSpPr>
          <p:cNvPr id="12" name="Rounded Rectangle 11"/>
          <p:cNvSpPr/>
          <p:nvPr/>
        </p:nvSpPr>
        <p:spPr>
          <a:xfrm>
            <a:off x="548640" y="1463040"/>
            <a:ext cx="2276856" cy="2276856"/>
          </a:xfrm>
          <a:prstGeom prst="roundRect">
            <a:avLst>
              <a:gd name="adj" fmla="val 6425"/>
            </a:avLst>
          </a:prstGeom>
          <a:noFill/>
          <a:ln w="3302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191256" y="1463040"/>
            <a:ext cx="2542032" cy="2276856"/>
          </a:xfrm>
          <a:prstGeom prst="roundRect">
            <a:avLst>
              <a:gd name="adj" fmla="val 6425"/>
            </a:avLst>
          </a:prstGeom>
          <a:solidFill>
            <a:srgbClr val="FFE4F1"/>
          </a:solidFill>
          <a:ln w="3048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 Same Side Corner Rectangle 13"/>
          <p:cNvSpPr/>
          <p:nvPr/>
        </p:nvSpPr>
        <p:spPr>
          <a:xfrm>
            <a:off x="3191256" y="1463040"/>
            <a:ext cx="2542032" cy="475488"/>
          </a:xfrm>
          <a:prstGeom prst="round2SameRect">
            <a:avLst>
              <a:gd name="adj1" fmla="val 30769"/>
              <a:gd name="adj2" fmla="val 0"/>
            </a:avLst>
          </a:prstGeom>
          <a:solidFill>
            <a:srgbClr val="FF2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74136" y="1463040"/>
            <a:ext cx="2176272" cy="47548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A1A1A"/>
                </a:solidFill>
                <a:latin typeface="Hiragino Sans GB"/>
                <a:ea typeface="Hiragino Sans GB"/>
              </a:rPr>
              <a:t>马克·吐温 · 1866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74136" y="2048256"/>
            <a:ext cx="2176272" cy="1508759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Hiragino Sans GB"/>
                <a:ea typeface="Hiragino Sans GB"/>
              </a:rPr>
              <a:t>1866 年首次巡回喜剧演讲《夏威夷的“野蛮”同胞》。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Hiragino Sans GB"/>
                <a:ea typeface="Hiragino Sans GB"/>
              </a:rPr>
              <a:t>7–15 分钟幽默独白，被视为单口喜剧最早的先声。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53327" y="1463040"/>
            <a:ext cx="2542032" cy="2276856"/>
          </a:xfrm>
          <a:prstGeom prst="roundRect">
            <a:avLst>
              <a:gd name="adj" fmla="val 6425"/>
            </a:avLst>
          </a:prstGeom>
          <a:solidFill>
            <a:srgbClr val="F0E6FF"/>
          </a:solidFill>
          <a:ln w="3048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6053327" y="1463040"/>
            <a:ext cx="2542032" cy="475488"/>
          </a:xfrm>
          <a:prstGeom prst="round2SameRect">
            <a:avLst>
              <a:gd name="adj1" fmla="val 30769"/>
              <a:gd name="adj2" fmla="val 0"/>
            </a:avLst>
          </a:prstGeom>
          <a:solidFill>
            <a:srgbClr val="8B3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6207" y="1463040"/>
            <a:ext cx="2176272" cy="47548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Hiragino Sans GB"/>
                <a:ea typeface="Hiragino Sans GB"/>
              </a:rPr>
              <a:t>喜剧的土壤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6207" y="2048256"/>
            <a:ext cx="2176272" cy="1508759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Hiragino Sans GB"/>
                <a:ea typeface="Hiragino Sans GB"/>
              </a:rPr>
              <a:t>· 杂耍与歌舞厅的独白传统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Hiragino Sans GB"/>
                <a:ea typeface="Hiragino Sans GB"/>
              </a:rPr>
              <a:t>· 黑脸戏的滑稽“讲演”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Hiragino Sans GB"/>
                <a:ea typeface="Hiragino Sans GB"/>
              </a:rPr>
              <a:t>· 游医、马戏的插科打诨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Hiragino Sans GB"/>
                <a:ea typeface="Hiragino Sans GB"/>
              </a:rPr>
              <a:t>单人讲话的传统，在此萌芽。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814316"/>
            <a:ext cx="45720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A4540"/>
                </a:solidFill>
                <a:latin typeface="Hiragino Sans GB"/>
                <a:ea typeface="Hiragino Sans GB"/>
              </a:rPr>
              <a:t>脱口秀简史 · A Brief History of Stand-Up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814316"/>
            <a:ext cx="5486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1A1A"/>
                </a:solidFill>
                <a:latin typeface="Arial"/>
                <a:ea typeface="Hiragino Sans GB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g_plate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74320"/>
            <a:ext cx="804672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B3DFF"/>
                </a:solidFill>
                <a:latin typeface="Hiragino Sans GB"/>
                <a:ea typeface="Hiragino Sans GB"/>
              </a:rPr>
              <a:t>1880s–1930s · VAUDEVILLE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8046720" cy="6583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Arial Black"/>
                <a:ea typeface="Hiragino Sans GB"/>
              </a:rPr>
              <a:t>雏形 · 从综艺拼盘到一个人上台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70432"/>
            <a:ext cx="1234440" cy="73152"/>
          </a:xfrm>
          <a:prstGeom prst="rect">
            <a:avLst/>
          </a:prstGeom>
          <a:solidFill>
            <a:srgbClr val="8B3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74519" y="1170432"/>
            <a:ext cx="274320" cy="7315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4050791"/>
            <a:ext cx="8046720" cy="498347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4090659"/>
            <a:ext cx="64008" cy="418612"/>
          </a:xfrm>
          <a:prstGeom prst="rect">
            <a:avLst/>
          </a:prstGeom>
          <a:solidFill>
            <a:srgbClr val="8ED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4050791"/>
            <a:ext cx="7644384" cy="498347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ED81F"/>
                </a:solidFill>
                <a:latin typeface="Arial"/>
                <a:ea typeface="Hiragino Sans GB"/>
              </a:rPr>
              <a:t>关键一跃  </a:t>
            </a:r>
            <a:r>
              <a:rPr sz="1250" b="0" i="0">
                <a:solidFill>
                  <a:srgbClr val="FFFFFF"/>
                </a:solidFill>
                <a:latin typeface="Arial"/>
                <a:ea typeface="Hiragino Sans GB"/>
              </a:rPr>
              <a:t>当表演者卸下道具与角色，只用“自己”对观众说话——脱口秀的形态第一次清晰起来。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554480"/>
            <a:ext cx="3794759" cy="2185415"/>
          </a:xfrm>
          <a:prstGeom prst="roundRect">
            <a:avLst>
              <a:gd name="adj" fmla="val 6694"/>
            </a:avLst>
          </a:prstGeom>
          <a:solidFill>
            <a:srgbClr val="F0E6FF"/>
          </a:solidFill>
          <a:ln w="3048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>
            <a:off x="365760" y="1554480"/>
            <a:ext cx="3794759" cy="475488"/>
          </a:xfrm>
          <a:prstGeom prst="round2SameRect">
            <a:avLst>
              <a:gd name="adj1" fmla="val 30769"/>
              <a:gd name="adj2" fmla="val 0"/>
            </a:avLst>
          </a:prstGeom>
          <a:solidFill>
            <a:srgbClr val="8B3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554480"/>
            <a:ext cx="3428999" cy="47548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Hiragino Sans GB"/>
                <a:ea typeface="Hiragino Sans GB"/>
              </a:rPr>
              <a:t>综艺拼盘 · Vaudeville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139696"/>
            <a:ext cx="3428999" cy="1417319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Hiragino Sans GB"/>
                <a:ea typeface="Hiragino Sans GB"/>
              </a:rPr>
              <a:t>杂技、歌舞、短剧、独白轮番上阵的多人综艺，是当时最流行的娱乐。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83480" y="1554480"/>
            <a:ext cx="3794759" cy="2185415"/>
          </a:xfrm>
          <a:prstGeom prst="roundRect">
            <a:avLst>
              <a:gd name="adj" fmla="val 6694"/>
            </a:avLst>
          </a:prstGeom>
          <a:solidFill>
            <a:srgbClr val="DFF7FA"/>
          </a:solidFill>
          <a:ln w="3048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>
            <a:off x="4983480" y="1554480"/>
            <a:ext cx="3794759" cy="475488"/>
          </a:xfrm>
          <a:prstGeom prst="round2SameRect">
            <a:avLst>
              <a:gd name="adj1" fmla="val 30769"/>
              <a:gd name="adj2" fmla="val 0"/>
            </a:avLst>
          </a:prstGeom>
          <a:solidFill>
            <a:srgbClr val="07B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66360" y="1554480"/>
            <a:ext cx="3428999" cy="47548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A1A1A"/>
                </a:solidFill>
                <a:latin typeface="Hiragino Sans GB"/>
                <a:ea typeface="Hiragino Sans GB"/>
              </a:rPr>
              <a:t>一个人站着说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60" y="2139696"/>
            <a:ext cx="3428999" cy="1417319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Hiragino Sans GB"/>
                <a:ea typeface="Hiragino Sans GB"/>
              </a:rPr>
              <a:t>查理·凯斯被视为最早的“无道具单口”：不用道具、不扮角色，直接对观众讲。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215383" y="2500883"/>
            <a:ext cx="713232" cy="29260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814316"/>
            <a:ext cx="45720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A4540"/>
                </a:solidFill>
                <a:latin typeface="Hiragino Sans GB"/>
                <a:ea typeface="Hiragino Sans GB"/>
              </a:rPr>
              <a:t>脱口秀简史 · A Brief History of Stand-Up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814316"/>
            <a:ext cx="5486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1A1A"/>
                </a:solidFill>
                <a:latin typeface="Arial"/>
                <a:ea typeface="Hiragino Sans GB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g_plate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74320"/>
            <a:ext cx="804672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6B2C"/>
                </a:solidFill>
                <a:latin typeface="Hiragino Sans GB"/>
                <a:ea typeface="Hiragino Sans GB"/>
              </a:rPr>
              <a:t>1940s–50s · THE MIC 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8046720" cy="6583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Arial Black"/>
                <a:ea typeface="Hiragino Sans GB"/>
              </a:rPr>
              <a:t>成型 · 麦克风与夜总会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70432"/>
            <a:ext cx="1234440" cy="73152"/>
          </a:xfrm>
          <a:prstGeom prst="rect">
            <a:avLst/>
          </a:prstGeom>
          <a:solidFill>
            <a:srgbClr val="FF6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74519" y="1170432"/>
            <a:ext cx="274320" cy="7315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4050791"/>
            <a:ext cx="8046720" cy="498347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4090659"/>
            <a:ext cx="64008" cy="418612"/>
          </a:xfrm>
          <a:prstGeom prst="rect">
            <a:avLst/>
          </a:prstGeom>
          <a:solidFill>
            <a:srgbClr val="FFC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4050791"/>
            <a:ext cx="7644384" cy="498347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C522"/>
                </a:solidFill>
                <a:latin typeface="Arial"/>
                <a:ea typeface="Hiragino Sans GB"/>
              </a:rPr>
              <a:t>定形  </a:t>
            </a:r>
            <a:r>
              <a:rPr sz="1250" b="0" i="0">
                <a:solidFill>
                  <a:srgbClr val="FFFFFF"/>
                </a:solidFill>
                <a:latin typeface="Arial"/>
                <a:ea typeface="Hiragino Sans GB"/>
              </a:rPr>
              <a:t>“stand-up”——一个人、一支麦、站着说——的现代形态，在这个年代成型。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517904"/>
            <a:ext cx="2560319" cy="2221991"/>
          </a:xfrm>
          <a:prstGeom prst="roundRect">
            <a:avLst>
              <a:gd name="adj" fmla="val 6584"/>
            </a:avLst>
          </a:prstGeom>
          <a:solidFill>
            <a:srgbClr val="DFF7FA"/>
          </a:solidFill>
          <a:ln w="3048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>
            <a:off x="365760" y="1517904"/>
            <a:ext cx="2560319" cy="475488"/>
          </a:xfrm>
          <a:prstGeom prst="round2SameRect">
            <a:avLst>
              <a:gd name="adj1" fmla="val 30769"/>
              <a:gd name="adj2" fmla="val 0"/>
            </a:avLst>
          </a:prstGeom>
          <a:solidFill>
            <a:srgbClr val="07B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517904"/>
            <a:ext cx="2194559" cy="47548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A1A1A"/>
                </a:solidFill>
                <a:latin typeface="Hiragino Sans GB"/>
                <a:ea typeface="Hiragino Sans GB"/>
              </a:rPr>
              <a:t>电子麦克风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103120"/>
            <a:ext cx="2194559" cy="1453895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A1A"/>
                </a:solidFill>
                <a:latin typeface="Hiragino Sans GB"/>
                <a:ea typeface="Hiragino Sans GB"/>
              </a:rPr>
              <a:t>麦克风普及，一个人也能撑满全场——不必再靠喊。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91839" y="1517904"/>
            <a:ext cx="2560319" cy="2221991"/>
          </a:xfrm>
          <a:prstGeom prst="roundRect">
            <a:avLst>
              <a:gd name="adj" fmla="val 6584"/>
            </a:avLst>
          </a:prstGeom>
          <a:solidFill>
            <a:srgbClr val="FFECE4"/>
          </a:solidFill>
          <a:ln w="3048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>
            <a:off x="3291839" y="1517904"/>
            <a:ext cx="2560319" cy="475488"/>
          </a:xfrm>
          <a:prstGeom prst="round2SameRect">
            <a:avLst>
              <a:gd name="adj1" fmla="val 30769"/>
              <a:gd name="adj2" fmla="val 0"/>
            </a:avLst>
          </a:prstGeom>
          <a:solidFill>
            <a:srgbClr val="FF6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19" y="1517904"/>
            <a:ext cx="2194559" cy="47548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A1A1A"/>
                </a:solidFill>
                <a:latin typeface="Hiragino Sans GB"/>
                <a:ea typeface="Hiragino Sans GB"/>
              </a:rPr>
              <a:t>夜总会 &amp; 度假区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19" y="2103120"/>
            <a:ext cx="2194559" cy="1453895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A1A"/>
                </a:solidFill>
                <a:latin typeface="Hiragino Sans GB"/>
                <a:ea typeface="Hiragino Sans GB"/>
              </a:rPr>
              <a:t>Borscht Belt 等度假区夜总会，成了喜剧人的练兵场。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19" y="1517904"/>
            <a:ext cx="2560319" cy="2221991"/>
          </a:xfrm>
          <a:prstGeom prst="roundRect">
            <a:avLst>
              <a:gd name="adj" fmla="val 6584"/>
            </a:avLst>
          </a:prstGeom>
          <a:solidFill>
            <a:srgbClr val="FFE4F1"/>
          </a:solidFill>
          <a:ln w="3048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 Same Side Corner Rectangle 19"/>
          <p:cNvSpPr/>
          <p:nvPr/>
        </p:nvSpPr>
        <p:spPr>
          <a:xfrm>
            <a:off x="6217919" y="1517904"/>
            <a:ext cx="2560319" cy="475488"/>
          </a:xfrm>
          <a:prstGeom prst="round2SameRect">
            <a:avLst>
              <a:gd name="adj1" fmla="val 30769"/>
              <a:gd name="adj2" fmla="val 0"/>
            </a:avLst>
          </a:prstGeom>
          <a:solidFill>
            <a:srgbClr val="FF2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799" y="1517904"/>
            <a:ext cx="2194559" cy="47548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A1A1A"/>
                </a:solidFill>
                <a:latin typeface="Hiragino Sans GB"/>
                <a:ea typeface="Hiragino Sans GB"/>
              </a:rPr>
              <a:t>更快的节奏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799" y="2103120"/>
            <a:ext cx="2194559" cy="1453895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A1A"/>
                </a:solidFill>
                <a:latin typeface="Hiragino Sans GB"/>
                <a:ea typeface="Hiragino Sans GB"/>
              </a:rPr>
              <a:t>从讲长故事，转向一个接一个的快节奏段子。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814316"/>
            <a:ext cx="45720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A4540"/>
                </a:solidFill>
                <a:latin typeface="Hiragino Sans GB"/>
                <a:ea typeface="Hiragino Sans GB"/>
              </a:rPr>
              <a:t>脱口秀简史 · A Brief History of Stand-Up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4814316"/>
            <a:ext cx="5486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1A1A"/>
                </a:solidFill>
                <a:latin typeface="Arial"/>
                <a:ea typeface="Hiragino Sans GB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g_plate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74320"/>
            <a:ext cx="804672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B3DFF"/>
                </a:solidFill>
                <a:latin typeface="Hiragino Sans GB"/>
                <a:ea typeface="Hiragino Sans GB"/>
              </a:rPr>
              <a:t>1950s–60s · CENSORSHIP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8046720" cy="6583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Arial Black"/>
                <a:ea typeface="Hiragino Sans GB"/>
              </a:rPr>
              <a:t>反叛 · 因言获罪的年代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70432"/>
            <a:ext cx="1234440" cy="73152"/>
          </a:xfrm>
          <a:prstGeom prst="rect">
            <a:avLst/>
          </a:prstGeom>
          <a:solidFill>
            <a:srgbClr val="8B3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74519" y="1170432"/>
            <a:ext cx="274320" cy="7315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4050791"/>
            <a:ext cx="8046720" cy="498347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4090659"/>
            <a:ext cx="64008" cy="418612"/>
          </a:xfrm>
          <a:prstGeom prst="rect">
            <a:avLst/>
          </a:prstGeom>
          <a:solidFill>
            <a:srgbClr val="07B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4050791"/>
            <a:ext cx="7644384" cy="498347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7BEDB"/>
                </a:solidFill>
                <a:latin typeface="Arial"/>
                <a:ea typeface="Hiragino Sans GB"/>
              </a:rPr>
              <a:t>为什么重要  </a:t>
            </a:r>
            <a:r>
              <a:rPr sz="1250" b="0" i="0">
                <a:solidFill>
                  <a:srgbClr val="FFFFFF"/>
                </a:solidFill>
                <a:latin typeface="Arial"/>
                <a:ea typeface="Hiragino Sans GB"/>
              </a:rPr>
              <a:t>他为言论自由付出代价，为卡林、普赖尔们把“什么能说”的边界，往前推了一大步。</a:t>
            </a:r>
          </a:p>
        </p:txBody>
      </p:sp>
      <p:pic>
        <p:nvPicPr>
          <p:cNvPr id="11" name="Picture 10" descr="第 6 页 Memphis 插画" title="第 6 页 Memphis 插画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2276856" cy="2276856"/>
          </a:xfrm>
          <a:prstGeom prst="roundRect">
            <a:avLst>
              <a:gd name="adj" fmla="val 6425"/>
            </a:avLst>
          </a:prstGeom>
        </p:spPr>
      </p:pic>
      <p:sp>
        <p:nvSpPr>
          <p:cNvPr id="12" name="Rounded Rectangle 11"/>
          <p:cNvSpPr/>
          <p:nvPr/>
        </p:nvSpPr>
        <p:spPr>
          <a:xfrm>
            <a:off x="548640" y="1463040"/>
            <a:ext cx="2276856" cy="2276856"/>
          </a:xfrm>
          <a:prstGeom prst="roundRect">
            <a:avLst>
              <a:gd name="adj" fmla="val 6425"/>
            </a:avLst>
          </a:prstGeom>
          <a:noFill/>
          <a:ln w="3302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91256" y="1463040"/>
            <a:ext cx="5404104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Hiragino Sans GB"/>
                <a:ea typeface="Hiragino Sans GB"/>
              </a:rPr>
              <a:t>莱尼·布鲁斯把脱口秀变成尖锐的社会评论，也因此不断被捕：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86353" y="2234062"/>
            <a:ext cx="29260" cy="1374891"/>
          </a:xfrm>
          <a:prstGeom prst="rect">
            <a:avLst/>
          </a:prstGeom>
          <a:solidFill>
            <a:srgbClr val="BF9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209544" y="2284475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8B3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48456" y="2139696"/>
            <a:ext cx="4855464" cy="472439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 i="0">
                <a:solidFill>
                  <a:srgbClr val="8B3DFF"/>
                </a:solidFill>
                <a:latin typeface="Arial Black"/>
                <a:ea typeface="Hiragino Sans GB"/>
              </a:rPr>
              <a:t>1961   </a:t>
            </a:r>
            <a:r>
              <a:rPr sz="1450" b="1" i="0">
                <a:solidFill>
                  <a:srgbClr val="1A1A1A"/>
                </a:solidFill>
                <a:latin typeface="Hiragino Sans GB"/>
                <a:ea typeface="Hiragino Sans GB"/>
              </a:rPr>
              <a:t>旧金山被捕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4A4540"/>
                </a:solidFill>
                <a:latin typeface="Hiragino Sans GB"/>
                <a:ea typeface="Hiragino Sans GB"/>
              </a:rPr>
              <a:t>因猥亵罪名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9544" y="2830068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8B3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48456" y="2685288"/>
            <a:ext cx="4855464" cy="472439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 i="0">
                <a:solidFill>
                  <a:srgbClr val="8B3DFF"/>
                </a:solidFill>
                <a:latin typeface="Arial Black"/>
                <a:ea typeface="Hiragino Sans GB"/>
              </a:rPr>
              <a:t>1964   </a:t>
            </a:r>
            <a:r>
              <a:rPr sz="1450" b="1" i="0">
                <a:solidFill>
                  <a:srgbClr val="1A1A1A"/>
                </a:solidFill>
                <a:latin typeface="Hiragino Sans GB"/>
                <a:ea typeface="Hiragino Sans GB"/>
              </a:rPr>
              <a:t>猥亵罪定罪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4A4540"/>
                </a:solidFill>
                <a:latin typeface="Hiragino Sans GB"/>
                <a:ea typeface="Hiragino Sans GB"/>
              </a:rPr>
              <a:t>纽约咖啡馆演出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9544" y="3375660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8B3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48456" y="3230880"/>
            <a:ext cx="4855464" cy="472439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 i="0">
                <a:solidFill>
                  <a:srgbClr val="8B3DFF"/>
                </a:solidFill>
                <a:latin typeface="Arial Black"/>
                <a:ea typeface="Hiragino Sans GB"/>
              </a:rPr>
              <a:t>2003   </a:t>
            </a:r>
            <a:r>
              <a:rPr sz="1450" b="1" i="0">
                <a:solidFill>
                  <a:srgbClr val="1A1A1A"/>
                </a:solidFill>
                <a:latin typeface="Hiragino Sans GB"/>
                <a:ea typeface="Hiragino Sans GB"/>
              </a:rPr>
              <a:t>获赦免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4A4540"/>
                </a:solidFill>
                <a:latin typeface="Hiragino Sans GB"/>
                <a:ea typeface="Hiragino Sans GB"/>
              </a:rPr>
              <a:t>美国史上首例（死后特赦）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814316"/>
            <a:ext cx="45720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A4540"/>
                </a:solidFill>
                <a:latin typeface="Hiragino Sans GB"/>
                <a:ea typeface="Hiragino Sans GB"/>
              </a:rPr>
              <a:t>脱口秀简史 · A Brief History of Stand-Up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814316"/>
            <a:ext cx="5486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1A1A"/>
                </a:solidFill>
                <a:latin typeface="Arial"/>
                <a:ea typeface="Hiragino Sans GB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g_plate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74320"/>
            <a:ext cx="804672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2E93"/>
                </a:solidFill>
                <a:latin typeface="Hiragino Sans GB"/>
                <a:ea typeface="Hiragino Sans GB"/>
              </a:rPr>
              <a:t>1970s · THE GOLDEN 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8046720" cy="6583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Arial Black"/>
                <a:ea typeface="Hiragino Sans GB"/>
              </a:rPr>
              <a:t>黄金一代 · 两条路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70432"/>
            <a:ext cx="1234440" cy="73152"/>
          </a:xfrm>
          <a:prstGeom prst="rect">
            <a:avLst/>
          </a:prstGeom>
          <a:solidFill>
            <a:srgbClr val="FF2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74519" y="1170432"/>
            <a:ext cx="274320" cy="7315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4050791"/>
            <a:ext cx="8046720" cy="498347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4090659"/>
            <a:ext cx="64008" cy="418612"/>
          </a:xfrm>
          <a:prstGeom prst="rect">
            <a:avLst/>
          </a:prstGeom>
          <a:solidFill>
            <a:srgbClr val="FFC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4050791"/>
            <a:ext cx="7644384" cy="498347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C522"/>
                </a:solidFill>
                <a:latin typeface="Arial"/>
                <a:ea typeface="Hiragino Sans GB"/>
              </a:rPr>
              <a:t>分野  </a:t>
            </a:r>
            <a:r>
              <a:rPr sz="1250" b="0" i="0">
                <a:solidFill>
                  <a:srgbClr val="FFFFFF"/>
                </a:solidFill>
                <a:latin typeface="Arial"/>
                <a:ea typeface="Hiragino Sans GB"/>
              </a:rPr>
              <a:t>观察世界 vs 剖白自己——这两种母题，至今仍是脱口秀的两大主干。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554480"/>
            <a:ext cx="3749039" cy="2185415"/>
          </a:xfrm>
          <a:prstGeom prst="roundRect">
            <a:avLst>
              <a:gd name="adj" fmla="val 6694"/>
            </a:avLst>
          </a:prstGeom>
          <a:solidFill>
            <a:srgbClr val="DFF7FA"/>
          </a:solidFill>
          <a:ln w="3048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>
            <a:off x="365760" y="1554480"/>
            <a:ext cx="3749039" cy="475488"/>
          </a:xfrm>
          <a:prstGeom prst="round2SameRect">
            <a:avLst>
              <a:gd name="adj1" fmla="val 30769"/>
              <a:gd name="adj2" fmla="val 0"/>
            </a:avLst>
          </a:prstGeom>
          <a:solidFill>
            <a:srgbClr val="07B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554480"/>
            <a:ext cx="3383279" cy="47548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A1A1A"/>
                </a:solidFill>
                <a:latin typeface="Hiragino Sans GB"/>
                <a:ea typeface="Hiragino Sans GB"/>
              </a:rPr>
              <a:t>观察式 · 乔治·卡林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139696"/>
            <a:ext cx="3383279" cy="1417319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Hiragino Sans GB"/>
                <a:ea typeface="Hiragino Sans GB"/>
              </a:rPr>
              <a:t>「七个不能说的脏词」1972 年问世；同年因表演此段被捕——一场关于语言与审查的战争。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1554480"/>
            <a:ext cx="3749039" cy="2185415"/>
          </a:xfrm>
          <a:prstGeom prst="roundRect">
            <a:avLst>
              <a:gd name="adj" fmla="val 6694"/>
            </a:avLst>
          </a:prstGeom>
          <a:solidFill>
            <a:srgbClr val="FFECE4"/>
          </a:solidFill>
          <a:ln w="3048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>
            <a:off x="5029200" y="1554480"/>
            <a:ext cx="3749039" cy="475488"/>
          </a:xfrm>
          <a:prstGeom prst="round2SameRect">
            <a:avLst>
              <a:gd name="adj1" fmla="val 30769"/>
              <a:gd name="adj2" fmla="val 0"/>
            </a:avLst>
          </a:prstGeom>
          <a:solidFill>
            <a:srgbClr val="FF6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1554480"/>
            <a:ext cx="3383279" cy="47548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A1A1A"/>
                </a:solidFill>
                <a:latin typeface="Hiragino Sans GB"/>
                <a:ea typeface="Hiragino Sans GB"/>
              </a:rPr>
              <a:t>自白式 · 理查德·普赖尔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2139696"/>
            <a:ext cx="3383279" cy="1417319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Hiragino Sans GB"/>
                <a:ea typeface="Hiragino Sans GB"/>
              </a:rPr>
              <a:t>把种族、贫穷和自身的挣扎搬上舞台，坦诚、粗粝、毫不设防——为自白式喜剧立了标杆。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42816" y="2318003"/>
            <a:ext cx="658368" cy="658368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242816" y="2318003"/>
            <a:ext cx="658368" cy="658368"/>
          </a:xfrm>
          <a:prstGeom prst="roundRect">
            <a:avLst>
              <a:gd name="adj" fmla="val 50000"/>
            </a:avLst>
          </a:prstGeom>
          <a:noFill/>
          <a:ln w="304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42816" y="2318003"/>
            <a:ext cx="658368" cy="65836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C522"/>
                </a:solidFill>
                <a:latin typeface="Arial Black"/>
                <a:ea typeface="Hiragino Sans GB"/>
              </a:rPr>
              <a:t>VS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814316"/>
            <a:ext cx="45720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A4540"/>
                </a:solidFill>
                <a:latin typeface="Hiragino Sans GB"/>
                <a:ea typeface="Hiragino Sans GB"/>
              </a:rPr>
              <a:t>脱口秀简史 · A Brief History of Stand-Up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4814316"/>
            <a:ext cx="5486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1A1A"/>
                </a:solidFill>
                <a:latin typeface="Arial"/>
                <a:ea typeface="Hiragino Sans GB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g_plate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74320"/>
            <a:ext cx="804672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6B2C"/>
                </a:solidFill>
                <a:latin typeface="Hiragino Sans GB"/>
                <a:ea typeface="Hiragino Sans GB"/>
              </a:rPr>
              <a:t>1970s–80s · THE CLUB BOOM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8046720" cy="6583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Arial Black"/>
                <a:ea typeface="Hiragino Sans GB"/>
              </a:rPr>
              <a:t>繁荣 · 俱乐部与电视造星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70432"/>
            <a:ext cx="1234440" cy="73152"/>
          </a:xfrm>
          <a:prstGeom prst="rect">
            <a:avLst/>
          </a:prstGeom>
          <a:solidFill>
            <a:srgbClr val="FF6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74519" y="1170432"/>
            <a:ext cx="274320" cy="7315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4050791"/>
            <a:ext cx="8046720" cy="498347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4090659"/>
            <a:ext cx="64008" cy="418612"/>
          </a:xfrm>
          <a:prstGeom prst="rect">
            <a:avLst/>
          </a:prstGeom>
          <a:solidFill>
            <a:srgbClr val="07B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4050791"/>
            <a:ext cx="7644384" cy="498347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7BEDB"/>
                </a:solidFill>
                <a:latin typeface="Arial"/>
                <a:ea typeface="Hiragino Sans GB"/>
              </a:rPr>
              <a:t>拐点  </a:t>
            </a:r>
            <a:r>
              <a:rPr sz="1250" b="0" i="0">
                <a:solidFill>
                  <a:srgbClr val="FFFFFF"/>
                </a:solidFill>
                <a:latin typeface="Arial"/>
                <a:ea typeface="Hiragino Sans GB"/>
              </a:rPr>
              <a:t>脱口秀从夜店副业，变成一门有俱乐部、有电视、有明星的产业。</a:t>
            </a:r>
          </a:p>
        </p:txBody>
      </p:sp>
      <p:pic>
        <p:nvPicPr>
          <p:cNvPr id="11" name="Picture 10" descr="第 8 页 Memphis 插画" title="第 8 页 Memphis 插画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2276856" cy="2276856"/>
          </a:xfrm>
          <a:prstGeom prst="roundRect">
            <a:avLst>
              <a:gd name="adj" fmla="val 6425"/>
            </a:avLst>
          </a:prstGeom>
        </p:spPr>
      </p:pic>
      <p:sp>
        <p:nvSpPr>
          <p:cNvPr id="12" name="Rounded Rectangle 11"/>
          <p:cNvSpPr/>
          <p:nvPr/>
        </p:nvSpPr>
        <p:spPr>
          <a:xfrm>
            <a:off x="548640" y="1463040"/>
            <a:ext cx="2276856" cy="2276856"/>
          </a:xfrm>
          <a:prstGeom prst="roundRect">
            <a:avLst>
              <a:gd name="adj" fmla="val 6425"/>
            </a:avLst>
          </a:prstGeom>
          <a:noFill/>
          <a:ln w="3302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191256" y="1463040"/>
            <a:ext cx="5404104" cy="661416"/>
          </a:xfrm>
          <a:prstGeom prst="roundRect">
            <a:avLst>
              <a:gd name="adj" fmla="val 16589"/>
            </a:avLst>
          </a:prstGeom>
          <a:solidFill>
            <a:srgbClr val="FFEAF4"/>
          </a:solidFill>
          <a:ln w="254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19272" y="1581912"/>
            <a:ext cx="118872" cy="423672"/>
          </a:xfrm>
          <a:prstGeom prst="roundRect">
            <a:avLst>
              <a:gd name="adj" fmla="val 46153"/>
            </a:avLst>
          </a:prstGeom>
          <a:solidFill>
            <a:srgbClr val="FF2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75303" y="1463040"/>
            <a:ext cx="4873752" cy="66141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1A1A1A"/>
                </a:solidFill>
                <a:latin typeface="Hiragino Sans GB"/>
                <a:ea typeface="Hiragino Sans GB"/>
              </a:rPr>
              <a:t>喜剧俱乐部 · 1972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4A4540"/>
                </a:solidFill>
                <a:latin typeface="Hiragino Sans GB"/>
                <a:ea typeface="Hiragino Sans GB"/>
              </a:rPr>
              <a:t>The Comedy Store 开业，成造星工厂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91256" y="2270760"/>
            <a:ext cx="5404104" cy="661416"/>
          </a:xfrm>
          <a:prstGeom prst="roundRect">
            <a:avLst>
              <a:gd name="adj" fmla="val 16589"/>
            </a:avLst>
          </a:prstGeom>
          <a:solidFill>
            <a:srgbClr val="F3ECFF"/>
          </a:solidFill>
          <a:ln w="254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319272" y="2389632"/>
            <a:ext cx="118872" cy="423672"/>
          </a:xfrm>
          <a:prstGeom prst="roundRect">
            <a:avLst>
              <a:gd name="adj" fmla="val 46153"/>
            </a:avLst>
          </a:prstGeom>
          <a:solidFill>
            <a:srgbClr val="8B3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75303" y="2270760"/>
            <a:ext cx="4873752" cy="66141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1A1A1A"/>
                </a:solidFill>
                <a:latin typeface="Hiragino Sans GB"/>
                <a:ea typeface="Hiragino Sans GB"/>
              </a:rPr>
              <a:t>喜剧人罢工 · 1979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4A4540"/>
                </a:solidFill>
                <a:latin typeface="Hiragino Sans GB"/>
                <a:ea typeface="Hiragino Sans GB"/>
              </a:rPr>
              <a:t>约 150 人罢工 6 周，争取付酬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91256" y="3078480"/>
            <a:ext cx="5404104" cy="661416"/>
          </a:xfrm>
          <a:prstGeom prst="roundRect">
            <a:avLst>
              <a:gd name="adj" fmla="val 16589"/>
            </a:avLst>
          </a:prstGeom>
          <a:solidFill>
            <a:srgbClr val="FFF0EA"/>
          </a:solidFill>
          <a:ln w="254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319272" y="3197352"/>
            <a:ext cx="118872" cy="423672"/>
          </a:xfrm>
          <a:prstGeom prst="roundRect">
            <a:avLst>
              <a:gd name="adj" fmla="val 46153"/>
            </a:avLst>
          </a:prstGeom>
          <a:solidFill>
            <a:srgbClr val="FF6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75303" y="3078480"/>
            <a:ext cx="4873752" cy="66141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1A1A1A"/>
                </a:solidFill>
                <a:latin typeface="Hiragino Sans GB"/>
                <a:ea typeface="Hiragino Sans GB"/>
              </a:rPr>
              <a:t>电视 + 特辑 · 80s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4A4540"/>
                </a:solidFill>
                <a:latin typeface="Hiragino Sans GB"/>
                <a:ea typeface="Hiragino Sans GB"/>
              </a:rPr>
              <a:t>深夜秀与 HBO 特辑，送进千家万户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814316"/>
            <a:ext cx="45720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A4540"/>
                </a:solidFill>
                <a:latin typeface="Hiragino Sans GB"/>
                <a:ea typeface="Hiragino Sans GB"/>
              </a:rPr>
              <a:t>脱口秀简史 · A Brief History of Stand-Up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4814316"/>
            <a:ext cx="5486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1A1A"/>
                </a:solidFill>
                <a:latin typeface="Arial"/>
                <a:ea typeface="Hiragino Sans GB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g_plate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74320"/>
            <a:ext cx="804672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ED81F"/>
                </a:solidFill>
                <a:latin typeface="Hiragino Sans GB"/>
                <a:ea typeface="Hiragino Sans GB"/>
              </a:rPr>
              <a:t>1990s–2000s · GLOBAL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8046720" cy="6583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Arial Black"/>
                <a:ea typeface="Hiragino Sans GB"/>
              </a:rPr>
              <a:t>扩散 · 另类喜剧与走向世界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70432"/>
            <a:ext cx="1234440" cy="73152"/>
          </a:xfrm>
          <a:prstGeom prst="rect">
            <a:avLst/>
          </a:prstGeom>
          <a:solidFill>
            <a:srgbClr val="8ED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74519" y="1170432"/>
            <a:ext cx="274320" cy="7315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4050791"/>
            <a:ext cx="8046720" cy="498347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4090659"/>
            <a:ext cx="64008" cy="418612"/>
          </a:xfrm>
          <a:prstGeom prst="rect">
            <a:avLst/>
          </a:prstGeom>
          <a:solidFill>
            <a:srgbClr val="FFC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4050791"/>
            <a:ext cx="7644384" cy="498347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C522"/>
                </a:solidFill>
                <a:latin typeface="Arial"/>
                <a:ea typeface="Hiragino Sans GB"/>
              </a:rPr>
              <a:t>外溢  </a:t>
            </a:r>
            <a:r>
              <a:rPr sz="1250" b="0" i="0">
                <a:solidFill>
                  <a:srgbClr val="FFFFFF"/>
                </a:solidFill>
                <a:latin typeface="Arial"/>
                <a:ea typeface="Hiragino Sans GB"/>
              </a:rPr>
              <a:t>脱口秀不再只属于纽约与洛杉矶——它开始成为一种全球语言。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7180" y="2057400"/>
            <a:ext cx="2514600" cy="1463040"/>
          </a:xfrm>
          <a:prstGeom prst="roundRect">
            <a:avLst>
              <a:gd name="adj" fmla="val 8000"/>
            </a:avLst>
          </a:prstGeom>
          <a:solidFill>
            <a:srgbClr val="7D3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6052" y="2057400"/>
            <a:ext cx="2276856" cy="146304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Hiragino Sans GB"/>
              </a:rPr>
              <a:t>另类喜剧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FFFFFF"/>
                </a:solidFill>
                <a:latin typeface="Arial"/>
                <a:ea typeface="Hiragino Sans GB"/>
              </a:rPr>
              <a:t>反套路、反主流，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FFFFFF"/>
                </a:solidFill>
                <a:latin typeface="Arial"/>
                <a:ea typeface="Hiragino Sans GB"/>
              </a:rPr>
              <a:t>在小酒吧长出新声音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866644" y="2642615"/>
            <a:ext cx="393192" cy="29260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14700" y="2057400"/>
            <a:ext cx="2514600" cy="1463040"/>
          </a:xfrm>
          <a:prstGeom prst="roundRect">
            <a:avLst>
              <a:gd name="adj" fmla="val 8000"/>
            </a:avLst>
          </a:prstGeom>
          <a:solidFill>
            <a:srgbClr val="0F7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33572" y="2057400"/>
            <a:ext cx="2276856" cy="146304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Hiragino Sans GB"/>
              </a:rPr>
              <a:t>巡演 + DVD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FFFFFF"/>
                </a:solidFill>
                <a:latin typeface="Arial"/>
                <a:ea typeface="Hiragino Sans GB"/>
              </a:rPr>
              <a:t>俱乐部连锁、巡演、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FFFFFF"/>
                </a:solidFill>
                <a:latin typeface="Arial"/>
                <a:ea typeface="Hiragino Sans GB"/>
              </a:rPr>
              <a:t>DVD 做大观众规模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884164" y="2642615"/>
            <a:ext cx="393192" cy="29260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32220" y="2057400"/>
            <a:ext cx="2514600" cy="1463040"/>
          </a:xfrm>
          <a:prstGeom prst="roundRect">
            <a:avLst>
              <a:gd name="adj" fmla="val 8000"/>
            </a:avLst>
          </a:prstGeom>
          <a:solidFill>
            <a:srgbClr val="B14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1092" y="2057400"/>
            <a:ext cx="2276856" cy="146304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Hiragino Sans GB"/>
              </a:rPr>
              <a:t>走向全球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FFFFFF"/>
                </a:solidFill>
                <a:latin typeface="Arial"/>
                <a:ea typeface="Hiragino Sans GB"/>
              </a:rPr>
              <a:t>成为英语世界主流，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FFFFFF"/>
                </a:solidFill>
                <a:latin typeface="Arial"/>
                <a:ea typeface="Hiragino Sans GB"/>
              </a:rPr>
              <a:t>并向各国扩散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814316"/>
            <a:ext cx="45720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A4540"/>
                </a:solidFill>
                <a:latin typeface="Hiragino Sans GB"/>
                <a:ea typeface="Hiragino Sans GB"/>
              </a:rPr>
              <a:t>脱口秀简史 · A Brief History of Stand-Up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814316"/>
            <a:ext cx="5486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1A1A"/>
                </a:solidFill>
                <a:latin typeface="Arial"/>
                <a:ea typeface="Hiragino Sans GB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g_plate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74320"/>
            <a:ext cx="804672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7BEDB"/>
                </a:solidFill>
                <a:latin typeface="Hiragino Sans GB"/>
                <a:ea typeface="Hiragino Sans GB"/>
              </a:rPr>
              <a:t>2010s–今 · STREAMING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8046720" cy="6583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Arial Black"/>
                <a:ea typeface="Hiragino Sans GB"/>
              </a:rPr>
              <a:t>流媒体 · 第二次喜剧繁荣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70432"/>
            <a:ext cx="1234440" cy="73152"/>
          </a:xfrm>
          <a:prstGeom prst="rect">
            <a:avLst/>
          </a:prstGeom>
          <a:solidFill>
            <a:srgbClr val="07B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74519" y="1170432"/>
            <a:ext cx="274320" cy="7315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804672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Hiragino Sans GB"/>
                <a:ea typeface="Hiragino Sans GB"/>
              </a:rPr>
              <a:t>2013 年，Netflix 推出首部原创脱口秀特辑（Aziz Ansari《Buried Alive》）。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050791"/>
            <a:ext cx="8046720" cy="498347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4090659"/>
            <a:ext cx="64008" cy="418612"/>
          </a:xfrm>
          <a:prstGeom prst="rect">
            <a:avLst/>
          </a:prstGeom>
          <a:solidFill>
            <a:srgbClr val="FFC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4050791"/>
            <a:ext cx="7644384" cy="498347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C522"/>
                </a:solidFill>
                <a:latin typeface="Arial"/>
                <a:ea typeface="Hiragino Sans GB"/>
              </a:rPr>
              <a:t>算法造星  </a:t>
            </a:r>
            <a:r>
              <a:rPr sz="1250" b="0" i="0">
                <a:solidFill>
                  <a:srgbClr val="FFFFFF"/>
                </a:solidFill>
                <a:latin typeface="Arial"/>
                <a:ea typeface="Hiragino Sans GB"/>
              </a:rPr>
              <a:t>全球点播 + 平台推荐，让一场特辑一夜传遍世界——喜剧的第二次大爆发。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737360"/>
            <a:ext cx="4023359" cy="2002536"/>
          </a:xfrm>
          <a:prstGeom prst="roundRect">
            <a:avLst>
              <a:gd name="adj" fmla="val 7305"/>
            </a:avLst>
          </a:prstGeom>
          <a:solidFill>
            <a:srgbClr val="FFE4F1"/>
          </a:solidFill>
          <a:ln w="3048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>
            <a:off x="365760" y="1737360"/>
            <a:ext cx="4023359" cy="475488"/>
          </a:xfrm>
          <a:prstGeom prst="round2SameRect">
            <a:avLst>
              <a:gd name="adj1" fmla="val 30769"/>
              <a:gd name="adj2" fmla="val 0"/>
            </a:avLst>
          </a:prstGeom>
          <a:solidFill>
            <a:srgbClr val="FF2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737360"/>
            <a:ext cx="3657599" cy="47548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A1A1A"/>
                </a:solidFill>
                <a:latin typeface="Hiragino Sans GB"/>
                <a:ea typeface="Hiragino Sans GB"/>
              </a:rPr>
              <a:t>2013–2023 · 喜剧人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468880"/>
            <a:ext cx="3657599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BF2871"/>
                </a:solidFill>
                <a:latin typeface="Arial Black"/>
                <a:ea typeface="Hiragino Sans GB"/>
              </a:rPr>
              <a:t>200+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127248"/>
            <a:ext cx="3657599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Hiragino Sans GB"/>
                <a:ea typeface="Hiragino Sans GB"/>
              </a:rPr>
              <a:t>位登上原创特辑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0" y="1737360"/>
            <a:ext cx="4023359" cy="2002536"/>
          </a:xfrm>
          <a:prstGeom prst="roundRect">
            <a:avLst>
              <a:gd name="adj" fmla="val 7305"/>
            </a:avLst>
          </a:prstGeom>
          <a:solidFill>
            <a:srgbClr val="DFF7FA"/>
          </a:solidFill>
          <a:ln w="3048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4754880" y="1737360"/>
            <a:ext cx="4023359" cy="475488"/>
          </a:xfrm>
          <a:prstGeom prst="round2SameRect">
            <a:avLst>
              <a:gd name="adj1" fmla="val 30769"/>
              <a:gd name="adj2" fmla="val 0"/>
            </a:avLst>
          </a:prstGeom>
          <a:solidFill>
            <a:srgbClr val="07B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60" y="1737360"/>
            <a:ext cx="3657599" cy="47548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A1A1A"/>
                </a:solidFill>
                <a:latin typeface="Hiragino Sans GB"/>
                <a:ea typeface="Hiragino Sans GB"/>
              </a:rPr>
              <a:t>2013–2023 · 特辑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2468880"/>
            <a:ext cx="3657599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107484"/>
                </a:solidFill>
                <a:latin typeface="Arial Black"/>
                <a:ea typeface="Hiragino Sans GB"/>
              </a:rPr>
              <a:t>350+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3127248"/>
            <a:ext cx="3657599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Hiragino Sans GB"/>
                <a:ea typeface="Hiragino Sans GB"/>
              </a:rPr>
              <a:t>部原创脱口秀特辑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814316"/>
            <a:ext cx="45720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A4540"/>
                </a:solidFill>
                <a:latin typeface="Hiragino Sans GB"/>
                <a:ea typeface="Hiragino Sans GB"/>
              </a:rPr>
              <a:t>脱口秀简史 · A Brief History of Stand-Up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4814316"/>
            <a:ext cx="5486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1A1A"/>
                </a:solidFill>
                <a:latin typeface="Arial"/>
                <a:ea typeface="Hiragino Sans GB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g_plate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74320"/>
            <a:ext cx="804672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2E93"/>
                </a:solidFill>
                <a:latin typeface="Hiragino Sans GB"/>
                <a:ea typeface="Hiragino Sans GB"/>
              </a:rPr>
              <a:t>2012–2017 · CHINA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8046720" cy="6583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Arial Black"/>
                <a:ea typeface="Hiragino Sans GB"/>
              </a:rPr>
              <a:t>中国 · 舶来品的本土化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70432"/>
            <a:ext cx="1234440" cy="73152"/>
          </a:xfrm>
          <a:prstGeom prst="rect">
            <a:avLst/>
          </a:prstGeom>
          <a:solidFill>
            <a:srgbClr val="FF2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74519" y="1170432"/>
            <a:ext cx="274320" cy="7315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4050791"/>
            <a:ext cx="8046720" cy="498347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4090659"/>
            <a:ext cx="64008" cy="418612"/>
          </a:xfrm>
          <a:prstGeom prst="rect">
            <a:avLst/>
          </a:prstGeom>
          <a:solidFill>
            <a:srgbClr val="07B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4050791"/>
            <a:ext cx="7644384" cy="498347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7BEDB"/>
                </a:solidFill>
                <a:latin typeface="Arial"/>
                <a:ea typeface="Hiragino Sans GB"/>
              </a:rPr>
              <a:t>落地  </a:t>
            </a:r>
            <a:r>
              <a:rPr sz="1250" b="0" i="0">
                <a:solidFill>
                  <a:srgbClr val="FFFFFF"/>
                </a:solidFill>
                <a:latin typeface="Arial"/>
                <a:ea typeface="Hiragino Sans GB"/>
              </a:rPr>
              <a:t>从电视节目到综艺 IP，脱口秀在中国找到了自己的语言与舞台。</a:t>
            </a:r>
          </a:p>
        </p:txBody>
      </p:sp>
      <p:pic>
        <p:nvPicPr>
          <p:cNvPr id="11" name="Picture 10" descr="第 11 页 Memphis 插画" title="第 11 页 Memphis 插画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2276856" cy="2276856"/>
          </a:xfrm>
          <a:prstGeom prst="roundRect">
            <a:avLst>
              <a:gd name="adj" fmla="val 6425"/>
            </a:avLst>
          </a:prstGeom>
        </p:spPr>
      </p:pic>
      <p:sp>
        <p:nvSpPr>
          <p:cNvPr id="12" name="Rounded Rectangle 11"/>
          <p:cNvSpPr/>
          <p:nvPr/>
        </p:nvSpPr>
        <p:spPr>
          <a:xfrm>
            <a:off x="548640" y="1463040"/>
            <a:ext cx="2276856" cy="2276856"/>
          </a:xfrm>
          <a:prstGeom prst="roundRect">
            <a:avLst>
              <a:gd name="adj" fmla="val 6425"/>
            </a:avLst>
          </a:prstGeom>
          <a:noFill/>
          <a:ln w="3302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91256" y="1463040"/>
            <a:ext cx="5404104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Hiragino Sans GB"/>
                <a:ea typeface="Hiragino Sans GB"/>
              </a:rPr>
              <a:t>舶来品的五年——从一档电视节目，长成引爆全网的综艺 IP：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86353" y="2234062"/>
            <a:ext cx="29260" cy="1374891"/>
          </a:xfrm>
          <a:prstGeom prst="rect">
            <a:avLst/>
          </a:prstGeom>
          <a:solidFill>
            <a:srgbClr val="FF8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209544" y="2284475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FF2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48456" y="2139696"/>
            <a:ext cx="4855464" cy="472439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 i="0">
                <a:solidFill>
                  <a:srgbClr val="FF2E93"/>
                </a:solidFill>
                <a:latin typeface="Arial Black"/>
                <a:ea typeface="Hiragino Sans GB"/>
              </a:rPr>
              <a:t>2012   </a:t>
            </a:r>
            <a:r>
              <a:rPr sz="1450" b="1" i="0">
                <a:solidFill>
                  <a:srgbClr val="1A1A1A"/>
                </a:solidFill>
                <a:latin typeface="Hiragino Sans GB"/>
                <a:ea typeface="Hiragino Sans GB"/>
              </a:rPr>
              <a:t>《今晚80后脱口秀》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4A4540"/>
                </a:solidFill>
                <a:latin typeface="Hiragino Sans GB"/>
                <a:ea typeface="Hiragino Sans GB"/>
              </a:rPr>
              <a:t>叶烽推出，脱口秀走向大众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9544" y="2830068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FF2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48456" y="2685288"/>
            <a:ext cx="4855464" cy="472439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 i="0">
                <a:solidFill>
                  <a:srgbClr val="FF2E93"/>
                </a:solidFill>
                <a:latin typeface="Arial Black"/>
                <a:ea typeface="Hiragino Sans GB"/>
              </a:rPr>
              <a:t>2014   </a:t>
            </a:r>
            <a:r>
              <a:rPr sz="1450" b="1" i="0">
                <a:solidFill>
                  <a:srgbClr val="1A1A1A"/>
                </a:solidFill>
                <a:latin typeface="Hiragino Sans GB"/>
                <a:ea typeface="Hiragino Sans GB"/>
              </a:rPr>
              <a:t>笑果文化成立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4A4540"/>
                </a:solidFill>
                <a:latin typeface="Hiragino Sans GB"/>
                <a:ea typeface="Hiragino Sans GB"/>
              </a:rPr>
              <a:t>李诞、王建国等日后核心加入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9544" y="3375660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FF2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48456" y="3230880"/>
            <a:ext cx="4855464" cy="472439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 i="0">
                <a:solidFill>
                  <a:srgbClr val="FF2E93"/>
                </a:solidFill>
                <a:latin typeface="Arial Black"/>
                <a:ea typeface="Hiragino Sans GB"/>
              </a:rPr>
              <a:t>2017   </a:t>
            </a:r>
            <a:r>
              <a:rPr sz="1450" b="1" i="0">
                <a:solidFill>
                  <a:srgbClr val="1A1A1A"/>
                </a:solidFill>
                <a:latin typeface="Hiragino Sans GB"/>
                <a:ea typeface="Hiragino Sans GB"/>
              </a:rPr>
              <a:t>吐槽 / 脱口秀大会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4A4540"/>
                </a:solidFill>
                <a:latin typeface="Hiragino Sans GB"/>
                <a:ea typeface="Hiragino Sans GB"/>
              </a:rPr>
              <a:t>大众化与产业化的元年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814316"/>
            <a:ext cx="45720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A4540"/>
                </a:solidFill>
                <a:latin typeface="Hiragino Sans GB"/>
                <a:ea typeface="Hiragino Sans GB"/>
              </a:rPr>
              <a:t>脱口秀简史 · A Brief History of Stand-Up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814316"/>
            <a:ext cx="5486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1A1A"/>
                </a:solidFill>
                <a:latin typeface="Arial"/>
                <a:ea typeface="Hiragino Sans GB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o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005840"/>
            <a:ext cx="4206240" cy="315468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3048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280160"/>
            <a:ext cx="36576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2E93"/>
                </a:solidFill>
                <a:latin typeface="Hiragino Sans GB"/>
                <a:ea typeface="Hiragino Sans GB"/>
              </a:rPr>
              <a:t>结语 · WHY IT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1664208"/>
            <a:ext cx="3749039" cy="11887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1A1A1A"/>
                </a:solidFill>
                <a:latin typeface="Arial"/>
                <a:ea typeface="Hiragino Sans GB"/>
              </a:rPr>
              <a:t>最便宜的舞台，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1A1A1A"/>
                </a:solidFill>
                <a:latin typeface="Arial"/>
                <a:ea typeface="Hiragino Sans GB"/>
              </a:rPr>
              <a:t>最自由的麦克风。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999232"/>
            <a:ext cx="3749039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A4540"/>
                </a:solidFill>
                <a:latin typeface="Hiragino Sans GB"/>
                <a:ea typeface="Hiragino Sans GB"/>
              </a:rPr>
              <a:t>一个人，一支麦，把真话讲成笑声——从马克·吐温到今天，形式几乎没变。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611880"/>
            <a:ext cx="1737360" cy="402336"/>
          </a:xfrm>
          <a:prstGeom prst="roundRect">
            <a:avLst>
              <a:gd name="adj" fmla="val 50000"/>
            </a:avLst>
          </a:prstGeom>
          <a:solidFill>
            <a:srgbClr val="FF2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3611880"/>
            <a:ext cx="1554480" cy="40233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Hiragino Sans GB"/>
                <a:ea typeface="Hiragino Sans GB"/>
              </a:rPr>
              <a:t>谢谢 ·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