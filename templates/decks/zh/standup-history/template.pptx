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欢迎。脱口秀是我们拥有的最年轻、也最不设防的艺术形式之一——它的历史，比大多数人以为的更短、也更奇特。让我们从综艺舞台，一路追到你口袋里的那部手机。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脱口秀拆到最简，几乎什么都不剩：一个人，一支麦克风，一个场子。没有布景，没有搭档，也没有一个角色可以躲在后面。人设就是演员本人，而每一个笑话，都是关于这个世界究竟如何运转的一次小小论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它不是一开始就成型的。整个 1800s 晚期到 1900s 早期，单人喜剧演员只是拥挤演出单上的一个节目；而喜剧独白也从巡回演讲里长出来——Twain 就是台上的幽默大师之一。到底谁算「第一个」现代脱口秀演员，其实真的有争议；这门形式有很多位父母。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真正改变一切的，是那个「房间」。随着杂耍剧场在 1950s 消亡、电视登场，喜剧搬进了夜总会，在那里，一个演员可以独自撑起一整场——也开始以本人的身份说话，而不再只是抖包袱。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1950s 和 1960s 给了我们「会思考的喜剧演员」。Mort Sahl 做政治讽刺；Lenny Bruce 因为不断突破尺度而被捕；而 Bob Newhart 的处女唱片，是史上第一张拿下格莱美「年度专辑」的喜剧专辑。段子表演，就此变成了创作。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然后，1970s 把一切炸开了。Richard Pryor 把自己的人生与伤痛化作素材，George Carlin 重塑自我、成为语言与权力的批判者，Joan Rivers 则作为女性冲在最前线、打破壁垒。喜剧不再只是笑话，而成了自传，也成了社会论辩。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1970s 与 1980s 把它工业化了。专门的俱乐部——洛杉矶和伦敦的 Comedy Store、纽约的 Comedy Cellar——给了演员每晚登台的舞台，有线电视则把他们送到各处。数百家俱乐部开张；随后供过于求，让这个泡沫在 1990s 初破裂。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一旦你自己的视角成了素材，这门形式就开始分岔。日常生活的观察式喜剧、荒诞的金句、反俱乐部的另类场景，以及长篇自剖式的叙事——它们都是在回答同一个问题：「我怎样才能说出自己的样子？」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然后它走向了世界。1979 年英国的另类喜剧重启了这门形式，一代人之后，它在印度、阿拉伯世界、南非和中国扎下根——通常都会换一种语言重新发明自己。中国的脱口秀场景一度爆红，在 2023 年遭遇重挫，又在 2024 年回归。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今天，有三股力量决定谁能被听见：流媒体专场经济、播客，以及短视频。金字塔顶端的钱据说非常惊人，但请注意，内核从未改变——依然是一个人、一支麦克风，和一个决定笑不笑的场子。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每一种风格底下，都是同一台机器。铺垫把你引向一个方向；包袱再把它打破。围绕着它的是各种工具——前提、演出来、加挂、回旋镖——但归根结底，永远是架起一种预期，然后再打破它。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它为什么重要？因为一个人，仅凭一种观点，就能说出全场都不敢说的那句话。这并不小——Lenny Bruce 为此入狱，而 Carlin 的一段表演，一路打到了最高法院。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这段历史，每晚都在以微缩的形式重演：灯亮起来，有人走向麦克风，一切重新开始。谢谢大家。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0076" b="20076"/>
          <a:stretch>
            <a:fillRect/>
          </a:stretch>
        </p:blipFill>
        <p:spPr>
          <a:xfrm>
            <a:off x="1901380" y="57292"/>
            <a:ext cx="6072759" cy="3634454"/>
          </a:xfrm>
          <a:prstGeom prst="rect">
            <a:avLst/>
          </a:prstGeom>
        </p:spPr>
      </p:pic>
      <p:pic>
        <p:nvPicPr>
          <p:cNvPr id="4" name="Picture 3" descr="microphone" title="microph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03504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22860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40">
                <a:solidFill>
                  <a:srgbClr val="A9792E"/>
                </a:solidFill>
                <a:latin typeface="Courier New"/>
                <a:ea typeface="Hiragino Sans GB"/>
              </a:rPr>
              <a:t>SLIDE-MAKER · 范例展示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78608"/>
            <a:ext cx="7955279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1E9D8"/>
                </a:solidFill>
                <a:latin typeface="Georgia"/>
                <a:ea typeface="Hiragino Sans GB"/>
              </a:rPr>
              <a:t>脱口秀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1E9D8"/>
                </a:solidFill>
                <a:latin typeface="Georgia"/>
                <a:ea typeface="Hiragino Sans GB"/>
              </a:rPr>
              <a:t>极简史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41648"/>
            <a:ext cx="1371600" cy="54864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224528"/>
            <a:ext cx="76809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9C9284"/>
                </a:solidFill>
                <a:latin typeface="Georgia"/>
                <a:ea typeface="Hiragino Sans GB"/>
              </a:rPr>
              <a:t>一个人，一支麦克风，还有把话大声说出来的胆量。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718304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C9284"/>
                </a:solidFill>
                <a:latin typeface="Courier New"/>
                <a:ea typeface="Hiragino Sans GB"/>
              </a:rPr>
              <a:t>起源 → 黄金年代 → 走向世界 → 当下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这门形式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一个人的声音，没有安全网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813816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4211A"/>
                </a:solidFill>
                <a:latin typeface="Georgia"/>
                <a:ea typeface="Hiragino Sans GB"/>
              </a:rPr>
              <a:t>一位表演者用自己的声音</a:t>
            </a:r>
            <a:r>
              <a:rPr sz="1800" b="1" i="0">
                <a:solidFill>
                  <a:srgbClr val="B02E24"/>
                </a:solidFill>
                <a:latin typeface="Georgia"/>
                <a:ea typeface="Hiragino Sans GB"/>
              </a:rPr>
              <a:t>直接对着全场说话</a:t>
            </a:r>
            <a:r>
              <a:rPr sz="1800" b="0" i="0">
                <a:solidFill>
                  <a:srgbClr val="24211A"/>
                </a:solidFill>
                <a:latin typeface="Georgia"/>
                <a:ea typeface="Hiragino Sans GB"/>
              </a:rPr>
              <a:t>——先架起一种预期，再把它打破，逗人发笑。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487168"/>
            <a:ext cx="1097280" cy="3657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2743200"/>
            <a:ext cx="548640" cy="548640"/>
          </a:xfrm>
          <a:prstGeom prst="ellipse">
            <a:avLst/>
          </a:prstGeom>
          <a:solidFill>
            <a:srgbClr val="F7F1E4"/>
          </a:solidFill>
          <a:ln w="17780">
            <a:solidFill>
              <a:srgbClr val="B0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bler_user_B02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406" y="2885846"/>
            <a:ext cx="263347" cy="2633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3438144"/>
            <a:ext cx="25603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是一个人，不是角色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22191"/>
            <a:ext cx="2560319" cy="6629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喜剧演员本人就是人设。</a:t>
            </a:r>
          </a:p>
        </p:txBody>
      </p:sp>
      <p:sp>
        <p:nvSpPr>
          <p:cNvPr id="12" name="Oval 11"/>
          <p:cNvSpPr/>
          <p:nvPr/>
        </p:nvSpPr>
        <p:spPr>
          <a:xfrm>
            <a:off x="3291839" y="2743200"/>
            <a:ext cx="548640" cy="548640"/>
          </a:xfrm>
          <a:prstGeom prst="ellipse">
            <a:avLst/>
          </a:prstGeom>
          <a:solidFill>
            <a:srgbClr val="F7F1E4"/>
          </a:solidFill>
          <a:ln w="17780">
            <a:solidFill>
              <a:srgbClr val="B0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bler_microphone-2_B02E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4486" y="2885846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1839" y="3438144"/>
            <a:ext cx="25603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一支麦，一个场子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3822191"/>
            <a:ext cx="2560319" cy="6629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没有布景，没有搭档。</a:t>
            </a:r>
          </a:p>
        </p:txBody>
      </p:sp>
      <p:sp>
        <p:nvSpPr>
          <p:cNvPr id="16" name="Oval 15"/>
          <p:cNvSpPr/>
          <p:nvPr/>
        </p:nvSpPr>
        <p:spPr>
          <a:xfrm>
            <a:off x="6217919" y="2743200"/>
            <a:ext cx="548640" cy="548640"/>
          </a:xfrm>
          <a:prstGeom prst="ellipse">
            <a:avLst/>
          </a:prstGeom>
          <a:solidFill>
            <a:srgbClr val="F7F1E4"/>
          </a:solidFill>
          <a:ln w="17780">
            <a:solidFill>
              <a:srgbClr val="B0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abler_bulb_B02E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566" y="2885846"/>
            <a:ext cx="263347" cy="26334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19" y="3438144"/>
            <a:ext cx="25603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一种观点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3822191"/>
            <a:ext cx="2560319" cy="6629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每个笑话都在表达一个主张。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起源 · 1850S–1930S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在它还没有名字之前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"/>
            <a:ext cx="3154680" cy="8961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 i="0">
                <a:solidFill>
                  <a:srgbClr val="E7DAC0"/>
                </a:solidFill>
                <a:latin typeface="Georgia"/>
                <a:ea typeface="Hiragino Sans GB"/>
              </a:rPr>
              <a:t>1900s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5852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单人喜剧演员是慢慢浮现的——先是综艺演出单上的一个节目，也承继了演讲厅里那些幽默大师的衣钵。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982980" y="2869387"/>
            <a:ext cx="7178040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Arial"/>
                <a:ea typeface="Hiragino Sans GB"/>
              </a:rPr>
              <a:t>1850s–1918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英国歌舞厅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唱段与插科打诨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3364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8400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Arial"/>
                <a:ea typeface="Hiragino Sans GB"/>
              </a:rPr>
              <a:t>1880s–1930s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8400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美国杂耍剧场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696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综艺巡演网络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6044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31080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Arial"/>
                <a:ea typeface="Hiragino Sans GB"/>
              </a:rPr>
              <a:t>1860s 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1080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巡回演讲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64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Twain 与台上的机智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8723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1800s 晚期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单人独白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公认始于 Charley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24528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B8271"/>
                </a:solidFill>
                <a:latin typeface="Arial"/>
                <a:ea typeface="Hiragino Sans GB"/>
              </a:rPr>
              <a:t>究竟谁算得上</a:t>
            </a:r>
            <a:r>
              <a:rPr sz="1100" b="1" i="1">
                <a:solidFill>
                  <a:srgbClr val="B02E24"/>
                </a:solidFill>
                <a:latin typeface="Arial"/>
                <a:ea typeface="Hiragino Sans GB"/>
              </a:rPr>
              <a:t>第一个</a:t>
            </a:r>
            <a:r>
              <a:rPr sz="1100" b="0" i="1">
                <a:solidFill>
                  <a:srgbClr val="8B8271"/>
                </a:solidFill>
                <a:latin typeface="Arial"/>
                <a:ea typeface="Hiragino Sans GB"/>
              </a:rPr>
              <a:t>现代脱口秀演员，至今众说纷纭——这门形式有很多位父母。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现代形态 · 1950S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夜总会改变了一切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随着杂耍剧场衰落、电视登场，喜剧搬进了夜总会——在那里，一个喜剧演员可以独自撑起整个舞台。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E24"/>
                </a:solidFill>
                <a:latin typeface="Arial"/>
                <a:ea typeface="Hiragino Sans GB"/>
              </a:rPr>
              <a:t>转折  </a:t>
            </a:r>
            <a:r>
              <a:rPr sz="1250" b="0" i="0">
                <a:solidFill>
                  <a:srgbClr val="24211A"/>
                </a:solidFill>
                <a:latin typeface="Arial"/>
                <a:ea typeface="Hiragino Sans GB"/>
              </a:rPr>
              <a:t>喜剧的基本单位，不再是笑话，而是喜剧演员本人。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212848"/>
            <a:ext cx="3680459" cy="1527048"/>
          </a:xfrm>
          <a:prstGeom prst="roundRect">
            <a:avLst>
              <a:gd name="adj" fmla="val 5988"/>
            </a:avLst>
          </a:prstGeom>
          <a:solidFill>
            <a:srgbClr val="EDE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414016"/>
            <a:ext cx="322325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E5E46"/>
                </a:solidFill>
                <a:latin typeface="Courier New"/>
                <a:ea typeface="Hiragino Sans GB"/>
              </a:rPr>
              <a:t>之前 —— 综艺节目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43784"/>
            <a:ext cx="73152" cy="73152"/>
          </a:xfrm>
          <a:prstGeom prst="rect">
            <a:avLst/>
          </a:prstGeom>
          <a:solidFill>
            <a:srgbClr val="8B8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063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4211A"/>
                </a:solidFill>
                <a:latin typeface="Arial"/>
                <a:ea typeface="Hiragino Sans GB"/>
              </a:rPr>
              <a:t>拥挤演出单里的一个档期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95244"/>
            <a:ext cx="73152" cy="73152"/>
          </a:xfrm>
          <a:prstGeom prst="rect">
            <a:avLst/>
          </a:prstGeom>
          <a:solidFill>
            <a:srgbClr val="8B8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2209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4211A"/>
                </a:solidFill>
                <a:latin typeface="Arial"/>
                <a:ea typeface="Hiragino Sans GB"/>
              </a:rPr>
              <a:t>连珠炮般的段子与道具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346703"/>
            <a:ext cx="73152" cy="73152"/>
          </a:xfrm>
          <a:prstGeom prst="rect">
            <a:avLst/>
          </a:prstGeom>
          <a:solidFill>
            <a:srgbClr val="8B8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7355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4211A"/>
                </a:solidFill>
                <a:latin typeface="Arial"/>
                <a:ea typeface="Hiragino Sans GB"/>
              </a:rPr>
              <a:t>一个角色，或一身戏服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7779" y="2212848"/>
            <a:ext cx="3680459" cy="1527048"/>
          </a:xfrm>
          <a:prstGeom prst="roundRect">
            <a:avLst>
              <a:gd name="adj" fmla="val 5988"/>
            </a:avLst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53812" y="2414016"/>
            <a:ext cx="322325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A9792E"/>
                </a:solidFill>
                <a:latin typeface="Courier New"/>
                <a:ea typeface="Hiragino Sans GB"/>
              </a:rPr>
              <a:t>之后 —— 单人的声音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72099" y="2843784"/>
            <a:ext cx="73152" cy="73152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4979" y="277063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1E9D8"/>
                </a:solidFill>
                <a:latin typeface="Arial"/>
                <a:ea typeface="Hiragino Sans GB"/>
              </a:rPr>
              <a:t>一个演员，一整场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72099" y="3095244"/>
            <a:ext cx="73152" cy="73152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4979" y="302209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1E9D8"/>
                </a:solidFill>
                <a:latin typeface="Arial"/>
                <a:ea typeface="Hiragino Sans GB"/>
              </a:rPr>
              <a:t>更长、更私人的表演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72099" y="3346703"/>
            <a:ext cx="73152" cy="73152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4979" y="327355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1E9D8"/>
                </a:solidFill>
                <a:latin typeface="Arial"/>
                <a:ea typeface="Hiragino Sans GB"/>
              </a:rPr>
              <a:t>以本人的身份说话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315968" y="2848356"/>
            <a:ext cx="51206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黄金年代 · 1950S–1960S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会思考的喜剧演员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08176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有文化、谈政治、带点神经质——新一代把喜剧唱片做成了畅销品类，也把段子表演变成了创作。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03120"/>
            <a:ext cx="2560319" cy="2382012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2340863"/>
            <a:ext cx="457200" cy="457200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bler_vinyl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459735"/>
            <a:ext cx="219456" cy="2194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719071" y="2395727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1" y="2395727"/>
            <a:ext cx="93268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1953 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96265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4211A"/>
                </a:solidFill>
                <a:latin typeface="Georgia"/>
                <a:ea typeface="Hiragino Sans GB"/>
              </a:rPr>
              <a:t>Mort Sahl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3383279"/>
            <a:ext cx="2103119" cy="9646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政治讽刺，像念报纸专栏一样讲出来。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39" y="2103120"/>
            <a:ext cx="2560319" cy="2382012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9583" y="2340863"/>
            <a:ext cx="457200" cy="457200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abler_vinyl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5" y="2459735"/>
            <a:ext cx="219456" cy="21945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645151" y="2395727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1" y="2395727"/>
            <a:ext cx="93268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1960s 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3" y="296265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4211A"/>
                </a:solidFill>
                <a:latin typeface="Georgia"/>
                <a:ea typeface="Hiragino Sans GB"/>
              </a:rPr>
              <a:t>Lenny Bruce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3" y="3383279"/>
            <a:ext cx="2103119" cy="9646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自剖、爆粗，一次又一次被捕。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19" y="2103120"/>
            <a:ext cx="2560319" cy="2382012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55663" y="2340863"/>
            <a:ext cx="457200" cy="457200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bler_vinyl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5" y="2459735"/>
            <a:ext cx="219456" cy="2194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571231" y="2395727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71231" y="2395727"/>
            <a:ext cx="93268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3" y="296265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4211A"/>
                </a:solidFill>
                <a:latin typeface="Georgia"/>
                <a:ea typeface="Hiragino Sans GB"/>
              </a:rPr>
              <a:t>Bob Newhart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3" y="3383279"/>
            <a:ext cx="2103119" cy="9646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史上第一张拿下格莱美「年度专辑」的喜剧唱片。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15517" b="15517"/>
          <a:stretch>
            <a:fillRect/>
          </a:stretch>
        </p:blipFill>
        <p:spPr>
          <a:xfrm>
            <a:off x="290893" y="194310"/>
            <a:ext cx="5270373" cy="36347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377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A9792E"/>
                </a:solidFill>
                <a:latin typeface="Courier New"/>
                <a:ea typeface="Hiragino Sans GB"/>
              </a:rPr>
              <a:t>革命 · 1960S 晚期–1970S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822960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1E9D8"/>
                </a:solidFill>
                <a:latin typeface="Georgia"/>
                <a:ea typeface="Hiragino Sans GB"/>
              </a:rPr>
              <a:t>从讲笑话的人，到讲真话的人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81328"/>
            <a:ext cx="1188720" cy="4572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813816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C9284"/>
                </a:solidFill>
                <a:latin typeface="Georgia"/>
                <a:ea typeface="Hiragino Sans GB"/>
              </a:rPr>
              <a:t>新一代让表演变得</a:t>
            </a:r>
            <a:r>
              <a:rPr sz="1400" b="1" i="0">
                <a:solidFill>
                  <a:srgbClr val="D4402E"/>
                </a:solidFill>
                <a:latin typeface="Georgia"/>
                <a:ea typeface="Hiragino Sans GB"/>
              </a:rPr>
              <a:t>私人、尖锐、完全属于自己</a:t>
            </a:r>
            <a:r>
              <a:rPr sz="1400" b="0" i="0">
                <a:solidFill>
                  <a:srgbClr val="9C9284"/>
                </a:solidFill>
                <a:latin typeface="Georgia"/>
                <a:ea typeface="Hiragino Sans GB"/>
              </a:rPr>
              <a:t>——喜剧成了自传，也成了论辩。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624327"/>
            <a:ext cx="91440" cy="9144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532888"/>
            <a:ext cx="28346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E9D8"/>
                </a:solidFill>
                <a:latin typeface="Georgia"/>
                <a:ea typeface="Hiragino Sans GB"/>
              </a:rPr>
              <a:t>Richard Pryor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551176"/>
            <a:ext cx="502920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C9284"/>
                </a:solidFill>
                <a:latin typeface="Arial"/>
                <a:ea typeface="Hiragino Sans GB"/>
              </a:rPr>
              <a:t>从自己的人生、种族与伤痛里，掏出自剖式的喜剧。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282696"/>
            <a:ext cx="91440" cy="9144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191256"/>
            <a:ext cx="28346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E9D8"/>
                </a:solidFill>
                <a:latin typeface="Georgia"/>
                <a:ea typeface="Hiragino Sans GB"/>
              </a:rPr>
              <a:t>George Carlin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209544"/>
            <a:ext cx="502920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C9284"/>
                </a:solidFill>
                <a:latin typeface="Arial"/>
                <a:ea typeface="Hiragino Sans GB"/>
              </a:rPr>
              <a:t>重塑自我，成为一名批判语言与权力的反主流文化者。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41063"/>
            <a:ext cx="91440" cy="9144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849624"/>
            <a:ext cx="28346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E9D8"/>
                </a:solidFill>
                <a:latin typeface="Georgia"/>
                <a:ea typeface="Hiragino Sans GB"/>
              </a:rPr>
              <a:t>Joan Rivers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867911"/>
            <a:ext cx="502920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C9284"/>
                </a:solidFill>
                <a:latin typeface="Arial"/>
                <a:ea typeface="Hiragino Sans GB"/>
              </a:rPr>
              <a:t>作为女性冲在这门形式的最前线，打破重重壁垒。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9284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9284"/>
                </a:solidFill>
                <a:latin typeface="Courier New"/>
                <a:ea typeface="Hiragino Sans GB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繁荣 · 1972–1992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先是俱乐部，然后是镜头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08176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专门的喜剧俱乐部给了演员每晚登台的舞台；有线电视则把他们送进了每一间客厅。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7907"/>
            <a:ext cx="74980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066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Comedy Store·LA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1518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39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39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Store·伦敦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970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Comedy Cellar·NYC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Murphy: Delirious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Def Comedy Jam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E24"/>
                </a:solidFill>
                <a:latin typeface="Arial"/>
                <a:ea typeface="Hiragino Sans GB"/>
              </a:rPr>
              <a:t>繁荣与崩盘  </a:t>
            </a:r>
            <a:r>
              <a:rPr sz="1250" b="0" i="0">
                <a:solidFill>
                  <a:srgbClr val="24211A"/>
                </a:solidFill>
                <a:latin typeface="Arial"/>
                <a:ea typeface="Hiragino Sans GB"/>
              </a:rPr>
              <a:t>到 1980s 晚期，全美已有数百家俱乐部；供过于求，让整个巡演网络在 1990s 初塌了下来。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风格 · 1980S–2000S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声音开始分岔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一旦喜剧演员自己的视角成了素材，这门形式便分出了流派——每一支都是在回答：「我怎样才能说出自己的样子？」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874519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874519"/>
            <a:ext cx="265176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E9D8"/>
                </a:solidFill>
                <a:latin typeface="Georgia"/>
                <a:ea typeface="Hiragino Sans GB"/>
              </a:rPr>
              <a:t>一种个人视角</a:t>
            </a:r>
          </a:p>
        </p:txBody>
      </p:sp>
      <p:sp>
        <p:nvSpPr>
          <p:cNvPr id="9" name="Rectangle 8"/>
          <p:cNvSpPr/>
          <p:nvPr/>
        </p:nvSpPr>
        <p:spPr>
          <a:xfrm>
            <a:off x="4564684" y="2423160"/>
            <a:ext cx="14630" cy="210311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14450" y="2626156"/>
            <a:ext cx="6515099" cy="14630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071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8418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abler_eye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554" y="3168944"/>
            <a:ext cx="245790" cy="2457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观察式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日常细节（Seinfeld）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88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37459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30117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abler_bolt_2E6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254" y="3168944"/>
            <a:ext cx="245790" cy="2457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92323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金句式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8899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荒诞而凝练——Wright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505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09159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01817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bler_arrows-shuffle_7A4A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4954" y="3168944"/>
            <a:ext cx="245790" cy="24579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64023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另类式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599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反俱乐部的实验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22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80859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73517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abler_book-2_4E6B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654" y="3168944"/>
            <a:ext cx="245790" cy="2457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35723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叙事式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2299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长篇、自剖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走向世界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一门没有国界的形式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09728"/>
            <a:ext cx="21945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0500" b="1" i="0">
                <a:solidFill>
                  <a:srgbClr val="E6D9BE"/>
                </a:solidFill>
                <a:latin typeface="Georgia"/>
                <a:ea typeface="Hiragino Sans GB"/>
              </a:rPr>
              <a:t>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26464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1979 年，英国的另类喜剧重启了这门形式；此后它在世界各地扎根——往往是换了一种语言。</a:t>
            </a:r>
          </a:p>
        </p:txBody>
      </p:sp>
      <p:pic>
        <p:nvPicPr>
          <p:cNvPr id="8" name="Picture 7" descr="pin" title="p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9424"/>
            <a:ext cx="274320" cy="274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9264" y="22311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3113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19456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英国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20370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伦敦的 Comedy Store 掀起「另类喜剧」。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33472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n" title="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52344"/>
            <a:ext cx="274320" cy="2743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69264" y="273405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2E6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273405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2010s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8" y="2697479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印度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70662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英语场景崛起（Vir Das）。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36391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in" title="p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255264"/>
            <a:ext cx="274320" cy="27432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9264" y="323697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7A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323697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2000s 中期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320040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阿拉伯世界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20954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巡演网络兴起，先英语，后阿拉伯语。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39312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in" title="p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758184"/>
            <a:ext cx="274320" cy="27432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969264" y="373989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4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73989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2010s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29968" y="370332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南非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71246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Trevor Noah 把这里的场景带向世界。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142232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in" title="p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61104"/>
            <a:ext cx="274320" cy="27432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69264" y="424281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3B5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424281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2017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420624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中国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21538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脱口秀爆红，2023 年受挫，2024 年回归。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今天的产业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4211A"/>
                </a:solidFill>
                <a:latin typeface="Georgia"/>
                <a:ea typeface="Hiragino Sans GB"/>
              </a:rPr>
              <a:t>重塑麦克风的三股力量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4176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120000">
            <a:off x="7680960" y="457200"/>
            <a:ext cx="1243584" cy="365760"/>
          </a:xfrm>
          <a:prstGeom prst="rect">
            <a:avLst/>
          </a:prstGeom>
          <a:noFill/>
          <a:ln w="20320">
            <a:solidFill>
              <a:srgbClr val="A97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457200"/>
            <a:ext cx="1243584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截至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E24"/>
                </a:solidFill>
                <a:latin typeface="Arial"/>
                <a:ea typeface="Hiragino Sans GB"/>
              </a:rPr>
              <a:t>依旧  </a:t>
            </a:r>
            <a:r>
              <a:rPr sz="1250" b="0" i="0">
                <a:solidFill>
                  <a:srgbClr val="24211A"/>
                </a:solidFill>
                <a:latin typeface="Arial"/>
                <a:ea typeface="Hiragino Sans GB"/>
              </a:rPr>
              <a:t>内核从未改变：一个人，一支麦克风，还有一个决定笑不笑的场子。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755648"/>
            <a:ext cx="2560319" cy="1984248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3504" y="1975104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1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bler_device-tv_B02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40" y="2108240"/>
            <a:ext cx="245790" cy="2457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259689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专场经济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962656"/>
            <a:ext cx="2103119" cy="649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招牌式的流媒体上线——据说头部的合约能到八位数。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39" y="1755648"/>
            <a:ext cx="2560319" cy="1984248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29583" y="1975104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1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bler_headphones_B02E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720" y="2108240"/>
            <a:ext cx="245790" cy="24579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29583" y="259689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播客舞台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3" y="2962656"/>
            <a:ext cx="2103119" cy="649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每周更新的节目，如今直接为演员积累观众。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19" y="1755648"/>
            <a:ext cx="2560319" cy="1984248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55663" y="1975104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1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bler_player-play_B02E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800" y="2108240"/>
            <a:ext cx="245790" cy="2457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55663" y="259689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短视频机器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3" y="2962656"/>
            <a:ext cx="2103119" cy="649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一段 40 秒的表演，能比电视传得更远。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手艺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一个笑话的解剖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08176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每一种风格底下，都是同一台机器：一个铺垫把你引向一处，一个包袱再把它打破。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8046720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Georgia"/>
              </a:rPr>
              <a:t>铺垫</a:t>
            </a:r>
            <a:r>
              <a:rPr sz="3000" b="1" i="0">
                <a:solidFill>
                  <a:srgbClr val="B02E24"/>
                </a:solidFill>
                <a:latin typeface="Georgia"/>
                <a:ea typeface="Georgia"/>
              </a:rPr>
              <a:t>  →  </a:t>
            </a:r>
            <a:r>
              <a:rPr sz="2800" b="1" i="0">
                <a:solidFill>
                  <a:srgbClr val="B02E24"/>
                </a:solidFill>
                <a:latin typeface="Georgia"/>
                <a:ea typeface="Georgia"/>
              </a:rPr>
              <a:t>包袱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88336"/>
            <a:ext cx="3566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8B8271"/>
                </a:solidFill>
                <a:latin typeface="Arial"/>
                <a:ea typeface="Hiragino Sans GB"/>
              </a:rPr>
              <a:t>架起预期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688336"/>
            <a:ext cx="3566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1">
                <a:solidFill>
                  <a:srgbClr val="B02E24"/>
                </a:solidFill>
                <a:latin typeface="Arial"/>
                <a:ea typeface="Hiragino Sans GB"/>
              </a:rPr>
              <a:t>再打破它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63824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前提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一段表演所立足的想法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7459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7459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演出来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7459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把那一刻演出来，而不是描述它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59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59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加挂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在同一个包袱上，再抖一个响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80859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0859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回旋镖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0859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后面的笑话，回收前面埋下的梗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16379" b="16379"/>
          <a:stretch>
            <a:fillRect/>
          </a:stretch>
        </p:blipFill>
        <p:spPr>
          <a:xfrm>
            <a:off x="3474720" y="320039"/>
            <a:ext cx="530352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377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A9792E"/>
                </a:solidFill>
                <a:latin typeface="Courier New"/>
                <a:ea typeface="Hiragino Sans GB"/>
              </a:rPr>
              <a:t>为什么这门手艺重要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4402E"/>
                </a:solidFill>
                <a:latin typeface="Georgia"/>
                <a:ea typeface="Hiragino Sans GB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6309360" cy="73761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 i="1">
                <a:solidFill>
                  <a:srgbClr val="F1E9D8"/>
                </a:solidFill>
                <a:latin typeface="Georgia"/>
                <a:ea typeface="Hiragino Sans GB"/>
              </a:rPr>
              <a:t>一个人，除了一种观点手无寸铁，却能说出全场都不敢大声说出口的那句话。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8944"/>
            <a:ext cx="6309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— 脱口秀历久不变的交易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456432"/>
            <a:ext cx="96012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1961–64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3474720"/>
            <a:ext cx="722376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C9284"/>
                </a:solidFill>
                <a:latin typeface="Arial"/>
                <a:ea typeface="Hiragino Sans GB"/>
              </a:rPr>
              <a:t>Lenny Bruce 因猥亵罪一次次入狱——2003 年获纽约州赦免。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041648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041648"/>
            <a:ext cx="96012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0784" y="4059935"/>
            <a:ext cx="722376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C9284"/>
                </a:solidFill>
                <a:latin typeface="Arial"/>
                <a:ea typeface="Hiragino Sans GB"/>
              </a:rPr>
              <a:t>George Carlin 的一段表演打到了最高法院——即 FCC 诉 Pacifica 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9284"/>
                </a:solidFill>
                <a:latin typeface="Courier New"/>
                <a:ea typeface="Hiragino Sans GB"/>
              </a:rPr>
              <a:t>脱口秀简史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9284"/>
                </a:solidFill>
                <a:latin typeface="Courier New"/>
                <a:ea typeface="Hiragino Sans GB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1094" b="21094"/>
          <a:stretch>
            <a:fillRect/>
          </a:stretch>
        </p:blipFill>
        <p:spPr>
          <a:xfrm>
            <a:off x="1645919" y="91439"/>
            <a:ext cx="5852160" cy="3383280"/>
          </a:xfrm>
          <a:prstGeom prst="rect">
            <a:avLst/>
          </a:prstGeom>
        </p:spPr>
      </p:pic>
      <p:pic>
        <p:nvPicPr>
          <p:cNvPr id="4" name="Picture 3" descr="microphone" title="microph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087" y="51206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883664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60">
                <a:solidFill>
                  <a:srgbClr val="A9792E"/>
                </a:solidFill>
                <a:latin typeface="Courier New"/>
                <a:ea typeface="Hiragino Sans GB"/>
              </a:rPr>
              <a:t>谢幕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86384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E9D8"/>
                </a:solidFill>
                <a:latin typeface="Georgia"/>
                <a:ea typeface="Hiragino Sans GB"/>
              </a:rPr>
              <a:t>灯，亮起来。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E9D8"/>
                </a:solidFill>
                <a:latin typeface="Georgia"/>
                <a:ea typeface="Hiragino Sans GB"/>
              </a:rPr>
              <a:t>有人走向麦克风。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E9D8"/>
                </a:solidFill>
                <a:latin typeface="Georgia"/>
                <a:ea typeface="Hiragino Sans GB"/>
              </a:rPr>
              <a:t>一切重新开始。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584448"/>
            <a:ext cx="1371600" cy="54864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803904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792E"/>
                </a:solidFill>
                <a:latin typeface="Courier New"/>
                <a:ea typeface="Hiragino Sans GB"/>
              </a:rPr>
              <a:t>来源  </a:t>
            </a:r>
            <a:r>
              <a:rPr sz="950" b="0" i="0">
                <a:solidFill>
                  <a:srgbClr val="9C9284"/>
                </a:solidFill>
                <a:latin typeface="Courier New"/>
                <a:ea typeface="Hiragino Sans GB"/>
              </a:rPr>
              <a:t>Britannica · Wikipedia · GRAMMY.com · 新闻与档案报道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11480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792E"/>
                </a:solidFill>
                <a:latin typeface="Courier New"/>
                <a:ea typeface="Hiragino Sans GB"/>
              </a:rPr>
              <a:t>制作  </a:t>
            </a:r>
            <a:r>
              <a:rPr sz="950" b="0" i="0">
                <a:solidFill>
                  <a:srgbClr val="9C9284"/>
                </a:solidFill>
                <a:latin typeface="Courier New"/>
                <a:ea typeface="Hiragino Sans GB"/>
              </a:rPr>
              <a:t>slide-maker  ·  一套「Lights Down」编辑体模板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9284"/>
                </a:solidFill>
                <a:latin typeface="Courier New"/>
                <a:ea typeface="Hiragino Sans GB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