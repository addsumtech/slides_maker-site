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规模</c:v>
                </c:pt>
              </c:strCache>
            </c:strRef>
          </c:tx>
          <c:spPr>
            <a:solidFill>
              <a:srgbClr val="B9863A"/>
            </a:solidFill>
            <a:ln w="31750">
              <a:solidFill>
                <a:srgbClr val="B9863A"/>
              </a:solidFill>
            </a:ln>
          </c:spPr>
          <c:dPt>
            <c:idx val="0"/>
            <c:spPr>
              <a:solidFill>
                <a:srgbClr val="8A93A6"/>
              </a:solidFill>
            </c:spPr>
          </c:dPt>
          <c:dPt>
            <c:idx val="1"/>
            <c:spPr>
              <a:solidFill>
                <a:srgbClr val="8A93A6"/>
              </a:solidFill>
            </c:spPr>
          </c:dPt>
          <c:dPt>
            <c:idx val="2"/>
            <c:spPr>
              <a:solidFill>
                <a:srgbClr val="B9863A"/>
              </a:solidFill>
            </c:spPr>
          </c:dPt>
          <c:cat>
            <c:strRef>
              <c:f>Sheet1!$A$2:$A$4</c:f>
              <c:strCache>
                <c:ptCount val="3"/>
                <c:pt idx="0">
                  <c:v>2016</c:v>
                </c:pt>
                <c:pt idx="1">
                  <c:v>2020</c:v>
                </c:pt>
                <c:pt idx="2">
                  <c:v>2023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1.0</c:v>
                </c:pt>
                <c:pt idx="2">
                  <c:v>1.3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555"/>
            </a:solidFill>
          </a:ln>
        </c:spPr>
        <c:txPr>
          <a:bodyPr/>
          <a:lstStyle/>
          <a:p>
            <a:pPr>
              <a:defRPr sz="1000">
                <a:solidFill>
                  <a:srgbClr val="EAF2FF"/>
                </a:solidFill>
                <a:latin typeface="Hiragino Sans GB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2A3555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2A3555"/>
            </a:solidFill>
          </a:ln>
        </c:spPr>
        <c:txPr>
          <a:bodyPr/>
          <a:lstStyle/>
          <a:p>
            <a:pPr>
              <a:defRPr sz="1000">
                <a:solidFill>
                  <a:srgbClr val="EAF2FF"/>
                </a:solidFill>
                <a:latin typeface="Hiragino Sans GB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EAF2FF"/>
          </a:solidFill>
          <a:latin typeface="Hiragino Sans GB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成都晨雾城市远景" title="成都晨雾城市远景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126480" cy="5143500"/>
          </a:xfrm>
          <a:prstGeom prst="rect">
            <a:avLst/>
          </a:prstGeom>
          <a:gradFill>
            <a:gsLst>
              <a:gs pos="0">
                <a:srgbClr val="F5EFE2">
                  <a:alpha val="82000"/>
                </a:srgbClr>
              </a:gs>
              <a:gs pos="50000">
                <a:srgbClr val="F5EFE2">
                  <a:alpha val="42000"/>
                </a:srgbClr>
              </a:gs>
              <a:gs pos="100000">
                <a:srgbClr val="F5EFE2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091939"/>
            <a:ext cx="6126480" cy="1051560"/>
          </a:xfrm>
          <a:prstGeom prst="rect">
            <a:avLst/>
          </a:prstGeom>
          <a:gradFill>
            <a:gsLst>
              <a:gs pos="0">
                <a:srgbClr val="F5EFE2">
                  <a:alpha val="0"/>
                </a:srgbClr>
              </a:gs>
              <a:gs pos="100000">
                <a:srgbClr val="F5EFE2">
                  <a:alpha val="50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成都·金沙太阳神鸟城徽" title="成都·金沙太阳神鸟城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10896"/>
            <a:ext cx="475488" cy="4754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" y="603504"/>
            <a:ext cx="658368" cy="658368"/>
          </a:xfrm>
          <a:prstGeom prst="roundRect">
            <a:avLst>
              <a:gd name="adj" fmla="val 10000"/>
            </a:avLst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9068" y="669340"/>
            <a:ext cx="526694" cy="526694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F5E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03504"/>
            <a:ext cx="658368" cy="6583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EFE2"/>
                </a:solidFill>
                <a:latin typeface="Songti SC"/>
                <a:ea typeface="Hiragino Sans GB"/>
              </a:rPr>
              <a:t>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676656"/>
            <a:ext cx="457200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B8271"/>
                </a:solidFill>
                <a:latin typeface="Helvetica Neue"/>
                <a:ea typeface="Hiragino Sans GB"/>
              </a:rPr>
              <a:t>C H É N G D 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932688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9863A"/>
                </a:solidFill>
                <a:latin typeface="Hiragino Sans GB"/>
                <a:ea typeface="Hiragino Sans GB"/>
              </a:rPr>
              <a:t>天 府 之 国 · 锦 官 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74519"/>
            <a:ext cx="5669280" cy="173736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800" b="1" i="0">
                <a:solidFill>
                  <a:srgbClr val="25201A"/>
                </a:solidFill>
                <a:latin typeface="Songti SC"/>
                <a:ea typeface="Songti SC"/>
              </a:rPr>
              <a:t>成都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584448"/>
            <a:ext cx="1097280" cy="54864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67328"/>
            <a:ext cx="7498079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4A4034"/>
                </a:solidFill>
                <a:latin typeface="Songti SC"/>
                <a:ea typeface="Songti SC"/>
              </a:rPr>
              <a:t>一座来了就不想走的城市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576572"/>
            <a:ext cx="73152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271"/>
                </a:solidFill>
                <a:latin typeface="Helvetica Neue"/>
                <a:ea typeface="Hiragino Sans GB"/>
              </a:rPr>
              <a:t>城市介绍 · 旅行推介　|　CHENGDU CITY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成都·金沙太阳神鸟城徽" title="成都·金沙太阳神鸟城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02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E3A2C"/>
                </a:solidFill>
                <a:latin typeface="Songti SC"/>
                <a:ea typeface="Songti SC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城　市　名　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两千万人的烟火，与两万亿的雄心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四川省会 · 副省级市 · 成渝地区双城经济圈极核之一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03120"/>
            <a:ext cx="1975104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5201A"/>
                </a:solidFill>
                <a:latin typeface="Helvetica Neue"/>
                <a:ea typeface="Hiragino Sans GB"/>
              </a:rPr>
              <a:t>2147.4</a:t>
            </a:r>
            <a:r>
              <a:rPr sz="1350" b="1" i="0">
                <a:solidFill>
                  <a:srgbClr val="BE3A2C"/>
                </a:solidFill>
                <a:latin typeface="Helvetica Neue"/>
                <a:ea typeface="Hiragino Sans GB"/>
              </a:rPr>
              <a:t> 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98063"/>
            <a:ext cx="168249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Hiragino Sans GB"/>
                <a:ea typeface="Hiragino Sans GB"/>
              </a:rPr>
              <a:t>常住人口 ·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2103120"/>
            <a:ext cx="1975104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5201A"/>
                </a:solidFill>
                <a:latin typeface="Helvetica Neue"/>
                <a:ea typeface="Hiragino Sans GB"/>
              </a:rPr>
              <a:t>2.35</a:t>
            </a:r>
            <a:r>
              <a:rPr sz="1350" b="1" i="0">
                <a:solidFill>
                  <a:srgbClr val="BE3A2C"/>
                </a:solidFill>
                <a:latin typeface="Helvetica Neue"/>
                <a:ea typeface="Hiragino Sans GB"/>
              </a:rPr>
              <a:t> 万亿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2798063"/>
            <a:ext cx="168249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Hiragino Sans GB"/>
                <a:ea typeface="Hiragino Sans GB"/>
              </a:rPr>
              <a:t>地区生产总值 · 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3744" y="2139696"/>
            <a:ext cx="11887" cy="896112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103120"/>
            <a:ext cx="1975104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5201A"/>
                </a:solidFill>
                <a:latin typeface="Helvetica Neue"/>
                <a:ea typeface="Hiragino Sans GB"/>
              </a:rPr>
              <a:t>1.43</a:t>
            </a:r>
            <a:r>
              <a:rPr sz="1350" b="1" i="0">
                <a:solidFill>
                  <a:srgbClr val="BE3A2C"/>
                </a:solidFill>
                <a:latin typeface="Helvetica Neue"/>
                <a:ea typeface="Hiragino Sans GB"/>
              </a:rPr>
              <a:t> 万km²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98063"/>
            <a:ext cx="168249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Hiragino Sans GB"/>
                <a:ea typeface="Hiragino Sans GB"/>
              </a:rPr>
              <a:t>市域面积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139696"/>
            <a:ext cx="11887" cy="896112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3136" y="2103120"/>
            <a:ext cx="1975104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5201A"/>
                </a:solidFill>
                <a:latin typeface="Helvetica Neue"/>
                <a:ea typeface="Hiragino Sans GB"/>
              </a:rPr>
              <a:t>80.8</a:t>
            </a:r>
            <a:r>
              <a:rPr sz="1350" b="1" i="0">
                <a:solidFill>
                  <a:srgbClr val="BE3A2C"/>
                </a:solidFill>
                <a:latin typeface="Helvetica Neue"/>
                <a:ea typeface="Hiragino Sans GB"/>
              </a:rPr>
              <a:t>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2798063"/>
            <a:ext cx="168249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Hiragino Sans GB"/>
                <a:ea typeface="Hiragino Sans GB"/>
              </a:rPr>
              <a:t>常住人口城镇化率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0256" y="2139696"/>
            <a:ext cx="11887" cy="896112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346704"/>
            <a:ext cx="7827264" cy="105156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529584"/>
            <a:ext cx="225551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B9863A"/>
                </a:solidFill>
                <a:latin typeface="Songti SC"/>
                <a:ea typeface="Songti SC"/>
              </a:rPr>
              <a:t>蓉城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13632"/>
            <a:ext cx="2255519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034"/>
                </a:solidFill>
                <a:latin typeface="Hiragino Sans GB"/>
                <a:ea typeface="Hiragino Sans GB"/>
              </a:rPr>
              <a:t>市花芙蓉，五代后蜀遍植芙蓉得名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4240" y="3529584"/>
            <a:ext cx="225551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B9863A"/>
                </a:solidFill>
                <a:latin typeface="Songti SC"/>
                <a:ea typeface="Songti SC"/>
              </a:rPr>
              <a:t>锦城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4240" y="3913632"/>
            <a:ext cx="2255519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034"/>
                </a:solidFill>
                <a:latin typeface="Hiragino Sans GB"/>
                <a:ea typeface="Hiragino Sans GB"/>
              </a:rPr>
              <a:t>汉代蜀锦名动天下，设“锦官”专管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1360" y="3511296"/>
            <a:ext cx="10972" cy="65836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19800" y="3529584"/>
            <a:ext cx="225551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B9863A"/>
                </a:solidFill>
                <a:latin typeface="Songti SC"/>
                <a:ea typeface="Songti SC"/>
              </a:rPr>
              <a:t>天府之国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9800" y="3913632"/>
            <a:ext cx="2255519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034"/>
                </a:solidFill>
                <a:latin typeface="Hiragino Sans GB"/>
                <a:ea typeface="Hiragino Sans GB"/>
              </a:rPr>
              <a:t>都江堰润泽，沃野千里旱涝从人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36920" y="3511296"/>
            <a:ext cx="10972" cy="65836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成都·金沙太阳神鸟城徽" title="成都·金沙太阳神鸟城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03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E3A2C"/>
                </a:solidFill>
                <a:latin typeface="Songti SC"/>
                <a:ea typeface="Songti SC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城　市　名　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一方水土：温润盆地养出的松弛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地处四川盆地西部、成都平原腹地，岷江水系穿城而过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783080"/>
            <a:ext cx="4121490" cy="285750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城徽" title="城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093976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2148840"/>
            <a:ext cx="293277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201A"/>
                </a:solidFill>
                <a:latin typeface="Songti SC"/>
                <a:ea typeface="Songti SC"/>
              </a:rPr>
              <a:t>区位速览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953512"/>
            <a:ext cx="91440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9863A"/>
                </a:solidFill>
                <a:latin typeface="Hiragino Sans GB"/>
                <a:ea typeface="Hiragino Sans GB"/>
              </a:rPr>
              <a:t>方位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953512"/>
            <a:ext cx="265845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034"/>
                </a:solidFill>
                <a:latin typeface="Hiragino Sans GB"/>
                <a:ea typeface="Hiragino Sans GB"/>
              </a:rPr>
              <a:t>四川盆地西部 · 成都平原腹地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" y="3410712"/>
            <a:ext cx="2292690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611880"/>
            <a:ext cx="91440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9863A"/>
                </a:solidFill>
                <a:latin typeface="Hiragino Sans GB"/>
                <a:ea typeface="Hiragino Sans GB"/>
              </a:rPr>
              <a:t>海拔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3611880"/>
            <a:ext cx="265845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034"/>
                </a:solidFill>
                <a:latin typeface="Hiragino Sans GB"/>
                <a:ea typeface="Hiragino Sans GB"/>
              </a:rPr>
              <a:t>平原约 500 米，西高东低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" y="4069080"/>
            <a:ext cx="2292690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4270248"/>
            <a:ext cx="91440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9863A"/>
                </a:solidFill>
                <a:latin typeface="Hiragino Sans GB"/>
                <a:ea typeface="Hiragino Sans GB"/>
              </a:rPr>
              <a:t>水系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4270248"/>
            <a:ext cx="265845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034"/>
                </a:solidFill>
                <a:latin typeface="Hiragino Sans GB"/>
                <a:ea typeface="Hiragino Sans GB"/>
              </a:rPr>
              <a:t>岷江 · 沱江水系，锦江穿城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53010" y="18288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3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hosphor_cloud-sun_B986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882" y="1947672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511378" y="1810512"/>
            <a:ext cx="326686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亚热带湿润气候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1378" y="2121408"/>
            <a:ext cx="3266861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四季分明、冬无严寒；云多雾润，“蜀犬吠日”少见烈日，体感温和。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53010" y="2889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3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hosphor_drop_2E5A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1882" y="3008376"/>
            <a:ext cx="219456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11378" y="2871216"/>
            <a:ext cx="326686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水润之城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1378" y="3182112"/>
            <a:ext cx="3266861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岷江、府河、锦江环绕，都江堰无坝引水，平原旱涝从人。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53010" y="395020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3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hosphor_flower-lotus_BE3A2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1882" y="4069080"/>
            <a:ext cx="219456" cy="2194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11378" y="3931920"/>
            <a:ext cx="326686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市花芙蓉 · 市树银杏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11378" y="4242816"/>
            <a:ext cx="3266861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深秋芙蓉夹岸、银杏满城，是成都最上镜的两种颜色。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成都·金沙太阳神鸟城徽" title="成都·金沙太阳神鸟城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04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9863A"/>
                </a:solidFill>
                <a:latin typeface="Songti SC"/>
                <a:ea typeface="Songti SC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历　史　与　文　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城名未改、城址未移，三千年不断的文脉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从金沙的太阳神鸟，到至今奔流的都江堰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7260" y="2412187"/>
            <a:ext cx="7269479" cy="21945"/>
          </a:xfrm>
          <a:prstGeom prst="rect">
            <a:avLst/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4964" y="23408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" y="2587752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9863A"/>
                </a:solidFill>
                <a:latin typeface="Helvetica Neue"/>
                <a:ea typeface="Hiragino Sans GB"/>
              </a:rPr>
              <a:t>约前 1200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" y="2880360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201A"/>
                </a:solidFill>
                <a:latin typeface="Helvetica Neue"/>
                <a:ea typeface="Hiragino Sans GB"/>
              </a:rPr>
              <a:t>金沙 · 太阳神鸟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" y="3136392"/>
            <a:ext cx="19659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1"/>
                </a:solidFill>
                <a:latin typeface="Helvetica Neue"/>
                <a:ea typeface="Hiragino Sans GB"/>
              </a:rPr>
              <a:t>古蜀都邑，2001 年出土；金饰含金量 94.2%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78124" y="23408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2587752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B8271"/>
                </a:solidFill>
                <a:latin typeface="Helvetica Neue"/>
                <a:ea typeface="Hiragino Sans GB"/>
              </a:rPr>
              <a:t>公元前 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880360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201A"/>
                </a:solidFill>
                <a:latin typeface="Helvetica Neue"/>
                <a:ea typeface="Hiragino Sans GB"/>
              </a:rPr>
              <a:t>都江堰 · 李冰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136392"/>
            <a:ext cx="19659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1"/>
                </a:solidFill>
                <a:latin typeface="Helvetica Neue"/>
                <a:ea typeface="Hiragino Sans GB"/>
              </a:rPr>
              <a:t>无坝引水，至今灌溉；天府之国由此而来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01283" y="23408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2587752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B8271"/>
                </a:solidFill>
                <a:latin typeface="Helvetica Neue"/>
                <a:ea typeface="Hiragino Sans GB"/>
              </a:rPr>
              <a:t>秦 · 定名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880360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201A"/>
                </a:solidFill>
                <a:latin typeface="Helvetica Neue"/>
                <a:ea typeface="Hiragino Sans GB"/>
              </a:rPr>
              <a:t>“成都”之名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599" y="3136392"/>
            <a:ext cx="19659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1"/>
                </a:solidFill>
                <a:latin typeface="Helvetica Neue"/>
                <a:ea typeface="Hiragino Sans GB"/>
              </a:rPr>
              <a:t>两千三百余年，城名未改、城址未移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4444" y="23408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2587752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B8271"/>
                </a:solidFill>
                <a:latin typeface="Helvetica Neue"/>
                <a:ea typeface="Hiragino Sans GB"/>
              </a:rPr>
              <a:t>公元 2000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80360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201A"/>
                </a:solidFill>
                <a:latin typeface="Helvetica Neue"/>
                <a:ea typeface="Hiragino Sans GB"/>
              </a:rPr>
              <a:t>青城山—都江堰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136392"/>
            <a:ext cx="19659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1"/>
                </a:solidFill>
                <a:latin typeface="Helvetica Neue"/>
                <a:ea typeface="Hiragino Sans GB"/>
              </a:rPr>
              <a:t>列入《世界遗产名录》，仍在服役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229100"/>
            <a:ext cx="7827264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863A"/>
                </a:solidFill>
                <a:latin typeface="Songti SC"/>
                <a:ea typeface="Songti SC"/>
              </a:rPr>
              <a:t>三星堆与金沙，是古蜀文明的“双子星”；成都，是至今仍在生长的活态古城。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成都·金沙太阳神鸟城徽" title="成都·金沙太阳神鸟城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05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9863A"/>
                </a:solidFill>
                <a:latin typeface="Songti SC"/>
                <a:ea typeface="Songti SC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历　史　与　文　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三国的忠魂，诗圣的草堂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半部三国在西蜀，一座草堂载唐诗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783080"/>
            <a:ext cx="4023359" cy="2125979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039112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F2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hosphor_bank_B986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93" y="2186513"/>
            <a:ext cx="272125" cy="272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25880" y="2093976"/>
            <a:ext cx="28346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01A"/>
                </a:solidFill>
                <a:latin typeface="Songti SC"/>
                <a:ea typeface="Songti SC"/>
              </a:rPr>
              <a:t>武侯祠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3474719" cy="9372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034"/>
                </a:solidFill>
                <a:latin typeface="Hiragino Sans GB"/>
                <a:ea typeface="Hiragino Sans GB"/>
              </a:rPr>
              <a:t>中国唯一君臣合祀的祠庙，纪念诸葛亮与刘备；红墙竹影，与民俗“锦里”一墙之隔，“西蜀第一街”烟火不息。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783080"/>
            <a:ext cx="4023359" cy="2125979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10912" y="2039112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F2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hosphor_pen-nib_B986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313" y="2186513"/>
            <a:ext cx="272125" cy="272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0" y="2093976"/>
            <a:ext cx="28346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01A"/>
                </a:solidFill>
                <a:latin typeface="Songti SC"/>
                <a:ea typeface="Songti SC"/>
              </a:rPr>
              <a:t>杜甫草堂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807208"/>
            <a:ext cx="3474719" cy="9372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034"/>
                </a:solidFill>
                <a:latin typeface="Hiragino Sans GB"/>
                <a:ea typeface="Hiragino Sans GB"/>
              </a:rPr>
              <a:t>杜甫避安史之乱寓居于此近四年，留诗二百四十余首；“万里桥西一草堂”，成都由此成为唐诗地图上的坐标。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19372"/>
            <a:ext cx="7827264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E3A2C"/>
                </a:solidFill>
                <a:latin typeface="Songti SC"/>
                <a:ea typeface="Songti SC"/>
              </a:rPr>
              <a:t>“晓看红湿处，花重锦官城。”</a:t>
            </a:r>
            <a:r>
              <a:rPr sz="1200" b="0" i="0">
                <a:solidFill>
                  <a:srgbClr val="8B8271"/>
                </a:solidFill>
                <a:latin typeface="Songti SC"/>
                <a:ea typeface="Songti SC"/>
              </a:rPr>
              <a:t>　—— 杜甫《春夜喜雨》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成都·金沙太阳神鸟城徽" title="成都·金沙太阳神鸟城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06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9863A"/>
                </a:solidFill>
                <a:latin typeface="Songti SC"/>
                <a:ea typeface="Songti SC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历　史　与　文　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蜀风雅韵：一针、一线、一张脸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把日子过成手艺，是成都的另一种天赋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10512"/>
            <a:ext cx="2596896" cy="2372868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365760" y="1810512"/>
            <a:ext cx="2596896" cy="82296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" y="2121408"/>
            <a:ext cx="548640" cy="548640"/>
          </a:xfrm>
          <a:prstGeom prst="ellipse">
            <a:avLst/>
          </a:prstGeom>
          <a:solidFill>
            <a:srgbClr val="F4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hosphor_needle_BE3A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" y="2264054"/>
            <a:ext cx="263347" cy="2633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" y="2798064"/>
            <a:ext cx="2084831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201A"/>
                </a:solidFill>
                <a:latin typeface="Songti SC"/>
                <a:ea typeface="Songti SC"/>
              </a:rPr>
              <a:t>蜀锦 · 蜀绣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82112"/>
            <a:ext cx="457200" cy="27432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291840"/>
            <a:ext cx="2084831" cy="7269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蜀锦为“中国四大名锦”之一，蜀绣为“四大名绣”之一；经纬之间，织就两千年锦城之名，也是最早的成都出口。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3551" y="1810512"/>
            <a:ext cx="2596896" cy="2372868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3273551" y="1810512"/>
            <a:ext cx="2596896" cy="82296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29583" y="2121408"/>
            <a:ext cx="548640" cy="548640"/>
          </a:xfrm>
          <a:prstGeom prst="ellipse">
            <a:avLst/>
          </a:prstGeom>
          <a:solidFill>
            <a:srgbClr val="F3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hosphor_mask-happy_BE3A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2230" y="2264054"/>
            <a:ext cx="263347" cy="2633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29583" y="2798064"/>
            <a:ext cx="2084831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201A"/>
                </a:solidFill>
                <a:latin typeface="Songti SC"/>
                <a:ea typeface="Songti SC"/>
              </a:rPr>
              <a:t>川剧 · 变脸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47871" y="3182112"/>
            <a:ext cx="457200" cy="27432"/>
          </a:xfrm>
          <a:prstGeom prst="rect">
            <a:avLst/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3" y="3291840"/>
            <a:ext cx="2084831" cy="7269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喷火、变脸、滚灯，一秒换一张脸的绝活；戏台就在茶馆里，二十八块钱一碗盖碗茶，边喝边看。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1810512"/>
            <a:ext cx="2596896" cy="2372868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6181344" y="1810512"/>
            <a:ext cx="2596896" cy="82296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37376" y="2121408"/>
            <a:ext cx="548640" cy="548640"/>
          </a:xfrm>
          <a:prstGeom prst="ellipse">
            <a:avLst/>
          </a:prstGeom>
          <a:solidFill>
            <a:srgbClr val="E0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hosphor_storefront_B986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022" y="2264054"/>
            <a:ext cx="263347" cy="2633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37376" y="2798064"/>
            <a:ext cx="2084831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201A"/>
                </a:solidFill>
                <a:latin typeface="Songti SC"/>
                <a:ea typeface="Songti SC"/>
              </a:rPr>
              <a:t>宽窄巷子 · 锦里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55664" y="3182112"/>
            <a:ext cx="457200" cy="27432"/>
          </a:xfrm>
          <a:prstGeom prst="rect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3291840"/>
            <a:ext cx="2084831" cy="7269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青砖黛瓦的老成都缩影：喝茶、掏耳朵、听戏、逛街，市井生活本身就是最热闹的文化现场。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0A0"/>
                </a:solidFill>
                <a:latin typeface="Helvetica Neue"/>
                <a:ea typeface="Hiragino Sans GB"/>
              </a:rPr>
              <a:t>07</a:t>
            </a:r>
            <a:r>
              <a:rPr sz="900" b="0" i="0">
                <a:solidFill>
                  <a:srgbClr val="9AA0A0"/>
                </a:solidFill>
                <a:latin typeface="Helvetica Neue"/>
                <a:ea typeface="Hiragino Sans GB"/>
              </a:rPr>
              <a:t> / 14</a:t>
            </a:r>
          </a:p>
        </p:txBody>
      </p:sp>
      <p:pic>
        <p:nvPicPr>
          <p:cNvPr id="4" name="Picture 3" descr="成都·金沙太阳神鸟城徽" title="成都·金沙太阳神鸟城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E3A2C"/>
                </a:solidFill>
                <a:latin typeface="Songti SC"/>
                <a:ea typeface="Songti SC"/>
              </a:rPr>
              <a:t>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7AE97"/>
                </a:solidFill>
                <a:latin typeface="Hiragino Sans GB"/>
                <a:ea typeface="Hiragino Sans GB"/>
              </a:rPr>
              <a:t>美　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ECDD"/>
                </a:solidFill>
                <a:latin typeface="Songti SC"/>
                <a:ea typeface="Songti SC"/>
              </a:rPr>
              <a:t>食在中国，味在成都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6BCA6"/>
                </a:solidFill>
                <a:latin typeface="Hiragino Sans GB"/>
                <a:ea typeface="Hiragino Sans GB"/>
              </a:rPr>
              <a:t>2010 年，成都成为联合国教科文组织授予的亚洲第一个“世界美食之都”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3291840" cy="137160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0" b="1" i="0">
                <a:solidFill>
                  <a:srgbClr val="B9863A"/>
                </a:solidFill>
                <a:latin typeface="Helvetica Neue"/>
                <a:ea typeface="Songti SC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17520"/>
            <a:ext cx="320040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0E4CC"/>
                </a:solidFill>
                <a:latin typeface="Hiragino Sans GB"/>
                <a:ea typeface="Hiragino Sans GB"/>
              </a:rPr>
              <a:t>亚洲首个 · 世界美食之都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B7AE97"/>
                </a:solidFill>
                <a:latin typeface="Helvetica Neue"/>
                <a:ea typeface="Hiragino Sans GB"/>
              </a:rPr>
              <a:t>UNESCO 创意城市网络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965960"/>
            <a:ext cx="12801" cy="2331720"/>
          </a:xfrm>
          <a:prstGeom prst="rect">
            <a:avLst/>
          </a:prstGeom>
          <a:solidFill>
            <a:srgbClr val="4A3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40233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9863A"/>
                </a:solidFill>
                <a:latin typeface="Hiragino Sans GB"/>
                <a:ea typeface="Hiragino Sans GB"/>
              </a:rPr>
              <a:t>川菜为四大菜系之一 · 一菜一格，百菜百味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286000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286000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EEDB"/>
                </a:solidFill>
                <a:latin typeface="Songti SC"/>
                <a:ea typeface="Songti SC"/>
              </a:rPr>
              <a:t>火锅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7024" y="2286000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7024" y="2286000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EEDB"/>
                </a:solidFill>
                <a:latin typeface="Songti SC"/>
                <a:ea typeface="Songti SC"/>
              </a:rPr>
              <a:t>串串香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7768" y="2286000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7768" y="2286000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EEDB"/>
                </a:solidFill>
                <a:latin typeface="Songti SC"/>
                <a:ea typeface="Songti SC"/>
              </a:rPr>
              <a:t>麻婆豆腐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2907791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907791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EEDB"/>
                </a:solidFill>
                <a:latin typeface="Songti SC"/>
                <a:ea typeface="Songti SC"/>
              </a:rPr>
              <a:t>回锅肉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07024" y="2907791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07024" y="2907791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EEDB"/>
                </a:solidFill>
                <a:latin typeface="Songti SC"/>
                <a:ea typeface="Songti SC"/>
              </a:rPr>
              <a:t>宫保鸡丁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87768" y="2907791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87768" y="2907791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EEDB"/>
                </a:solidFill>
                <a:latin typeface="Songti SC"/>
                <a:ea typeface="Songti SC"/>
              </a:rPr>
              <a:t>担担面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529584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529584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EEDB"/>
                </a:solidFill>
                <a:latin typeface="Songti SC"/>
                <a:ea typeface="Songti SC"/>
              </a:rPr>
              <a:t>钟水饺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07024" y="3529584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07024" y="3529584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EEDB"/>
                </a:solidFill>
                <a:latin typeface="Songti SC"/>
                <a:ea typeface="Songti SC"/>
              </a:rPr>
              <a:t>龙抄手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87768" y="3529584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87768" y="3529584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EEDB"/>
                </a:solidFill>
                <a:latin typeface="Songti SC"/>
                <a:ea typeface="Songti SC"/>
              </a:rPr>
              <a:t>夫妻肺片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187952"/>
            <a:ext cx="40233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FC1A6"/>
                </a:solidFill>
                <a:latin typeface="Hiragino Sans GB"/>
                <a:ea typeface="Hiragino Sans GB"/>
              </a:rPr>
              <a:t>麻、辣、鲜、香之外，更藏着回甜与醇厚。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成都·金沙太阳神鸟城徽" title="成都·金沙太阳神鸟城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08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E6B52"/>
                </a:solidFill>
                <a:latin typeface="Songti SC"/>
                <a:ea typeface="Songti SC"/>
              </a:rPr>
              <a:t>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大　熊　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住在成都的“国宝”，全球最大的家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成都大熊猫繁育研究基地：从 6 只抢救个体，到全球最大的迁地保护种群</a:t>
            </a:r>
          </a:p>
        </p:txBody>
      </p:sp>
      <p:pic>
        <p:nvPicPr>
          <p:cNvPr id="11" name="Picture 10" descr="熊猫竹林氛围图" title="熊猫竹林氛围图"/>
          <p:cNvPicPr>
            <a:picLocks noChangeAspect="1"/>
          </p:cNvPicPr>
          <p:nvPr/>
        </p:nvPicPr>
        <p:blipFill>
          <a:blip r:embed="rId3"/>
          <a:srcRect l="17551" r="17551"/>
          <a:stretch>
            <a:fillRect/>
          </a:stretch>
        </p:blipFill>
        <p:spPr>
          <a:xfrm>
            <a:off x="6583680" y="1755648"/>
            <a:ext cx="1901951" cy="2930652"/>
          </a:xfrm>
          <a:prstGeom prst="roundRect">
            <a:avLst>
              <a:gd name="adj" fmla="val 5769"/>
            </a:avLst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2148840"/>
            <a:ext cx="3840480" cy="310896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B8271"/>
                </a:solidFill>
                <a:latin typeface="Hiragino Sans GB"/>
                <a:ea typeface="Hiragino Sans GB"/>
              </a:rPr>
              <a:t>占全球圈养种群（约 757 只）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59736"/>
            <a:ext cx="3840480" cy="256032"/>
          </a:xfrm>
          <a:prstGeom prst="roundRect">
            <a:avLst>
              <a:gd name="adj" fmla="val 50000"/>
            </a:avLst>
          </a:prstGeom>
          <a:solidFill>
            <a:srgbClr val="EEE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459736"/>
            <a:ext cx="1319055" cy="256032"/>
          </a:xfrm>
          <a:prstGeom prst="roundRect">
            <a:avLst>
              <a:gd name="adj" fmla="val 50000"/>
            </a:avLst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459736"/>
            <a:ext cx="118872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201A"/>
                </a:solidFill>
                <a:latin typeface="Hiragino Sans GB"/>
                <a:ea typeface="Hiragino Sans GB"/>
              </a:rPr>
              <a:t>约 34%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24912"/>
            <a:ext cx="2331720" cy="1938528"/>
          </a:xfrm>
          <a:prstGeom prst="roundRect">
            <a:avLst>
              <a:gd name="adj" fmla="val 8000"/>
            </a:avLst>
          </a:prstGeom>
          <a:solidFill>
            <a:srgbClr val="EBF0ED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2907792"/>
            <a:ext cx="402336" cy="402336"/>
          </a:xfrm>
          <a:prstGeom prst="ellipse">
            <a:avLst/>
          </a:prstGeom>
          <a:solidFill>
            <a:srgbClr val="D8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hosphor_paw-print_3E6B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719" y="3012399"/>
            <a:ext cx="193121" cy="1931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08176" y="2944368"/>
            <a:ext cx="1435607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1"/>
                </a:solidFill>
                <a:latin typeface="Hiragino Sans GB"/>
                <a:ea typeface="Hiragino Sans GB"/>
              </a:rPr>
              <a:t>圈养大熊猫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1"/>
                </a:solidFill>
                <a:latin typeface="Hiragino Sans GB"/>
                <a:ea typeface="Hiragino Sans GB"/>
              </a:rPr>
              <a:t>截至 2024 年底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401568"/>
            <a:ext cx="1874519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3E6B52"/>
                </a:solidFill>
                <a:latin typeface="Helvetica Neue"/>
                <a:ea typeface="Songti SC"/>
              </a:rPr>
              <a:t>260</a:t>
            </a:r>
            <a:r>
              <a:rPr sz="1700" b="1" i="0">
                <a:solidFill>
                  <a:srgbClr val="4A4034"/>
                </a:solidFill>
                <a:latin typeface="Songti SC"/>
                <a:ea typeface="Songti SC"/>
              </a:rPr>
              <a:t> 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279392"/>
            <a:ext cx="20025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8271"/>
                </a:solidFill>
                <a:latin typeface="Hiragino Sans GB"/>
                <a:ea typeface="Hiragino Sans GB"/>
              </a:rPr>
              <a:t>从 6 只到 260 只，是一座城的耐心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27248" y="27889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0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hosphor_leaf_3E6B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2907791"/>
            <a:ext cx="219456" cy="2194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785615" y="2770632"/>
            <a:ext cx="2651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全球最大迁地保护种群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5615" y="3081527"/>
            <a:ext cx="265176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科研繁育三十余年，建成全球最大的大熊猫与小熊猫人工繁育种群。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27248" y="38862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0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hosphor_mountains_3E6B5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4005072"/>
            <a:ext cx="219456" cy="21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785615" y="3867912"/>
            <a:ext cx="265176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从抢救到兴旺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5615" y="4178808"/>
            <a:ext cx="265176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从 1987 年 6 只病饿个体起步，如今声名远播，是成都最治愈的城市名片。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成都·金沙太阳神鸟城徽" title="成都·金沙太阳神鸟城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09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E6B52"/>
                </a:solidFill>
                <a:latin typeface="Songti SC"/>
                <a:ea typeface="Songti SC"/>
              </a:rPr>
              <a:t>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生　活　节　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把时间泡进盖碗茶里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“巴适”与“安逸”，是成都写给生活的两个词</a:t>
            </a:r>
          </a:p>
        </p:txBody>
      </p:sp>
      <p:pic>
        <p:nvPicPr>
          <p:cNvPr id="10" name="Picture 9" descr="竹椅茶馆氛围图" title="竹椅茶馆氛围图"/>
          <p:cNvPicPr>
            <a:picLocks noChangeAspect="1"/>
          </p:cNvPicPr>
          <p:nvPr/>
        </p:nvPicPr>
        <p:blipFill>
          <a:blip r:embed="rId3"/>
          <a:srcRect t="24571" b="24571"/>
          <a:stretch>
            <a:fillRect/>
          </a:stretch>
        </p:blipFill>
        <p:spPr>
          <a:xfrm>
            <a:off x="658368" y="1810512"/>
            <a:ext cx="3200400" cy="1627632"/>
          </a:xfrm>
          <a:prstGeom prst="roundRect">
            <a:avLst>
              <a:gd name="adj" fmla="val 6741"/>
            </a:avLst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3529584"/>
            <a:ext cx="3200400" cy="1088136"/>
          </a:xfrm>
          <a:prstGeom prst="roundRect">
            <a:avLst>
              <a:gd name="adj" fmla="val 8000"/>
            </a:avLst>
          </a:prstGeom>
          <a:solidFill>
            <a:srgbClr val="EBF0ED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城徽" title="城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959352"/>
            <a:ext cx="512064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0976" y="3694176"/>
            <a:ext cx="237744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201A"/>
                </a:solidFill>
                <a:latin typeface="Songti SC"/>
                <a:ea typeface="Songti SC"/>
              </a:rPr>
              <a:t>茶馆里，一杯盖碗，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BE3A2C"/>
                </a:solidFill>
                <a:latin typeface="Songti SC"/>
                <a:ea typeface="Songti SC"/>
              </a:rPr>
              <a:t>能坐一下午。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288536"/>
            <a:ext cx="26517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034"/>
                </a:solidFill>
                <a:latin typeface="Hiragino Sans GB"/>
                <a:ea typeface="Hiragino Sans GB"/>
              </a:rPr>
              <a:t>竹椅、老茶、龙门阵，慢是一种生产力。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18288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0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hosphor_coffee_3E6B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232" y="1947672"/>
            <a:ext cx="219456" cy="2194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81728" y="1810512"/>
            <a:ext cx="3803903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盖碗三件套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121408"/>
            <a:ext cx="3803903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茶盖、茶碗、茶船，一套盖碗喝出一城闲情；老茶馆里是最真实的成都。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2889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0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hosphor_cards_3E6B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32" y="3008376"/>
            <a:ext cx="219456" cy="2194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81728" y="2871216"/>
            <a:ext cx="3803903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掏耳朵 · 摆龙门阵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3182112"/>
            <a:ext cx="3803903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采耳师的铜签、街边的家长里短，把松弛写进了日常肌理。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395020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0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hosphor_armchair_3E6B5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2232" y="4069080"/>
            <a:ext cx="219456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81728" y="3931920"/>
            <a:ext cx="3803903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夜生活不打烊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242816"/>
            <a:ext cx="3803903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从九眼桥到玉林路，火锅与小酒馆撑起中国最有烟火气的夜。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成都·金沙太阳神鸟城徽" title="成都·金沙太阳神鸟城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10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E6B52"/>
                </a:solidFill>
                <a:latin typeface="Songti SC"/>
                <a:ea typeface="Songti SC"/>
              </a:rPr>
              <a:t>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生　活　节　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雪山下的公园城市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2018 年，“公园城市”理念在成都天府新区首次提出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74519"/>
            <a:ext cx="2596896" cy="2308860"/>
          </a:xfrm>
          <a:prstGeom prst="roundRect">
            <a:avLst>
              <a:gd name="adj" fmla="val 8000"/>
            </a:avLst>
          </a:prstGeom>
          <a:solidFill>
            <a:srgbClr val="EDF1EF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67127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D8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hosphor_tree_3E6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314529"/>
            <a:ext cx="272125" cy="272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2898648"/>
            <a:ext cx="2048255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201A"/>
                </a:solidFill>
                <a:latin typeface="Songti SC"/>
                <a:ea typeface="Songti SC"/>
              </a:rPr>
              <a:t>公园城市首提地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282696"/>
            <a:ext cx="457200" cy="27432"/>
          </a:xfrm>
          <a:prstGeom prst="rect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92424"/>
            <a:ext cx="2048255" cy="6172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2018 年首提于天府新区；2022 年获批建设“践行新发展理念的公园城市示范区”。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3551" y="1874519"/>
            <a:ext cx="2596896" cy="2308860"/>
          </a:xfrm>
          <a:prstGeom prst="roundRect">
            <a:avLst>
              <a:gd name="adj" fmla="val 8000"/>
            </a:avLst>
          </a:prstGeom>
          <a:solidFill>
            <a:srgbClr val="EDF1EF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47871" y="2167127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D8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hosphor_bicycle_3E6B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273" y="2314529"/>
            <a:ext cx="272125" cy="2721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47871" y="2898648"/>
            <a:ext cx="2048255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201A"/>
                </a:solidFill>
                <a:latin typeface="Songti SC"/>
                <a:ea typeface="Songti SC"/>
              </a:rPr>
              <a:t>推窗见绿、出门进园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59" y="3282696"/>
            <a:ext cx="457200" cy="27432"/>
          </a:xfrm>
          <a:prstGeom prst="rect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1" y="3392424"/>
            <a:ext cx="2048255" cy="6172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以兴隆湖为核心的湖城生态圈与天府绿道，把公园铺进城市肌理。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1874519"/>
            <a:ext cx="2596896" cy="2308860"/>
          </a:xfrm>
          <a:prstGeom prst="roundRect">
            <a:avLst>
              <a:gd name="adj" fmla="val 8000"/>
            </a:avLst>
          </a:prstGeom>
          <a:solidFill>
            <a:srgbClr val="EDF1EF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55664" y="2167127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D8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hosphor_mountains_3E6B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065" y="2314529"/>
            <a:ext cx="272125" cy="2721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55664" y="2898648"/>
            <a:ext cx="2048255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201A"/>
                </a:solidFill>
                <a:latin typeface="Songti SC"/>
                <a:ea typeface="Songti SC"/>
              </a:rPr>
              <a:t>看得见雪山的城市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2" y="3282696"/>
            <a:ext cx="457200" cy="27432"/>
          </a:xfrm>
          <a:prstGeom prst="rect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3392424"/>
            <a:ext cx="2048255" cy="6172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空气通透时可在城区遥望贡嘎、四姑娘等雪山——“雪山下的公园城市”。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0A0"/>
                </a:solidFill>
                <a:latin typeface="Helvetica Neue"/>
                <a:ea typeface="Hiragino Sans GB"/>
              </a:rPr>
              <a:t>11</a:t>
            </a:r>
            <a:r>
              <a:rPr sz="900" b="0" i="0">
                <a:solidFill>
                  <a:srgbClr val="9AA0A0"/>
                </a:solidFill>
                <a:latin typeface="Helvetica Neue"/>
                <a:ea typeface="Hiragino Sans GB"/>
              </a:rPr>
              <a:t> / 14</a:t>
            </a:r>
          </a:p>
        </p:txBody>
      </p:sp>
      <p:pic>
        <p:nvPicPr>
          <p:cNvPr id="4" name="Picture 3" descr="成都·金沙太阳神鸟城徽" title="成都·金沙太阳神鸟城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5A69"/>
                </a:solidFill>
                <a:latin typeface="Songti SC"/>
                <a:ea typeface="Songti SC"/>
              </a:rPr>
              <a:t>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7AE97"/>
                </a:solidFill>
                <a:latin typeface="Hiragino Sans GB"/>
                <a:ea typeface="Hiragino Sans GB"/>
              </a:rPr>
              <a:t>科　技　产　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ECDD"/>
                </a:solidFill>
                <a:latin typeface="Songti SC"/>
                <a:ea typeface="Songti SC"/>
              </a:rPr>
              <a:t>松弛之外，是硬核的成都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2E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6BCA6"/>
                </a:solidFill>
                <a:latin typeface="Hiragino Sans GB"/>
                <a:ea typeface="Hiragino Sans GB"/>
              </a:rPr>
              <a:t>连续多年位居“新一线城市”榜首，休闲之城也是产业之城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40233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FB3BE"/>
                </a:solidFill>
                <a:latin typeface="Hiragino Sans GB"/>
                <a:ea typeface="Hiragino Sans GB"/>
              </a:rPr>
              <a:t>电子信息产业规模（万亿元）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148840"/>
          <a:ext cx="393192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58368" y="4526280"/>
            <a:ext cx="40233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AC4"/>
                </a:solidFill>
                <a:latin typeface="Hiragino Sans GB"/>
                <a:ea typeface="Hiragino Sans GB"/>
              </a:rPr>
              <a:t>2020 年破万亿——成都、四川首个万亿级产业。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847088"/>
            <a:ext cx="1993392" cy="1170432"/>
          </a:xfrm>
          <a:prstGeom prst="roundRect">
            <a:avLst>
              <a:gd name="adj" fmla="val 8000"/>
            </a:avLst>
          </a:prstGeom>
          <a:solidFill>
            <a:srgbClr val="1B3A45"/>
          </a:solidFill>
          <a:ln w="12700">
            <a:solidFill>
              <a:srgbClr val="35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09160" y="2029968"/>
            <a:ext cx="402336" cy="402336"/>
          </a:xfrm>
          <a:prstGeom prst="ellipse">
            <a:avLst/>
          </a:prstGeom>
          <a:solidFill>
            <a:srgbClr val="2B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hosphor_cpu_B986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767" y="2134575"/>
            <a:ext cx="193121" cy="1931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12080" y="2066543"/>
            <a:ext cx="1216152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E9DA"/>
                </a:solidFill>
                <a:latin typeface="Songti SC"/>
                <a:ea typeface="Songti SC"/>
              </a:rPr>
              <a:t>双万亿产业集群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596896"/>
            <a:ext cx="1627632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AC4"/>
                </a:solidFill>
                <a:latin typeface="Hiragino Sans GB"/>
                <a:ea typeface="Hiragino Sans GB"/>
              </a:rPr>
              <a:t>电子信息、装备制造均达万亿级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2552" y="1847088"/>
            <a:ext cx="1993392" cy="1170432"/>
          </a:xfrm>
          <a:prstGeom prst="roundRect">
            <a:avLst>
              <a:gd name="adj" fmla="val 8000"/>
            </a:avLst>
          </a:prstGeom>
          <a:solidFill>
            <a:srgbClr val="1B3A45"/>
          </a:solidFill>
          <a:ln w="12700">
            <a:solidFill>
              <a:srgbClr val="35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85432" y="2029968"/>
            <a:ext cx="402336" cy="402336"/>
          </a:xfrm>
          <a:prstGeom prst="ellipse">
            <a:avLst/>
          </a:prstGeom>
          <a:solidFill>
            <a:srgbClr val="2B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hosphor_airplane-tilt_B986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0039" y="2134575"/>
            <a:ext cx="193121" cy="19312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88352" y="2066543"/>
            <a:ext cx="1216152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E9DA"/>
                </a:solidFill>
                <a:latin typeface="Songti SC"/>
                <a:ea typeface="Songti SC"/>
              </a:rPr>
              <a:t>中国内地第三座双机场城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2596896"/>
            <a:ext cx="1627632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AC4"/>
                </a:solidFill>
                <a:latin typeface="Hiragino Sans GB"/>
                <a:ea typeface="Hiragino Sans GB"/>
              </a:rPr>
              <a:t>天府国际机场 2021 年投运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200400"/>
            <a:ext cx="1993392" cy="1170432"/>
          </a:xfrm>
          <a:prstGeom prst="roundRect">
            <a:avLst>
              <a:gd name="adj" fmla="val 8000"/>
            </a:avLst>
          </a:prstGeom>
          <a:solidFill>
            <a:srgbClr val="1B3A45"/>
          </a:solidFill>
          <a:ln w="12700">
            <a:solidFill>
              <a:srgbClr val="35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09160" y="3383280"/>
            <a:ext cx="402336" cy="402336"/>
          </a:xfrm>
          <a:prstGeom prst="ellipse">
            <a:avLst/>
          </a:prstGeom>
          <a:solidFill>
            <a:srgbClr val="2B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hosphor_train_B986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3767" y="3487887"/>
            <a:ext cx="193121" cy="19312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212080" y="3419856"/>
            <a:ext cx="1216152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E9DA"/>
                </a:solidFill>
                <a:latin typeface="Songti SC"/>
                <a:ea typeface="Songti SC"/>
              </a:rPr>
              <a:t>地铁运营里程全国第四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950208"/>
            <a:ext cx="1627632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AC4"/>
                </a:solidFill>
                <a:latin typeface="Hiragino Sans GB"/>
                <a:ea typeface="Hiragino Sans GB"/>
              </a:rPr>
              <a:t>约 673 公里 · 截至 2024 年底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02552" y="3200400"/>
            <a:ext cx="1993392" cy="1170432"/>
          </a:xfrm>
          <a:prstGeom prst="roundRect">
            <a:avLst>
              <a:gd name="adj" fmla="val 8000"/>
            </a:avLst>
          </a:prstGeom>
          <a:solidFill>
            <a:srgbClr val="1B3A45"/>
          </a:solidFill>
          <a:ln w="12700">
            <a:solidFill>
              <a:srgbClr val="35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85432" y="3383280"/>
            <a:ext cx="402336" cy="402336"/>
          </a:xfrm>
          <a:prstGeom prst="ellipse">
            <a:avLst/>
          </a:prstGeom>
          <a:solidFill>
            <a:srgbClr val="2B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hosphor_game-controller_B986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0039" y="3487887"/>
            <a:ext cx="193121" cy="19312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88352" y="3419856"/>
            <a:ext cx="1216152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0E9DA"/>
                </a:solidFill>
                <a:latin typeface="Songti SC"/>
                <a:ea typeface="Songti SC"/>
              </a:rPr>
              <a:t>国民手游诞生地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3950208"/>
            <a:ext cx="1627632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AC4"/>
                </a:solidFill>
                <a:latin typeface="Hiragino Sans GB"/>
                <a:ea typeface="Hiragino Sans GB"/>
              </a:rPr>
              <a:t>《王者荣耀》由成都团队研发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成都·金沙太阳神鸟城徽" title="成都·金沙太阳神鸟城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12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E3A2C"/>
                </a:solidFill>
                <a:latin typeface="Songti SC"/>
                <a:ea typeface="Songti SC"/>
              </a:rPr>
              <a:t>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旅　行　建　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成都怎么玩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来之前，先记住这三件事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2596896" cy="281178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530352" cy="530352"/>
          </a:xfrm>
          <a:prstGeom prst="roundRect">
            <a:avLst>
              <a:gd name="adj" fmla="val 24000"/>
            </a:avLst>
          </a:prstGeom>
          <a:solidFill>
            <a:srgbClr val="F4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hosphor_calendar-dots_BE3A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1" y="2241011"/>
            <a:ext cx="254568" cy="254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98448" y="2212848"/>
            <a:ext cx="149961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201A"/>
                </a:solidFill>
                <a:latin typeface="Songti SC"/>
                <a:ea typeface="Songti SC"/>
              </a:rPr>
              <a:t>何时来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90088"/>
            <a:ext cx="73152" cy="73152"/>
          </a:xfrm>
          <a:prstGeom prst="roundRect">
            <a:avLst>
              <a:gd name="adj" fmla="val 8000"/>
            </a:avLst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880360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春（3–5 月）赏花、秋（9–11 月）观银杏最宜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48456"/>
            <a:ext cx="73152" cy="73152"/>
          </a:xfrm>
          <a:prstGeom prst="roundRect">
            <a:avLst>
              <a:gd name="adj" fmla="val 8000"/>
            </a:avLst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538728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冬季温和少雪，可顺访西岭雪山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306824"/>
            <a:ext cx="73152" cy="73152"/>
          </a:xfrm>
          <a:prstGeom prst="roundRect">
            <a:avLst>
              <a:gd name="adj" fmla="val 8000"/>
            </a:avLst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197096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避开盛夏闷热与节假日高峰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3551" y="1828800"/>
            <a:ext cx="2596896" cy="281178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47871" y="2103120"/>
            <a:ext cx="530352" cy="530352"/>
          </a:xfrm>
          <a:prstGeom prst="roundRect">
            <a:avLst>
              <a:gd name="adj" fmla="val 24000"/>
            </a:avLst>
          </a:prstGeom>
          <a:solidFill>
            <a:srgbClr val="F3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hosphor_map-pin_B986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763" y="2241011"/>
            <a:ext cx="254568" cy="2545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06240" y="2212848"/>
            <a:ext cx="149961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201A"/>
                </a:solidFill>
                <a:latin typeface="Songti SC"/>
                <a:ea typeface="Songti SC"/>
              </a:rPr>
              <a:t>看什么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59" y="2990088"/>
            <a:ext cx="73152" cy="73152"/>
          </a:xfrm>
          <a:prstGeom prst="roundRect">
            <a:avLst>
              <a:gd name="adj" fmla="val 8000"/>
            </a:avLst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2880360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熊猫基地 · 看国宝卖萌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59" y="3648456"/>
            <a:ext cx="73152" cy="73152"/>
          </a:xfrm>
          <a:prstGeom prst="roundRect">
            <a:avLst>
              <a:gd name="adj" fmla="val 8000"/>
            </a:avLst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538728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宽窄巷子 · 锦里 · 武侯祠 · 杜甫草堂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59" y="4306824"/>
            <a:ext cx="73152" cy="73152"/>
          </a:xfrm>
          <a:prstGeom prst="roundRect">
            <a:avLst>
              <a:gd name="adj" fmla="val 8000"/>
            </a:avLst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4197096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都江堰—青城山 · 春熙路太古里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1828800"/>
            <a:ext cx="2596896" cy="281178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55664" y="2103120"/>
            <a:ext cx="530352" cy="530352"/>
          </a:xfrm>
          <a:prstGeom prst="roundRect">
            <a:avLst>
              <a:gd name="adj" fmla="val 24000"/>
            </a:avLst>
          </a:prstGeom>
          <a:solidFill>
            <a:srgbClr val="DD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hosphor_train_2E5A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555" y="2241011"/>
            <a:ext cx="254568" cy="2545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114031" y="2212848"/>
            <a:ext cx="149961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201A"/>
                </a:solidFill>
                <a:latin typeface="Songti SC"/>
                <a:ea typeface="Songti SC"/>
              </a:rPr>
              <a:t>怎么走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73952" y="2990088"/>
            <a:ext cx="73152" cy="73152"/>
          </a:xfrm>
          <a:prstGeom prst="roundRect">
            <a:avLst>
              <a:gd name="adj" fmla="val 8000"/>
            </a:avLst>
          </a:prstGeom>
          <a:solidFill>
            <a:srgbClr val="2E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1" y="2880360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双国际机场，高铁通达全国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73952" y="3648456"/>
            <a:ext cx="73152" cy="73152"/>
          </a:xfrm>
          <a:prstGeom prst="roundRect">
            <a:avLst>
              <a:gd name="adj" fmla="val 8000"/>
            </a:avLst>
          </a:prstGeom>
          <a:solidFill>
            <a:srgbClr val="2E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1" y="3538728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地铁 600+ 公里，景点多可直达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73952" y="4306824"/>
            <a:ext cx="73152" cy="73152"/>
          </a:xfrm>
          <a:prstGeom prst="roundRect">
            <a:avLst>
              <a:gd name="adj" fmla="val 8000"/>
            </a:avLst>
          </a:prstGeom>
          <a:solidFill>
            <a:srgbClr val="2E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1" y="4197096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市内共享单车 + 步行最惬意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成都·金沙太阳神鸟城徽" title="成都·金沙太阳神鸟城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13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E3A2C"/>
                </a:solidFill>
                <a:latin typeface="Songti SC"/>
                <a:ea typeface="Songti SC"/>
              </a:rPr>
              <a:t>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旅　行　建　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三日锦城：一条顺畅的经典动线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慢慢走，才对得起这座城市的节奏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2596896" cy="235458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365760" y="1828800"/>
            <a:ext cx="2596896" cy="56692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929384"/>
            <a:ext cx="213969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F7EC"/>
                </a:solidFill>
                <a:latin typeface="Helvetica Neue"/>
                <a:ea typeface="Hiragino Sans GB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5" y="1947672"/>
            <a:ext cx="12801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F7EC"/>
                </a:solidFill>
                <a:latin typeface="Songti SC"/>
                <a:ea typeface="Songti SC"/>
              </a:rPr>
              <a:t>萌与市井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15184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E3A2C"/>
                </a:solidFill>
                <a:latin typeface="Hiragino Sans GB"/>
                <a:ea typeface="Hiragino Sans GB"/>
              </a:rPr>
              <a:t>上午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596896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成都大熊猫繁育研究基地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" y="2999232"/>
            <a:ext cx="1993391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82112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E3A2C"/>
                </a:solidFill>
                <a:latin typeface="Hiragino Sans GB"/>
                <a:ea typeface="Hiragino Sans GB"/>
              </a:rPr>
              <a:t>下午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163824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金沙遗址博物馆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" y="3566160"/>
            <a:ext cx="1993391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E3A2C"/>
                </a:solidFill>
                <a:latin typeface="Hiragino Sans GB"/>
                <a:ea typeface="Hiragino Sans GB"/>
              </a:rPr>
              <a:t>晚上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730752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宽窄巷子 · 盖碗茶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73551" y="1828800"/>
            <a:ext cx="2596896" cy="235458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3273551" y="1828800"/>
            <a:ext cx="2596896" cy="56692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9583" y="1929384"/>
            <a:ext cx="213969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F7EC"/>
                </a:solidFill>
                <a:latin typeface="Helvetica Neue"/>
                <a:ea typeface="Hiragino Sans GB"/>
              </a:rPr>
              <a:t>DAY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1947672"/>
            <a:ext cx="12801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F7EC"/>
                </a:solidFill>
                <a:latin typeface="Songti SC"/>
                <a:ea typeface="Songti SC"/>
              </a:rPr>
              <a:t>三国与潮流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1" y="2615184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9863A"/>
                </a:solidFill>
                <a:latin typeface="Hiragino Sans GB"/>
                <a:ea typeface="Hiragino Sans GB"/>
              </a:rPr>
              <a:t>上午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2596896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武侯祠 · 锦里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84447" y="2999232"/>
            <a:ext cx="1993391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7871" y="3182112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9863A"/>
                </a:solidFill>
                <a:latin typeface="Hiragino Sans GB"/>
                <a:ea typeface="Hiragino Sans GB"/>
              </a:rPr>
              <a:t>下午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163824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杜甫草堂 · 人民公园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4447" y="3566160"/>
            <a:ext cx="1993391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7871" y="3749039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9863A"/>
                </a:solidFill>
                <a:latin typeface="Hiragino Sans GB"/>
                <a:ea typeface="Hiragino Sans GB"/>
              </a:rPr>
              <a:t>晚上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730752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春熙路 · 太古里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828800"/>
            <a:ext cx="2596896" cy="235458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6181344" y="1828800"/>
            <a:ext cx="2596896" cy="56692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6" y="1929384"/>
            <a:ext cx="213969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F7EC"/>
                </a:solidFill>
                <a:latin typeface="Helvetica Neue"/>
                <a:ea typeface="Hiragino Sans GB"/>
              </a:rPr>
              <a:t>DAY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59" y="1947672"/>
            <a:ext cx="12801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F7EC"/>
                </a:solidFill>
                <a:latin typeface="Songti SC"/>
                <a:ea typeface="Songti SC"/>
              </a:rPr>
              <a:t>山水一日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2615184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6B52"/>
                </a:solidFill>
                <a:latin typeface="Hiragino Sans GB"/>
                <a:ea typeface="Hiragino Sans GB"/>
              </a:rPr>
              <a:t>上午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1" y="2596896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都江堰水利工程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2999232"/>
            <a:ext cx="1993391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5664" y="3182112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6B52"/>
                </a:solidFill>
                <a:latin typeface="Hiragino Sans GB"/>
                <a:ea typeface="Hiragino Sans GB"/>
              </a:rPr>
              <a:t>下午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4031" y="3163824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青城山问道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566160"/>
            <a:ext cx="1993391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4" y="3749039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6B52"/>
                </a:solidFill>
                <a:latin typeface="Hiragino Sans GB"/>
                <a:ea typeface="Hiragino Sans GB"/>
              </a:rPr>
              <a:t>晚上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4031" y="3730752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返程 · 带一箱花椒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金沙太阳神鸟" title="金沙太阳神鸟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822960"/>
            <a:ext cx="3383280" cy="3383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" y="640080"/>
            <a:ext cx="603504" cy="603504"/>
          </a:xfrm>
          <a:prstGeom prst="roundRect">
            <a:avLst>
              <a:gd name="adj" fmla="val 10000"/>
            </a:avLst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3582" y="700430"/>
            <a:ext cx="482803" cy="482803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F3E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0080"/>
            <a:ext cx="603504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3ECDD"/>
                </a:solidFill>
                <a:latin typeface="Songti SC"/>
                <a:ea typeface="Hiragino Sans GB"/>
              </a:rPr>
              <a:t>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10512"/>
            <a:ext cx="5852160" cy="1554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F3ECDD"/>
                </a:solidFill>
                <a:latin typeface="Songti SC"/>
                <a:ea typeface="Songti SC"/>
              </a:rPr>
              <a:t>来了，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B9863A"/>
                </a:solidFill>
                <a:latin typeface="Songti SC"/>
                <a:ea typeface="Songti SC"/>
              </a:rPr>
              <a:t>就不想走。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493008"/>
            <a:ext cx="1097280" cy="54864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675887"/>
            <a:ext cx="731520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6BCA6"/>
                </a:solidFill>
                <a:latin typeface="Hiragino Sans GB"/>
                <a:ea typeface="Hiragino Sans GB"/>
              </a:rPr>
              <a:t>成都 · 一座把日子过成诗的城市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35711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8C8474"/>
                </a:solidFill>
                <a:latin typeface="Hiragino Sans GB"/>
                <a:ea typeface="Hiragino Sans GB"/>
              </a:rPr>
              <a:t>数据来源：成都市 2024 年国民经济和社会发展统计公报、联合国教科文组织、成都大熊猫繁育研究基地、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8C8474"/>
                </a:solidFill>
                <a:latin typeface="Hiragino Sans GB"/>
                <a:ea typeface="Hiragino Sans GB"/>
              </a:rPr>
              <a:t>交通运输部、新华社、四川省人民政府网等公开资料；数据截至 2024 年（部分含 2025 年更新）· 整理于 2026 年 7 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