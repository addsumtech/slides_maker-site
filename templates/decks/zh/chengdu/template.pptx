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规模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晨雾城市远景" title="成都晨雾城市远景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gradFill>
            <a:gsLst>
              <a:gs pos="0">
                <a:srgbClr val="F5EFE2">
                  <a:alpha val="82000"/>
                </a:srgbClr>
              </a:gs>
              <a:gs pos="50000">
                <a:srgbClr val="F5EFE2">
                  <a:alpha val="42000"/>
                </a:srgbClr>
              </a:gs>
              <a:gs pos="100000">
                <a:srgbClr val="F5EFE2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91939"/>
            <a:ext cx="6126480" cy="1051560"/>
          </a:xfrm>
          <a:prstGeom prst="rect">
            <a:avLst/>
          </a:prstGeom>
          <a:gradFill>
            <a:gsLst>
              <a:gs pos="0">
                <a:srgbClr val="F5EFE2">
                  <a:alpha val="0"/>
                </a:srgbClr>
              </a:gs>
              <a:gs pos="100000">
                <a:srgbClr val="F5EFE2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成都·金沙太阳神鸟城徽" title="成都·金沙太阳神鸟城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10896"/>
            <a:ext cx="475488" cy="475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天 府 之 国 · 锦 官 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74519"/>
            <a:ext cx="5669280" cy="17373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2800" b="1" i="0">
                <a:solidFill>
                  <a:srgbClr val="25201A"/>
                </a:solidFill>
                <a:latin typeface="Songti SC"/>
                <a:ea typeface="Songti SC"/>
              </a:rPr>
              <a:t>成都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一座来了就不想走的城市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城市介绍 · 旅行推介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城　市　名　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两千万人的烟火，与两万亿的雄心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四川省会 · 副省级市 · 成渝地区双城经济圈极核之一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2147.4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常住人口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地区生产总值 · 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1.43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市域面积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常住人口城镇化率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346704"/>
            <a:ext cx="7827264" cy="105156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蓉城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市花芙蓉，五代后蜀遍植芙蓉得名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锦城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汉代蜀锦名动天下，设“锦官”专管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天府之国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都江堰润泽，沃野千里旱涝从人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城　市　名　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一方水土：温润盆地养出的松弛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地处四川盆地西部、成都平原腹地，岷江水系穿城而过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城徽" title="城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区位速览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方位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953512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四川盆地西部 · 成都平原腹地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海拔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611880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平原约 500 米，西高东低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水系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4270248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岷江 · 沱江水系，锦江穿城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4767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81051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亚热带湿润气候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12140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四季分明、冬无严寒；云多雾润，“蜀犬吠日”少见烈日，体感温和。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3008376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871216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水润之城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182112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岷江、府河、锦江环绕，都江堰无坝引水，平原旱涝从人。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4069080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931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市花芙蓉 · 市树银杏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242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深秋芙蓉夹岸、银杏满城，是成都最上镜的两种颜色。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城名未改、城址未移，三千年不断的文脉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从金沙的太阳神鸟，到至今奔流的都江堰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约前 1200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金沙 · 太阳神鸟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古蜀都邑，2001 年出土；金饰含金量 94.2%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公元前 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都江堰 · 李冰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无坝引水，至今灌溉；天府之国由此而来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秦 · 定名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“成都”之名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两千三百余年，城名未改、城址未移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公元 2000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青城山—都江堰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列入《世界遗产名录》，仍在服役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三星堆与金沙，是古蜀文明的“双子星”；成都，是至今仍在生长的活态古城。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三国的忠魂，诗圣的草堂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半部三国在西蜀，一座草堂载唐诗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武侯祠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中国唯一君臣合祀的祠庙，纪念诸葛亮与刘备；红墙竹影，与民俗“锦里”一墙之隔，“西蜀第一街”烟火不息。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杜甫草堂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杜甫避安史之乱寓居于此近四年，留诗二百四十余首；“万里桥西一草堂”，成都由此成为唐诗地图上的坐标。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E3A2C"/>
                </a:solidFill>
                <a:latin typeface="Songti SC"/>
                <a:ea typeface="Songti SC"/>
              </a:rPr>
              <a:t>“晓看红湿处，花重锦官城。”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—— 杜甫《春夜喜雨》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蜀风雅韵：一针、一线、一张脸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把日子过成手艺，是成都的另一种天赋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蜀锦 · 蜀绣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蜀锦为“中国四大名锦”之一，蜀绣为“四大名绣”之一；经纬之间，织就两千年锦城之名，也是最早的成都出口。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川剧 · 变脸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喷火、变脸、滚灯，一秒换一张脸的绝活；戏台就在茶馆里，二十八块钱一碗盖碗茶，边喝边看。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宽窄巷子 · 锦里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青砖黛瓦的老成都缩影：喝茶、掏耳朵、听戏、逛街，市井生活本身就是最热闹的文化现场。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美　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食在中国，味在成都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2010 年，成都成为联合国教科文组织授予的亚洲第一个“世界美食之都”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20040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0E4CC"/>
                </a:solidFill>
                <a:latin typeface="Hiragino Sans GB"/>
                <a:ea typeface="Hiragino Sans GB"/>
              </a:rPr>
              <a:t>亚洲首个 · 世界美食之都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创意城市网络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川菜为四大菜系之一 · 一菜一格，百菜百味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火锅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7024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串串香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麻婆豆腐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回锅肉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07024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宫保鸡丁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87768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担担面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钟水饺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07024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龙抄手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7768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夫妻肺片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麻、辣、鲜、香之外，更藏着回甜与醇厚。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大　熊　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住在成都的“国宝”，全球最大的家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成都大熊猫繁育研究基地：从 6 只抢救个体，到全球最大的迁地保护种群</a:t>
            </a:r>
          </a:p>
        </p:txBody>
      </p:sp>
      <p:pic>
        <p:nvPicPr>
          <p:cNvPr id="11" name="Picture 10" descr="熊猫竹林氛围图" title="熊猫竹林氛围图"/>
          <p:cNvPicPr>
            <a:picLocks noChangeAspect="1"/>
          </p:cNvPicPr>
          <p:nvPr/>
        </p:nvPicPr>
        <p:blipFill>
          <a:blip r:embed="rId3"/>
          <a:srcRect l="13651" r="13651"/>
          <a:stretch>
            <a:fillRect/>
          </a:stretch>
        </p:blipFill>
        <p:spPr>
          <a:xfrm>
            <a:off x="6355080" y="1755648"/>
            <a:ext cx="2130551" cy="2930652"/>
          </a:xfrm>
          <a:prstGeom prst="roundRect">
            <a:avLst>
              <a:gd name="adj" fmla="val 515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2148840"/>
            <a:ext cx="384048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占全球圈养种群（约 757 只）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59736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459736"/>
            <a:ext cx="1319055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59736"/>
            <a:ext cx="118872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约 34%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578608"/>
            <a:ext cx="2331720" cy="2121408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779776"/>
            <a:ext cx="402336" cy="402336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paw-print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19" y="2884383"/>
            <a:ext cx="193121" cy="1931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08176" y="2816352"/>
            <a:ext cx="143560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圈养大熊猫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截至 2024 年底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364991"/>
            <a:ext cx="1874519" cy="74980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  <a:r>
              <a:rPr sz="1700" b="1" i="0">
                <a:solidFill>
                  <a:srgbClr val="4A4034"/>
                </a:solidFill>
                <a:latin typeface="Songti SC"/>
                <a:ea typeface="Songti SC"/>
              </a:rPr>
              <a:t> 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279392"/>
            <a:ext cx="2002536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271"/>
                </a:solidFill>
                <a:latin typeface="Hiragino Sans GB"/>
                <a:ea typeface="Hiragino Sans GB"/>
              </a:rPr>
              <a:t>从 6 只到 260 只，是一座城的耐心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54680" y="27432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hosphor_leaf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2862072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813048" y="2724912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全球最大迁地保护种群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048" y="3035808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三十余年科研繁育，建成全球最大的大熊猫人工繁育种群，也是最大的小熊猫圈养种群。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730752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mountains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52" y="3849624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813048" y="3712464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从抢救到兴旺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3048" y="4023360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1987 年以 6 只病饿个体起步，如今“熊猫工厂”声名远播，是成都最治愈的城市名片。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生　活　节　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把时间泡进盖碗茶里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“巴适”与“安逸”，是成都写给生活的两个词</a:t>
            </a:r>
          </a:p>
        </p:txBody>
      </p:sp>
      <p:pic>
        <p:nvPicPr>
          <p:cNvPr id="10" name="Picture 9" descr="竹椅茶馆氛围图" title="竹椅茶馆氛围图"/>
          <p:cNvPicPr>
            <a:picLocks noChangeAspect="1"/>
          </p:cNvPicPr>
          <p:nvPr/>
        </p:nvPicPr>
        <p:blipFill>
          <a:blip r:embed="rId3"/>
          <a:srcRect t="24571" b="24571"/>
          <a:stretch>
            <a:fillRect/>
          </a:stretch>
        </p:blipFill>
        <p:spPr>
          <a:xfrm>
            <a:off x="658368" y="1810512"/>
            <a:ext cx="3200400" cy="1627632"/>
          </a:xfrm>
          <a:prstGeom prst="roundRect">
            <a:avLst>
              <a:gd name="adj" fmla="val 6741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3529584"/>
            <a:ext cx="3200400" cy="1088136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城徽" title="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59352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694176"/>
            <a:ext cx="23774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茶馆里，一杯盖碗，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E3A2C"/>
                </a:solidFill>
                <a:latin typeface="Songti SC"/>
                <a:ea typeface="Songti SC"/>
              </a:rPr>
              <a:t>能坐一下午。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288536"/>
            <a:ext cx="26517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竹椅、老茶、龙门阵，慢是一种生产力。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sphor_coffe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2" y="19476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81728" y="1810512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盖碗三件套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121408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茶盖、茶碗、茶船，一套盖碗喝出一城闲情；老茶馆里是最真实的成都。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card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00837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81728" y="2871216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掏耳朵 · 摆龙门阵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182112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采耳师的铜签、街边的家长里短，把松弛写进了日常肌理。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armchair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40690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81728" y="3931920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夜生活不打烊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242816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从九眼桥到玉林路，火锅与小酒馆撑起中国最有烟火气的夜。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生　活　节　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雪山下的公园城市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2018 年，“公园城市”理念在成都天府新区首次提出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公园城市首提地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2018 年首提于天府新区；2022 年获批建设“践行新发展理念的公园城市示范区”。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推窗见绿、出门进园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以兴隆湖为核心的湖城生态圈与天府绿道，把公园铺进城市肌理。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看得见雪山的城市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空气通透时可在城区遥望贡嘎、四姑娘等雪山——“雪山下的公园城市”。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科　技　产　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松弛之外，是硬核的成都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连续多年位居“新一线城市”榜首，休闲之城也是产业之城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电子信息产业规模（万亿元）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2020 年破万亿——成都、四川首个万亿级产业。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66543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双万亿产业集群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596896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电子信息、装备制造均达万亿级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66543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中国内地第三座双机场城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596896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天府国际机场 2021 年投运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198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地铁运营里程全国第四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50208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约 673 公里 · 截至 2024 年底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198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国民手游诞生地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50208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《王者荣耀》由成都团队研发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旅　行　建　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成都怎么玩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来之前，先记住这三件事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何时来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春（3–5 月）赏花、秋（9–11 月）观银杏最宜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冬季温和少雪，可顺访西岭雪山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避开盛夏闷热与节假日高峰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看什么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熊猫基地 · 看国宝卖萌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宽窄巷子 · 锦里 · 武侯祠 · 杜甫草堂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都江堰—青城山 · 春熙路太古里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双国际机场，高铁通达全国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地铁 600+ 公里，景点多可直达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市内共享单车 + 步行最惬意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旅　行　建　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三日锦城：一条顺畅的经典动线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慢慢走，才对得起这座城市的节奏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5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萌与市井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成都大熊猫繁育研究基地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金沙遗址博物馆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宽窄巷子 · 盖碗茶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三国与潮流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武侯祠 · 锦里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杜甫草堂 · 人民公园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春熙路 · 太古里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59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山水一日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1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都江堰水利工程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1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青城山问道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4031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返程 · 带一箱花椒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金沙太阳神鸟" title="金沙太阳神鸟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3ECDD"/>
                </a:solidFill>
                <a:latin typeface="Songti SC"/>
                <a:ea typeface="Songti SC"/>
              </a:rPr>
              <a:t>来了，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B9863A"/>
                </a:solidFill>
                <a:latin typeface="Songti SC"/>
                <a:ea typeface="Songti SC"/>
              </a:rPr>
              <a:t>就不想走。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成都 · 一座把日子过成诗的城市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数据来源：成都市 2024 年国民经济和社会发展统计公报、联合国教科文组织、成都大熊猫繁育研究基地、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交通运输部、新华社、四川省人民政府网等公开资料；数据截至 2024 年（部分含 2025 年更新）· 整理于 2026 年 7 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