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开场亮出承诺：人类历史上第一次，一个人的产出可以顶得上一整家公司。这场分享，就是这个论断背后的结构 —— AI 创造的杠杆、一套真实的工作流、用到的工具，以及必须诚实面对的局限。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两个事实。其一，单人经济本就体量惊人 —— 美国有三千多万家没有雇员的企业。其二，AI 领域最聪明的那批人相信，一个人的产出上限即将被打破。把这两点放在一起看。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三件事同时发生了。专业能力变便宜了。模型不再只是回答，而是开始动手做。而且一切都能拼装。单看每一件都挺有意思；合在一起，它们就抹掉了你当初非招人不可的理由。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纳瓦尔那把老阶梯：人力和资本都需要许可 —— 得有人点头才行。代码和媒体不用，它们零成本复制。AI 又加上了新的最高一阶 —— 按 token 租来的认知。整场分享，就站在这一阶之上。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这就是那个心智模型。你不再是一名员工 —— 你就是那张组织架构图。这里的每一项，从前都是一次招聘、一个部门、一份薪水。现在，每一项都是你亲自驱动的一种能力。而你，是那个唯一无法被自动化的节点：判断力。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一个真实的循环。你来定规格 —— 这是判断。AI 起草、运行、修错 —— 这是生产。你为品味把关，然后上线。那条虚线，就是你一整天都在跑的循环。注意：人待在那个唯一的琥珀色节点上。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这是一套真实的技术栈，按职能分组。每一个从前意味着供应商合同或一次招聘的格子，如今都成了一项订阅。重点不在具体是哪几个名字 —— 它们会变 —— 重点是，整家公司塞进了一块屏幕。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这是那道杠杆的算术题。AI 不会给你更多小时；它挪动的是你的小时该花在哪里。左边那一打任务，刚刚变便宜了。右边那一件 —— 你的判断力 —— 则成了工作的全部。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现在说说诚实的那一面。让一个人变强大的那件事 —— 没有协作成本 —— 也让他变脆弱。你就是那个备份，而备份并不存在。杠杆是双刃的；要有意识地为坏的一面做好设计。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那么，什么还是你的？一切模型没法同样租给你对手的东西。品味、判断、关系、担责。当工具人人平等，唯一剩下的优势，就是那个握着工具、决定指向的人 —— 这就是如今这盘棋的全部。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别指望周五就变成一人独角兽。挑一个循环。把你的上下文喂给 AI，留一道审核关，衡量真正上线了什么，然后让它复利。未来不是一次跳跃 —— 而是一个循环，接着又一个循环。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用这一句收尾：现在，你就是那张组织架构图。租下那些头脑，守住你的判断，这周就从一个循环开始。谢谢大家。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E1542A"/>
                </a:solidFill>
                <a:latin typeface="Menlo"/>
                <a:ea typeface="Hiragino Sans GB"/>
              </a:rPr>
              <a:t>一场关于工作、杠杆与 AI 的个人分享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298448"/>
            <a:ext cx="521208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EDE9DF"/>
                </a:solidFill>
                <a:latin typeface="Avenir Next"/>
                <a:ea typeface="Hiragino Sans GB"/>
              </a:rPr>
              <a:t>一个人的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EDE9DF"/>
                </a:solidFill>
                <a:latin typeface="Avenir Next"/>
                <a:ea typeface="Hiragino Sans GB"/>
              </a:rPr>
              <a:t>公司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3072384"/>
            <a:ext cx="1371600" cy="54864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512064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EDE9DF"/>
                </a:solidFill>
                <a:latin typeface="Avenir Next"/>
                <a:ea typeface="Hiragino Sans GB"/>
              </a:rPr>
              <a:t>为什么一个人如今也能像一支团队一样运转 ——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C3BDAF"/>
                </a:solidFill>
                <a:latin typeface="Avenir Next"/>
                <a:ea typeface="Hiragino Sans GB"/>
              </a:rPr>
              <a:t>以及 AI 交到你手里的那份杠杆。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90288"/>
            <a:ext cx="5486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9486"/>
                </a:solidFill>
                <a:latin typeface="Avenir Next"/>
                <a:ea typeface="Hiragino Sans GB"/>
              </a:rPr>
              <a:t>一场写给创造者、独立创业者与好奇团队的趋势分享   ·   2026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7333488" y="1417319"/>
            <a:ext cx="0" cy="1234441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7333488" y="1882099"/>
            <a:ext cx="965124" cy="769661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33488" y="2651760"/>
            <a:ext cx="1203490" cy="274688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333488" y="2651760"/>
            <a:ext cx="535603" cy="1112192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797884" y="2651760"/>
            <a:ext cx="535604" cy="1112192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129997" y="2651760"/>
            <a:ext cx="1203491" cy="274688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6368363" y="1882099"/>
            <a:ext cx="965125" cy="769661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223759" y="130759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8884" y="177237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27250" y="2816720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59363" y="3654224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88156" y="3654224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20269" y="2816720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58635" y="177237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95744" y="2414015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E1542A"/>
                </a:solidFill>
                <a:latin typeface="Menlo"/>
                <a:ea typeface="Hiragino Sans GB"/>
              </a:rPr>
              <a:t>转变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86384"/>
            <a:ext cx="8046720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EDE9DF"/>
                </a:solidFill>
                <a:latin typeface="Avenir Next"/>
                <a:ea typeface="Hiragino Sans GB"/>
              </a:rPr>
              <a:t>整张组织架构，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100" b="1" i="0">
                <a:solidFill>
                  <a:srgbClr val="EDE9DF"/>
                </a:solidFill>
                <a:latin typeface="Avenir Next"/>
                <a:ea typeface="Hiragino Sans GB"/>
              </a:rPr>
              <a:t>正在坍缩成一个人。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103120"/>
            <a:ext cx="640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E1542A"/>
                </a:solidFill>
                <a:latin typeface="Palatino"/>
                <a:ea typeface="Hiragino Sans GB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51760"/>
            <a:ext cx="3931920" cy="9052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1">
                <a:solidFill>
                  <a:srgbClr val="EDE9DF"/>
                </a:solidFill>
                <a:latin typeface="Palatino"/>
                <a:ea typeface="Hiragino Sans GB"/>
              </a:rPr>
              <a:t>一家只有一个人的十亿美元公司……在没有 AI 的年代根本无法想象，而现在，它会成真。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66744"/>
            <a:ext cx="3931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C8578"/>
                </a:solidFill>
                <a:latin typeface="Avenir Next"/>
                <a:ea typeface="Hiragino Sans GB"/>
              </a:rPr>
              <a:t>— Sam Altman,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240280"/>
            <a:ext cx="178308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DE9DF"/>
                </a:solidFill>
                <a:latin typeface="Avenir Next"/>
                <a:ea typeface="Hiragino Sans GB"/>
              </a:rPr>
              <a:t>30.4</a:t>
            </a:r>
            <a:r>
              <a:rPr sz="1512" b="1" i="0">
                <a:solidFill>
                  <a:srgbClr val="E1542A"/>
                </a:solidFill>
                <a:latin typeface="Avenir Next"/>
                <a:ea typeface="Hiragino Sans GB"/>
              </a:rPr>
              <a:t> 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843784"/>
            <a:ext cx="1783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486"/>
                </a:solidFill>
                <a:latin typeface="Avenir Next"/>
                <a:ea typeface="Hiragino Sans GB"/>
              </a:rPr>
              <a:t>美国单人企业数，2023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40280"/>
            <a:ext cx="178308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EDE9DF"/>
                </a:solidFill>
                <a:latin typeface="Avenir Next"/>
                <a:ea typeface="Hiragino Sans GB"/>
              </a:rPr>
              <a:t>$1.8</a:t>
            </a:r>
            <a:r>
              <a:rPr sz="1512" b="1" i="0">
                <a:solidFill>
                  <a:srgbClr val="E1542A"/>
                </a:solidFill>
                <a:latin typeface="Avenir Next"/>
                <a:ea typeface="Hiragino Sans GB"/>
              </a:rPr>
              <a:t> 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843784"/>
            <a:ext cx="1783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486"/>
                </a:solidFill>
                <a:latin typeface="Avenir Next"/>
                <a:ea typeface="Hiragino Sans GB"/>
              </a:rPr>
              <a:t>它们创造的营收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12280" y="2295144"/>
            <a:ext cx="12801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3429000"/>
            <a:ext cx="393192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9486"/>
                </a:solidFill>
                <a:latin typeface="Avenir Next"/>
                <a:ea typeface="Hiragino Sans GB"/>
              </a:rPr>
              <a:t>自 2012 年以来，单人企业几乎每一年的增速，都快过有雇员的企业。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133087"/>
            <a:ext cx="8046720" cy="18288"/>
          </a:xfrm>
          <a:prstGeom prst="rect">
            <a:avLst/>
          </a:prstGeom>
          <a:solidFill>
            <a:srgbClr val="333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206240"/>
            <a:ext cx="8138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EDE9DF"/>
                </a:solidFill>
                <a:latin typeface="Avenir Next"/>
                <a:ea typeface="Hiragino Sans GB"/>
              </a:rPr>
              <a:t>单人经济本就规模庞大。AI 只是拆掉了它的</a:t>
            </a:r>
            <a:r>
              <a:rPr sz="1450" b="1" i="0">
                <a:solidFill>
                  <a:srgbClr val="E1542A"/>
                </a:solidFill>
                <a:latin typeface="Avenir Next"/>
                <a:ea typeface="Hiragino Sans GB"/>
              </a:rPr>
              <a:t>天花板。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63440"/>
            <a:ext cx="804672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486"/>
                </a:solidFill>
                <a:latin typeface="Avenir Next"/>
                <a:ea typeface="Hiragino Sans GB"/>
              </a:rPr>
              <a:t>数据：US Census Bureau · Nonemployer Statistics, 2023.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为什么是现在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三股力量，把开公司的成本打了下来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256031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" y="1837943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parkles_1685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38527"/>
            <a:ext cx="256032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2441448"/>
            <a:ext cx="208483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专业能力，近乎免费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752344"/>
            <a:ext cx="2084831" cy="10149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Avenir Next"/>
                <a:ea typeface="Hiragino Sans GB"/>
              </a:rPr>
              <a:t>几乎任何东西的资深水准初稿 —— 代码、文案、分析、设计 —— 随叫随到，只花几分钱。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39" y="1600200"/>
            <a:ext cx="256031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9583" y="1837943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ot_1685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167" y="1938527"/>
            <a:ext cx="256032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29583" y="2441448"/>
            <a:ext cx="208483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会动手的智能体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3" y="2752344"/>
            <a:ext cx="2084831" cy="10149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Avenir Next"/>
                <a:ea typeface="Hiragino Sans GB"/>
              </a:rPr>
              <a:t>模型如今能执行多步操作：写代码、跑代码、上网查，还能自己纠错。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19" y="1600200"/>
            <a:ext cx="256031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55663" y="1837943"/>
            <a:ext cx="457200" cy="457200"/>
          </a:xfrm>
          <a:prstGeom prst="roundRect">
            <a:avLst>
              <a:gd name="adj" fmla="val 11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locks_1685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7" y="1938527"/>
            <a:ext cx="25603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55663" y="2441448"/>
            <a:ext cx="208483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能拼装的工具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3" y="2752344"/>
            <a:ext cx="2084831" cy="10149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Avenir Next"/>
                <a:ea typeface="Hiragino Sans GB"/>
              </a:rPr>
              <a:t>API、自动化和智能体彼此咬合，拼成一条一个人的流水线。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  <a:ea typeface="Hiragino Sans GB"/>
              </a:rPr>
              <a:t>重点  </a:t>
            </a: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这些没有一样需要团队。这正是全部的重点。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杠杆的阶梯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一个人如何产出得像一百个人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54480"/>
            <a:ext cx="4835562" cy="640080"/>
          </a:xfrm>
          <a:prstGeom prst="roundRect">
            <a:avLst>
              <a:gd name="adj" fmla="val 8571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4835562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venir Next"/>
                <a:ea typeface="Hiragino Sans GB"/>
              </a:rPr>
              <a:t>AI  ·  随取随用的认知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0501" y="2194560"/>
            <a:ext cx="3546079" cy="640080"/>
          </a:xfrm>
          <a:prstGeom prst="roundRect">
            <a:avLst>
              <a:gd name="adj" fmla="val 8571"/>
            </a:avLst>
          </a:prstGeom>
          <a:solidFill>
            <a:srgbClr val="C9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0501" y="2194560"/>
            <a:ext cx="3546079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C1F"/>
                </a:solidFill>
                <a:latin typeface="Avenir Next"/>
                <a:ea typeface="Hiragino Sans GB"/>
              </a:rPr>
              <a:t>代码与媒体  ·  无需许可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55243" y="2834639"/>
            <a:ext cx="2256595" cy="640080"/>
          </a:xfrm>
          <a:prstGeom prst="roundRect">
            <a:avLst>
              <a:gd name="adj" fmla="val 8571"/>
            </a:avLst>
          </a:prstGeom>
          <a:solidFill>
            <a:srgbClr val="B6A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5243" y="2834639"/>
            <a:ext cx="2256595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C1F"/>
                </a:solidFill>
                <a:latin typeface="Avenir Next"/>
                <a:ea typeface="Hiragino Sans GB"/>
              </a:rPr>
              <a:t>资本  ·  要靠投资人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99984" y="3474720"/>
            <a:ext cx="967112" cy="640080"/>
          </a:xfrm>
          <a:prstGeom prst="roundRect">
            <a:avLst>
              <a:gd name="adj" fmla="val 8571"/>
            </a:avLst>
          </a:prstGeom>
          <a:solidFill>
            <a:srgbClr val="A3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9984" y="3474720"/>
            <a:ext cx="967112" cy="6400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1C1F"/>
                </a:solidFill>
                <a:latin typeface="Avenir Next"/>
                <a:ea typeface="Hiragino Sans GB"/>
              </a:rPr>
              <a:t>人力  ·  要靠雇人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33672"/>
            <a:ext cx="483556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  <a:ea typeface="Hiragino Sans GB"/>
              </a:rPr>
              <a:t>▲ </a:t>
            </a:r>
            <a:r>
              <a:rPr sz="1100" b="0" i="0">
                <a:solidFill>
                  <a:srgbClr val="8C8578"/>
                </a:solidFill>
                <a:latin typeface="Avenir Next"/>
                <a:ea typeface="Hiragino Sans GB"/>
              </a:rPr>
              <a:t>越往上，杠杆越大、越不用求人 —— AI 是新的最高一阶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522" y="1691639"/>
            <a:ext cx="311971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  <a:ea typeface="Hiragino Sans GB"/>
              </a:rPr>
              <a:t>无需许可的杠杆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522" y="2002536"/>
            <a:ext cx="3119717" cy="9144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1C1F"/>
                </a:solidFill>
                <a:latin typeface="Avenir Next"/>
                <a:ea typeface="Hiragino Sans GB"/>
              </a:rPr>
              <a:t>租一颗大脑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B1C1F"/>
                </a:solidFill>
                <a:latin typeface="Avenir Next"/>
                <a:ea typeface="Hiragino Sans GB"/>
              </a:rPr>
              <a:t>按 token 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8522" y="3063239"/>
            <a:ext cx="3119717" cy="14630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24B"/>
                </a:solidFill>
                <a:latin typeface="Avenir Next"/>
                <a:ea typeface="Hiragino Sans GB"/>
              </a:rPr>
              <a:t>代码和媒体让产出可以零成本复制。AI 在它们之上又加了一阶：按 token 租来的推理力 —— 不用招人、不用加薪、不用求谁点头。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新的组织架构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22376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E9DF"/>
                </a:solidFill>
                <a:latin typeface="Avenir Next"/>
                <a:ea typeface="Hiragino Sans GB"/>
              </a:rPr>
              <a:t>现在，你就是那张组织架构图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4407408" y="1444752"/>
            <a:ext cx="0" cy="1408176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407408" y="2148840"/>
            <a:ext cx="1219516" cy="704088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407408" y="2852928"/>
            <a:ext cx="1219516" cy="704088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407408" y="2852928"/>
            <a:ext cx="0" cy="1408176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3187891" y="2852928"/>
            <a:ext cx="1219517" cy="704088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3187891" y="2148839"/>
            <a:ext cx="1219517" cy="704089"/>
          </a:xfrm>
          <a:prstGeom prst="line">
            <a:avLst/>
          </a:prstGeom>
          <a:ln w="17780">
            <a:solidFill>
              <a:srgbClr val="C8CED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744468" y="1179576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63340" y="1179576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  <a:ea typeface="Hiragino Sans GB"/>
              </a:rPr>
              <a:t>写作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  <a:ea typeface="Hiragino Sans GB"/>
              </a:rPr>
              <a:t>起草与润色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63984" y="1883664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2856" y="1883664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  <a:ea typeface="Hiragino Sans GB"/>
              </a:rPr>
              <a:t>代码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  <a:ea typeface="Hiragino Sans GB"/>
              </a:rPr>
              <a:t>负责上线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63984" y="3291840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2856" y="3291840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  <a:ea typeface="Hiragino Sans GB"/>
              </a:rPr>
              <a:t>设计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  <a:ea typeface="Hiragino Sans GB"/>
              </a:rPr>
              <a:t>品牌与界面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4468" y="3995928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63340" y="3995928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  <a:ea typeface="Hiragino Sans GB"/>
              </a:rPr>
              <a:t>调研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  <a:ea typeface="Hiragino Sans GB"/>
              </a:rPr>
              <a:t>查找与核实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951" y="3291840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43823" y="3291840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  <a:ea typeface="Hiragino Sans GB"/>
              </a:rPr>
              <a:t>运营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  <a:ea typeface="Hiragino Sans GB"/>
              </a:rPr>
              <a:t>后台杂务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951" y="1883663"/>
            <a:ext cx="1325880" cy="530352"/>
          </a:xfrm>
          <a:prstGeom prst="roundRect">
            <a:avLst>
              <a:gd name="adj" fmla="val 8000"/>
            </a:avLst>
          </a:prstGeom>
          <a:solidFill>
            <a:srgbClr val="24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43823" y="1883663"/>
            <a:ext cx="1088136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DE9DF"/>
                </a:solidFill>
                <a:latin typeface="Avenir Next"/>
                <a:ea typeface="Hiragino Sans GB"/>
              </a:rPr>
              <a:t>增长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DE9DF"/>
                </a:solidFill>
                <a:latin typeface="Avenir Next"/>
                <a:ea typeface="Hiragino Sans GB"/>
              </a:rPr>
              <a:t>触达与漏斗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0188" y="2496312"/>
            <a:ext cx="1234440" cy="713232"/>
          </a:xfrm>
          <a:prstGeom prst="roundRect">
            <a:avLst>
              <a:gd name="adj" fmla="val 8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09060" y="2496312"/>
            <a:ext cx="996696" cy="7132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  <a:ea typeface="Hiragino Sans GB"/>
              </a:rPr>
              <a:t>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626864"/>
            <a:ext cx="7772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486"/>
                </a:solidFill>
                <a:latin typeface="Avenir Next"/>
                <a:ea typeface="Hiragino Sans GB"/>
              </a:rPr>
              <a:t>一个人定方向、定品味。过去要六个人来做的六个职能，如今都作为</a:t>
            </a:r>
            <a:r>
              <a:rPr sz="1350" b="1" i="0">
                <a:solidFill>
                  <a:srgbClr val="E1542A"/>
                </a:solidFill>
                <a:latin typeface="Avenir Next"/>
                <a:ea typeface="Hiragino Sans GB"/>
              </a:rPr>
              <a:t>软件</a:t>
            </a:r>
            <a:r>
              <a:rPr sz="1350" b="0" i="0">
                <a:solidFill>
                  <a:srgbClr val="9A9486"/>
                </a:solidFill>
                <a:latin typeface="Avenir Next"/>
                <a:ea typeface="Hiragino Sans GB"/>
              </a:rPr>
              <a:t>在跑。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循环里的一天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从一个念头到上线 —— 一个下午搞定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8C8578"/>
                </a:solidFill>
                <a:latin typeface="Palatino"/>
                <a:ea typeface="Hiragino Sans GB"/>
              </a:rPr>
              <a:t>一个独立开发者上线了一个小网页应用。看看每一步是谁在做。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3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想法与规格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  <a:ea typeface="Hiragino Sans GB"/>
              </a:rPr>
              <a:t>你来定框架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0163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75027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起草搭建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  <a:ea typeface="Hiragino Sans GB"/>
              </a:rPr>
              <a:t>AI 来写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27555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91686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46550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运行测试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  <a:ea typeface="Hiragino Sans GB"/>
              </a:rPr>
              <a:t>AI 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99078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563209" y="2286000"/>
            <a:ext cx="1360627" cy="841248"/>
          </a:xfrm>
          <a:prstGeom prst="round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18073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11111"/>
                </a:solidFill>
                <a:latin typeface="Avenir Next"/>
                <a:ea typeface="Hiragino Sans GB"/>
              </a:rPr>
              <a:t>审阅把关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C4C4C"/>
                </a:solidFill>
                <a:latin typeface="Menlo"/>
                <a:ea typeface="Hiragino Sans GB"/>
              </a:rPr>
              <a:t>你来拍板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270601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34732" y="2286000"/>
            <a:ext cx="1360627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89596" y="2286000"/>
            <a:ext cx="1250899" cy="8412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上线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8C8578"/>
                </a:solidFill>
                <a:latin typeface="Menlo"/>
                <a:ea typeface="Hiragino Sans GB"/>
              </a:rPr>
              <a:t>一键搞定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2124" y="2706624"/>
            <a:ext cx="274320" cy="0"/>
          </a:xfrm>
          <a:prstGeom prst="line">
            <a:avLst/>
          </a:prstGeom>
          <a:ln w="19050">
            <a:solidFill>
              <a:srgbClr val="5CAAA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15046" y="3145536"/>
            <a:ext cx="0" cy="530351"/>
          </a:xfrm>
          <a:prstGeom prst="line">
            <a:avLst/>
          </a:prstGeom>
          <a:ln w="19050">
            <a:solidFill>
              <a:srgbClr val="168581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900476" y="3675887"/>
            <a:ext cx="5014570" cy="0"/>
          </a:xfrm>
          <a:prstGeom prst="line">
            <a:avLst/>
          </a:prstGeom>
          <a:ln w="19050">
            <a:solidFill>
              <a:srgbClr val="168581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900476" y="3145536"/>
            <a:ext cx="0" cy="530351"/>
          </a:xfrm>
          <a:prstGeom prst="line">
            <a:avLst/>
          </a:prstGeom>
          <a:ln w="19050">
            <a:solidFill>
              <a:srgbClr val="168581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67681" y="3730751"/>
            <a:ext cx="12801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8581"/>
                </a:solidFill>
                <a:latin typeface="Menlo"/>
                <a:ea typeface="Hiragino Sans GB"/>
              </a:rPr>
              <a:t>迭代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  <a:ea typeface="Hiragino Sans GB"/>
              </a:rPr>
              <a:t>你所在的位置  </a:t>
            </a: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AI 负责生产。你负责判断 —— 那个至今依然稀缺的部分。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技术栈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一人公司赖以运转的那套工具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  <a:ea typeface="Hiragino Sans GB"/>
              </a:rPr>
              <a:t>这笔账  </a:t>
            </a: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没有 IT 部门。没有采购流程。一张信用卡，一个下午。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09344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ssage-square_1685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61" y="1756745"/>
            <a:ext cx="272125" cy="272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88720" y="1572768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推理与写作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920240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  <a:ea typeface="Hiragino Sans GB"/>
              </a:rPr>
              <a:t>Claude · ChatGPT · Gemini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468880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erminal_1685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61" y="2616281"/>
            <a:ext cx="272125" cy="2721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2432304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779776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  <a:ea typeface="Hiragino Sans GB"/>
              </a:rPr>
              <a:t>Claude Code · Cursor · Copilot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28415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lette_1685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161" y="3475817"/>
            <a:ext cx="272125" cy="272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88720" y="3291839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设计与媒体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639311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  <a:ea typeface="Hiragino Sans GB"/>
              </a:rPr>
              <a:t>Midjourney · Figma · Canva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609344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orkflow_1685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441" y="1756745"/>
            <a:ext cx="272125" cy="27212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715000" y="1572768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自动化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1920240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  <a:ea typeface="Hiragino Sans GB"/>
              </a:rPr>
              <a:t>Zapier · Make · n8n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92040" y="2468880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atabase_1685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9441" y="2616281"/>
            <a:ext cx="272125" cy="27212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715000" y="2432304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知识与数据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2779776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  <a:ea typeface="Hiragino Sans GB"/>
              </a:rPr>
              <a:t>Notion · Airtable · Perplexity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3328415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E0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redit-card_16858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9441" y="3475817"/>
            <a:ext cx="272125" cy="27212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715000" y="3291839"/>
            <a:ext cx="306323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B1C1F"/>
                </a:solidFill>
                <a:latin typeface="Avenir Next"/>
                <a:ea typeface="Hiragino Sans GB"/>
              </a:rPr>
              <a:t>运营与收款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3639311"/>
            <a:ext cx="306323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68581"/>
                </a:solidFill>
                <a:latin typeface="Menlo"/>
                <a:ea typeface="Hiragino Sans GB"/>
              </a:rPr>
              <a:t>Stripe · Mercury · 邮箱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重新分配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AI 挪动了瓶颈 —— 而不是消除它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090659"/>
            <a:ext cx="64008" cy="418612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1542A"/>
                </a:solidFill>
                <a:latin typeface="Avenir Next"/>
                <a:ea typeface="Hiragino Sans GB"/>
              </a:rPr>
              <a:t>所以呢  </a:t>
            </a: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当生产变得免费，那件稀缺的事 —— 你的判断力 —— 就成了工作的全部。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536192"/>
            <a:ext cx="3954779" cy="2331720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" y="1737360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D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rrow-down_1685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40" y="1870496"/>
            <a:ext cx="245790" cy="2457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61872" y="1755648"/>
            <a:ext cx="285749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68581"/>
                </a:solidFill>
                <a:latin typeface="Avenir Next"/>
                <a:ea typeface="Hiragino Sans GB"/>
              </a:rPr>
              <a:t>如今近乎免费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066543"/>
            <a:ext cx="285749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C8578"/>
                </a:solidFill>
                <a:latin typeface="Avenir Next"/>
                <a:ea typeface="Hiragino Sans GB"/>
              </a:rPr>
              <a:t>AI 做得已经够好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53288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2468880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写初稿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80360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2816352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样板代码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2783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163824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配图与草模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7530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685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511296"/>
            <a:ext cx="32232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1C1F"/>
                </a:solidFill>
                <a:latin typeface="Avenir Next"/>
                <a:ea typeface="Hiragino Sans GB"/>
              </a:rPr>
              <a:t>调研与摘要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23459" y="1536192"/>
            <a:ext cx="3954779" cy="2331720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61203" y="1737360"/>
            <a:ext cx="512064" cy="512064"/>
          </a:xfrm>
          <a:prstGeom prst="roundRect">
            <a:avLst>
              <a:gd name="adj" fmla="val 24000"/>
            </a:avLst>
          </a:prstGeom>
          <a:solidFill>
            <a:srgbClr val="FA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rrow-up_e1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340" y="1870496"/>
            <a:ext cx="245790" cy="24579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719571" y="1755648"/>
            <a:ext cx="2857499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1542A"/>
                </a:solidFill>
                <a:latin typeface="Avenir Next"/>
                <a:ea typeface="Hiragino Sans GB"/>
              </a:rPr>
              <a:t>如今的约束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9571" y="2066543"/>
            <a:ext cx="285749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C8578"/>
                </a:solidFill>
                <a:latin typeface="Avenir Next"/>
                <a:ea typeface="Hiragino Sans GB"/>
              </a:rPr>
              <a:t>只有你能做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7779" y="2615184"/>
            <a:ext cx="340613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1542A"/>
                </a:solidFill>
                <a:latin typeface="Avenir Next"/>
                <a:ea typeface="Hiragino Sans GB"/>
              </a:rPr>
              <a:t>你的判断力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7779" y="3291839"/>
            <a:ext cx="340613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1C1F"/>
                </a:solidFill>
                <a:latin typeface="Avenir Next"/>
                <a:ea typeface="Hiragino Sans GB"/>
              </a:rPr>
              <a:t>知道什么值得做 —— 以及它到底好不好。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局限与风险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一个人，也是一个单点故障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36192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85216" y="17007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art-pulse_e154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819655"/>
            <a:ext cx="219456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5216" y="2267712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单点故障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542032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  <a:ea typeface="Hiragino Sans GB"/>
              </a:rPr>
              <a:t>你就是整家公司 —— 一场病、一个糟糕的星期，都没有备份。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67455" y="1536192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86911" y="17007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n-eye_e1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783" y="1819655"/>
            <a:ext cx="219456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6911" y="2267712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核查的税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6911" y="2542032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  <a:ea typeface="Hiragino Sans GB"/>
              </a:rPr>
              <a:t>AI 会一本正经地出错；每一份产出都得有人把关。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151" y="1536192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88608" y="17007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auge_e154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480" y="1819655"/>
            <a:ext cx="219456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608" y="2267712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品味即上限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608" y="2542032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  <a:ea typeface="Hiragino Sans GB"/>
              </a:rPr>
              <a:t>AI 只能追平你的判断，超不过它。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136391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5216" y="33009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py_e154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3419856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85216" y="3867911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默认没有护城河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142231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  <a:ea typeface="Hiragino Sans GB"/>
              </a:rPr>
              <a:t>一个人能做出来的，下一个人也能。抄起来很快。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67455" y="3136391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486911" y="33009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rain_e1542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5783" y="3419856"/>
            <a:ext cx="219456" cy="2194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486911" y="3867911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上下文与漂移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86911" y="4142231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  <a:ea typeface="Hiragino Sans GB"/>
              </a:rPr>
              <a:t>智能体会遗忘、会跑偏；调度它们是实打实的活。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69151" y="3136391"/>
            <a:ext cx="2609087" cy="1481328"/>
          </a:xfrm>
          <a:prstGeom prst="roundRect">
            <a:avLst>
              <a:gd name="adj" fmla="val 8000"/>
            </a:avLst>
          </a:prstGeom>
          <a:solidFill>
            <a:srgbClr val="FBF9F4"/>
          </a:solidFill>
          <a:ln w="12700">
            <a:solidFill>
              <a:srgbClr val="D9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88608" y="33009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B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nplug_e1542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7480" y="3419856"/>
            <a:ext cx="21945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388608" y="3867911"/>
            <a:ext cx="2170175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C1F"/>
                </a:solidFill>
                <a:latin typeface="Avenir Next"/>
                <a:ea typeface="Hiragino Sans GB"/>
              </a:rPr>
              <a:t>过度自动化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8608" y="4142231"/>
            <a:ext cx="220675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5951"/>
                </a:solidFill>
                <a:latin typeface="Avenir Next"/>
                <a:ea typeface="Hiragino Sans GB"/>
              </a:rPr>
              <a:t>把关系也自动化，就丢掉了别人当初选一个人的理由。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属于人的护城河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AI 租不到的东西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55648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  <a:ea typeface="Hiragino Sans GB"/>
              </a:rPr>
              <a:t>品味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  <a:ea typeface="Hiragino Sans GB"/>
              </a:rPr>
              <a:t>知道什么才是真的好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505456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  <a:ea typeface="Hiragino Sans GB"/>
              </a:rPr>
              <a:t>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52927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  <a:ea typeface="Hiragino Sans GB"/>
              </a:rPr>
              <a:t>挑出什么值得存在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255263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  <a:ea typeface="Hiragino Sans GB"/>
              </a:rPr>
              <a:t>关系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602735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  <a:ea typeface="Hiragino Sans GB"/>
              </a:rPr>
              <a:t>任何模型都无法转交的信任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005072"/>
            <a:ext cx="42062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B1C1F"/>
                </a:solidFill>
                <a:latin typeface="Avenir Next"/>
                <a:ea typeface="Hiragino Sans GB"/>
              </a:rPr>
              <a:t>担责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52544"/>
            <a:ext cx="42062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C8578"/>
                </a:solidFill>
                <a:latin typeface="Palatino"/>
                <a:ea typeface="Hiragino Sans GB"/>
              </a:rPr>
              <a:t>有人对结果负责到底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2121408"/>
            <a:ext cx="45720" cy="1700784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3248" y="2157984"/>
            <a:ext cx="3364992" cy="17373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1B1C1F"/>
                </a:solidFill>
                <a:latin typeface="Palatino"/>
                <a:ea typeface="Hiragino Sans GB"/>
              </a:rPr>
              <a:t>AI 把同一副超能力，发给了每一个人。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 i="0">
                <a:solidFill>
                  <a:srgbClr val="1B1C1F"/>
                </a:solidFill>
                <a:latin typeface="Avenir Next"/>
                <a:ea typeface="Hiragino Sans GB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1B1C1F"/>
                </a:solidFill>
                <a:latin typeface="Palatino"/>
                <a:ea typeface="Hiragino Sans GB"/>
              </a:rPr>
              <a:t>稀缺的，是那个决定</a:t>
            </a:r>
            <a:r>
              <a:rPr sz="1900" b="1" i="1">
                <a:solidFill>
                  <a:srgbClr val="E1542A"/>
                </a:solidFill>
                <a:latin typeface="Palatino"/>
                <a:ea typeface="Hiragino Sans GB"/>
              </a:rPr>
              <a:t>把它们指向何处的人。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6949440" y="3977639"/>
            <a:ext cx="0" cy="365761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949440" y="4115352"/>
            <a:ext cx="285962" cy="22804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49440" y="4343400"/>
            <a:ext cx="356589" cy="81389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949440" y="4343400"/>
            <a:ext cx="158697" cy="32953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790742" y="4343400"/>
            <a:ext cx="158698" cy="32953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592850" y="4343400"/>
            <a:ext cx="356590" cy="81389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6663477" y="4115352"/>
            <a:ext cx="285963" cy="228048"/>
          </a:xfrm>
          <a:prstGeom prst="line">
            <a:avLst/>
          </a:prstGeom>
          <a:ln w="889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912864" y="3941063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98826" y="4078776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69453" y="4388213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1561" y="4636362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54166" y="4636362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56274" y="4388213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626901" y="4078776"/>
            <a:ext cx="73152" cy="73152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71716" y="4265676"/>
            <a:ext cx="155448" cy="1554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1542A"/>
                </a:solidFill>
                <a:latin typeface="Avenir Next"/>
                <a:ea typeface="Hiragino Sans GB"/>
              </a:rPr>
              <a:t>周一就能做的事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B1C1F"/>
                </a:solidFill>
                <a:latin typeface="Avenir Next"/>
                <a:ea typeface="Hiragino Sans GB"/>
              </a:rPr>
              <a:t>从一个循环开始 —— 别想一口吃下整个未来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1790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17904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  <a:ea typeface="Hiragino Sans GB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99616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  <a:ea typeface="Hiragino Sans GB"/>
              </a:rPr>
              <a:t>挑一个你反复在做的循环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92224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  <a:ea typeface="Hiragino Sans GB"/>
              </a:rPr>
              <a:t>那份报告、那次触达、那道审阅 —— 就挑一个。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2860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286000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  <a:ea typeface="Hiragino Sans GB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67712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  <a:ea typeface="Hiragino Sans GB"/>
              </a:rPr>
              <a:t>把你的上下文喂给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  <a:ea typeface="Hiragino Sans GB"/>
              </a:rPr>
              <a:t>规格、范例、品味。上下文才是真正的护城河。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0540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054096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  <a:ea typeface="Hiragino Sans GB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035808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  <a:ea typeface="Hiragino Sans GB"/>
              </a:rPr>
              <a:t>留一道人工审核关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328415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  <a:ea typeface="Hiragino Sans GB"/>
              </a:rPr>
              <a:t>AI 的产出，先过你这一关，再上线。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822191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822191"/>
            <a:ext cx="384048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venir Next"/>
                <a:ea typeface="Hiragino Sans GB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03904"/>
            <a:ext cx="3845559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B1C1F"/>
                </a:solidFill>
                <a:latin typeface="Avenir Next"/>
                <a:ea typeface="Hiragino Sans GB"/>
              </a:rPr>
              <a:t>先看产出，再让它复利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96511"/>
            <a:ext cx="384555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Avenir Next"/>
                <a:ea typeface="Hiragino Sans GB"/>
              </a:rPr>
              <a:t>以真正上线的东西为准；把管用的沉淀成模板。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62879" y="1572768"/>
            <a:ext cx="3515359" cy="2697480"/>
          </a:xfrm>
          <a:prstGeom prst="roundRect">
            <a:avLst>
              <a:gd name="adj" fmla="val 8000"/>
            </a:avLst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7020559" y="1965960"/>
            <a:ext cx="0" cy="566928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7020559" y="2179414"/>
            <a:ext cx="443243" cy="35347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20559" y="2532888"/>
            <a:ext cx="552714" cy="126153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20559" y="2532888"/>
            <a:ext cx="245981" cy="51078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774579" y="2532888"/>
            <a:ext cx="245980" cy="51078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467846" y="2532888"/>
            <a:ext cx="552713" cy="126153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6577317" y="2179414"/>
            <a:ext cx="443242" cy="353474"/>
          </a:xfrm>
          <a:prstGeom prst="line">
            <a:avLst/>
          </a:prstGeom>
          <a:ln w="1016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965695" y="1911095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08938" y="2124550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518409" y="2604177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211676" y="2988808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719715" y="2988808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12982" y="2604177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22453" y="2124550"/>
            <a:ext cx="109728" cy="109728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901687" y="2414016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37199" y="3355848"/>
            <a:ext cx="2966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0" i="0">
                <a:solidFill>
                  <a:srgbClr val="EDE9DF"/>
                </a:solidFill>
                <a:latin typeface="Avenir Next"/>
                <a:ea typeface="Hiragino Sans GB"/>
              </a:rPr>
              <a:t>你其实早就是那家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EDE9DF"/>
                </a:solidFill>
                <a:latin typeface="Avenir Next"/>
                <a:ea typeface="Hiragino Sans GB"/>
              </a:rPr>
              <a:t>一人公司了。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1542A"/>
                </a:solidFill>
                <a:latin typeface="Avenir Next"/>
                <a:ea typeface="Hiragino Sans GB"/>
              </a:rPr>
              <a:t>开始像创始人一样行动吧。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8284464" y="473659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284464" y="480517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284464" y="4873752"/>
            <a:ext cx="118784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284464" y="4873752"/>
            <a:ext cx="0" cy="13716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8165679" y="487375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8165679" y="4805172"/>
            <a:ext cx="118785" cy="68580"/>
          </a:xfrm>
          <a:prstGeom prst="line">
            <a:avLst/>
          </a:prstGeom>
          <a:ln w="9525">
            <a:solidFill>
              <a:srgbClr val="D9D3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252460" y="470458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371244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371244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252460" y="497890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133675" y="491032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33675" y="4773168"/>
            <a:ext cx="64008" cy="640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34172" y="48234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85632" y="4754880"/>
            <a:ext cx="457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C8578"/>
                </a:solidFill>
                <a:latin typeface="Avenir Next"/>
                <a:ea typeface="Hiragino Sans GB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791456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C8578"/>
                </a:solidFill>
                <a:latin typeface="Avenir Next"/>
                <a:ea typeface="Hiragino Sans GB"/>
              </a:rPr>
              <a:t>一人公司 · 一场个人分享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7360920" y="1417320"/>
            <a:ext cx="0" cy="1188720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7360920" y="1864885"/>
            <a:ext cx="929378" cy="74115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360920" y="2606040"/>
            <a:ext cx="1158916" cy="26451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60920" y="2606040"/>
            <a:ext cx="515766" cy="1070999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845153" y="2606040"/>
            <a:ext cx="515767" cy="1070999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202003" y="2606040"/>
            <a:ext cx="1158917" cy="26451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6431541" y="1864885"/>
            <a:ext cx="929379" cy="741155"/>
          </a:xfrm>
          <a:prstGeom prst="line">
            <a:avLst/>
          </a:prstGeom>
          <a:ln w="13970">
            <a:solidFill>
              <a:srgbClr val="1685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251192" y="1307592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80570" y="175515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0108" y="276082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66958" y="356731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35425" y="3567311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2275" y="276082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21813" y="1755157"/>
            <a:ext cx="219456" cy="219456"/>
          </a:xfrm>
          <a:prstGeom prst="roundRect">
            <a:avLst>
              <a:gd name="adj" fmla="val 50000"/>
            </a:avLst>
          </a:prstGeom>
          <a:noFill/>
          <a:ln w="21590">
            <a:solidFill>
              <a:srgbClr val="1685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23176" y="23682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7772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50">
                <a:solidFill>
                  <a:srgbClr val="E1542A"/>
                </a:solidFill>
                <a:latin typeface="Menlo"/>
                <a:ea typeface="Hiragino Sans GB"/>
              </a:rPr>
              <a:t>带走这一句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1645920"/>
            <a:ext cx="566928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EDE9DF"/>
                </a:solidFill>
                <a:latin typeface="Avenir Next"/>
                <a:ea typeface="Hiragino Sans GB"/>
              </a:rPr>
              <a:t>现在，你就是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EDE9DF"/>
                </a:solidFill>
                <a:latin typeface="Avenir Next"/>
                <a:ea typeface="Hiragino Sans GB"/>
              </a:rPr>
              <a:t>那张组织架构图。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27248"/>
            <a:ext cx="1371600" cy="54864"/>
          </a:xfrm>
          <a:prstGeom prst="rect">
            <a:avLst/>
          </a:prstGeom>
          <a:solidFill>
            <a:srgbClr val="E1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46704"/>
            <a:ext cx="54864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3BDAF"/>
                </a:solidFill>
                <a:latin typeface="Avenir Next"/>
                <a:ea typeface="Hiragino Sans GB"/>
              </a:rPr>
              <a:t>租下那些头脑。守住你的判断。从一个循环开始。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553712"/>
            <a:ext cx="59436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9A9486"/>
                </a:solidFill>
                <a:latin typeface="Palatino"/>
                <a:ea typeface="Hiragino Sans GB"/>
              </a:rPr>
              <a:t>谢谢 —— 让我们像一人公司那样去创造。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