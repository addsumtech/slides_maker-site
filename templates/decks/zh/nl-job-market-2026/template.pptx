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空缺（千）</c:v>
                </c:pt>
              </c:strCache>
            </c:strRef>
          </c:tx>
          <c:spPr>
            <a:ln w="31750">
              <a:solidFill>
                <a:srgbClr val="BE672B"/>
              </a:solidFill>
            </a:ln>
          </c:spPr>
          <c:marker>
            <c:spPr>
              <a:solidFill>
                <a:srgbClr val="BE672B"/>
              </a:solidFill>
              <a:ln>
                <a:solidFill>
                  <a:srgbClr val="BE672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471</c:v>
                </c:pt>
                <c:pt idx="1">
                  <c:v>425</c:v>
                </c:pt>
                <c:pt idx="2">
                  <c:v>401</c:v>
                </c:pt>
                <c:pt idx="3">
                  <c:v>380</c:v>
                </c:pt>
                <c:pt idx="4">
                  <c:v>378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失业（千）</c:v>
                </c:pt>
              </c:strCache>
            </c:strRef>
          </c:tx>
          <c:spPr>
            <a:ln w="31750">
              <a:solidFill>
                <a:srgbClr val="B8BECC"/>
              </a:solidFill>
            </a:ln>
          </c:spPr>
          <c:marker>
            <c:spPr>
              <a:solidFill>
                <a:srgbClr val="B8BECC"/>
              </a:solidFill>
              <a:ln>
                <a:solidFill>
                  <a:srgbClr val="B8BECC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350</c:v>
                </c:pt>
                <c:pt idx="1">
                  <c:v>365</c:v>
                </c:pt>
                <c:pt idx="2">
                  <c:v>385</c:v>
                </c:pt>
                <c:pt idx="3">
                  <c:v>410</c:v>
                </c:pt>
                <c:pt idx="4">
                  <c:v>399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>
              <a:solidFill>
                <a:srgbClr val="222A37"/>
              </a:solidFill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222A3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 title="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491740"/>
            <a:ext cx="9144000" cy="2651760"/>
          </a:xfrm>
          <a:prstGeom prst="rect">
            <a:avLst/>
          </a:prstGeom>
          <a:gradFill>
            <a:gsLst>
              <a:gs pos="0">
                <a:srgbClr val="F4EBDA">
                  <a:alpha val="0"/>
                </a:srgbClr>
              </a:gs>
              <a:gs pos="45000">
                <a:srgbClr val="F4EBDA">
                  <a:alpha val="97000"/>
                </a:srgbClr>
              </a:gs>
              <a:gs pos="100000">
                <a:srgbClr val="F4EBDA">
                  <a:alpha val="99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50108"/>
            <a:ext cx="786384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E672B"/>
                </a:solidFill>
                <a:latin typeface="Calibri"/>
                <a:ea typeface="Hiragino Sans GB"/>
                <a:cs typeface="Hiragino Sans GB"/>
              </a:rPr>
              <a:t>2026 荷兰就业市场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3479291"/>
            <a:ext cx="8046720" cy="9601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6334C"/>
                </a:solidFill>
                <a:latin typeface="Georgia"/>
                <a:ea typeface="Hiragino Sans GB"/>
                <a:cs typeface="Songti SC"/>
              </a:rPr>
              <a:t>市场松动了，博弈更讲究了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4430268"/>
            <a:ext cx="1005840" cy="50292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576572"/>
            <a:ext cx="5486400" cy="3200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D4E5B"/>
                </a:solidFill>
                <a:latin typeface="Calibri"/>
                <a:ea typeface="Hiragino Sans GB"/>
                <a:cs typeface="Hiragino Sans GB"/>
              </a:rPr>
              <a:t>写给在荷兰求职的外籍人士的分析与建议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4585716"/>
            <a:ext cx="2057400" cy="3200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6334C"/>
                </a:solidFill>
                <a:latin typeface="Calibri"/>
                <a:ea typeface="Hiragino Sans GB"/>
                <a:cs typeface="Hiragino Sans GB"/>
              </a:rPr>
              <a:t>截至 2026 年 6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9184"/>
            <a:ext cx="804672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E672B"/>
                </a:solidFill>
                <a:latin typeface="Calibri"/>
                <a:ea typeface="Hiragino Sans GB"/>
                <a:cs typeface="Hiragino Sans GB"/>
              </a:rPr>
              <a:t>第 1 部分 · 宏观全景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046720" cy="7315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6334C"/>
                </a:solidFill>
                <a:latin typeface="Georgia"/>
                <a:ea typeface="Hiragino Sans GB"/>
                <a:cs typeface="Songti SC"/>
              </a:rPr>
              <a:t>市场松了，但仍有得打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25295"/>
            <a:ext cx="868680" cy="36576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4727448"/>
            <a:ext cx="164592" cy="256032"/>
          </a:xfrm>
          <a:prstGeom prst="roundRect">
            <a:avLst>
              <a:gd name="adj" fmla="val 50000"/>
            </a:avLst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4718304"/>
            <a:ext cx="594360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67968"/>
                </a:solidFill>
                <a:latin typeface="Calibri"/>
                <a:ea typeface="Hiragino Sans GB"/>
                <a:cs typeface="Hiragino Sans GB"/>
              </a:rPr>
              <a:t>2026 荷兰外籍人士就业市场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718304"/>
            <a:ext cx="54864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334C"/>
                </a:solidFill>
                <a:latin typeface="Calibri"/>
                <a:ea typeface="Hiragino Sans GB"/>
                <a:cs typeface="Hiragino Sans GB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25880"/>
            <a:ext cx="2560319" cy="1481328"/>
          </a:xfrm>
          <a:prstGeom prst="roundRect">
            <a:avLst>
              <a:gd name="adj" fmla="val 6172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325880"/>
            <a:ext cx="91440" cy="1481328"/>
          </a:xfrm>
          <a:prstGeom prst="roundRect">
            <a:avLst>
              <a:gd name="adj" fmla="val 50000"/>
            </a:avLst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527048"/>
            <a:ext cx="2103119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67968"/>
                </a:solidFill>
                <a:latin typeface="Calibri"/>
                <a:ea typeface="Hiragino Sans GB"/>
                <a:cs typeface="Hiragino Sans GB"/>
              </a:rPr>
              <a:t>失业率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783080"/>
            <a:ext cx="2103119" cy="7315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03C66"/>
                </a:solidFill>
                <a:latin typeface="Calibri"/>
                <a:ea typeface="Hiragino Sans GB"/>
                <a:cs typeface="Hiragino Sans GB"/>
              </a:rPr>
              <a:t>3.9%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331720"/>
            <a:ext cx="2103119" cy="31089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67968"/>
                </a:solidFill>
                <a:latin typeface="Calibri"/>
                <a:ea typeface="Hiragino Sans GB"/>
                <a:cs typeface="Hiragino Sans GB"/>
              </a:rPr>
              <a:t>2026 年 5 月 · 39.9 万人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39" y="1325880"/>
            <a:ext cx="2560319" cy="1481328"/>
          </a:xfrm>
          <a:prstGeom prst="roundRect">
            <a:avLst>
              <a:gd name="adj" fmla="val 6172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91839" y="1325880"/>
            <a:ext cx="91440" cy="1481328"/>
          </a:xfrm>
          <a:prstGeom prst="roundRect">
            <a:avLst>
              <a:gd name="adj" fmla="val 50000"/>
            </a:avLst>
          </a:prstGeom>
          <a:solidFill>
            <a:srgbClr val="2C6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871" y="1527048"/>
            <a:ext cx="2103119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67968"/>
                </a:solidFill>
                <a:latin typeface="Calibri"/>
                <a:ea typeface="Hiragino Sans GB"/>
                <a:cs typeface="Hiragino Sans GB"/>
              </a:rPr>
              <a:t>空缺职位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1" y="1783080"/>
            <a:ext cx="2103119" cy="7315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03C66"/>
                </a:solidFill>
                <a:latin typeface="Calibri"/>
                <a:ea typeface="Hiragino Sans GB"/>
                <a:cs typeface="Hiragino Sans GB"/>
              </a:rPr>
              <a:t>37.8 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1" y="2331720"/>
            <a:ext cx="2103119" cy="31089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67968"/>
                </a:solidFill>
                <a:latin typeface="Calibri"/>
                <a:ea typeface="Hiragino Sans GB"/>
                <a:cs typeface="Hiragino Sans GB"/>
              </a:rPr>
              <a:t>2026 年一季度末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19" y="1325880"/>
            <a:ext cx="2560319" cy="1481328"/>
          </a:xfrm>
          <a:prstGeom prst="roundRect">
            <a:avLst>
              <a:gd name="adj" fmla="val 6172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17919" y="1325880"/>
            <a:ext cx="91440" cy="1481328"/>
          </a:xfrm>
          <a:prstGeom prst="roundRect">
            <a:avLst>
              <a:gd name="adj" fmla="val 50000"/>
            </a:avLst>
          </a:prstGeom>
          <a:solidFill>
            <a:srgbClr val="16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1" y="1527048"/>
            <a:ext cx="2103119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67968"/>
                </a:solidFill>
                <a:latin typeface="Calibri"/>
                <a:ea typeface="Hiragino Sans GB"/>
                <a:cs typeface="Hiragino Sans GB"/>
              </a:rPr>
              <a:t>每 100 名求职者对应空缺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1" y="1783080"/>
            <a:ext cx="2103119" cy="7315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03C66"/>
                </a:solidFill>
                <a:latin typeface="Calibri"/>
                <a:ea typeface="Hiragino Sans GB"/>
                <a:cs typeface="Hiragino Sans GB"/>
              </a:rPr>
              <a:t>91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1" y="2331720"/>
            <a:ext cx="2103119" cy="31089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67968"/>
                </a:solidFill>
                <a:latin typeface="Calibri"/>
                <a:ea typeface="Hiragino Sans GB"/>
                <a:cs typeface="Hiragino Sans GB"/>
              </a:rPr>
              <a:t>自 2021 年以来首次跌破 100</a:t>
            </a:r>
          </a:p>
        </p:txBody>
      </p:sp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548640" y="3017520"/>
          <a:ext cx="4983480" cy="1554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Rounded Rectangle 24"/>
          <p:cNvSpPr/>
          <p:nvPr/>
        </p:nvSpPr>
        <p:spPr>
          <a:xfrm>
            <a:off x="5715000" y="3017520"/>
            <a:ext cx="2880360" cy="1554480"/>
          </a:xfrm>
          <a:prstGeom prst="roundRect">
            <a:avLst>
              <a:gd name="adj" fmla="val 5882"/>
            </a:avLst>
          </a:prstGeom>
          <a:solidFill>
            <a:srgbClr val="FCF8EF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6" name="Round Same Side Corner Rectangle 25"/>
          <p:cNvSpPr/>
          <p:nvPr/>
        </p:nvSpPr>
        <p:spPr>
          <a:xfrm>
            <a:off x="5715000" y="3017520"/>
            <a:ext cx="2880360" cy="384048"/>
          </a:xfrm>
          <a:prstGeom prst="round2SameRect">
            <a:avLst>
              <a:gd name="adj1" fmla="val 23809"/>
              <a:gd name="adj2" fmla="val 0"/>
            </a:avLst>
          </a:prstGeom>
          <a:solidFill>
            <a:srgbClr val="16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16168" y="3035808"/>
            <a:ext cx="2478024" cy="256032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Calibri"/>
                <a:ea typeface="Hiragino Sans GB"/>
                <a:cs typeface="Hiragino Sans GB"/>
              </a:rPr>
              <a:t>为什么重要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16168" y="3529584"/>
            <a:ext cx="2478024" cy="896111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D4E5B"/>
                </a:solidFill>
                <a:latin typeface="Calibri"/>
                <a:ea typeface="Hiragino Sans GB"/>
                <a:cs typeface="Hiragino Sans GB"/>
              </a:rPr>
              <a:t>紧俏程度已从 2022 年峰值回落，如今求职者略多于空缺。市场是在回归常态，而非崩盘（GDP 仍增长约 1 至 1.4%）。</a:t>
            </a:r>
            <a:r>
              <a:rPr sz="1150" b="1" i="0">
                <a:solidFill>
                  <a:srgbClr val="16334C"/>
                </a:solidFill>
                <a:latin typeface="Calibri"/>
                <a:ea typeface="Hiragino Sans GB"/>
                <a:cs typeface="Hiragino Sans GB"/>
              </a:rPr>
              <a:t/>
            </a:r>
            <a:r>
              <a:rPr sz="1150" b="0" i="0">
                <a:solidFill>
                  <a:srgbClr val="3D4E5B"/>
                </a:solidFill>
                <a:latin typeface="Calibri"/>
                <a:ea typeface="Hiragino Sans GB"/>
                <a:cs typeface="Hiragino Sans GB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9184"/>
            <a:ext cx="804672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E672B"/>
                </a:solidFill>
                <a:latin typeface="Calibri"/>
                <a:ea typeface="Hiragino Sans GB"/>
                <a:cs typeface="Hiragino Sans GB"/>
              </a:rPr>
              <a:t>第 1 部分 · 工作在哪里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046720" cy="7315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6334C"/>
                </a:solidFill>
                <a:latin typeface="Georgia"/>
                <a:ea typeface="Hiragino Sans GB"/>
                <a:cs typeface="Songti SC"/>
              </a:rPr>
              <a:t>缺口仍在，但高度集中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25295"/>
            <a:ext cx="868680" cy="36576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4727448"/>
            <a:ext cx="164592" cy="256032"/>
          </a:xfrm>
          <a:prstGeom prst="roundRect">
            <a:avLst>
              <a:gd name="adj" fmla="val 50000"/>
            </a:avLst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4718304"/>
            <a:ext cx="594360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67968"/>
                </a:solidFill>
                <a:latin typeface="Calibri"/>
                <a:ea typeface="Hiragino Sans GB"/>
                <a:cs typeface="Hiragino Sans GB"/>
              </a:rPr>
              <a:t>2026 荷兰外籍人士就业市场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718304"/>
            <a:ext cx="54864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334C"/>
                </a:solidFill>
                <a:latin typeface="Calibri"/>
                <a:ea typeface="Hiragino Sans GB"/>
                <a:cs typeface="Hiragino Sans GB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5" y="1417320"/>
            <a:ext cx="1572768" cy="914400"/>
          </a:xfrm>
          <a:prstGeom prst="roundRect">
            <a:avLst>
              <a:gd name="adj" fmla="val 8000"/>
            </a:avLst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7" y="1417320"/>
            <a:ext cx="1335024" cy="9144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Hiragino Sans GB"/>
                <a:cs typeface="Hiragino Sans GB"/>
              </a:rPr>
              <a:t>医疗健康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  <a:ea typeface="Hiragino Sans GB"/>
                <a:cs typeface="Hiragino Sans GB"/>
              </a:rPr>
              <a:t>护士、护理、全科医生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48255" y="1417320"/>
            <a:ext cx="1572768" cy="914400"/>
          </a:xfrm>
          <a:prstGeom prst="roundRect">
            <a:avLst>
              <a:gd name="adj" fmla="val 8000"/>
            </a:avLst>
          </a:prstGeom>
          <a:solidFill>
            <a:srgbClr val="2C6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67127" y="1417320"/>
            <a:ext cx="1335024" cy="9144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Hiragino Sans GB"/>
                <a:cs typeface="Hiragino Sans GB"/>
              </a:rPr>
              <a:t>IT / 科技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  <a:ea typeface="Hiragino Sans GB"/>
                <a:cs typeface="Hiragino Sans GB"/>
              </a:rPr>
              <a:t>软件、数据、网络安全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85615" y="1417320"/>
            <a:ext cx="1572768" cy="914400"/>
          </a:xfrm>
          <a:prstGeom prst="roundRect">
            <a:avLst>
              <a:gd name="adj" fmla="val 8000"/>
            </a:avLst>
          </a:prstGeom>
          <a:solidFill>
            <a:srgbClr val="16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4487" y="1417320"/>
            <a:ext cx="1335024" cy="9144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Hiragino Sans GB"/>
                <a:cs typeface="Hiragino Sans GB"/>
              </a:rPr>
              <a:t>工程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  <a:ea typeface="Hiragino Sans GB"/>
                <a:cs typeface="Hiragino Sans GB"/>
              </a:rPr>
              <a:t>含半导体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22975" y="1417320"/>
            <a:ext cx="1572768" cy="914400"/>
          </a:xfrm>
          <a:prstGeom prst="roundRect">
            <a:avLst>
              <a:gd name="adj" fmla="val 8000"/>
            </a:avLst>
          </a:prstGeom>
          <a:solidFill>
            <a:srgbClr val="A66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41847" y="1298448"/>
            <a:ext cx="1664208" cy="9144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r>
              <a:rPr sz="1600" b="1">
                <a:solidFill>
                  <a:srgbClr val="003C66"/>
                </a:solidFill>
                <a:ea typeface="Hiragino Sans GB"/>
              </a:rPr>
              <a:t>技工 / 安装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60336" y="1417320"/>
            <a:ext cx="1572768" cy="914400"/>
          </a:xfrm>
          <a:prstGeom prst="roundRect">
            <a:avLst>
              <a:gd name="adj" fmla="val 8000"/>
            </a:avLst>
          </a:prstGeom>
          <a:solidFill>
            <a:srgbClr val="6E7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79208" y="1417320"/>
            <a:ext cx="1335024" cy="9144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Hiragino Sans GB"/>
                <a:cs typeface="Hiragino Sans GB"/>
              </a:rPr>
              <a:t>教育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  <a:ea typeface="Hiragino Sans GB"/>
                <a:cs typeface="Hiragino Sans GB"/>
              </a:rPr>
              <a:t>教师、STEM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560320"/>
            <a:ext cx="3977639" cy="960120"/>
          </a:xfrm>
          <a:prstGeom prst="roundRect">
            <a:avLst>
              <a:gd name="adj" fmla="val 9523"/>
            </a:avLst>
          </a:prstGeom>
          <a:solidFill>
            <a:srgbClr val="FCF8EF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724912"/>
            <a:ext cx="3566160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baseline="25412">
                <a:solidFill>
                  <a:srgbClr val="003C66"/>
                </a:solidFill>
                <a:latin typeface="Calibri"/>
                <a:ea typeface="Hiragino Sans GB"/>
                <a:cs typeface="Hiragino Sans GB"/>
              </a:rPr>
              <a:t>6.8万 → 7.1万</a:t>
            </a:r>
            <a:r>
              <a:rPr sz="2900" b="1" i="0">
                <a:solidFill>
                  <a:srgbClr val="2C6B76"/>
                </a:solidFill>
                <a:latin typeface="Calibri"/>
                <a:ea typeface="Hiragino Sans GB"/>
                <a:cs typeface="Hiragino Sans GB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182112"/>
            <a:ext cx="36576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D4E5B"/>
                </a:solidFill>
                <a:latin typeface="Calibri"/>
                <a:ea typeface="Hiragino Sans GB"/>
                <a:cs typeface="Hiragino Sans GB"/>
              </a:rPr>
              <a:t>医疗健康，仍在增岗（2025 四季度）</a:t>
            </a:r>
            <a:r>
              <a:rPr sz="1100" b="1" i="0">
                <a:solidFill>
                  <a:srgbClr val="16334C"/>
                </a:solidFill>
                <a:latin typeface="Calibri"/>
                <a:ea typeface="Hiragino Sans GB"/>
                <a:cs typeface="Hiragino Sans GB"/>
              </a:rPr>
              <a:t/>
            </a:r>
            <a:r>
              <a:rPr sz="1100" b="0" i="0">
                <a:solidFill>
                  <a:srgbClr val="3D4E5B"/>
                </a:solidFill>
                <a:latin typeface="Calibri"/>
                <a:ea typeface="Hiragino Sans GB"/>
                <a:cs typeface="Hiragino Sans GB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09160" y="2560320"/>
            <a:ext cx="3886200" cy="960120"/>
          </a:xfrm>
          <a:prstGeom prst="roundRect">
            <a:avLst>
              <a:gd name="adj" fmla="val 9523"/>
            </a:avLst>
          </a:prstGeom>
          <a:solidFill>
            <a:srgbClr val="FCF8EF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0328" y="2724912"/>
            <a:ext cx="3483864" cy="649223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D4E5B"/>
                </a:solidFill>
                <a:latin typeface="Calibri"/>
                <a:ea typeface="Hiragino Sans GB"/>
                <a:cs typeface="Hiragino Sans GB"/>
              </a:rPr>
              <a:t>与此同时，贸易和商务服务业在收缩空缺。岗位是真实的，但只在对的角落里。</a:t>
            </a:r>
            <a:r>
              <a:rPr sz="1150" b="1" i="0">
                <a:solidFill>
                  <a:srgbClr val="16334C"/>
                </a:solidFill>
                <a:latin typeface="Calibri"/>
                <a:ea typeface="Hiragino Sans GB"/>
                <a:cs typeface="Hiragino Sans GB"/>
              </a:rPr>
              <a:t/>
            </a:r>
            <a:r>
              <a:rPr sz="1150" b="0" i="0">
                <a:solidFill>
                  <a:srgbClr val="3D4E5B"/>
                </a:solidFill>
                <a:latin typeface="Calibri"/>
                <a:ea typeface="Hiragino Sans GB"/>
                <a:cs typeface="Hiragino Sans GB"/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675887"/>
            <a:ext cx="8046720" cy="868680"/>
          </a:xfrm>
          <a:prstGeom prst="roundRect">
            <a:avLst>
              <a:gd name="adj" fmla="val 10526"/>
            </a:avLst>
          </a:prstGeom>
          <a:solidFill>
            <a:srgbClr val="16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727448"/>
            <a:ext cx="73152" cy="256032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59" y="3813048"/>
            <a:ext cx="1554480" cy="594359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E672B"/>
                </a:solidFill>
                <a:latin typeface="Calibri"/>
                <a:ea typeface="Hiragino Sans GB"/>
                <a:cs typeface="Hiragino Sans GB"/>
              </a:rPr>
              <a:t>要点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3794759"/>
            <a:ext cx="6126480" cy="63093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  <a:ea typeface="Hiragino Sans GB"/>
                <a:cs typeface="Hiragino Sans GB"/>
              </a:rPr>
              <a:t>瞄准缺口行业。它们是你进入市场概率最高的那扇门。</a:t>
            </a:r>
            <a:r>
              <a:rPr sz="1250" b="0" i="0">
                <a:solidFill>
                  <a:srgbClr val="CFD3CC"/>
                </a:solidFill>
                <a:latin typeface="Calibri"/>
                <a:ea typeface="Hiragino Sans GB"/>
                <a:cs typeface="Hiragino Sans GB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9184"/>
            <a:ext cx="8046720" cy="4572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E672B"/>
                </a:solidFill>
                <a:latin typeface="Calibri"/>
                <a:ea typeface="Hiragino Sans GB"/>
                <a:cs typeface="Hiragino Sans GB"/>
              </a:rPr>
              <a:t>第 1 部分 · 只会英语的现实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046720" cy="7315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6334C"/>
                </a:solidFill>
                <a:latin typeface="Georgia"/>
                <a:ea typeface="Hiragino Sans GB"/>
                <a:cs typeface="Songti SC"/>
              </a:rPr>
              <a:t>只靠英语，你能走多远？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25295"/>
            <a:ext cx="868680" cy="36576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4727448"/>
            <a:ext cx="164592" cy="256032"/>
          </a:xfrm>
          <a:prstGeom prst="roundRect">
            <a:avLst>
              <a:gd name="adj" fmla="val 50000"/>
            </a:avLst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4718304"/>
            <a:ext cx="594360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67968"/>
                </a:solidFill>
                <a:latin typeface="Calibri"/>
                <a:ea typeface="Hiragino Sans GB"/>
                <a:cs typeface="Hiragino Sans GB"/>
              </a:rPr>
              <a:t>2026 荷兰外籍人士就业市场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718304"/>
            <a:ext cx="54864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334C"/>
                </a:solidFill>
                <a:latin typeface="Calibri"/>
                <a:ea typeface="Hiragino Sans GB"/>
                <a:cs typeface="Hiragino Sans GB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3931920" cy="2057400"/>
          </a:xfrm>
          <a:prstGeom prst="roundRect">
            <a:avLst>
              <a:gd name="adj" fmla="val 4444"/>
            </a:avLst>
          </a:prstGeom>
          <a:solidFill>
            <a:srgbClr val="FCF8EF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548640" y="1371600"/>
            <a:ext cx="3931920" cy="384048"/>
          </a:xfrm>
          <a:prstGeom prst="round2SameRect">
            <a:avLst>
              <a:gd name="adj1" fmla="val 23809"/>
              <a:gd name="adj2" fmla="val 0"/>
            </a:avLst>
          </a:prstGeom>
          <a:solidFill>
            <a:srgbClr val="2C6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426464"/>
            <a:ext cx="3529584" cy="237744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r>
              <a:rPr sz="960" b="1">
                <a:solidFill>
                  <a:srgbClr val="FFFFFF"/>
                </a:solidFill>
                <a:ea typeface="Hiragino Sans GB"/>
              </a:rPr>
              <a:t>常向英语者开放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002536"/>
            <a:ext cx="82296" cy="82296"/>
          </a:xfrm>
          <a:prstGeom prst="rect">
            <a:avLst/>
          </a:prstGeom>
          <a:solidFill>
            <a:srgbClr val="2C6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1920240"/>
            <a:ext cx="3319272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3C66"/>
                </a:solidFill>
                <a:latin typeface="Calibri"/>
                <a:ea typeface="Hiragino Sans GB"/>
                <a:cs typeface="Hiragino Sans GB"/>
              </a:rPr>
              <a:t>跨国公司与总部，日常用英语运转</a:t>
            </a:r>
            <a:r>
              <a:rPr sz="1250" b="0" i="0">
                <a:solidFill>
                  <a:srgbClr val="3A4A55"/>
                </a:solidFill>
                <a:latin typeface="Calibri"/>
                <a:ea typeface="Hiragino Sans GB"/>
                <a:cs typeface="Hiragino Sans GB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326640"/>
            <a:ext cx="82296" cy="82296"/>
          </a:xfrm>
          <a:prstGeom prst="rect">
            <a:avLst/>
          </a:prstGeom>
          <a:solidFill>
            <a:srgbClr val="2C6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2244344"/>
            <a:ext cx="3319272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3C66"/>
                </a:solidFill>
                <a:latin typeface="Calibri"/>
                <a:ea typeface="Hiragino Sans GB"/>
                <a:cs typeface="Hiragino Sans GB"/>
              </a:rPr>
              <a:t>科技 / IT，软件、数据、产品</a:t>
            </a:r>
            <a:r>
              <a:rPr sz="1250" b="0" i="0">
                <a:solidFill>
                  <a:srgbClr val="3A4A55"/>
                </a:solidFill>
                <a:latin typeface="Calibri"/>
                <a:ea typeface="Hiragino Sans GB"/>
                <a:cs typeface="Hiragino Sans GB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650743"/>
            <a:ext cx="82296" cy="82296"/>
          </a:xfrm>
          <a:prstGeom prst="rect">
            <a:avLst/>
          </a:prstGeom>
          <a:solidFill>
            <a:srgbClr val="2C6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" y="2568448"/>
            <a:ext cx="3319272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3C66"/>
                </a:solidFill>
                <a:latin typeface="Calibri"/>
                <a:ea typeface="Hiragino Sans GB"/>
                <a:cs typeface="Hiragino Sans GB"/>
              </a:rPr>
              <a:t>金融、咨询、成长期公司</a:t>
            </a:r>
            <a:r>
              <a:rPr sz="1250" b="0" i="0">
                <a:solidFill>
                  <a:srgbClr val="3A4A55"/>
                </a:solidFill>
                <a:latin typeface="Calibri"/>
                <a:ea typeface="Hiragino Sans GB"/>
                <a:cs typeface="Hiragino Sans GB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974847"/>
            <a:ext cx="82296" cy="82296"/>
          </a:xfrm>
          <a:prstGeom prst="rect">
            <a:avLst/>
          </a:prstGeom>
          <a:solidFill>
            <a:srgbClr val="2C6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2834640"/>
            <a:ext cx="3319272" cy="420624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r>
              <a:rPr sz="1100" b="1">
                <a:solidFill>
                  <a:srgbClr val="003C66"/>
                </a:solidFill>
                <a:ea typeface="Hiragino Sans GB"/>
              </a:rPr>
              <a:t>高校科研 / Brainport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2926080"/>
            <a:ext cx="9144" cy="9144"/>
          </a:xfrm>
          <a:prstGeom prst="rect">
            <a:avLst/>
          </a:prstGeom>
          <a:solidFill>
            <a:srgbClr val="2C6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2907792"/>
            <a:ext cx="3319272" cy="9144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663440" y="1371600"/>
            <a:ext cx="3931920" cy="2057400"/>
          </a:xfrm>
          <a:prstGeom prst="roundRect">
            <a:avLst>
              <a:gd name="adj" fmla="val 4444"/>
            </a:avLst>
          </a:prstGeom>
          <a:solidFill>
            <a:srgbClr val="FCF8EF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4663440" y="1371600"/>
            <a:ext cx="3931920" cy="384048"/>
          </a:xfrm>
          <a:prstGeom prst="round2SameRect">
            <a:avLst>
              <a:gd name="adj1" fmla="val 23809"/>
              <a:gd name="adj2" fmla="val 0"/>
            </a:avLst>
          </a:prstGeom>
          <a:solidFill>
            <a:srgbClr val="A66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4607" y="1426464"/>
            <a:ext cx="3529584" cy="237744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r>
              <a:rPr sz="960" b="1">
                <a:solidFill>
                  <a:srgbClr val="FFFFFF"/>
                </a:solidFill>
                <a:ea typeface="Hiragino Sans GB"/>
              </a:rPr>
              <a:t>通常需要荷兰语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92040" y="2002536"/>
            <a:ext cx="82296" cy="82296"/>
          </a:xfrm>
          <a:prstGeom prst="rect">
            <a:avLst/>
          </a:prstGeom>
          <a:solidFill>
            <a:srgbClr val="A66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93207" y="1920240"/>
            <a:ext cx="3319272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3C66"/>
                </a:solidFill>
                <a:latin typeface="Calibri"/>
                <a:ea typeface="Hiragino Sans GB"/>
                <a:cs typeface="Hiragino Sans GB"/>
              </a:rPr>
              <a:t>公共部门与政府</a:t>
            </a:r>
            <a:r>
              <a:rPr sz="1250" b="0" i="0">
                <a:solidFill>
                  <a:srgbClr val="3A4A55"/>
                </a:solidFill>
                <a:latin typeface="Calibri"/>
                <a:ea typeface="Hiragino Sans GB"/>
                <a:cs typeface="Hiragino Sans GB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4892040" y="2326640"/>
            <a:ext cx="82296" cy="82296"/>
          </a:xfrm>
          <a:prstGeom prst="rect">
            <a:avLst/>
          </a:prstGeom>
          <a:solidFill>
            <a:srgbClr val="A66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93207" y="2244344"/>
            <a:ext cx="3319272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3C66"/>
                </a:solidFill>
                <a:latin typeface="Calibri"/>
                <a:ea typeface="Hiragino Sans GB"/>
                <a:cs typeface="Hiragino Sans GB"/>
              </a:rPr>
              <a:t>一线医疗与护理工作</a:t>
            </a:r>
            <a:r>
              <a:rPr sz="1250" b="0" i="0">
                <a:solidFill>
                  <a:srgbClr val="3A4A55"/>
                </a:solidFill>
                <a:latin typeface="Calibri"/>
                <a:ea typeface="Hiragino Sans GB"/>
                <a:cs typeface="Hiragino Sans GB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4892040" y="2650743"/>
            <a:ext cx="82296" cy="82296"/>
          </a:xfrm>
          <a:prstGeom prst="rect">
            <a:avLst/>
          </a:prstGeom>
          <a:solidFill>
            <a:srgbClr val="A66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93207" y="2568448"/>
            <a:ext cx="3319272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3C66"/>
                </a:solidFill>
                <a:latin typeface="Calibri"/>
                <a:ea typeface="Hiragino Sans GB"/>
                <a:cs typeface="Hiragino Sans GB"/>
              </a:rPr>
              <a:t>面客销售与本地中小企业</a:t>
            </a:r>
            <a:r>
              <a:rPr sz="1250" b="0" i="0">
                <a:solidFill>
                  <a:srgbClr val="3A4A55"/>
                </a:solidFill>
                <a:latin typeface="Calibri"/>
                <a:ea typeface="Hiragino Sans GB"/>
                <a:cs typeface="Hiragino Sans GB"/>
              </a:rPr>
              <a:t/>
            </a:r>
          </a:p>
        </p:txBody>
      </p:sp>
      <p:sp>
        <p:nvSpPr>
          <p:cNvPr id="31" name="Rectangle 30"/>
          <p:cNvSpPr/>
          <p:nvPr/>
        </p:nvSpPr>
        <p:spPr>
          <a:xfrm>
            <a:off x="4892040" y="2974847"/>
            <a:ext cx="82296" cy="82296"/>
          </a:xfrm>
          <a:prstGeom prst="rect">
            <a:avLst/>
          </a:prstGeom>
          <a:solidFill>
            <a:srgbClr val="A66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93207" y="2892552"/>
            <a:ext cx="3319272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3C66"/>
                </a:solidFill>
                <a:latin typeface="Calibri"/>
                <a:ea typeface="Hiragino Sans GB"/>
                <a:cs typeface="Hiragino Sans GB"/>
              </a:rPr>
              <a:t>大量行政、法务与运营岗</a:t>
            </a:r>
            <a:r>
              <a:rPr sz="1250" b="0" i="0">
                <a:solidFill>
                  <a:srgbClr val="3A4A55"/>
                </a:solidFill>
                <a:latin typeface="Calibri"/>
                <a:ea typeface="Hiragino Sans GB"/>
                <a:cs typeface="Hiragino Sans GB"/>
              </a:rPr>
              <a:t/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3675887"/>
            <a:ext cx="8046720" cy="868680"/>
          </a:xfrm>
          <a:prstGeom prst="roundRect">
            <a:avLst>
              <a:gd name="adj" fmla="val 10526"/>
            </a:avLst>
          </a:prstGeom>
          <a:solidFill>
            <a:srgbClr val="16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4727448"/>
            <a:ext cx="73152" cy="256032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" y="3813048"/>
            <a:ext cx="1554480" cy="594359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E672B"/>
                </a:solidFill>
                <a:latin typeface="Calibri"/>
                <a:ea typeface="Hiragino Sans GB"/>
                <a:cs typeface="Hiragino Sans GB"/>
              </a:rPr>
              <a:t>要点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0" y="3794759"/>
            <a:ext cx="6126480" cy="63093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  <a:ea typeface="Hiragino Sans GB"/>
                <a:cs typeface="Hiragino Sans GB"/>
              </a:rPr>
              <a:t>优先瞄准英语优先的雇主。之后再学荷兰语，会大幅拓宽机会漏斗。</a:t>
            </a:r>
            <a:r>
              <a:rPr sz="1250" b="0" i="0">
                <a:solidFill>
                  <a:srgbClr val="CFD3CC"/>
                </a:solidFill>
                <a:latin typeface="Calibri"/>
                <a:ea typeface="Hiragino Sans GB"/>
                <a:cs typeface="Hiragino Sans GB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 title="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1920240"/>
          </a:xfrm>
          <a:prstGeom prst="rect">
            <a:avLst/>
          </a:prstGeom>
          <a:gradFill>
            <a:gsLst>
              <a:gs pos="0">
                <a:srgbClr val="F4EBDA">
                  <a:alpha val="96000"/>
                </a:srgbClr>
              </a:gs>
              <a:gs pos="70000">
                <a:srgbClr val="F4EBDA">
                  <a:alpha val="88000"/>
                </a:srgbClr>
              </a:gs>
              <a:gs pos="100000">
                <a:srgbClr val="F4EBDA">
                  <a:alpha val="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86384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BE672B"/>
                </a:solidFill>
                <a:latin typeface="Calibri"/>
                <a:ea typeface="Hiragino Sans GB"/>
                <a:cs typeface="Hiragino Sans GB"/>
              </a:rPr>
              <a:t>第 2 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04672"/>
            <a:ext cx="7955279" cy="7315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6334C"/>
                </a:solidFill>
                <a:latin typeface="Georgia"/>
                <a:ea typeface="Hiragino Sans GB"/>
                <a:cs typeface="Songti SC"/>
              </a:rPr>
              <a:t>这套体系：签证、钱与政治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17320"/>
            <a:ext cx="731520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D4E5B"/>
                </a:solidFill>
                <a:latin typeface="Calibri"/>
                <a:ea typeface="Hiragino Sans GB"/>
                <a:cs typeface="Hiragino Sans GB"/>
              </a:rPr>
              <a:t>决定你能不能、以及以什么条件在这里工作的，就是它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9184"/>
            <a:ext cx="804672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E672B"/>
                </a:solidFill>
                <a:latin typeface="Calibri"/>
                <a:ea typeface="Hiragino Sans GB"/>
                <a:cs typeface="Hiragino Sans GB"/>
              </a:rPr>
              <a:t>第 2 部分 · 签证路径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046720" cy="7315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6334C"/>
                </a:solidFill>
                <a:latin typeface="Georgia"/>
                <a:ea typeface="Hiragino Sans GB"/>
                <a:cs typeface="Songti SC"/>
              </a:rPr>
              <a:t>你的主入口：高技术移民路径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25295"/>
            <a:ext cx="868680" cy="36576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4727448"/>
            <a:ext cx="164592" cy="256032"/>
          </a:xfrm>
          <a:prstGeom prst="roundRect">
            <a:avLst>
              <a:gd name="adj" fmla="val 50000"/>
            </a:avLst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4718304"/>
            <a:ext cx="594360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67968"/>
                </a:solidFill>
                <a:latin typeface="Calibri"/>
                <a:ea typeface="Hiragino Sans GB"/>
                <a:cs typeface="Hiragino Sans GB"/>
              </a:rPr>
              <a:t>2026 荷兰外籍人士就业市场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718304"/>
            <a:ext cx="54864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334C"/>
                </a:solidFill>
                <a:latin typeface="Calibri"/>
                <a:ea typeface="Hiragino Sans GB"/>
                <a:cs typeface="Hiragino Sans GB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71600"/>
            <a:ext cx="2560319" cy="1508760"/>
          </a:xfrm>
          <a:prstGeom prst="roundRect">
            <a:avLst>
              <a:gd name="adj" fmla="val 606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371600"/>
            <a:ext cx="91440" cy="1508760"/>
          </a:xfrm>
          <a:prstGeom prst="roundRect">
            <a:avLst>
              <a:gd name="adj" fmla="val 50000"/>
            </a:avLst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572768"/>
            <a:ext cx="2103119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67968"/>
                </a:solidFill>
                <a:latin typeface="Calibri"/>
                <a:ea typeface="Hiragino Sans GB"/>
                <a:cs typeface="Hiragino Sans GB"/>
              </a:rPr>
              <a:t>30 岁及以上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828800"/>
            <a:ext cx="2103119" cy="7315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03C66"/>
                </a:solidFill>
                <a:latin typeface="Calibri"/>
                <a:ea typeface="Hiragino Sans GB"/>
                <a:cs typeface="Hiragino Sans GB"/>
              </a:rPr>
              <a:t>€5,942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432304"/>
            <a:ext cx="2103119" cy="31089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67968"/>
                </a:solidFill>
                <a:latin typeface="Calibri"/>
                <a:ea typeface="Hiragino Sans GB"/>
                <a:cs typeface="Hiragino Sans GB"/>
              </a:rPr>
              <a:t>税前 / 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39" y="1371600"/>
            <a:ext cx="2560319" cy="1508760"/>
          </a:xfrm>
          <a:prstGeom prst="roundRect">
            <a:avLst>
              <a:gd name="adj" fmla="val 606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91839" y="1371600"/>
            <a:ext cx="91440" cy="1508760"/>
          </a:xfrm>
          <a:prstGeom prst="roundRect">
            <a:avLst>
              <a:gd name="adj" fmla="val 50000"/>
            </a:avLst>
          </a:prstGeom>
          <a:solidFill>
            <a:srgbClr val="2C6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871" y="1572768"/>
            <a:ext cx="2103119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67968"/>
                </a:solidFill>
                <a:latin typeface="Calibri"/>
                <a:ea typeface="Hiragino Sans GB"/>
                <a:cs typeface="Hiragino Sans GB"/>
              </a:rPr>
              <a:t>30 岁以下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1" y="1828800"/>
            <a:ext cx="2103119" cy="7315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03C66"/>
                </a:solidFill>
                <a:latin typeface="Calibri"/>
                <a:ea typeface="Hiragino Sans GB"/>
                <a:cs typeface="Hiragino Sans GB"/>
              </a:rPr>
              <a:t>€4,357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1" y="2432304"/>
            <a:ext cx="2103119" cy="31089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67968"/>
                </a:solidFill>
                <a:latin typeface="Calibri"/>
                <a:ea typeface="Hiragino Sans GB"/>
                <a:cs typeface="Hiragino Sans GB"/>
              </a:rPr>
              <a:t>税前 / 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19" y="1371600"/>
            <a:ext cx="2560319" cy="1508760"/>
          </a:xfrm>
          <a:prstGeom prst="roundRect">
            <a:avLst>
              <a:gd name="adj" fmla="val 606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17919" y="1371600"/>
            <a:ext cx="91440" cy="1508760"/>
          </a:xfrm>
          <a:prstGeom prst="roundRect">
            <a:avLst>
              <a:gd name="adj" fmla="val 50000"/>
            </a:avLst>
          </a:prstGeom>
          <a:solidFill>
            <a:srgbClr val="16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1" y="1572768"/>
            <a:ext cx="2103119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67968"/>
                </a:solidFill>
                <a:latin typeface="Calibri"/>
                <a:ea typeface="Hiragino Sans GB"/>
                <a:cs typeface="Hiragino Sans GB"/>
              </a:rPr>
              <a:t>优惠档（应届毕业生）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1" y="1828800"/>
            <a:ext cx="2103119" cy="7315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03C66"/>
                </a:solidFill>
                <a:latin typeface="Calibri"/>
                <a:ea typeface="Hiragino Sans GB"/>
                <a:cs typeface="Hiragino Sans GB"/>
              </a:rPr>
              <a:t>€3,122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1" y="2432304"/>
            <a:ext cx="2103119" cy="31089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67968"/>
                </a:solidFill>
                <a:latin typeface="Calibri"/>
                <a:ea typeface="Hiragino Sans GB"/>
                <a:cs typeface="Hiragino Sans GB"/>
              </a:rPr>
              <a:t>税前 / 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9232"/>
            <a:ext cx="804672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867968"/>
                </a:solidFill>
                <a:latin typeface="Calibri"/>
                <a:ea typeface="Hiragino Sans GB"/>
                <a:cs typeface="Hiragino Sans GB"/>
              </a:rPr>
              <a:t>2026 年 IND 薪资门槛，不含 8% 假期津贴。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20440"/>
            <a:ext cx="8046720" cy="868680"/>
          </a:xfrm>
          <a:prstGeom prst="roundRect">
            <a:avLst>
              <a:gd name="adj" fmla="val 10526"/>
            </a:avLst>
          </a:prstGeom>
          <a:solidFill>
            <a:srgbClr val="16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727448"/>
            <a:ext cx="73152" cy="256032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59" y="3657600"/>
            <a:ext cx="1554480" cy="594359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E672B"/>
                </a:solidFill>
                <a:latin typeface="Calibri"/>
                <a:ea typeface="Hiragino Sans GB"/>
                <a:cs typeface="Hiragino Sans GB"/>
              </a:rPr>
              <a:t>关键前提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0" y="3639312"/>
            <a:ext cx="6126480" cy="63093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  <a:ea typeface="Hiragino Sans GB"/>
                <a:cs typeface="Hiragino Sans GB"/>
              </a:rPr>
              <a:t>你的雇主必须是被认可的担保方。所以找工作其实是在找担保方，用 IND 公开名录把每个岗位都筛一遍。</a:t>
            </a:r>
            <a:r>
              <a:rPr sz="1250" b="0" i="0">
                <a:solidFill>
                  <a:srgbClr val="CFD3CC"/>
                </a:solidFill>
                <a:latin typeface="Calibri"/>
                <a:ea typeface="Hiragino Sans GB"/>
                <a:cs typeface="Hiragino Sans GB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9184"/>
            <a:ext cx="804672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E672B"/>
                </a:solidFill>
                <a:latin typeface="Calibri"/>
                <a:ea typeface="Hiragino Sans GB"/>
                <a:cs typeface="Hiragino Sans GB"/>
              </a:rPr>
              <a:t>第 2 部分 · 钱的角度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046720" cy="7315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6334C"/>
                </a:solidFill>
                <a:latin typeface="Georgia"/>
                <a:ea typeface="Hiragino Sans GB"/>
                <a:cs typeface="Songti SC"/>
              </a:rPr>
              <a:t>30% 税收优惠：确有实惠，但在缩水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25295"/>
            <a:ext cx="868680" cy="36576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4727448"/>
            <a:ext cx="164592" cy="256032"/>
          </a:xfrm>
          <a:prstGeom prst="roundRect">
            <a:avLst>
              <a:gd name="adj" fmla="val 50000"/>
            </a:avLst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4718304"/>
            <a:ext cx="594360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67968"/>
                </a:solidFill>
                <a:latin typeface="Calibri"/>
                <a:ea typeface="Hiragino Sans GB"/>
                <a:cs typeface="Hiragino Sans GB"/>
              </a:rPr>
              <a:t>2026 荷兰外籍人士就业市场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718304"/>
            <a:ext cx="54864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334C"/>
                </a:solidFill>
                <a:latin typeface="Calibri"/>
                <a:ea typeface="Hiragino Sans GB"/>
                <a:cs typeface="Hiragino Sans GB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3931920" cy="2240280"/>
          </a:xfrm>
          <a:prstGeom prst="roundRect">
            <a:avLst>
              <a:gd name="adj" fmla="val 4081"/>
            </a:avLst>
          </a:prstGeom>
          <a:solidFill>
            <a:srgbClr val="FCF8EF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72768"/>
            <a:ext cx="356616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672B"/>
                </a:solidFill>
                <a:latin typeface="Calibri"/>
                <a:ea typeface="Hiragino Sans GB"/>
                <a:cs typeface="Hiragino Sans GB"/>
              </a:rPr>
              <a:t>免税补贴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874519"/>
            <a:ext cx="3474720" cy="7315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 baseline="22154">
                <a:solidFill>
                  <a:srgbClr val="003C66"/>
                </a:solidFill>
                <a:latin typeface="Calibri"/>
                <a:ea typeface="Hiragino Sans GB"/>
                <a:cs typeface="Hiragino Sans GB"/>
              </a:rPr>
              <a:t>30% → 27%</a:t>
            </a:r>
            <a:r>
              <a:rPr sz="4200" b="1" i="0">
                <a:solidFill>
                  <a:srgbClr val="BE672B"/>
                </a:solidFill>
                <a:latin typeface="Calibri"/>
                <a:ea typeface="Hiragino Sans GB"/>
                <a:cs typeface="Hiragino Sans GB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97480"/>
            <a:ext cx="3566160" cy="8229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D4E5B"/>
                </a:solidFill>
                <a:latin typeface="Calibri"/>
                <a:ea typeface="Hiragino Sans GB"/>
                <a:cs typeface="Hiragino Sans GB"/>
              </a:rPr>
              <a:t>面向高技术移民的 30% 免税补贴，2026 年维持 30%，自 2027 年 1 月 1 日起降至 27%。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1417320"/>
            <a:ext cx="36576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672B"/>
                </a:solidFill>
                <a:latin typeface="Calibri"/>
                <a:ea typeface="Hiragino Sans GB"/>
                <a:cs typeface="Hiragino Sans GB"/>
              </a:rPr>
              <a:t>一路是怎么走到这的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90795" y="1810512"/>
            <a:ext cx="21945" cy="1783080"/>
          </a:xfrm>
          <a:prstGeom prst="rect">
            <a:avLst/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19472" y="181965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21807" y="1755648"/>
            <a:ext cx="315468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AA0AE"/>
                </a:solidFill>
                <a:latin typeface="Calibri"/>
                <a:ea typeface="Hiragino Sans GB"/>
                <a:cs typeface="Hiragino Sans GB"/>
              </a:rPr>
              <a:t>2024　「30-20-10」方案取消</a:t>
            </a:r>
            <a:r>
              <a:rPr sz="1300" b="1" i="0">
                <a:solidFill>
                  <a:srgbClr val="003C66"/>
                </a:solidFill>
                <a:latin typeface="Calibri"/>
                <a:ea typeface="Hiragino Sans GB"/>
                <a:cs typeface="Hiragino Sans GB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21807" y="2048256"/>
            <a:ext cx="315468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67968"/>
                </a:solidFill>
                <a:latin typeface="Calibri"/>
                <a:ea typeface="Hiragino Sans GB"/>
                <a:cs typeface="Hiragino Sans GB"/>
              </a:rPr>
              <a:t>担心的逐步下调被撤回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19472" y="241401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21807" y="2350008"/>
            <a:ext cx="315468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AA0AE"/>
                </a:solidFill>
                <a:latin typeface="Calibri"/>
                <a:ea typeface="Hiragino Sans GB"/>
                <a:cs typeface="Hiragino Sans GB"/>
              </a:rPr>
              <a:t>2026　维持 30%</a:t>
            </a:r>
            <a:r>
              <a:rPr sz="1300" b="1" i="0">
                <a:solidFill>
                  <a:srgbClr val="003C66"/>
                </a:solidFill>
                <a:latin typeface="Calibri"/>
                <a:ea typeface="Hiragino Sans GB"/>
                <a:cs typeface="Hiragino Sans GB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7" y="2642616"/>
            <a:ext cx="315468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67968"/>
                </a:solidFill>
                <a:latin typeface="Calibri"/>
                <a:ea typeface="Hiragino Sans GB"/>
                <a:cs typeface="Hiragino Sans GB"/>
              </a:rPr>
              <a:t>现行比例保持不变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19472" y="300837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21807" y="2944368"/>
            <a:ext cx="315468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BE672B"/>
                </a:solidFill>
                <a:latin typeface="Calibri"/>
                <a:ea typeface="Hiragino Sans GB"/>
                <a:cs typeface="Hiragino Sans GB"/>
              </a:rPr>
              <a:t>2027　降至 27%</a:t>
            </a:r>
            <a:r>
              <a:rPr sz="1300" b="1" i="0">
                <a:solidFill>
                  <a:srgbClr val="003C66"/>
                </a:solidFill>
                <a:latin typeface="Calibri"/>
                <a:ea typeface="Hiragino Sans GB"/>
                <a:cs typeface="Hiragino Sans GB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21807" y="3236976"/>
            <a:ext cx="315468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67968"/>
                </a:solidFill>
                <a:latin typeface="Calibri"/>
                <a:ea typeface="Hiragino Sans GB"/>
                <a:cs typeface="Hiragino Sans GB"/>
              </a:rPr>
              <a:t>已确认的下调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703320"/>
            <a:ext cx="8046720" cy="868680"/>
          </a:xfrm>
          <a:prstGeom prst="roundRect">
            <a:avLst>
              <a:gd name="adj" fmla="val 10526"/>
            </a:avLst>
          </a:prstGeom>
          <a:solidFill>
            <a:srgbClr val="16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727448"/>
            <a:ext cx="73152" cy="256032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59" y="3840480"/>
            <a:ext cx="1554480" cy="594359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E672B"/>
                </a:solidFill>
                <a:latin typeface="Calibri"/>
                <a:ea typeface="Hiragino Sans GB"/>
                <a:cs typeface="Hiragino Sans GB"/>
              </a:rPr>
              <a:t>要点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3822191"/>
            <a:ext cx="6126480" cy="63093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  <a:ea typeface="Hiragino Sans GB"/>
                <a:cs typeface="Hiragino Sans GB"/>
              </a:rPr>
              <a:t>别把它算进太满的预算里。它仍值不少钱，只是变少了，而且在往下走。</a:t>
            </a:r>
            <a:r>
              <a:rPr sz="1250" b="0" i="0">
                <a:solidFill>
                  <a:srgbClr val="CFD3CC"/>
                </a:solidFill>
                <a:latin typeface="Calibri"/>
                <a:ea typeface="Hiragino Sans GB"/>
                <a:cs typeface="Hiragino Sans GB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9184"/>
            <a:ext cx="8046720" cy="4572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E672B"/>
                </a:solidFill>
                <a:latin typeface="Calibri"/>
                <a:ea typeface="Hiragino Sans GB"/>
                <a:cs typeface="Hiragino Sans GB"/>
              </a:rPr>
              <a:t>第 2 部分 · 政治与政策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046720" cy="7315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6334C"/>
                </a:solidFill>
                <a:latin typeface="Georgia"/>
                <a:ea typeface="Hiragino Sans GB"/>
                <a:cs typeface="Songti SC"/>
              </a:rPr>
              <a:t>逆风：规则正在变动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25295"/>
            <a:ext cx="868680" cy="36576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4727448"/>
            <a:ext cx="164592" cy="256032"/>
          </a:xfrm>
          <a:prstGeom prst="roundRect">
            <a:avLst>
              <a:gd name="adj" fmla="val 50000"/>
            </a:avLst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4718304"/>
            <a:ext cx="594360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67968"/>
                </a:solidFill>
                <a:latin typeface="Calibri"/>
                <a:ea typeface="Hiragino Sans GB"/>
                <a:cs typeface="Hiragino Sans GB"/>
              </a:rPr>
              <a:t>2026 荷兰外籍人士就业市场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718304"/>
            <a:ext cx="54864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334C"/>
                </a:solidFill>
                <a:latin typeface="Calibri"/>
                <a:ea typeface="Hiragino Sans GB"/>
                <a:cs typeface="Hiragino Sans GB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71600"/>
            <a:ext cx="2560319" cy="1874519"/>
          </a:xfrm>
          <a:prstGeom prst="roundRect">
            <a:avLst>
              <a:gd name="adj" fmla="val 4878"/>
            </a:avLst>
          </a:prstGeom>
          <a:solidFill>
            <a:srgbClr val="FCF8EF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365760" y="1371600"/>
            <a:ext cx="2560319" cy="384048"/>
          </a:xfrm>
          <a:prstGeom prst="round2SameRect">
            <a:avLst>
              <a:gd name="adj1" fmla="val 23809"/>
              <a:gd name="adj2" fmla="val 0"/>
            </a:avLst>
          </a:prstGeom>
          <a:solidFill>
            <a:srgbClr val="A66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26464"/>
            <a:ext cx="2157983" cy="237744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Calibri"/>
                <a:ea typeface="Hiragino Sans GB"/>
                <a:cs typeface="Hiragino Sans GB"/>
              </a:rPr>
              <a:t>高技术移民收紧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83664"/>
            <a:ext cx="2157983" cy="1216151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3D4E5B"/>
                </a:solidFill>
                <a:latin typeface="Calibri"/>
                <a:ea typeface="Hiragino Sans GB"/>
                <a:cs typeface="Hiragino Sans GB"/>
              </a:rPr>
              <a:t>2025 年 7 月一项抬高薪资门槛、限制毕业生优惠档的计划，已于 2025 年 11 月被议会退回，是提案，尚未立法。</a:t>
            </a:r>
            <a:r>
              <a:rPr sz="1100" b="1" i="0">
                <a:solidFill>
                  <a:srgbClr val="16334C"/>
                </a:solidFill>
                <a:latin typeface="Calibri"/>
                <a:ea typeface="Hiragino Sans GB"/>
                <a:cs typeface="Hiragino Sans GB"/>
              </a:rPr>
              <a:t/>
            </a:r>
            <a:r>
              <a:rPr sz="1100" b="0" i="0">
                <a:solidFill>
                  <a:srgbClr val="3D4E5B"/>
                </a:solidFill>
                <a:latin typeface="Calibri"/>
                <a:ea typeface="Hiragino Sans GB"/>
                <a:cs typeface="Hiragino Sans GB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39" y="1371600"/>
            <a:ext cx="2560319" cy="1874519"/>
          </a:xfrm>
          <a:prstGeom prst="roundRect">
            <a:avLst>
              <a:gd name="adj" fmla="val 4878"/>
            </a:avLst>
          </a:prstGeom>
          <a:solidFill>
            <a:srgbClr val="FCF8EF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4" name="Round Same Side Corner Rectangle 13"/>
          <p:cNvSpPr/>
          <p:nvPr/>
        </p:nvSpPr>
        <p:spPr>
          <a:xfrm>
            <a:off x="3291839" y="1371600"/>
            <a:ext cx="2560319" cy="384048"/>
          </a:xfrm>
          <a:prstGeom prst="round2SameRect">
            <a:avLst>
              <a:gd name="adj1" fmla="val 23809"/>
              <a:gd name="adj2" fmla="val 0"/>
            </a:avLst>
          </a:prstGeom>
          <a:solidFill>
            <a:srgbClr val="16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3007" y="1426464"/>
            <a:ext cx="2157983" cy="237744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Calibri"/>
                <a:ea typeface="Hiragino Sans GB"/>
                <a:cs typeface="Hiragino Sans GB"/>
              </a:rPr>
              <a:t>平衡移民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7" y="1883664"/>
            <a:ext cx="2157983" cy="1216151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3D4E5B"/>
                </a:solidFill>
                <a:latin typeface="Calibri"/>
                <a:ea typeface="Hiragino Sans GB"/>
                <a:cs typeface="Hiragino Sans GB"/>
              </a:rPr>
              <a:t>政界正积极推动限制劳工移民与国际学生招收（对英语授课专业设招生上限 numerus fixus）。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19" y="1371600"/>
            <a:ext cx="2560319" cy="1874519"/>
          </a:xfrm>
          <a:prstGeom prst="roundRect">
            <a:avLst>
              <a:gd name="adj" fmla="val 4878"/>
            </a:avLst>
          </a:prstGeom>
          <a:solidFill>
            <a:srgbClr val="FCF8EF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217919" y="1371600"/>
            <a:ext cx="2560319" cy="384048"/>
          </a:xfrm>
          <a:prstGeom prst="round2SameRect">
            <a:avLst>
              <a:gd name="adj1" fmla="val 23809"/>
              <a:gd name="adj2" fmla="val 0"/>
            </a:avLst>
          </a:prstGeom>
          <a:solidFill>
            <a:srgbClr val="2C6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7" y="1426464"/>
            <a:ext cx="2157983" cy="237744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Calibri"/>
                <a:ea typeface="Hiragino Sans GB"/>
                <a:cs typeface="Hiragino Sans GB"/>
              </a:rPr>
              <a:t>欧盟移民公约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7" y="1856232"/>
            <a:ext cx="2157983" cy="1216151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3D4E5B"/>
                </a:solidFill>
                <a:latin typeface="Calibri"/>
                <a:ea typeface="Hiragino Sans GB"/>
                <a:cs typeface="Hiragino Sans GB"/>
              </a:rPr>
              <a:t>自 2026 年 6 月 12 日起，欧盟《移民与庇护公约》会改变体系的部分环节。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703320"/>
            <a:ext cx="8046720" cy="868680"/>
          </a:xfrm>
          <a:prstGeom prst="roundRect">
            <a:avLst>
              <a:gd name="adj" fmla="val 10526"/>
            </a:avLst>
          </a:prstGeom>
          <a:solidFill>
            <a:srgbClr val="16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727448"/>
            <a:ext cx="73152" cy="256032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59" y="3840480"/>
            <a:ext cx="1554480" cy="594359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E672B"/>
                </a:solidFill>
                <a:latin typeface="Calibri"/>
                <a:ea typeface="Hiragino Sans GB"/>
                <a:cs typeface="Hiragino Sans GB"/>
              </a:rPr>
              <a:t>要点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822191"/>
            <a:ext cx="6126480" cy="63093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  <a:ea typeface="Hiragino Sans GB"/>
                <a:cs typeface="Hiragino Sans GB"/>
              </a:rPr>
              <a:t>趁条件有利时行动。政策氛围正在收紧，持续关注新闻。</a:t>
            </a:r>
            <a:r>
              <a:rPr sz="1250" b="0" i="0">
                <a:solidFill>
                  <a:srgbClr val="CFD3CC"/>
                </a:solidFill>
                <a:latin typeface="Calibri"/>
                <a:ea typeface="Hiragino Sans GB"/>
                <a:cs typeface="Hiragino Sans GB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9184"/>
            <a:ext cx="804672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E672B"/>
                </a:solidFill>
                <a:latin typeface="Calibri"/>
                <a:ea typeface="Hiragino Sans GB"/>
                <a:cs typeface="Hiragino Sans GB"/>
              </a:rPr>
              <a:t>第 2 部分 · 住房这道坎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046720" cy="7315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6334C"/>
                </a:solidFill>
                <a:latin typeface="Georgia"/>
                <a:ea typeface="Hiragino Sans GB"/>
                <a:cs typeface="Songti SC"/>
              </a:rPr>
              <a:t>真正的瓶颈也许是住房，不是工作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25295"/>
            <a:ext cx="868680" cy="36576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4727448"/>
            <a:ext cx="164592" cy="256032"/>
          </a:xfrm>
          <a:prstGeom prst="roundRect">
            <a:avLst>
              <a:gd name="adj" fmla="val 50000"/>
            </a:avLst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4718304"/>
            <a:ext cx="594360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67968"/>
                </a:solidFill>
                <a:latin typeface="Calibri"/>
                <a:ea typeface="Hiragino Sans GB"/>
                <a:cs typeface="Hiragino Sans GB"/>
              </a:rPr>
              <a:t>2026 荷兰外籍人士就业市场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718304"/>
            <a:ext cx="54864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334C"/>
                </a:solidFill>
                <a:latin typeface="Calibri"/>
                <a:ea typeface="Hiragino Sans GB"/>
                <a:cs typeface="Hiragino Sans GB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71600"/>
            <a:ext cx="4023359" cy="1481328"/>
          </a:xfrm>
          <a:prstGeom prst="roundRect">
            <a:avLst>
              <a:gd name="adj" fmla="val 6172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371600"/>
            <a:ext cx="91440" cy="1481328"/>
          </a:xfrm>
          <a:prstGeom prst="roundRect">
            <a:avLst>
              <a:gd name="adj" fmla="val 50000"/>
            </a:avLst>
          </a:prstGeom>
          <a:solidFill>
            <a:srgbClr val="A66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572768"/>
            <a:ext cx="3566159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67968"/>
                </a:solidFill>
                <a:latin typeface="Calibri"/>
                <a:ea typeface="Hiragino Sans GB"/>
                <a:cs typeface="Hiragino Sans GB"/>
              </a:rPr>
              <a:t>全国住房短缺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828800"/>
            <a:ext cx="3566159" cy="530352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03C66"/>
                </a:solidFill>
                <a:latin typeface="Calibri"/>
                <a:ea typeface="Hiragino Sans GB"/>
                <a:cs typeface="Hiragino Sans GB"/>
              </a:rPr>
              <a:t>约 41 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468880"/>
            <a:ext cx="3566159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867968"/>
                </a:solidFill>
                <a:latin typeface="Calibri"/>
                <a:ea typeface="Hiragino Sans GB"/>
                <a:cs typeface="Hiragino Sans GB"/>
              </a:rPr>
              <a:t>套缺口 · 占存量 4.8%（2026 年初）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1371600"/>
            <a:ext cx="4023359" cy="1481328"/>
          </a:xfrm>
          <a:prstGeom prst="roundRect">
            <a:avLst>
              <a:gd name="adj" fmla="val 6172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0" y="1371600"/>
            <a:ext cx="91440" cy="1481328"/>
          </a:xfrm>
          <a:prstGeom prst="roundRect">
            <a:avLst>
              <a:gd name="adj" fmla="val 50000"/>
            </a:avLst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10912" y="1572768"/>
            <a:ext cx="3566159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67968"/>
                </a:solidFill>
                <a:latin typeface="Calibri"/>
                <a:ea typeface="Hiragino Sans GB"/>
                <a:cs typeface="Hiragino Sans GB"/>
              </a:rPr>
              <a:t>新租客租金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10912" y="1828800"/>
            <a:ext cx="3566159" cy="530352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03C66"/>
                </a:solidFill>
                <a:latin typeface="Calibri"/>
                <a:ea typeface="Hiragino Sans GB"/>
                <a:cs typeface="Hiragino Sans GB"/>
              </a:rPr>
              <a:t>+7.3%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0912" y="2468880"/>
            <a:ext cx="3566159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867968"/>
                </a:solidFill>
                <a:latin typeface="Calibri"/>
                <a:ea typeface="Hiragino Sans GB"/>
                <a:cs typeface="Hiragino Sans GB"/>
              </a:rPr>
              <a:t>同比 · €21.12 / 平米（2026 一季度）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971800"/>
            <a:ext cx="8046720" cy="640080"/>
          </a:xfrm>
          <a:prstGeom prst="roundRect">
            <a:avLst>
              <a:gd name="adj" fmla="val 14285"/>
            </a:avLst>
          </a:prstGeom>
          <a:solidFill>
            <a:srgbClr val="FCF8EF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099816"/>
            <a:ext cx="7644384" cy="329183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D4E5B"/>
                </a:solidFill>
                <a:latin typeface="Calibri"/>
                <a:ea typeface="Hiragino Sans GB"/>
                <a:cs typeface="Hiragino Sans GB"/>
              </a:rPr>
              <a:t>自由市场租房在减少，竞争却在上升，外派人士在埃因霍温 / Brainport 感受最深。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703320"/>
            <a:ext cx="8046720" cy="868680"/>
          </a:xfrm>
          <a:prstGeom prst="roundRect">
            <a:avLst>
              <a:gd name="adj" fmla="val 10526"/>
            </a:avLst>
          </a:prstGeom>
          <a:solidFill>
            <a:srgbClr val="16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727448"/>
            <a:ext cx="73152" cy="256032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59" y="3840480"/>
            <a:ext cx="1554480" cy="594359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E672B"/>
                </a:solidFill>
                <a:latin typeface="Calibri"/>
                <a:ea typeface="Hiragino Sans GB"/>
                <a:cs typeface="Hiragino Sans GB"/>
              </a:rPr>
              <a:t>尽早规划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822191"/>
            <a:ext cx="6126480" cy="63093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  <a:ea typeface="Hiragino Sans GB"/>
                <a:cs typeface="Hiragino Sans GB"/>
              </a:rPr>
              <a:t>提前做住房预算并开始找。搞定住房，可能比拿到 offer 本身还难。</a:t>
            </a:r>
            <a:r>
              <a:rPr sz="1250" b="0" i="0">
                <a:solidFill>
                  <a:srgbClr val="CFD3CC"/>
                </a:solidFill>
                <a:latin typeface="Calibri"/>
                <a:ea typeface="Hiragino Sans GB"/>
                <a:cs typeface="Hiragino Sans GB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 title="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1920240"/>
          </a:xfrm>
          <a:prstGeom prst="rect">
            <a:avLst/>
          </a:prstGeom>
          <a:gradFill>
            <a:gsLst>
              <a:gs pos="0">
                <a:srgbClr val="F4EBDA">
                  <a:alpha val="96000"/>
                </a:srgbClr>
              </a:gs>
              <a:gs pos="70000">
                <a:srgbClr val="F4EBDA">
                  <a:alpha val="88000"/>
                </a:srgbClr>
              </a:gs>
              <a:gs pos="100000">
                <a:srgbClr val="F4EBDA">
                  <a:alpha val="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86384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BE672B"/>
                </a:solidFill>
                <a:latin typeface="Calibri"/>
                <a:ea typeface="Hiragino Sans GB"/>
                <a:cs typeface="Hiragino Sans GB"/>
              </a:rPr>
              <a:t>第 3 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04672"/>
            <a:ext cx="7955279" cy="7315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6334C"/>
                </a:solidFill>
                <a:latin typeface="Georgia"/>
                <a:ea typeface="Hiragino Sans GB"/>
                <a:cs typeface="Songti SC"/>
              </a:rPr>
              <a:t>行动手册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17320"/>
            <a:ext cx="731520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D4E5B"/>
                </a:solidFill>
                <a:latin typeface="Calibri"/>
                <a:ea typeface="Hiragino Sans GB"/>
                <a:cs typeface="Hiragino Sans GB"/>
              </a:rPr>
              <a:t>把分析变成一套具体的求职策略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9184"/>
            <a:ext cx="8046720" cy="4572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E672B"/>
                </a:solidFill>
                <a:latin typeface="Calibri"/>
                <a:ea typeface="Hiragino Sans GB"/>
                <a:cs typeface="Hiragino Sans GB"/>
              </a:rPr>
              <a:t>第 3 部分 · 在读生与毕业生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046720" cy="7315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6334C"/>
                </a:solidFill>
                <a:latin typeface="Georgia"/>
                <a:ea typeface="Hiragino Sans GB"/>
                <a:cs typeface="Songti SC"/>
              </a:rPr>
              <a:t>毕业生有一条特权入场道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25295"/>
            <a:ext cx="868680" cy="36576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4727448"/>
            <a:ext cx="164592" cy="256032"/>
          </a:xfrm>
          <a:prstGeom prst="roundRect">
            <a:avLst>
              <a:gd name="adj" fmla="val 50000"/>
            </a:avLst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4718304"/>
            <a:ext cx="594360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67968"/>
                </a:solidFill>
                <a:latin typeface="Calibri"/>
                <a:ea typeface="Hiragino Sans GB"/>
                <a:cs typeface="Hiragino Sans GB"/>
              </a:rPr>
              <a:t>2026 荷兰外籍人士就业市场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718304"/>
            <a:ext cx="54864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334C"/>
                </a:solidFill>
                <a:latin typeface="Calibri"/>
                <a:ea typeface="Hiragino Sans GB"/>
                <a:cs typeface="Hiragino Sans GB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3931920" cy="2240280"/>
          </a:xfrm>
          <a:prstGeom prst="roundRect">
            <a:avLst>
              <a:gd name="adj" fmla="val 4081"/>
            </a:avLst>
          </a:prstGeom>
          <a:solidFill>
            <a:srgbClr val="FCF8EF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548640" y="1371600"/>
            <a:ext cx="3931920" cy="384048"/>
          </a:xfrm>
          <a:prstGeom prst="round2SameRect">
            <a:avLst>
              <a:gd name="adj1" fmla="val 23809"/>
              <a:gd name="adj2" fmla="val 0"/>
            </a:avLst>
          </a:prstGeom>
          <a:solidFill>
            <a:srgbClr val="2C6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426464"/>
            <a:ext cx="3529584" cy="237744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Calibri"/>
                <a:ea typeface="Hiragino Sans GB"/>
                <a:cs typeface="Hiragino Sans GB"/>
              </a:rPr>
              <a:t>求职年（Zoekjaar）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057400"/>
            <a:ext cx="82296" cy="82296"/>
          </a:xfrm>
          <a:prstGeom prst="rect">
            <a:avLst/>
          </a:prstGeom>
          <a:solidFill>
            <a:srgbClr val="2C6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1975104"/>
            <a:ext cx="3319272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C66"/>
                </a:solidFill>
                <a:latin typeface="Calibri"/>
                <a:ea typeface="Hiragino Sans GB"/>
                <a:cs typeface="Hiragino Sans GB"/>
              </a:rPr>
              <a:t>毕业后 12 个月的居留许可</a:t>
            </a:r>
            <a:r>
              <a:rPr sz="1200" b="0" i="0">
                <a:solidFill>
                  <a:srgbClr val="3A4A55"/>
                </a:solidFill>
                <a:latin typeface="Calibri"/>
                <a:ea typeface="Hiragino Sans GB"/>
                <a:cs typeface="Hiragino Sans GB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392680"/>
            <a:ext cx="82296" cy="82296"/>
          </a:xfrm>
          <a:prstGeom prst="rect">
            <a:avLst/>
          </a:prstGeom>
          <a:solidFill>
            <a:srgbClr val="2C6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2310384"/>
            <a:ext cx="3319272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C66"/>
                </a:solidFill>
                <a:latin typeface="Calibri"/>
                <a:ea typeface="Hiragino Sans GB"/>
                <a:cs typeface="Hiragino Sans GB"/>
              </a:rPr>
              <a:t>可做任何工作，无薪资下限</a:t>
            </a:r>
            <a:r>
              <a:rPr sz="1200" b="0" i="0">
                <a:solidFill>
                  <a:srgbClr val="3A4A55"/>
                </a:solidFill>
                <a:latin typeface="Calibri"/>
                <a:ea typeface="Hiragino Sans GB"/>
                <a:cs typeface="Hiragino Sans GB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727960"/>
            <a:ext cx="82296" cy="82296"/>
          </a:xfrm>
          <a:prstGeom prst="rect">
            <a:avLst/>
          </a:prstGeom>
          <a:solidFill>
            <a:srgbClr val="2C6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" y="2645664"/>
            <a:ext cx="3319272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C66"/>
                </a:solidFill>
                <a:latin typeface="Calibri"/>
                <a:ea typeface="Hiragino Sans GB"/>
                <a:cs typeface="Hiragino Sans GB"/>
              </a:rPr>
              <a:t>雇主无需是担保方</a:t>
            </a:r>
            <a:r>
              <a:rPr sz="1200" b="0" i="0">
                <a:solidFill>
                  <a:srgbClr val="3A4A55"/>
                </a:solidFill>
                <a:latin typeface="Calibri"/>
                <a:ea typeface="Hiragino Sans GB"/>
                <a:cs typeface="Hiragino Sans GB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063240"/>
            <a:ext cx="82296" cy="82296"/>
          </a:xfrm>
          <a:prstGeom prst="rect">
            <a:avLst/>
          </a:prstGeom>
          <a:solidFill>
            <a:srgbClr val="2C6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2980944"/>
            <a:ext cx="3319272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C66"/>
                </a:solidFill>
                <a:latin typeface="Calibri"/>
                <a:ea typeface="Hiragino Sans GB"/>
                <a:cs typeface="Hiragino Sans GB"/>
              </a:rPr>
              <a:t>之后转入 €3,122 优惠档</a:t>
            </a:r>
            <a:r>
              <a:rPr sz="1200" b="0" i="0">
                <a:solidFill>
                  <a:srgbClr val="3A4A55"/>
                </a:solidFill>
                <a:latin typeface="Calibri"/>
                <a:ea typeface="Hiragino Sans GB"/>
                <a:cs typeface="Hiragino Sans GB"/>
              </a:rPr>
              <a:t/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63440" y="1371600"/>
            <a:ext cx="3931920" cy="2240280"/>
          </a:xfrm>
          <a:prstGeom prst="roundRect">
            <a:avLst>
              <a:gd name="adj" fmla="val 4081"/>
            </a:avLst>
          </a:prstGeom>
          <a:solidFill>
            <a:srgbClr val="FCF8EF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1" name="Round Same Side Corner Rectangle 20"/>
          <p:cNvSpPr/>
          <p:nvPr/>
        </p:nvSpPr>
        <p:spPr>
          <a:xfrm>
            <a:off x="4663440" y="1371600"/>
            <a:ext cx="3931920" cy="384048"/>
          </a:xfrm>
          <a:prstGeom prst="round2SameRect">
            <a:avLst>
              <a:gd name="adj1" fmla="val 23809"/>
              <a:gd name="adj2" fmla="val 0"/>
            </a:avLst>
          </a:prstGeom>
          <a:solidFill>
            <a:srgbClr val="A66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7" y="1426464"/>
            <a:ext cx="3529584" cy="237744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Calibri"/>
                <a:ea typeface="Hiragino Sans GB"/>
                <a:cs typeface="Hiragino Sans GB"/>
              </a:rPr>
              <a:t>但风向正在变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92040" y="2057400"/>
            <a:ext cx="82296" cy="82296"/>
          </a:xfrm>
          <a:prstGeom prst="rect">
            <a:avLst/>
          </a:prstGeom>
          <a:solidFill>
            <a:srgbClr val="A66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93207" y="1975104"/>
            <a:ext cx="3319272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C66"/>
                </a:solidFill>
                <a:latin typeface="Calibri"/>
                <a:ea typeface="Hiragino Sans GB"/>
                <a:cs typeface="Hiragino Sans GB"/>
              </a:rPr>
              <a:t>英语授课学位设招生上限 numerus fixus</a:t>
            </a:r>
            <a:r>
              <a:rPr sz="1200" b="0" i="0">
                <a:solidFill>
                  <a:srgbClr val="3A4A55"/>
                </a:solidFill>
                <a:latin typeface="Calibri"/>
                <a:ea typeface="Hiragino Sans GB"/>
                <a:cs typeface="Hiragino Sans GB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4892040" y="2392680"/>
            <a:ext cx="82296" cy="82296"/>
          </a:xfrm>
          <a:prstGeom prst="rect">
            <a:avLst/>
          </a:prstGeom>
          <a:solidFill>
            <a:srgbClr val="A66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93207" y="2310384"/>
            <a:ext cx="3319272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C66"/>
                </a:solidFill>
                <a:latin typeface="Calibri"/>
                <a:ea typeface="Hiragino Sans GB"/>
                <a:cs typeface="Hiragino Sans GB"/>
              </a:rPr>
              <a:t>国际化正被抑制</a:t>
            </a:r>
            <a:r>
              <a:rPr sz="1200" b="0" i="0">
                <a:solidFill>
                  <a:srgbClr val="3A4A55"/>
                </a:solidFill>
                <a:latin typeface="Calibri"/>
                <a:ea typeface="Hiragino Sans GB"/>
                <a:cs typeface="Hiragino Sans GB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4892040" y="2727960"/>
            <a:ext cx="82296" cy="82296"/>
          </a:xfrm>
          <a:prstGeom prst="rect">
            <a:avLst/>
          </a:prstGeom>
          <a:solidFill>
            <a:srgbClr val="A66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93207" y="2645664"/>
            <a:ext cx="3319272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C66"/>
                </a:solidFill>
                <a:latin typeface="Calibri"/>
                <a:ea typeface="Hiragino Sans GB"/>
                <a:cs typeface="Hiragino Sans GB"/>
              </a:rPr>
              <a:t>预示未来环境更紧</a:t>
            </a:r>
            <a:r>
              <a:rPr sz="1200" b="0" i="0">
                <a:solidFill>
                  <a:srgbClr val="3A4A55"/>
                </a:solidFill>
                <a:latin typeface="Calibri"/>
                <a:ea typeface="Hiragino Sans GB"/>
                <a:cs typeface="Hiragino Sans GB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4892040" y="3063240"/>
            <a:ext cx="82296" cy="82296"/>
          </a:xfrm>
          <a:prstGeom prst="rect">
            <a:avLst/>
          </a:prstGeom>
          <a:solidFill>
            <a:srgbClr val="A66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93207" y="2980944"/>
            <a:ext cx="3319272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C66"/>
                </a:solidFill>
                <a:latin typeface="Calibri"/>
                <a:ea typeface="Hiragino Sans GB"/>
                <a:cs typeface="Hiragino Sans GB"/>
              </a:rPr>
              <a:t>所以要有意识地行动，别随波逐流</a:t>
            </a:r>
            <a:r>
              <a:rPr sz="1200" b="0" i="0">
                <a:solidFill>
                  <a:srgbClr val="3A4A55"/>
                </a:solidFill>
                <a:latin typeface="Calibri"/>
                <a:ea typeface="Hiragino Sans GB"/>
                <a:cs typeface="Hiragino Sans GB"/>
              </a:rPr>
              <a:t/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3703320"/>
            <a:ext cx="8046720" cy="868680"/>
          </a:xfrm>
          <a:prstGeom prst="roundRect">
            <a:avLst>
              <a:gd name="adj" fmla="val 10526"/>
            </a:avLst>
          </a:prstGeom>
          <a:solidFill>
            <a:srgbClr val="16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4727448"/>
            <a:ext cx="73152" cy="256032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59" y="3840480"/>
            <a:ext cx="1554480" cy="594359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E672B"/>
                </a:solidFill>
                <a:latin typeface="Calibri"/>
                <a:ea typeface="Hiragino Sans GB"/>
                <a:cs typeface="Hiragino Sans GB"/>
              </a:rPr>
              <a:t>要点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0" y="3822191"/>
            <a:ext cx="6126480" cy="63093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  <a:ea typeface="Hiragino Sans GB"/>
                <a:cs typeface="Hiragino Sans GB"/>
              </a:rPr>
              <a:t>把求职年当作跑道，在它结束前先锁定一个担保方。</a:t>
            </a:r>
            <a:r>
              <a:rPr sz="1250" b="0" i="0">
                <a:solidFill>
                  <a:srgbClr val="CFD3CC"/>
                </a:solidFill>
                <a:latin typeface="Calibri"/>
                <a:ea typeface="Hiragino Sans GB"/>
                <a:cs typeface="Hiragino Sans GB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9184"/>
            <a:ext cx="8046720" cy="4572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E672B"/>
                </a:solidFill>
                <a:latin typeface="Calibri"/>
                <a:ea typeface="Hiragino Sans GB"/>
                <a:cs typeface="Hiragino Sans GB"/>
              </a:rPr>
              <a:t>第 3 部分 · 实操手册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046720" cy="7315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6334C"/>
                </a:solidFill>
                <a:latin typeface="Georgia"/>
                <a:ea typeface="Hiragino Sans GB"/>
                <a:cs typeface="Songti SC"/>
              </a:rPr>
              <a:t>你的六步求职手册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25295"/>
            <a:ext cx="868680" cy="36576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4727448"/>
            <a:ext cx="164592" cy="256032"/>
          </a:xfrm>
          <a:prstGeom prst="roundRect">
            <a:avLst>
              <a:gd name="adj" fmla="val 50000"/>
            </a:avLst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4718304"/>
            <a:ext cx="594360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67968"/>
                </a:solidFill>
                <a:latin typeface="Calibri"/>
                <a:ea typeface="Hiragino Sans GB"/>
                <a:cs typeface="Hiragino Sans GB"/>
              </a:rPr>
              <a:t>2026 荷兰外籍人士就业市场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718304"/>
            <a:ext cx="54864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334C"/>
                </a:solidFill>
                <a:latin typeface="Calibri"/>
                <a:ea typeface="Hiragino Sans GB"/>
                <a:cs typeface="Hiragino Sans GB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71600"/>
            <a:ext cx="2560319" cy="1078992"/>
          </a:xfrm>
          <a:prstGeom prst="roundRect">
            <a:avLst>
              <a:gd name="adj" fmla="val 8474"/>
            </a:avLst>
          </a:prstGeom>
          <a:solidFill>
            <a:srgbClr val="FCF8EF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365760" y="1371600"/>
            <a:ext cx="2560319" cy="384048"/>
          </a:xfrm>
          <a:prstGeom prst="round2SameRect">
            <a:avLst>
              <a:gd name="adj1" fmla="val 23809"/>
              <a:gd name="adj2" fmla="val 0"/>
            </a:avLst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26464"/>
            <a:ext cx="2157983" cy="237744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Calibri"/>
                <a:ea typeface="Hiragino Sans GB"/>
                <a:cs typeface="Hiragino Sans GB"/>
              </a:rPr>
              <a:t>1 · 锁定担保方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83664"/>
            <a:ext cx="2157983" cy="420623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3D4E5B"/>
                </a:solidFill>
                <a:latin typeface="Calibri"/>
                <a:ea typeface="Hiragino Sans GB"/>
                <a:cs typeface="Hiragino Sans GB"/>
              </a:rPr>
              <a:t>用 IND 认可担保方公开名录来筛岗位。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39" y="1371600"/>
            <a:ext cx="2560319" cy="1078992"/>
          </a:xfrm>
          <a:prstGeom prst="roundRect">
            <a:avLst>
              <a:gd name="adj" fmla="val 8474"/>
            </a:avLst>
          </a:prstGeom>
          <a:solidFill>
            <a:srgbClr val="FCF8EF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4" name="Round Same Side Corner Rectangle 13"/>
          <p:cNvSpPr/>
          <p:nvPr/>
        </p:nvSpPr>
        <p:spPr>
          <a:xfrm>
            <a:off x="3291839" y="1371600"/>
            <a:ext cx="2560319" cy="384048"/>
          </a:xfrm>
          <a:prstGeom prst="round2SameRect">
            <a:avLst>
              <a:gd name="adj1" fmla="val 23809"/>
              <a:gd name="adj2" fmla="val 0"/>
            </a:avLst>
          </a:prstGeom>
          <a:solidFill>
            <a:srgbClr val="2C6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3007" y="1426464"/>
            <a:ext cx="2157983" cy="237744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Calibri"/>
                <a:ea typeface="Hiragino Sans GB"/>
                <a:cs typeface="Hiragino Sans GB"/>
              </a:rPr>
              <a:t>2 · 英语优先招聘板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7" y="1883664"/>
            <a:ext cx="2157983" cy="420623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3D4E5B"/>
                </a:solidFill>
                <a:latin typeface="Calibri"/>
                <a:ea typeface="Hiragino Sans GB"/>
                <a:cs typeface="Hiragino Sans GB"/>
              </a:rPr>
              <a:t>Undutchables、IamExpat、Together Abroad、Expatica、LinkedIn。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19" y="1371600"/>
            <a:ext cx="2560319" cy="1078992"/>
          </a:xfrm>
          <a:prstGeom prst="roundRect">
            <a:avLst>
              <a:gd name="adj" fmla="val 8474"/>
            </a:avLst>
          </a:prstGeom>
          <a:solidFill>
            <a:srgbClr val="FCF8EF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217919" y="1371600"/>
            <a:ext cx="2560319" cy="384048"/>
          </a:xfrm>
          <a:prstGeom prst="round2SameRect">
            <a:avLst>
              <a:gd name="adj1" fmla="val 23809"/>
              <a:gd name="adj2" fmla="val 0"/>
            </a:avLst>
          </a:prstGeom>
          <a:solidFill>
            <a:srgbClr val="16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7" y="1426464"/>
            <a:ext cx="2157983" cy="237744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Calibri"/>
                <a:ea typeface="Hiragino Sans GB"/>
                <a:cs typeface="Hiragino Sans GB"/>
              </a:rPr>
              <a:t>3 · 使劲攒人脉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7" y="1837944"/>
            <a:ext cx="2157983" cy="420623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3D4E5B"/>
                </a:solidFill>
                <a:latin typeface="Calibri"/>
                <a:ea typeface="Hiragino Sans GB"/>
                <a:cs typeface="Hiragino Sans GB"/>
              </a:rPr>
              <a:t>内推胜过海投：线下聚会、校友、LinkedIn。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2578608"/>
            <a:ext cx="2560319" cy="1078992"/>
          </a:xfrm>
          <a:prstGeom prst="roundRect">
            <a:avLst>
              <a:gd name="adj" fmla="val 8474"/>
            </a:avLst>
          </a:prstGeom>
          <a:solidFill>
            <a:srgbClr val="FCF8EF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2" name="Round Same Side Corner Rectangle 21"/>
          <p:cNvSpPr/>
          <p:nvPr/>
        </p:nvSpPr>
        <p:spPr>
          <a:xfrm>
            <a:off x="365760" y="2578608"/>
            <a:ext cx="2560319" cy="384048"/>
          </a:xfrm>
          <a:prstGeom prst="round2SameRect">
            <a:avLst>
              <a:gd name="adj1" fmla="val 23809"/>
              <a:gd name="adj2" fmla="val 0"/>
            </a:avLst>
          </a:prstGeom>
          <a:solidFill>
            <a:srgbClr val="A66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2633472"/>
            <a:ext cx="2157983" cy="237744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FFFFFF"/>
                </a:solidFill>
                <a:latin typeface="Calibri"/>
                <a:ea typeface="Hiragino Sans GB"/>
                <a:cs typeface="Hiragino Sans GB"/>
              </a:rPr>
              <a:t>4 · 学荷兰语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090672"/>
            <a:ext cx="2157983" cy="420623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3D4E5B"/>
                </a:solidFill>
                <a:latin typeface="Calibri"/>
                <a:ea typeface="Hiragino Sans GB"/>
                <a:cs typeface="Hiragino Sans GB"/>
              </a:rPr>
              <a:t>哪怕 A2 到 B1，也能拓宽漏斗、释放诚意。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91839" y="2578608"/>
            <a:ext cx="2560319" cy="1078992"/>
          </a:xfrm>
          <a:prstGeom prst="roundRect">
            <a:avLst>
              <a:gd name="adj" fmla="val 8474"/>
            </a:avLst>
          </a:prstGeom>
          <a:solidFill>
            <a:srgbClr val="FCF8EF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6" name="Round Same Side Corner Rectangle 25"/>
          <p:cNvSpPr/>
          <p:nvPr/>
        </p:nvSpPr>
        <p:spPr>
          <a:xfrm>
            <a:off x="3291839" y="2578608"/>
            <a:ext cx="2560319" cy="384048"/>
          </a:xfrm>
          <a:prstGeom prst="round2SameRect">
            <a:avLst>
              <a:gd name="adj1" fmla="val 23809"/>
              <a:gd name="adj2" fmla="val 0"/>
            </a:avLst>
          </a:prstGeom>
          <a:solidFill>
            <a:srgbClr val="6E7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93007" y="2633472"/>
            <a:ext cx="2157983" cy="237744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FFFFFF"/>
                </a:solidFill>
                <a:latin typeface="Calibri"/>
                <a:ea typeface="Hiragino Sans GB"/>
                <a:cs typeface="Hiragino Sans GB"/>
              </a:rPr>
              <a:t>5 · 选好区域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93007" y="3044952"/>
            <a:ext cx="2157983" cy="420623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3D4E5B"/>
                </a:solidFill>
                <a:latin typeface="Calibri"/>
                <a:ea typeface="Hiragino Sans GB"/>
                <a:cs typeface="Hiragino Sans GB"/>
              </a:rPr>
              <a:t>兰斯台德胜在广度；Brainport 强在科技与工程。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19" y="2578608"/>
            <a:ext cx="2560319" cy="1078992"/>
          </a:xfrm>
          <a:prstGeom prst="roundRect">
            <a:avLst>
              <a:gd name="adj" fmla="val 8474"/>
            </a:avLst>
          </a:prstGeom>
          <a:solidFill>
            <a:srgbClr val="FCF8EF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0" name="Round Same Side Corner Rectangle 29"/>
          <p:cNvSpPr/>
          <p:nvPr/>
        </p:nvSpPr>
        <p:spPr>
          <a:xfrm>
            <a:off x="6217919" y="2578608"/>
            <a:ext cx="2560319" cy="384048"/>
          </a:xfrm>
          <a:prstGeom prst="round2SameRect">
            <a:avLst>
              <a:gd name="adj1" fmla="val 23809"/>
              <a:gd name="adj2" fmla="val 0"/>
            </a:avLst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7" y="2633472"/>
            <a:ext cx="2157983" cy="237744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FFFFFF"/>
                </a:solidFill>
                <a:latin typeface="Calibri"/>
                <a:ea typeface="Hiragino Sans GB"/>
                <a:cs typeface="Hiragino Sans GB"/>
              </a:rPr>
              <a:t>6 · 打磨简历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7" y="3090672"/>
            <a:ext cx="2157983" cy="420623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3D4E5B"/>
                </a:solidFill>
                <a:latin typeface="Calibri"/>
                <a:ea typeface="Hiragino Sans GB"/>
                <a:cs typeface="Hiragino Sans GB"/>
              </a:rPr>
              <a:t>简短、以成果为主、符合荷兰规范，不用放照片和年龄。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9184"/>
            <a:ext cx="804672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E672B"/>
                </a:solidFill>
                <a:latin typeface="Calibri"/>
                <a:ea typeface="Hiragino Sans GB"/>
                <a:cs typeface="Hiragino Sans GB"/>
              </a:rPr>
              <a:t>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046720" cy="7315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6334C"/>
                </a:solidFill>
                <a:latin typeface="Georgia"/>
                <a:ea typeface="Hiragino Sans GB"/>
                <a:cs typeface="Songti SC"/>
              </a:rPr>
              <a:t>五句话讲清策略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25295"/>
            <a:ext cx="868680" cy="36576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4727448"/>
            <a:ext cx="164592" cy="256032"/>
          </a:xfrm>
          <a:prstGeom prst="roundRect">
            <a:avLst>
              <a:gd name="adj" fmla="val 50000"/>
            </a:avLst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4718304"/>
            <a:ext cx="594360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67968"/>
                </a:solidFill>
                <a:latin typeface="Calibri"/>
                <a:ea typeface="Hiragino Sans GB"/>
                <a:cs typeface="Hiragino Sans GB"/>
              </a:rPr>
              <a:t>2026 荷兰外籍人士就业市场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718304"/>
            <a:ext cx="54864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334C"/>
                </a:solidFill>
                <a:latin typeface="Calibri"/>
                <a:ea typeface="Hiragino Sans GB"/>
                <a:cs typeface="Hiragino Sans GB"/>
              </a:rP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435608"/>
            <a:ext cx="82296" cy="82296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353312"/>
            <a:ext cx="7754111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03C66"/>
                </a:solidFill>
                <a:latin typeface="Calibri"/>
                <a:ea typeface="Hiragino Sans GB"/>
                <a:cs typeface="Hiragino Sans GB"/>
              </a:rPr>
              <a:t>门开着，但更窄了，是回归常态的市场，不是繁荣。</a:t>
            </a:r>
            <a:r>
              <a:rPr sz="1450" b="0" i="0">
                <a:solidFill>
                  <a:srgbClr val="3A4A55"/>
                </a:solidFill>
                <a:latin typeface="Calibri"/>
                <a:ea typeface="Hiragino Sans GB"/>
                <a:cs typeface="Hiragino Sans GB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824736"/>
            <a:ext cx="82296" cy="82296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742440"/>
            <a:ext cx="7754111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03C66"/>
                </a:solidFill>
                <a:latin typeface="Calibri"/>
                <a:ea typeface="Hiragino Sans GB"/>
                <a:cs typeface="Hiragino Sans GB"/>
              </a:rPr>
              <a:t>瞄准缺口行业和英语优先的雇主。</a:t>
            </a:r>
            <a:r>
              <a:rPr sz="1450" b="0" i="0">
                <a:solidFill>
                  <a:srgbClr val="3A4A55"/>
                </a:solidFill>
                <a:latin typeface="Calibri"/>
                <a:ea typeface="Hiragino Sans GB"/>
                <a:cs typeface="Hiragino Sans GB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213863"/>
            <a:ext cx="82296" cy="82296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2131568"/>
            <a:ext cx="7754111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03C66"/>
                </a:solidFill>
                <a:latin typeface="Calibri"/>
                <a:ea typeface="Hiragino Sans GB"/>
                <a:cs typeface="Hiragino Sans GB"/>
              </a:rPr>
              <a:t>去找被认可的担保方；你的签证系在雇主身上。</a:t>
            </a:r>
            <a:r>
              <a:rPr sz="1450" b="0" i="0">
                <a:solidFill>
                  <a:srgbClr val="3A4A55"/>
                </a:solidFill>
                <a:latin typeface="Calibri"/>
                <a:ea typeface="Hiragino Sans GB"/>
                <a:cs typeface="Hiragino Sans GB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602991"/>
            <a:ext cx="82296" cy="82296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2520695"/>
            <a:ext cx="7754111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03C66"/>
                </a:solidFill>
                <a:latin typeface="Calibri"/>
                <a:ea typeface="Hiragino Sans GB"/>
                <a:cs typeface="Hiragino Sans GB"/>
              </a:rPr>
              <a:t>把住房当成核心任务，而不是事后再说。</a:t>
            </a:r>
            <a:r>
              <a:rPr sz="1450" b="0" i="0">
                <a:solidFill>
                  <a:srgbClr val="3A4A55"/>
                </a:solidFill>
                <a:latin typeface="Calibri"/>
                <a:ea typeface="Hiragino Sans GB"/>
                <a:cs typeface="Hiragino Sans GB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992119"/>
            <a:ext cx="82296" cy="82296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2909823"/>
            <a:ext cx="7754111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03C66"/>
                </a:solidFill>
                <a:latin typeface="Calibri"/>
                <a:ea typeface="Hiragino Sans GB"/>
                <a:cs typeface="Hiragino Sans GB"/>
              </a:rPr>
              <a:t>盯紧政策，趁条件有利时出手。</a:t>
            </a:r>
            <a:r>
              <a:rPr sz="1450" b="0" i="0">
                <a:solidFill>
                  <a:srgbClr val="3A4A55"/>
                </a:solidFill>
                <a:latin typeface="Calibri"/>
                <a:ea typeface="Hiragino Sans GB"/>
                <a:cs typeface="Hiragino Sans GB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56432"/>
            <a:ext cx="1005840" cy="45720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584448"/>
            <a:ext cx="7955279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6334C"/>
                </a:solidFill>
                <a:latin typeface="Georgia"/>
                <a:ea typeface="Hiragino Sans GB"/>
                <a:cs typeface="Songti SC"/>
              </a:rPr>
              <a:t>门开着，只是更窄，而且只向有准备的人敞开。规划好路线，尽早启动。</a:t>
            </a:r>
            <a:r>
              <a:rPr sz="1400" b="0" i="0">
                <a:solidFill>
                  <a:srgbClr val="3D4E5B"/>
                </a:solidFill>
                <a:latin typeface="Calibri"/>
                <a:ea typeface="Songti SC"/>
                <a:cs typeface="Songti SC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61104"/>
            <a:ext cx="804672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67968"/>
                </a:solidFill>
                <a:latin typeface="Calibri"/>
                <a:ea typeface="Hiragino Sans GB"/>
                <a:cs typeface="Hiragino Sans GB"/>
              </a:rPr>
              <a:t>来源：CBS · IND · government.nl / business.gov.nl · NL Times · DutchNews · Pararius · Nuffic · CPB　·　截至 2026 年 6 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