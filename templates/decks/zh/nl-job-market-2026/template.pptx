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CBS 实际值</c:v>
                </c:pt>
              </c:strCache>
            </c:strRef>
          </c:tx>
          <c:spPr>
            <a:ln w="31750">
              <a:solidFill>
                <a:srgbClr val="D8542A"/>
              </a:solidFill>
            </a:ln>
          </c:spPr>
          <c:marker>
            <c:spPr>
              <a:solidFill>
                <a:srgbClr val="D8542A"/>
              </a:solidFill>
              <a:ln>
                <a:solidFill>
                  <a:srgbClr val="D8542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预测</c:v>
                </c:pt>
                <c:pt idx="4">
                  <c:v>2027 预测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3.7</c:v>
                </c:pt>
                <c:pt idx="2">
                  <c:v>3.9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欧委会预测</c:v>
                </c:pt>
              </c:strCache>
            </c:strRef>
          </c:tx>
          <c:spPr>
            <a:ln w="31750">
              <a:solidFill>
                <a:srgbClr val="E39A6B"/>
              </a:solidFill>
            </a:ln>
          </c:spPr>
          <c:marker>
            <c:spPr>
              <a:solidFill>
                <a:srgbClr val="E39A6B"/>
              </a:solidFill>
              <a:ln>
                <a:solidFill>
                  <a:srgbClr val="E39A6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预测</c:v>
                </c:pt>
                <c:pt idx="4">
                  <c:v>2027 预测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2">
                  <c:v>3.9</c:v>
                </c:pt>
                <c:pt idx="3">
                  <c:v>4.2</c:v>
                </c:pt>
                <c:pt idx="4">
                  <c:v>4.4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>
              <a:solidFill>
                <a:srgbClr val="222A37"/>
              </a:solidFill>
              <a:latin typeface="Hiragino Sans GB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紧张度</c:v>
                </c:pt>
              </c:strCache>
            </c:strRef>
          </c:tx>
          <c:spPr>
            <a:solidFill>
              <a:srgbClr val="D8542A"/>
            </a:solidFill>
            <a:ln w="31750">
              <a:solidFill>
                <a:srgbClr val="D8542A"/>
              </a:solidFill>
            </a:ln>
          </c:spPr>
          <c:dPt>
            <c:idx val="0"/>
            <c:spPr>
              <a:solidFill>
                <a:srgbClr val="B8BECC"/>
              </a:solidFill>
            </c:spPr>
          </c:dPt>
          <c:dPt>
            <c:idx val="1"/>
            <c:spPr>
              <a:solidFill>
                <a:srgbClr val="B8BECC"/>
              </a:solidFill>
            </c:spPr>
          </c:dPt>
          <c:dPt>
            <c:idx val="2"/>
            <c:spPr>
              <a:solidFill>
                <a:srgbClr val="B8BECC"/>
              </a:solidFill>
            </c:spPr>
          </c:dPt>
          <c:dPt>
            <c:idx val="3"/>
            <c:spPr>
              <a:solidFill>
                <a:srgbClr val="D8542A"/>
              </a:solidFill>
            </c:spPr>
          </c:dPt>
          <c:cat>
            <c:strRef>
              <c:f>Sheet1!$A$2:$A$5</c:f>
              <c:strCache>
                <c:ptCount val="4"/>
                <c:pt idx="0">
                  <c:v>2020 前
均值</c:v>
                </c:pt>
                <c:pt idx="1">
                  <c:v>2022
峰值</c:v>
                </c:pt>
                <c:pt idx="2">
                  <c:v>2025
年末</c:v>
                </c:pt>
                <c:pt idx="3">
                  <c:v>2026
一季度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142</c:v>
                </c:pt>
                <c:pt idx="2">
                  <c:v>93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名义</c:v>
                </c:pt>
              </c:strCache>
            </c:strRef>
          </c:tx>
          <c:spPr>
            <a:solidFill>
              <a:srgbClr val="0E5C63"/>
            </a:solidFill>
            <a:ln w="31750">
              <a:solidFill>
                <a:srgbClr val="0E5C6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2026（一季度）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6.6</c:v>
                </c:pt>
                <c:pt idx="1">
                  <c:v>5.0</c:v>
                </c:pt>
                <c:pt idx="2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实际（扣除通胀）</c:v>
                </c:pt>
              </c:strCache>
            </c:strRef>
          </c:tx>
          <c:spPr>
            <a:solidFill>
              <a:srgbClr val="C08A2E"/>
            </a:solidFill>
            <a:ln w="31750">
              <a:solidFill>
                <a:srgbClr val="C08A2E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2026（一季度）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</c:v>
                </c:pt>
                <c:pt idx="1">
                  <c:v>1.6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>
              <a:solidFill>
                <a:srgbClr val="222A37"/>
              </a:solidFill>
              <a:latin typeface="Hiragino Sans GB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申请量</c:v>
                </c:pt>
              </c:strCache>
            </c:strRef>
          </c:tx>
          <c:spPr>
            <a:solidFill>
              <a:srgbClr val="0E5C63"/>
            </a:solidFill>
            <a:ln w="31750">
              <a:solidFill>
                <a:srgbClr val="0E5C63"/>
              </a:solidFill>
            </a:ln>
          </c:spPr>
          <c:dPt>
            <c:idx val="0"/>
            <c:spPr>
              <a:solidFill>
                <a:srgbClr val="B8BECC"/>
              </a:solidFill>
            </c:spPr>
          </c:dPt>
          <c:dPt>
            <c:idx val="1"/>
            <c:spPr>
              <a:solidFill>
                <a:srgbClr val="0E5C63"/>
              </a:solidFill>
            </c:spPr>
          </c:dPt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25870</c:v>
                </c:pt>
                <c:pt idx="1">
                  <c:v>21730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000">
                <a:solidFill>
                  <a:srgbClr val="222A37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A37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EA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0E5C63"/>
                </a:solidFill>
                <a:latin typeface="Courier New"/>
                <a:ea typeface="Hiragino Sans GB"/>
              </a:rPr>
              <a:t>圩田报告  ·  劳动力市场分析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8138160" cy="2011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20242A"/>
                </a:solidFill>
                <a:latin typeface="Georgia"/>
                <a:ea typeface="Hiragino Sans GB"/>
              </a:rPr>
              <a:t>荷兰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20242A"/>
                </a:solidFill>
                <a:latin typeface="Georgia"/>
                <a:ea typeface="Hiragino Sans GB"/>
              </a:rPr>
              <a:t>就业市场 </a:t>
            </a:r>
            <a:r>
              <a:rPr sz="5200" b="1" i="0">
                <a:solidFill>
                  <a:srgbClr val="D8542A"/>
                </a:solidFill>
                <a:latin typeface="Georgia"/>
                <a:ea typeface="Hiragino Sans GB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29584"/>
            <a:ext cx="76809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4A4E56"/>
                </a:solidFill>
                <a:latin typeface="Helvetica Neue"/>
                <a:ea typeface="Hiragino Sans GB"/>
              </a:rPr>
              <a:t>用数据解读一个顶端已经降温、底层依旧紧缺的就业市场。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76572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8A8478"/>
                </a:solidFill>
                <a:latin typeface="Courier New"/>
                <a:ea typeface="Hiragino Sans GB"/>
              </a:rPr>
              <a:t>截至 2026 年 7 月 12 日   ·   来源：CBS · IND · UWV · EUROSTAT · OECD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核心摘要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四个数字讲清整个故事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3886"/>
            <a:ext cx="804672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E56"/>
                </a:solidFill>
                <a:latin typeface="Helvetica Neue"/>
                <a:ea typeface="Hiragino Sans GB"/>
              </a:rPr>
              <a:t>就业强劲、紧张缓解、实际工资上涨——而通往海外人才的大门正悄然收窄。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36576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失业率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5C63"/>
                </a:solidFill>
                <a:latin typeface="Helvetica Neue"/>
                <a:ea typeface="Hiragino Sans GB"/>
              </a:rPr>
              <a:t>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2026 年二季度 — 全欧盟最低之列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256032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劳动力市场紧张度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D8542A"/>
                </a:solidFill>
                <a:latin typeface="Helvetica Neue"/>
                <a:ea typeface="Hiragino Sans GB"/>
              </a:rPr>
              <a:t>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每 100 名失业者对应的空缺数（2026 一季度）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75488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协议工资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5C63"/>
                </a:solidFill>
                <a:latin typeface="Helvetica Neue"/>
                <a:ea typeface="Hiragino Sans GB"/>
              </a:rPr>
              <a:t>+4.5%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同比，实际增长 +2.0%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084831"/>
            <a:ext cx="1828799" cy="212598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6949440" y="2084831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7" y="2322576"/>
            <a:ext cx="1463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8478"/>
                </a:solidFill>
                <a:latin typeface="Courier New"/>
                <a:ea typeface="Hiragino Sans GB"/>
              </a:rPr>
              <a:t>女性就业率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816352"/>
            <a:ext cx="155447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E5C63"/>
                </a:solidFill>
                <a:latin typeface="Helvetica Neue"/>
                <a:ea typeface="Hiragino Sans GB"/>
              </a:rPr>
              <a:t>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7" y="3602735"/>
            <a:ext cx="1444751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欧盟 27 国中最高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CBS（失业率、紧张度、工资、女性就业率）；Eurostat（欧盟平均值）。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宏观就业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从历史低位温和降温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36192"/>
            <a:ext cx="4891143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失业率，占劳动力比重 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828800"/>
          <a:ext cx="4891143" cy="19705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22663" y="1554480"/>
            <a:ext cx="315557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F1C"/>
                </a:solidFill>
                <a:latin typeface="Courier New"/>
                <a:ea typeface="Hiragino Sans GB"/>
              </a:rPr>
              <a:t>底部依然稳固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2663" y="1828800"/>
            <a:ext cx="3155576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D8542A"/>
                </a:solidFill>
                <a:latin typeface="Helvetica Neue"/>
                <a:ea typeface="Hiragino Sans GB"/>
              </a:rPr>
              <a:t>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2663" y="2633472"/>
            <a:ext cx="3155576" cy="960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随着增长放缓，失业率正略有回升——但起点是实实在在的低位。它远低于欧盟 6.0%、欧元区 6.2% 的平均水平。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2663" y="3703320"/>
            <a:ext cx="3155576" cy="12801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2663" y="3822191"/>
            <a:ext cx="31555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5C63"/>
                </a:solidFill>
                <a:latin typeface="Helvetica Neue"/>
                <a:ea typeface="Hiragino Sans GB"/>
              </a:rPr>
              <a:t>≈ 40 万</a:t>
            </a: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  人失业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2663" y="4160520"/>
            <a:ext cx="315557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占约 1,000 万劳动力（CBS，2025 四季度）。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劳动力数据；欧盟委员会预测；Eurostat（2026 年 5 月）。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劳动力市场紧张度  ·  转折点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从炽热降温——却远未宽松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35608"/>
            <a:ext cx="4828031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每 100 名失业者对应的空缺数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737360"/>
          <a:ext cx="4828031" cy="169621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59552" y="1481328"/>
            <a:ext cx="32186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F1C"/>
                </a:solidFill>
                <a:latin typeface="Courier New"/>
                <a:ea typeface="Hiragino Sans GB"/>
              </a:rPr>
              <a:t>当下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1700784"/>
            <a:ext cx="3218687" cy="82296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8542A"/>
                </a:solidFill>
                <a:latin typeface="Helvetica Neue"/>
                <a:ea typeface="Hiragino Sans GB"/>
              </a:rPr>
              <a:t>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688336"/>
            <a:ext cx="3218687" cy="777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每 100 名求职者对应的空缺——略低于持平线，已从 2022 年 142 的峰值回落，但仍是</a:t>
            </a:r>
            <a:r>
              <a:rPr sz="1250" b="1" i="0">
                <a:solidFill>
                  <a:srgbClr val="0E5C63"/>
                </a:solidFill>
                <a:latin typeface="Helvetica Neue"/>
                <a:ea typeface="Hiragino Sans GB"/>
              </a:rPr>
              <a:t>2020 年前常态的约 3 倍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（当时为 32）。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84448"/>
            <a:ext cx="8046720" cy="530352"/>
          </a:xfrm>
          <a:prstGeom prst="roundRect">
            <a:avLst>
              <a:gd name="adj" fmla="val 8000"/>
            </a:avLst>
          </a:prstGeom>
          <a:solidFill>
            <a:srgbClr val="FA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75887"/>
            <a:ext cx="54864" cy="347471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584448"/>
            <a:ext cx="7589520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8542A"/>
                </a:solidFill>
                <a:latin typeface="Helvetica Neue"/>
                <a:ea typeface="Hiragino Sans GB"/>
              </a:rPr>
              <a:t>所以呢   </a:t>
            </a:r>
            <a:r>
              <a:rPr sz="1350" b="0" i="0">
                <a:solidFill>
                  <a:srgbClr val="20242A"/>
                </a:solidFill>
                <a:latin typeface="Helvetica Neue"/>
                <a:ea typeface="Hiragino Sans GB"/>
              </a:rPr>
              <a:t>总量上的平衡掩盖了结构性短缺：特定行业与地区依然极度缺人。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CBS（季度空缺与失业紧张比；2022 峰值与疫情前常态取自 CBS 序列）。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结构性特征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高参与、多兼职的经济体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4023359" cy="2766060"/>
          </a:xfrm>
          <a:prstGeom prst="roundRect">
            <a:avLst>
              <a:gd name="adj" fmla="val 3966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34747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5C63"/>
                </a:solidFill>
                <a:latin typeface="Courier New"/>
                <a:ea typeface="Hiragino Sans GB"/>
              </a:rPr>
              <a:t>劳动参与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47471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42A"/>
                </a:solidFill>
                <a:latin typeface="Georgia"/>
                <a:ea typeface="Hiragino Sans GB"/>
              </a:rPr>
              <a:t>全欧盟最高的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0242A"/>
                </a:solidFill>
                <a:latin typeface="Georgia"/>
                <a:ea typeface="Hiragino Sans GB"/>
              </a:rPr>
              <a:t>女性就业率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514599" cy="292608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女性就业率，15–74 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27248"/>
            <a:ext cx="2514599" cy="237744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1735073" cy="237744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59" y="3127248"/>
            <a:ext cx="1097280" cy="2377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42A"/>
                </a:solidFill>
                <a:latin typeface="Helvetica Neue"/>
                <a:ea typeface="Hiragino Sans GB"/>
              </a:rPr>
              <a:t>69%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75887"/>
            <a:ext cx="34747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5C63"/>
                </a:solidFill>
                <a:latin typeface="Helvetica Neue"/>
                <a:ea typeface="Hiragino Sans GB"/>
              </a:rPr>
              <a:t>+12.7 pp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 高于欧盟平均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463040"/>
            <a:ext cx="4023359" cy="2766060"/>
          </a:xfrm>
          <a:prstGeom prst="roundRect">
            <a:avLst>
              <a:gd name="adj" fmla="val 3966"/>
            </a:avLst>
          </a:prstGeom>
          <a:solidFill>
            <a:srgbClr val="ECE4D6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82496"/>
            <a:ext cx="347471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5C63"/>
                </a:solidFill>
                <a:latin typeface="Courier New"/>
                <a:ea typeface="Hiragino Sans GB"/>
              </a:rPr>
              <a:t>兼职文化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75104"/>
            <a:ext cx="347471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0242A"/>
                </a:solidFill>
                <a:latin typeface="Georgia"/>
                <a:ea typeface="Hiragino Sans GB"/>
              </a:rPr>
              <a:t>欧洲的兼职之都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33472"/>
            <a:ext cx="3474719" cy="7772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D8542A"/>
                </a:solidFill>
                <a:latin typeface="Helvetica Neue"/>
                <a:ea typeface="Hiragino Sans GB"/>
              </a:rPr>
              <a:t>约 190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01568"/>
            <a:ext cx="347471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E56"/>
                </a:solidFill>
                <a:latin typeface="Helvetica Neue"/>
                <a:ea typeface="Hiragino Sans GB"/>
              </a:rPr>
              <a:t>每周工作 28–35 小时——四年间增加了 30 万人。三分之二的在职母亲从事兼职：这是紧张的市场仍可动用的工时储备。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与 Eurostat（就业率与兼职比例，2025 年）。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短缺行业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紧缺集中在哪里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80467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即便总量在降温，UWV 仍指出五个领域存在持续的结构性短缺——2025 年底，这些领域约 45% 的空缺岗位无人填补。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38528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64008" cy="216712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5216" y="1909724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rtbeat_D854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8" y="2019086"/>
            <a:ext cx="201899" cy="2018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7008" y="1938528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医疗与社会照护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1938528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护士、护理员与专科人员——人口老龄化留下的结构性缺口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20416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93568"/>
            <a:ext cx="64008" cy="216712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91613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pu_0E5C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8" y="2500975"/>
            <a:ext cx="201899" cy="2018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7008" y="2420416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信息技术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420416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软件开发者与数据专才高居需求榜首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02305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75457"/>
            <a:ext cx="64008" cy="21671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2873502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ools_C08A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78" y="2982864"/>
            <a:ext cx="201899" cy="2018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7008" y="2902305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技术工种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79" y="2902305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电工、机修工、安装与维护技工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384194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57346"/>
            <a:ext cx="64008" cy="216712"/>
          </a:xfrm>
          <a:prstGeom prst="rect">
            <a:avLst/>
          </a:prstGeom>
          <a:solidFill>
            <a:srgbClr val="3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" y="3355390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chool_3E6B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78" y="3464753"/>
            <a:ext cx="201899" cy="2018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7008" y="3384194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教育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3384194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小学教师与理工科师资长期供不应求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866083"/>
            <a:ext cx="8412480" cy="363016"/>
          </a:xfrm>
          <a:prstGeom prst="roundRect">
            <a:avLst>
              <a:gd name="adj" fmla="val 2267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939235"/>
            <a:ext cx="64008" cy="216712"/>
          </a:xfrm>
          <a:prstGeom prst="rect">
            <a:avLst/>
          </a:prstGeom>
          <a:solidFill>
            <a:srgbClr val="9C4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5216" y="3837279"/>
            <a:ext cx="420624" cy="420624"/>
          </a:xfrm>
          <a:prstGeom prst="ellipse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ruck-delivery_9C47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78" y="3946641"/>
            <a:ext cx="201899" cy="2018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07008" y="3866083"/>
            <a:ext cx="2331720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Helvetica Neue"/>
                <a:ea typeface="Hiragino Sans GB"/>
              </a:rPr>
              <a:t>运输与物流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79" y="3866083"/>
            <a:ext cx="4937759" cy="3630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兰斯塔德城市带的司机与物流调度员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UWV（短缺职业与空缺未填补统计，2025–2026 年）。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薪酬与工资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工资再度跑赢通胀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828031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协议（CAO）工资涨幅，同比 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810512"/>
          <a:ext cx="4828031" cy="23088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59552" y="1554480"/>
            <a:ext cx="321868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5C63"/>
                </a:solidFill>
                <a:latin typeface="Courier New"/>
                <a:ea typeface="Hiragino Sans GB"/>
              </a:rPr>
              <a:t>实际增长，已连续三年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1828800"/>
            <a:ext cx="3218687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E5C63"/>
                </a:solidFill>
                <a:latin typeface="Helvetica Neue"/>
                <a:ea typeface="Hiragino Sans GB"/>
              </a:rPr>
              <a:t>+2.0%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633472"/>
            <a:ext cx="3218687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2026 年初协议工资上涨 4.5%——高出通胀 2.0 个百分点。家庭正实实在在地变富。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3703320"/>
            <a:ext cx="3218687" cy="12801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3822191"/>
            <a:ext cx="3218687" cy="2743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8542A"/>
                </a:solidFill>
                <a:latin typeface="Helvetica Neue"/>
                <a:ea typeface="Hiragino Sans GB"/>
              </a:rPr>
              <a:t>€14.99</a:t>
            </a:r>
            <a:r>
              <a:rPr sz="1100" b="0" i="0">
                <a:solidFill>
                  <a:srgbClr val="4A4E56"/>
                </a:solidFill>
                <a:latin typeface="Helvetica Neue"/>
                <a:ea typeface="Hiragino Sans GB"/>
              </a:rPr>
              <a:t>  /小时最低工资（21 岁以上）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4151376"/>
            <a:ext cx="321868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自 2026 年 7 月 1 日起 · 平均薪酬 ≈ €5.34 万/年。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CBS（CAO 协议工资指数）；Business.gov.nl（最低工资）。2024 年数据为估算值。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薪资水平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行业之间差距悬殊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08836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税前年薪估算，欧元/年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83664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信息技术（中级）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39696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139696"/>
            <a:ext cx="3427386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6847" y="2139696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€72k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57806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工程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513838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513838"/>
            <a:ext cx="3236975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847" y="2513838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€68k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31948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金融与商业服务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87980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2887980"/>
            <a:ext cx="3094168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6847" y="2887980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€65k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06090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全国平均（CBS）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62122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262122"/>
            <a:ext cx="2543691" cy="164592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6847" y="3262122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€53k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0232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医疗（注册护士）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36264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3636264"/>
            <a:ext cx="2142116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847" y="3636264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€45k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54373"/>
            <a:ext cx="380820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8"/>
                </a:solidFill>
                <a:latin typeface="Helvetica Neue"/>
                <a:ea typeface="Hiragino Sans GB"/>
              </a:rPr>
              <a:t>住宿餐饮与零售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010406"/>
            <a:ext cx="3808207" cy="164592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4010406"/>
            <a:ext cx="1570885" cy="164592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6847" y="4010406"/>
            <a:ext cx="100584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0242A"/>
                </a:solidFill>
                <a:latin typeface="Helvetica Neue"/>
                <a:ea typeface="Hiragino Sans GB"/>
              </a:rPr>
              <a:t>€33k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9887" y="1554480"/>
            <a:ext cx="295835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F1C"/>
                </a:solidFill>
                <a:latin typeface="Courier New"/>
                <a:ea typeface="Hiragino Sans GB"/>
              </a:rPr>
              <a:t>差距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9887" y="1828800"/>
            <a:ext cx="2958352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E56"/>
                </a:solidFill>
                <a:latin typeface="Helvetica Neue"/>
                <a:ea typeface="Hiragino Sans GB"/>
              </a:rPr>
              <a:t>科技行业的薪酬大约是住宿餐饮与零售的</a:t>
            </a:r>
            <a:r>
              <a:rPr sz="1400" b="1" i="0">
                <a:solidFill>
                  <a:srgbClr val="D8542A"/>
                </a:solidFill>
                <a:latin typeface="Helvetica Neue"/>
                <a:ea typeface="Hiragino Sans GB"/>
              </a:rPr>
              <a:t>两倍</a:t>
            </a:r>
            <a:r>
              <a:rPr sz="1300" b="0" i="0">
                <a:solidFill>
                  <a:srgbClr val="4A4E56"/>
                </a:solidFill>
                <a:latin typeface="Helvetica Neue"/>
                <a:ea typeface="Hiragino Sans GB"/>
              </a:rPr>
              <a:t>——这是两大行业间最悬殊的差距。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19887" y="3154680"/>
            <a:ext cx="2958352" cy="960120"/>
          </a:xfrm>
          <a:prstGeom prst="roundRect">
            <a:avLst>
              <a:gd name="adj" fmla="val 9523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1055" y="3291839"/>
            <a:ext cx="2556016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应读作区间而非精确点位。行业数字为招聘调研的估算中位数；€53.4k 的平均值来自 CBS。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CBS（全国平均薪资，2026 年）；行业中位数取自招聘薪酬指南——为估算值。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国际人才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高技能移民通道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80467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kennismigrant（高技能移民）计划不设劳动力市场测试——是否合格几乎完全取决于按年龄和身份设定的税前月薪门槛（2026 年，不含 8% 假期津贴）。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36576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高技能移民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8542A"/>
                </a:solidFill>
                <a:latin typeface="Helvetica Neue"/>
                <a:ea typeface="Hiragino Sans GB"/>
              </a:rPr>
              <a:t>€5,942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税前 / 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30 岁及以上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256032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高技能移民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5C63"/>
                </a:solidFill>
                <a:latin typeface="Helvetica Neue"/>
                <a:ea typeface="Hiragino Sans GB"/>
              </a:rPr>
              <a:t>€4,357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税前 / 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30 岁以下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475488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应届毕业生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08A2E"/>
                </a:solidFill>
                <a:latin typeface="Helvetica Neue"/>
                <a:ea typeface="Hiragino Sans GB"/>
              </a:rPr>
              <a:t>€3,122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税前 / 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求职年签证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874519"/>
            <a:ext cx="1828799" cy="19431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6949440" y="1874519"/>
            <a:ext cx="1828799" cy="822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7" y="2093976"/>
            <a:ext cx="1463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8"/>
                </a:solidFill>
                <a:latin typeface="Courier New"/>
                <a:ea typeface="Hiragino Sans GB"/>
              </a:rPr>
              <a:t>学术研究人员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642615"/>
            <a:ext cx="1499615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E6B57"/>
                </a:solidFill>
                <a:latin typeface="Helvetica Neue"/>
                <a:ea typeface="Hiragino Sans GB"/>
              </a:rPr>
              <a:t>€3,583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7" y="3118104"/>
            <a:ext cx="146303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8"/>
                </a:solidFill>
                <a:latin typeface="Courier New"/>
                <a:ea typeface="Hiragino Sans GB"/>
              </a:rPr>
              <a:t>税前 / 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0607" y="3355848"/>
            <a:ext cx="1426463" cy="10972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7" y="3447287"/>
            <a:ext cx="1463039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42A"/>
                </a:solidFill>
                <a:latin typeface="Helvetica Neue"/>
                <a:ea typeface="Hiragino Sans GB"/>
              </a:rPr>
              <a:t>公立科研机构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13632"/>
            <a:ext cx="80467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5C63"/>
                </a:solidFill>
                <a:latin typeface="Helvetica Neue"/>
                <a:ea typeface="Hiragino Sans GB"/>
              </a:rPr>
              <a:t>约 1 万家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 认证雇主    ·    主要来源国：</a:t>
            </a:r>
            <a:r>
              <a:rPr sz="1200" b="1" i="0">
                <a:solidFill>
                  <a:srgbClr val="20242A"/>
                </a:solidFill>
                <a:latin typeface="Helvetica Neue"/>
                <a:ea typeface="Hiragino Sans GB"/>
              </a:rPr>
              <a:t>印度、土耳其、中国</a:t>
            </a: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    ·    门槛每年随指数调整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IND（2026 年所需薪资标准；认证雇主名录）；OECD（国籍构成）。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542A"/>
                </a:solidFill>
                <a:latin typeface="Helvetica Neue"/>
                <a:ea typeface="Hiragino Sans GB"/>
              </a:rPr>
              <a:t>政策转向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欢迎的大门正悄然收紧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5481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30% 外籍税收优惠，逐步下调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515" y="2011680"/>
            <a:ext cx="21945" cy="1280160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92" y="2020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56816"/>
            <a:ext cx="40909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8478"/>
                </a:solidFill>
                <a:latin typeface="Helvetica Neue"/>
                <a:ea typeface="Hiragino Sans GB"/>
              </a:rPr>
              <a:t>2024–26  </a:t>
            </a:r>
            <a:r>
              <a:rPr sz="1300" b="1" i="0">
                <a:solidFill>
                  <a:srgbClr val="20242A"/>
                </a:solidFill>
                <a:latin typeface="Helvetica Neue"/>
                <a:ea typeface="Hiragino Sans GB"/>
              </a:rPr>
              <a:t>30% 免税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49424"/>
            <a:ext cx="409094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收入标准 €46,107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244754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83536"/>
            <a:ext cx="40909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542A"/>
                </a:solidFill>
                <a:latin typeface="Helvetica Neue"/>
                <a:ea typeface="Hiragino Sans GB"/>
              </a:rPr>
              <a:t>2027 年 1 月 1 日  </a:t>
            </a:r>
            <a:r>
              <a:rPr sz="1300" b="1" i="0">
                <a:solidFill>
                  <a:srgbClr val="20242A"/>
                </a:solidFill>
                <a:latin typeface="Helvetica Neue"/>
                <a:ea typeface="Hiragino Sans GB"/>
              </a:rPr>
              <a:t>→ 27% 免税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76144"/>
            <a:ext cx="409094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标准升至 €50,436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28742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10256"/>
            <a:ext cx="409094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8478"/>
                </a:solidFill>
                <a:latin typeface="Helvetica Neue"/>
                <a:ea typeface="Hiragino Sans GB"/>
              </a:rPr>
              <a:t>30 岁以下硕士  </a:t>
            </a:r>
            <a:r>
              <a:rPr sz="1300" b="1" i="0">
                <a:solidFill>
                  <a:srgbClr val="20242A"/>
                </a:solidFill>
                <a:latin typeface="Helvetica Neue"/>
                <a:ea typeface="Hiragino Sans GB"/>
              </a:rPr>
              <a:t>门槛提高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02864"/>
            <a:ext cx="409094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€35,048 → €38,388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9666" y="1508760"/>
            <a:ext cx="3498573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高技能移民申请量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279666" y="1792224"/>
          <a:ext cx="3498573" cy="1280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279666" y="3182112"/>
            <a:ext cx="3498573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E56"/>
                </a:solidFill>
                <a:latin typeface="Helvetica Neue"/>
                <a:ea typeface="Hiragino Sans GB"/>
              </a:rPr>
              <a:t>申请量一年内下降约 16%；2025 年非欧盟高技能人才入境进一步降至 ≈14,000 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666" y="3886200"/>
            <a:ext cx="3498573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23F1C"/>
                </a:solidFill>
                <a:latin typeface="Helvetica Neue"/>
                <a:ea typeface="Hiragino Sans GB"/>
              </a:rPr>
              <a:t>更低的税收优惠 + 更高的薪资门槛 = 一道更昂贵、更挑剔的大门。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Business.gov.nl（30%→27% 优惠与收入标准，2027 年）；IND 与 OECD（申请量与入境人数）。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5C63"/>
                </a:solidFill>
                <a:latin typeface="Helvetica Neue"/>
                <a:ea typeface="Hiragino Sans GB"/>
              </a:rPr>
              <a:t>地区差异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0242A"/>
                </a:solidFill>
                <a:latin typeface="Georgia"/>
                <a:ea typeface="Hiragino Sans GB"/>
              </a:rPr>
              <a:t>处处紧张，局部更热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25109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478"/>
                </a:solidFill>
                <a:latin typeface="Courier New"/>
                <a:ea typeface="Hiragino Sans GB"/>
              </a:rPr>
              <a:t>每 100 名失业者对应的空缺数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乌得勒支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21991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221991"/>
            <a:ext cx="2615088" cy="182880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6737" y="2221991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泽兰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70632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770632"/>
            <a:ext cx="2615088" cy="182880"/>
          </a:xfrm>
          <a:prstGeom prst="roundRect">
            <a:avLst>
              <a:gd name="adj" fmla="val 50000"/>
            </a:avLst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6737" y="2770632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荷兰（平均）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19272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319272"/>
            <a:ext cx="1950599" cy="182880"/>
          </a:xfrm>
          <a:prstGeom prst="roundRect">
            <a:avLst>
              <a:gd name="adj" fmla="val 50000"/>
            </a:avLst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6737" y="3319272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80"/>
            <a:ext cx="3108097" cy="256032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478"/>
                </a:solidFill>
                <a:latin typeface="Helvetica Neue"/>
                <a:ea typeface="Hiragino Sans GB"/>
              </a:rPr>
              <a:t>格罗宁根（复苏中）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67912"/>
            <a:ext cx="3108097" cy="182880"/>
          </a:xfrm>
          <a:prstGeom prst="roundRect">
            <a:avLst>
              <a:gd name="adj" fmla="val 50000"/>
            </a:avLst>
          </a:prstGeom>
          <a:solidFill>
            <a:srgbClr val="E7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867912"/>
            <a:ext cx="1671942" cy="182880"/>
          </a:xfrm>
          <a:prstGeom prst="roundRect">
            <a:avLst>
              <a:gd name="adj" fmla="val 50000"/>
            </a:avLst>
          </a:prstGeom>
          <a:solidFill>
            <a:srgbClr val="2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6737" y="3867912"/>
            <a:ext cx="777240" cy="1828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242A"/>
                </a:solidFill>
                <a:latin typeface="Helvetica Neue"/>
                <a:ea typeface="Hiragino Sans GB"/>
              </a:rPr>
              <a:t>78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2617" y="1554480"/>
            <a:ext cx="3795622" cy="1133856"/>
          </a:xfrm>
          <a:prstGeom prst="roundRect">
            <a:avLst>
              <a:gd name="adj" fmla="val 8870"/>
            </a:avLst>
          </a:prstGeom>
          <a:solidFill>
            <a:srgbClr val="ECE4D6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649" y="1755648"/>
            <a:ext cx="3338422" cy="4572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D8542A"/>
                </a:solidFill>
                <a:latin typeface="Helvetica Neue"/>
                <a:ea typeface="Hiragino Sans GB"/>
              </a:rPr>
              <a:t>13/35</a:t>
            </a:r>
            <a:r>
              <a:rPr sz="1300" b="0" i="0">
                <a:solidFill>
                  <a:srgbClr val="4A4E56"/>
                </a:solidFill>
                <a:latin typeface="Helvetica Neue"/>
                <a:ea typeface="Hiragino Sans GB"/>
              </a:rPr>
              <a:t>  个地区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649" y="2249424"/>
            <a:ext cx="332013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Helvetica Neue"/>
                <a:ea typeface="Hiragino Sans GB"/>
              </a:rPr>
              <a:t>被列为“极度紧张”（每名求职者对应 5 个以上空缺）。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617" y="2871215"/>
            <a:ext cx="64008" cy="603504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3785" y="2871215"/>
            <a:ext cx="352130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0242A"/>
                </a:solidFill>
                <a:latin typeface="Helvetica Neue"/>
                <a:ea typeface="Hiragino Sans GB"/>
              </a:rPr>
              <a:t>兰斯塔德核心区最热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3785" y="3145535"/>
            <a:ext cx="352130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乌得勒支与中部地带的紧张度居全国之首。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2617" y="3529583"/>
            <a:ext cx="64008" cy="603504"/>
          </a:xfrm>
          <a:prstGeom prst="rect">
            <a:avLst/>
          </a:prstGeom>
          <a:solidFill>
            <a:srgbClr val="0E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3785" y="3529583"/>
            <a:ext cx="352130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0242A"/>
                </a:solidFill>
                <a:latin typeface="Helvetica Neue"/>
                <a:ea typeface="Hiragino Sans GB"/>
              </a:rPr>
              <a:t>仅两个省保持平稳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3785" y="3803903"/>
            <a:ext cx="352130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E56"/>
                </a:solidFill>
                <a:latin typeface="Helvetica Neue"/>
                <a:ea typeface="Hiragino Sans GB"/>
              </a:rPr>
              <a:t>2025 年除乌得勒支和林堡外，各地失业率普遍上升。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CBS 与 UWV（各省紧张比与 35 地区劳动力市场分类，2025–2026 年）。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0E5C63"/>
                </a:solidFill>
                <a:latin typeface="Courier New"/>
                <a:ea typeface="Hiragino Sans GB"/>
              </a:rPr>
              <a:t>展望  · 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8595360" cy="82296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0242A"/>
                </a:solidFill>
                <a:latin typeface="Georgia"/>
                <a:ea typeface="Hiragino Sans GB"/>
              </a:rPr>
              <a:t>顶端趋于平衡，底层依旧紧缺。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2560319" cy="2034540"/>
          </a:xfrm>
          <a:prstGeom prst="roundRect">
            <a:avLst>
              <a:gd name="adj" fmla="val 4943"/>
            </a:avLst>
          </a:prstGeom>
          <a:solidFill>
            <a:srgbClr val="ECE4D6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2276856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DD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ing-up_0E5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21" y="2390973"/>
            <a:ext cx="210677" cy="210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2843784"/>
            <a:ext cx="21031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5C63"/>
                </a:solidFill>
                <a:latin typeface="Helvetica Neue"/>
                <a:ea typeface="Hiragino Sans GB"/>
              </a:rPr>
              <a:t>4.2 → 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337560"/>
            <a:ext cx="210311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增长保持温和，失业率到 2027 年略有上升——仍处历史低位。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2057400"/>
            <a:ext cx="2560319" cy="2034540"/>
          </a:xfrm>
          <a:prstGeom prst="roundRect">
            <a:avLst>
              <a:gd name="adj" fmla="val 4943"/>
            </a:avLst>
          </a:prstGeom>
          <a:solidFill>
            <a:srgbClr val="ECE4D6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9583" y="2276856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E1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line_2E8A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701" y="2390973"/>
            <a:ext cx="210677" cy="2106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9583" y="2843784"/>
            <a:ext cx="21031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8A8C"/>
                </a:solidFill>
                <a:latin typeface="Helvetica Neue"/>
                <a:ea typeface="Hiragino Sans GB"/>
              </a:rPr>
              <a:t>+1.1%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3" y="3337560"/>
            <a:ext cx="210311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就业总量到 2027 年仍在增长（UWV）：是降温，而非收缩。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19" y="2057400"/>
            <a:ext cx="2560319" cy="2034540"/>
          </a:xfrm>
          <a:prstGeom prst="roundRect">
            <a:avLst>
              <a:gd name="adj" fmla="val 4943"/>
            </a:avLst>
          </a:prstGeom>
          <a:solidFill>
            <a:srgbClr val="ECE4D6"/>
          </a:solidFill>
          <a:ln w="12700">
            <a:solidFill>
              <a:srgbClr val="DED7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55663" y="2276856"/>
            <a:ext cx="438912" cy="438912"/>
          </a:xfrm>
          <a:prstGeom prst="roundRect">
            <a:avLst>
              <a:gd name="adj" fmla="val 24000"/>
            </a:avLst>
          </a:prstGeom>
          <a:solidFill>
            <a:srgbClr val="F9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sers_D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781" y="2390973"/>
            <a:ext cx="210677" cy="21067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5663" y="2843784"/>
            <a:ext cx="2103119" cy="5029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8542A"/>
                </a:solidFill>
                <a:latin typeface="Helvetica Neue"/>
                <a:ea typeface="Hiragino Sans GB"/>
              </a:rPr>
              <a:t>2/3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3" y="3337560"/>
            <a:ext cx="210311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的在职母亲从事兼职；老龄化的劳动力让短缺持续紧绷。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03420"/>
            <a:ext cx="7680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8542A"/>
                </a:solidFill>
                <a:latin typeface="Courier New"/>
                <a:ea typeface="Hiragino Sans GB"/>
              </a:rPr>
              <a:t>来源   </a:t>
            </a:r>
            <a:r>
              <a:rPr sz="850" b="0" i="0">
                <a:solidFill>
                  <a:srgbClr val="8A8478"/>
                </a:solidFill>
                <a:latin typeface="Courier New"/>
                <a:ea typeface="Hiragino Sans GB"/>
              </a:rPr>
              <a:t>Rabobank、欧盟委员会与 ABN AMRO（2026–27 年预测）；UWV（就业增长与再培训展望）。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0E5C63"/>
                </a:solidFill>
                <a:latin typeface="Courier New"/>
                <a:ea typeface="Hiragino Sans GB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81381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0242A"/>
                </a:solidFill>
                <a:latin typeface="Georgia"/>
                <a:ea typeface="Hiragino Sans GB"/>
              </a:rPr>
              <a:t>值得记住的五件事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828800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Georgia"/>
                <a:ea typeface="Hiragino Sans GB"/>
              </a:rPr>
              <a:t>降温，但不疲软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空缺数如今与求职者大致持平——已从 2022 峰值回落，但仍是 2020 年前常态的约 3 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2318003"/>
            <a:ext cx="7754111" cy="9144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63724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63724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Georgia"/>
                <a:ea typeface="Hiragino Sans GB"/>
              </a:rPr>
              <a:t>短缺是结构性的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63724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无论总量如何变化，照护、信息技术、技术工种、教育与物流始终极度缺人。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852927"/>
            <a:ext cx="7754111" cy="9144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98648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98648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Georgia"/>
                <a:ea typeface="Hiragino Sans GB"/>
              </a:rPr>
              <a:t>工资在赢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98648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协议工资已连续三年跑赢通胀；实际收入正在上升。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3387851"/>
            <a:ext cx="7754111" cy="9144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33572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433572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Georgia"/>
                <a:ea typeface="Hiragino Sans GB"/>
              </a:rPr>
              <a:t>大门在收窄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33572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27% 的外籍税收优惠、更高的薪资门槛和更少的许可，使引进外籍人才更贵、更挑剔。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922776"/>
            <a:ext cx="7754111" cy="9144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68496"/>
            <a:ext cx="603504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D8542A"/>
                </a:solidFill>
                <a:latin typeface="Georgia"/>
                <a:ea typeface="Hiragino Sans GB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968496"/>
            <a:ext cx="2423160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42A"/>
                </a:solidFill>
                <a:latin typeface="Georgia"/>
                <a:ea typeface="Hiragino Sans GB"/>
              </a:rPr>
              <a:t>人口结构决定底线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68496"/>
            <a:ext cx="5212079" cy="4434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E56"/>
                </a:solidFill>
                <a:latin typeface="Helvetica Neue"/>
                <a:ea typeface="Hiragino Sans GB"/>
              </a:rPr>
              <a:t>老龄化、多兼职的劳动力让市场持续紧张——释压阀是再培训，而非闲置。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50">
                <a:solidFill>
                  <a:srgbClr val="D8542A"/>
                </a:solidFill>
                <a:latin typeface="Courier New"/>
                <a:ea typeface="Hiragino Sans GB"/>
              </a:rPr>
              <a:t>来源  ·  截至 2026 年 7 月 12 日核实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" cy="45720"/>
          </a:xfrm>
          <a:prstGeom prst="rect">
            <a:avLst/>
          </a:prstGeom>
          <a:solidFill>
            <a:srgbClr val="D8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01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CBS — 失业率、空缺与紧张度、工资（CAO 指数）、劳动参与、平均薪资。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02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欧盟委员会 — 2025 年秋季预测，荷兰（2026–27 年失业率）。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03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Eurostat — 统一口径失业率，荷兰 vs 欧盟/欧元区（2026 年 5 月）。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04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UWV — 短缺职业、35 地区紧张度地图、2026–27 年就业增长展望。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82696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05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IND — 2026 年高技能移民薪资门槛；认证雇主名录。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06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Business.gov.nl — 法定最低工资（2026 年 7 月）；30%→27% 外籍税收优惠（2027 年）。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20824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07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OECD — 《2025 年国际移民展望》（许可、入境、国籍构成）。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41448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08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Rabobank · ABN AMRO · DNB — 2026–27 年宏观与劳动力市场评论。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62072"/>
            <a:ext cx="37490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542A"/>
                </a:solidFill>
                <a:latin typeface="Courier New"/>
                <a:ea typeface="Hiragino Sans GB"/>
              </a:rPr>
              <a:t>09  </a:t>
            </a:r>
            <a:r>
              <a:rPr sz="900" b="0" i="0">
                <a:solidFill>
                  <a:srgbClr val="20242A"/>
                </a:solidFill>
                <a:latin typeface="Courier New"/>
                <a:ea typeface="Hiragino Sans GB"/>
              </a:rPr>
              <a:t>招聘薪酬指南 — 行业中位数估算（非官方统计）。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13632"/>
            <a:ext cx="7863840" cy="12801"/>
          </a:xfrm>
          <a:prstGeom prst="rect">
            <a:avLst/>
          </a:prstGeom>
          <a:solidFill>
            <a:srgbClr val="DE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E56"/>
                </a:solidFill>
                <a:latin typeface="Helvetica Neue"/>
                <a:ea typeface="Hiragino Sans GB"/>
              </a:rPr>
              <a:t>这是 slide-maker 模板库的一份示例样稿。</a:t>
            </a:r>
            <a:r>
              <a:rPr sz="1250" b="1" i="0">
                <a:solidFill>
                  <a:srgbClr val="B23F1C"/>
                </a:solidFill>
                <a:latin typeface="Helvetica Neue"/>
                <a:ea typeface="Hiragino Sans GB"/>
              </a:rPr>
              <a:t>整套视觉系统可复用——替换成你自己核实过的内容即可。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14316"/>
            <a:ext cx="65836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8478"/>
                </a:solidFill>
                <a:latin typeface="Courier New"/>
                <a:ea typeface="Hiragino Sans GB"/>
              </a:rPr>
              <a:t>荷兰就业市场 · 2026   ·   用 slide-maker 制作的示例样稿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96028"/>
            <a:ext cx="822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8478"/>
                </a:solidFill>
                <a:latin typeface="Courier New"/>
                <a:ea typeface="Hiragino Sans GB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