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年薪</c:v>
                </c:pt>
              </c:strCache>
            </c:strRef>
          </c:tx>
          <c:spPr>
            <a:solidFill>
              <a:srgbClr val="CE5522"/>
            </a:solidFill>
            <a:ln w="31750">
              <a:solidFill>
                <a:srgbClr val="CE5522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CE5522"/>
              </a:solidFill>
            </c:spPr>
          </c:dPt>
          <c:dPt>
            <c:idx val="2"/>
            <c:spPr>
              <a:solidFill>
                <a:srgbClr val="B8BECC"/>
              </a:solidFill>
            </c:spPr>
          </c:dPt>
          <c:cat>
            <c:strRef>
              <c:f>Sheet1!$A$2:$A$4</c:f>
              <c:strCache>
                <c:ptCount val="3"/>
                <c:pt idx="0">
                  <c:v>中位数</c:v>
                </c:pt>
                <c:pt idx="1">
                  <c:v>模态</c:v>
                </c:pt>
                <c:pt idx="2">
                  <c:v>平均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46.2</c:v>
                </c:pt>
                <c:pt idx="1">
                  <c:v>48.0</c:v>
                </c:pt>
                <c:pt idx="2">
                  <c:v>54.4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2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E252C">
                  <a:alpha val="0"/>
                </a:srgbClr>
              </a:gs>
              <a:gs pos="100000">
                <a:srgbClr val="0E252C">
                  <a:alpha val="55000"/>
                </a:srgbClr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" y="749808"/>
            <a:ext cx="12801" cy="146304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3242" y="804671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4692" y="804671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36142" y="804671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07592" y="804671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79042" y="749808"/>
            <a:ext cx="12801" cy="146304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50492" y="804671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1942" y="804671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93392" y="804671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4842" y="804671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36292" y="749808"/>
            <a:ext cx="12801" cy="146304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07742" y="749808"/>
            <a:ext cx="25603" cy="146304"/>
          </a:xfrm>
          <a:prstGeom prst="rect">
            <a:avLst/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79192" y="804671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50642" y="804671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22092" y="804671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93542" y="749808"/>
            <a:ext cx="12801" cy="146304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64992" y="804671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9454" y="630936"/>
            <a:ext cx="54864" cy="109728"/>
          </a:xfrm>
          <a:prstGeom prst="roundRect">
            <a:avLst>
              <a:gd name="adj" fmla="val 50000"/>
            </a:avLst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111556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6FBAC4"/>
                </a:solidFill>
                <a:latin typeface="Menlo"/>
                <a:ea typeface="Hiragino Sans GB"/>
              </a:rPr>
              <a:t>NETHERLANDS LABOUR MARKET ·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1463040"/>
            <a:ext cx="7955279" cy="9601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>
                <a:solidFill>
                  <a:srgbClr val="FAF6EF"/>
                </a:solidFill>
                <a:latin typeface="Helvetica Neue"/>
                <a:ea typeface="Hiragino Sans GB"/>
              </a:rPr>
              <a:t>荷兰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2395728"/>
            <a:ext cx="7955279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AF6EF"/>
                </a:solidFill>
                <a:latin typeface="Hiragino Sans GB"/>
                <a:ea typeface="Hiragino Sans GB"/>
              </a:rPr>
              <a:t>就业市场数据解读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" y="3182112"/>
            <a:ext cx="1371600" cy="54864"/>
          </a:xfrm>
          <a:prstGeom prst="rect">
            <a:avLst/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3346704"/>
            <a:ext cx="7863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D8D1C3"/>
                </a:solidFill>
                <a:latin typeface="Hiragino Sans GB"/>
                <a:ea typeface="Hiragino Sans GB"/>
              </a:rPr>
              <a:t>紧缺 · 薪资 · 国际人才政策 · 区域差异 · 趋势展望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3950208"/>
            <a:ext cx="2560320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0925C"/>
                </a:solidFill>
                <a:latin typeface="Helvetica Neue"/>
                <a:ea typeface="Hiragino Sans GB"/>
              </a:rPr>
              <a:t>3.9%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4443984"/>
            <a:ext cx="2560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A290"/>
                </a:solidFill>
                <a:latin typeface="Hiragino Sans GB"/>
                <a:ea typeface="Hiragino Sans GB"/>
              </a:rPr>
              <a:t>失业率 · 2026年5月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3950208"/>
            <a:ext cx="2560320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0925C"/>
                </a:solidFill>
                <a:latin typeface="Helvetica Neue"/>
                <a:ea typeface="Hiragino Sans GB"/>
              </a:rPr>
              <a:t>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9272" y="4443984"/>
            <a:ext cx="2560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A290"/>
                </a:solidFill>
                <a:latin typeface="Hiragino Sans GB"/>
                <a:ea typeface="Hiragino Sans GB"/>
              </a:rPr>
              <a:t>每百失业者对应空缺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6664" y="4023360"/>
            <a:ext cx="10972" cy="603504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16752" y="3950208"/>
            <a:ext cx="2560320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0925C"/>
                </a:solidFill>
                <a:latin typeface="Helvetica Neue"/>
                <a:ea typeface="Hiragino Sans GB"/>
              </a:rPr>
              <a:t>€48,000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16752" y="4443984"/>
            <a:ext cx="2560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A290"/>
                </a:solidFill>
                <a:latin typeface="Hiragino Sans GB"/>
                <a:ea typeface="Hiragino Sans GB"/>
              </a:rPr>
              <a:t>模态年薪 · CPB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24144" y="4023360"/>
            <a:ext cx="10972" cy="603504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832604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A9A290"/>
                </a:solidFill>
                <a:latin typeface="Menlo"/>
                <a:ea typeface="Hiragino Sans GB"/>
              </a:rPr>
              <a:t>截至 2026 年 7 月 · 数据来源见文末 · 示例作品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2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E252C">
                  <a:alpha val="0"/>
                </a:srgbClr>
              </a:gs>
              <a:gs pos="100000">
                <a:srgbClr val="0E252C">
                  <a:alpha val="55000"/>
                </a:srgbClr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75488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0925C"/>
                </a:solidFill>
                <a:latin typeface="Helvetica Neue"/>
                <a:ea typeface="Hiragino Sans GB"/>
              </a:rPr>
              <a:t>02 · 一页概览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86384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AF6EF"/>
                </a:solidFill>
                <a:latin typeface="Helvetica Neue"/>
                <a:ea typeface="Hiragino Sans GB"/>
              </a:rPr>
              <a:t>一页看懂 2026 荷兰就业市场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161034"/>
            <a:ext cx="1143000" cy="45720"/>
          </a:xfrm>
          <a:prstGeom prst="rect">
            <a:avLst/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69480" y="548640"/>
            <a:ext cx="12801" cy="146304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92924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16368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39812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63256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86700" y="548640"/>
            <a:ext cx="12801" cy="146304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10144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3588" y="548640"/>
            <a:ext cx="25603" cy="146304"/>
          </a:xfrm>
          <a:prstGeom prst="rect">
            <a:avLst/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7032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80476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548640"/>
            <a:ext cx="12801" cy="146304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A290"/>
                </a:solidFill>
                <a:latin typeface="Hiragino Sans GB"/>
                <a:ea typeface="Hiragino Sans GB"/>
              </a:rPr>
              <a:t>荷兰就业市场 2026 · 数据解读 · 截至 2026 年 7 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9A290"/>
                </a:solidFill>
                <a:latin typeface="Menlo"/>
                <a:ea typeface="Hiragino Sans GB"/>
              </a:rPr>
              <a:t>02 / 13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435353"/>
            <a:ext cx="2621280" cy="1506601"/>
          </a:xfrm>
          <a:prstGeom prst="roundRect">
            <a:avLst>
              <a:gd name="adj" fmla="val 7283"/>
            </a:avLst>
          </a:prstGeom>
          <a:solidFill>
            <a:srgbClr val="1C3B45"/>
          </a:solidFill>
          <a:ln w="12700">
            <a:solidFill>
              <a:srgbClr val="2C52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1599945"/>
            <a:ext cx="82296" cy="1177417"/>
          </a:xfrm>
          <a:prstGeom prst="roundRect">
            <a:avLst>
              <a:gd name="adj" fmla="val 50000"/>
            </a:avLst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1599945"/>
            <a:ext cx="2145792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Helvetica Neue"/>
                <a:ea typeface="Hiragino Sans GB"/>
              </a:rPr>
              <a:t>3.9%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221737"/>
            <a:ext cx="2145792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925C"/>
                </a:solidFill>
                <a:latin typeface="Hiragino Sans GB"/>
                <a:ea typeface="Hiragino Sans GB"/>
              </a:rPr>
              <a:t>失业率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532633"/>
            <a:ext cx="214579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9A290"/>
                </a:solidFill>
                <a:latin typeface="Hiragino Sans GB"/>
                <a:ea typeface="Hiragino Sans GB"/>
              </a:rPr>
              <a:t>2026年5月 · 经季调 · CBS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61360" y="1435353"/>
            <a:ext cx="2621280" cy="1506601"/>
          </a:xfrm>
          <a:prstGeom prst="roundRect">
            <a:avLst>
              <a:gd name="adj" fmla="val 7283"/>
            </a:avLst>
          </a:prstGeom>
          <a:solidFill>
            <a:srgbClr val="1C3B45"/>
          </a:solidFill>
          <a:ln w="12700">
            <a:solidFill>
              <a:srgbClr val="2C52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61360" y="1599945"/>
            <a:ext cx="82296" cy="1177417"/>
          </a:xfrm>
          <a:prstGeom prst="roundRect">
            <a:avLst>
              <a:gd name="adj" fmla="val 50000"/>
            </a:avLst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53967" y="1599945"/>
            <a:ext cx="2145792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Helvetica Neue"/>
                <a:ea typeface="Hiragino Sans GB"/>
              </a:rPr>
              <a:t>37.8万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3967" y="2221737"/>
            <a:ext cx="2145792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925C"/>
                </a:solidFill>
                <a:latin typeface="Hiragino Sans GB"/>
                <a:ea typeface="Hiragino Sans GB"/>
              </a:rPr>
              <a:t>空缺岗位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3967" y="2532633"/>
            <a:ext cx="214579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9A290"/>
                </a:solidFill>
                <a:latin typeface="Hiragino Sans GB"/>
                <a:ea typeface="Hiragino Sans GB"/>
              </a:rPr>
              <a:t>2026年一季度末 · CBS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6960" y="1435353"/>
            <a:ext cx="2621280" cy="1506601"/>
          </a:xfrm>
          <a:prstGeom prst="roundRect">
            <a:avLst>
              <a:gd name="adj" fmla="val 7283"/>
            </a:avLst>
          </a:prstGeom>
          <a:solidFill>
            <a:srgbClr val="1C3B45"/>
          </a:solidFill>
          <a:ln w="12700">
            <a:solidFill>
              <a:srgbClr val="2C52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56960" y="1599945"/>
            <a:ext cx="82296" cy="1177417"/>
          </a:xfrm>
          <a:prstGeom prst="roundRect">
            <a:avLst>
              <a:gd name="adj" fmla="val 50000"/>
            </a:avLst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9568" y="1599945"/>
            <a:ext cx="2145792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Helvetica Neue"/>
                <a:ea typeface="Hiragino Sans GB"/>
              </a:rPr>
              <a:t>91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9568" y="2221737"/>
            <a:ext cx="2145792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925C"/>
                </a:solidFill>
                <a:latin typeface="Hiragino Sans GB"/>
                <a:ea typeface="Hiragino Sans GB"/>
              </a:rPr>
              <a:t>空缺 / 百名失业者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9568" y="2532633"/>
            <a:ext cx="214579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9A290"/>
                </a:solidFill>
                <a:latin typeface="Hiragino Sans GB"/>
                <a:ea typeface="Hiragino Sans GB"/>
              </a:rPr>
              <a:t>紧张度 · 较2025年底的97回落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179698"/>
            <a:ext cx="2621280" cy="1506601"/>
          </a:xfrm>
          <a:prstGeom prst="roundRect">
            <a:avLst>
              <a:gd name="adj" fmla="val 7283"/>
            </a:avLst>
          </a:prstGeom>
          <a:solidFill>
            <a:srgbClr val="1C3B45"/>
          </a:solidFill>
          <a:ln w="12700">
            <a:solidFill>
              <a:srgbClr val="2C52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5760" y="3344290"/>
            <a:ext cx="82296" cy="1177417"/>
          </a:xfrm>
          <a:prstGeom prst="roundRect">
            <a:avLst>
              <a:gd name="adj" fmla="val 50000"/>
            </a:avLst>
          </a:prstGeom>
          <a:solidFill>
            <a:srgbClr val="DFB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3344290"/>
            <a:ext cx="2145792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Helvetica Neue"/>
                <a:ea typeface="Hiragino Sans GB"/>
              </a:rPr>
              <a:t>€14.99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3966083"/>
            <a:ext cx="2145792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FB35A"/>
                </a:solidFill>
                <a:latin typeface="Hiragino Sans GB"/>
                <a:ea typeface="Hiragino Sans GB"/>
              </a:rPr>
              <a:t>法定最低时薪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4276979"/>
            <a:ext cx="214579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9A290"/>
                </a:solidFill>
                <a:latin typeface="Hiragino Sans GB"/>
                <a:ea typeface="Hiragino Sans GB"/>
              </a:rPr>
              <a:t>2026年7月起 · 21岁及以上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61360" y="3179698"/>
            <a:ext cx="2621280" cy="1506601"/>
          </a:xfrm>
          <a:prstGeom prst="roundRect">
            <a:avLst>
              <a:gd name="adj" fmla="val 7283"/>
            </a:avLst>
          </a:prstGeom>
          <a:solidFill>
            <a:srgbClr val="1C3B45"/>
          </a:solidFill>
          <a:ln w="12700">
            <a:solidFill>
              <a:srgbClr val="2C52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261360" y="3344290"/>
            <a:ext cx="82296" cy="1177417"/>
          </a:xfrm>
          <a:prstGeom prst="roundRect">
            <a:avLst>
              <a:gd name="adj" fmla="val 50000"/>
            </a:avLst>
          </a:prstGeom>
          <a:solidFill>
            <a:srgbClr val="DFB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53967" y="3344290"/>
            <a:ext cx="2145792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Helvetica Neue"/>
                <a:ea typeface="Hiragino Sans GB"/>
              </a:rPr>
              <a:t>€48,000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53967" y="3966083"/>
            <a:ext cx="2145792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FB35A"/>
                </a:solidFill>
                <a:latin typeface="Hiragino Sans GB"/>
                <a:ea typeface="Hiragino Sans GB"/>
              </a:rPr>
              <a:t>模态年薪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53967" y="4276979"/>
            <a:ext cx="214579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9A290"/>
                </a:solidFill>
                <a:latin typeface="Hiragino Sans GB"/>
                <a:ea typeface="Hiragino Sans GB"/>
              </a:rPr>
              <a:t>2026 · 含假期津贴 · CPB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56960" y="3179698"/>
            <a:ext cx="2621280" cy="1506601"/>
          </a:xfrm>
          <a:prstGeom prst="roundRect">
            <a:avLst>
              <a:gd name="adj" fmla="val 7283"/>
            </a:avLst>
          </a:prstGeom>
          <a:solidFill>
            <a:srgbClr val="1C3B45"/>
          </a:solidFill>
          <a:ln w="12700">
            <a:solidFill>
              <a:srgbClr val="2C52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156960" y="3344290"/>
            <a:ext cx="82296" cy="1177417"/>
          </a:xfrm>
          <a:prstGeom prst="roundRect">
            <a:avLst>
              <a:gd name="adj" fmla="val 50000"/>
            </a:avLst>
          </a:prstGeom>
          <a:solidFill>
            <a:srgbClr val="6FB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9568" y="3344290"/>
            <a:ext cx="2145792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Helvetica Neue"/>
                <a:ea typeface="Hiragino Sans GB"/>
              </a:rPr>
              <a:t>约140万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9568" y="3966083"/>
            <a:ext cx="2145792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FBAC4"/>
                </a:solidFill>
                <a:latin typeface="Hiragino Sans GB"/>
                <a:ea typeface="Hiragino Sans GB"/>
              </a:rPr>
              <a:t>2030劳动力缺口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9568" y="4276979"/>
            <a:ext cx="214579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9A290"/>
                </a:solidFill>
                <a:latin typeface="Hiragino Sans GB"/>
                <a:ea typeface="Hiragino Sans GB"/>
              </a:rPr>
              <a:t>预测 · 麦肯锡 · 约占劳动力14%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E5522"/>
                </a:solidFill>
                <a:latin typeface="Helvetica Neue"/>
                <a:ea typeface="Hiragino Sans GB"/>
              </a:rPr>
              <a:t>03 · 宏观形势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323C"/>
                </a:solidFill>
                <a:latin typeface="Helvetica Neue"/>
                <a:ea typeface="Hiragino Sans GB"/>
              </a:rPr>
              <a:t>低失业的悖论：紧，不是松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161034"/>
            <a:ext cx="1143000" cy="45720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6948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9292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16368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981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6325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8670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1014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3588" y="548640"/>
            <a:ext cx="25603" cy="146304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5703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8047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2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E6A5C"/>
                </a:solidFill>
                <a:latin typeface="Hiragino Sans GB"/>
                <a:ea typeface="Hiragino Sans GB"/>
              </a:rPr>
              <a:t>荷兰就业市场 2026 · 数据解读 · 截至 2026 年 7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E6A5C"/>
                </a:solidFill>
                <a:latin typeface="Menlo"/>
                <a:ea typeface="Hiragino Sans GB"/>
              </a:rPr>
              <a:t>03 /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1435353"/>
            <a:ext cx="4121490" cy="86868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CE5522"/>
                </a:solidFill>
                <a:latin typeface="Helvetica Neue"/>
                <a:ea typeface="Hiragino Sans GB"/>
              </a:rPr>
              <a:t>3.9</a:t>
            </a:r>
            <a:r>
              <a:rPr sz="2800" b="1" i="0">
                <a:solidFill>
                  <a:srgbClr val="CE5522"/>
                </a:solidFill>
                <a:latin typeface="Helvetica Neue"/>
                <a:ea typeface="Hiragino Sans GB"/>
              </a:rPr>
              <a:t>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368042"/>
            <a:ext cx="412149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4545B"/>
                </a:solidFill>
                <a:latin typeface="Hiragino Sans GB"/>
                <a:ea typeface="Hiragino Sans GB"/>
              </a:rPr>
              <a:t>失业率 · 2026年5月 · 经季调（CBS）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678937"/>
            <a:ext cx="412149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6A5C"/>
                </a:solidFill>
                <a:latin typeface="Hiragino Sans GB"/>
                <a:ea typeface="Hiragino Sans GB"/>
              </a:rPr>
              <a:t>约 </a:t>
            </a:r>
            <a:r>
              <a:rPr sz="1200" b="1" i="0">
                <a:solidFill>
                  <a:srgbClr val="14323C"/>
                </a:solidFill>
                <a:latin typeface="Hiragino Sans GB"/>
                <a:ea typeface="Hiragino Sans GB"/>
              </a:rPr>
              <a:t>39.9 万</a:t>
            </a:r>
            <a:r>
              <a:rPr sz="1200" b="0" i="0">
                <a:solidFill>
                  <a:srgbClr val="6E6A5C"/>
                </a:solidFill>
                <a:latin typeface="Hiragino Sans GB"/>
                <a:ea typeface="Hiragino Sans GB"/>
              </a:rPr>
              <a:t>人失业，为 2025 年 8 月以来最低。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191001"/>
            <a:ext cx="288705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E6A5C"/>
                </a:solidFill>
                <a:latin typeface="Hiragino Sans GB"/>
                <a:ea typeface="Hiragino Sans GB"/>
              </a:rPr>
              <a:t>每 100 名失业者对应空缺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501897"/>
            <a:ext cx="2887050" cy="274320"/>
          </a:xfrm>
          <a:prstGeom prst="roundRect">
            <a:avLst>
              <a:gd name="adj" fmla="val 50000"/>
            </a:avLst>
          </a:prstGeom>
          <a:solidFill>
            <a:srgbClr val="EA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3501897"/>
            <a:ext cx="2627216" cy="274320"/>
          </a:xfrm>
          <a:prstGeom prst="roundRect">
            <a:avLst>
              <a:gd name="adj" fmla="val 50000"/>
            </a:avLst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35690" y="3501897"/>
            <a:ext cx="114300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323C"/>
                </a:solidFill>
                <a:latin typeface="Helvetica Neue"/>
                <a:ea typeface="Hiragino Sans GB"/>
              </a:rPr>
              <a:t>91</a:t>
            </a:r>
            <a:r>
              <a:rPr sz="1100" b="1" i="0">
                <a:solidFill>
                  <a:srgbClr val="6E6A5C"/>
                </a:solidFill>
                <a:latin typeface="Helvetica Neue"/>
                <a:ea typeface="Hiragino Sans GB"/>
              </a:rPr>
              <a:t> 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812794"/>
            <a:ext cx="412149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E6A5C"/>
                </a:solidFill>
                <a:latin typeface="Hiragino Sans GB"/>
                <a:ea typeface="Hiragino Sans GB"/>
              </a:rPr>
              <a:t>2025 年底为 </a:t>
            </a:r>
            <a:r>
              <a:rPr sz="1150" b="1" i="0">
                <a:solidFill>
                  <a:srgbClr val="14323C"/>
                </a:solidFill>
                <a:latin typeface="Helvetica Neue"/>
                <a:ea typeface="Hiragino Sans GB"/>
              </a:rPr>
              <a:t>97</a:t>
            </a:r>
            <a:r>
              <a:rPr sz="1150" b="0" i="0">
                <a:solidFill>
                  <a:srgbClr val="6E6A5C"/>
                </a:solidFill>
                <a:latin typeface="Hiragino Sans GB"/>
                <a:ea typeface="Hiragino Sans GB"/>
              </a:rPr>
              <a:t>，仍远高于 1 : 1 的供需平衡线。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53010" y="1481073"/>
            <a:ext cx="45720" cy="2153666"/>
          </a:xfrm>
          <a:prstGeom prst="rect">
            <a:avLst/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09042" y="1453641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1E5B64"/>
                </a:solidFill>
                <a:latin typeface="Menlo"/>
                <a:ea typeface="Hiragino Sans GB"/>
              </a:rPr>
              <a:t>表面之下的两股人流 · CBS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09042" y="1746250"/>
            <a:ext cx="355946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4323C"/>
                </a:solidFill>
                <a:latin typeface="Hiragino Sans GB"/>
                <a:ea typeface="Hiragino Sans GB"/>
              </a:rPr>
              <a:t>回落的失业率，掩盖了相反方向的流动：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9042" y="2331466"/>
            <a:ext cx="1554480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C7681"/>
                </a:solidFill>
                <a:latin typeface="Helvetica Neue"/>
                <a:ea typeface="Hiragino Sans GB"/>
              </a:rPr>
              <a:t>15.5 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7530" y="2331466"/>
            <a:ext cx="1822109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5B"/>
                </a:solidFill>
                <a:latin typeface="Hiragino Sans GB"/>
                <a:ea typeface="Hiragino Sans GB"/>
              </a:rPr>
              <a:t>在同一时期找到了工作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9042" y="2989833"/>
            <a:ext cx="1554480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6E6A5C"/>
                </a:solidFill>
                <a:latin typeface="Helvetica Neue"/>
                <a:ea typeface="Hiragino Sans GB"/>
              </a:rPr>
              <a:t>10.7 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7530" y="2989833"/>
            <a:ext cx="1822109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5B"/>
                </a:solidFill>
                <a:latin typeface="Hiragino Sans GB"/>
                <a:ea typeface="Hiragino Sans GB"/>
              </a:rPr>
              <a:t>同时停止求职、退出劳动力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09042" y="3666489"/>
            <a:ext cx="355946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6E6A5C"/>
                </a:solidFill>
                <a:latin typeface="Hiragino Sans GB"/>
                <a:ea typeface="Hiragino Sans GB"/>
              </a:rPr>
              <a:t>两股流动均据 CBS 劳动力市场统计。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4082796"/>
            <a:ext cx="8010144" cy="566928"/>
          </a:xfrm>
          <a:prstGeom prst="roundRect">
            <a:avLst>
              <a:gd name="adj" fmla="val 8000"/>
            </a:avLst>
          </a:prstGeom>
          <a:solidFill>
            <a:srgbClr val="14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74235"/>
            <a:ext cx="54864" cy="384048"/>
          </a:xfrm>
          <a:prstGeom prst="rect">
            <a:avLst/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082796"/>
            <a:ext cx="7552944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925C"/>
                </a:solidFill>
                <a:latin typeface="Helvetica Neue"/>
                <a:ea typeface="Hiragino Sans GB"/>
              </a:rPr>
              <a:t>要点   </a:t>
            </a:r>
            <a:r>
              <a:rPr sz="1350" b="0" i="0">
                <a:solidFill>
                  <a:srgbClr val="FFFFFF"/>
                </a:solidFill>
                <a:latin typeface="Helvetica Neue"/>
                <a:ea typeface="Hiragino Sans GB"/>
              </a:rPr>
              <a:t>失业率处于历史低位，可每 100 名求职者仍对应 91 个空缺——荷兰的问题是招不到人，不是没工作。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E5522"/>
                </a:solidFill>
                <a:latin typeface="Helvetica Neue"/>
                <a:ea typeface="Hiragino Sans GB"/>
              </a:rPr>
              <a:t>04 · 空缺结构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323C"/>
                </a:solidFill>
                <a:latin typeface="Helvetica Neue"/>
                <a:ea typeface="Hiragino Sans GB"/>
              </a:rPr>
              <a:t>空缺都堆在哪里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161034"/>
            <a:ext cx="1143000" cy="45720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6948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9292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16368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981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6325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8670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1014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3588" y="548640"/>
            <a:ext cx="25603" cy="146304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5703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8047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2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E6A5C"/>
                </a:solidFill>
                <a:latin typeface="Hiragino Sans GB"/>
                <a:ea typeface="Hiragino Sans GB"/>
              </a:rPr>
              <a:t>荷兰就业市场 2026 · 数据解读 · 截至 2026 年 7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E6A5C"/>
                </a:solidFill>
                <a:latin typeface="Menlo"/>
                <a:ea typeface="Hiragino Sans GB"/>
              </a:rPr>
              <a:t>04 /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1435353"/>
            <a:ext cx="3742660" cy="86868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i="0">
                <a:solidFill>
                  <a:srgbClr val="CE5522"/>
                </a:solidFill>
                <a:latin typeface="Helvetica Neue"/>
                <a:ea typeface="Hiragino Sans GB"/>
              </a:rPr>
              <a:t>37.8</a:t>
            </a:r>
            <a:r>
              <a:rPr sz="2300" b="1" i="0">
                <a:solidFill>
                  <a:srgbClr val="CE5522"/>
                </a:solidFill>
                <a:latin typeface="Hiragino Sans GB"/>
                <a:ea typeface="Hiragino Sans GB"/>
              </a:rPr>
              <a:t> 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77770"/>
            <a:ext cx="37426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4545B"/>
                </a:solidFill>
                <a:latin typeface="Hiragino Sans GB"/>
                <a:ea typeface="Hiragino Sans GB"/>
              </a:rPr>
              <a:t>个未填补的空缺岗位 · 2026 年一季度末（CBS）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916682"/>
            <a:ext cx="374266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4545B"/>
                </a:solidFill>
                <a:latin typeface="Hiragino Sans GB"/>
                <a:ea typeface="Hiragino Sans GB"/>
              </a:rPr>
              <a:t>相当于每 100 名失业者对应 91 个空缺；一年前这一比例更高（97）。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831082"/>
            <a:ext cx="227962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E6A5C"/>
                </a:solidFill>
                <a:latin typeface="Hiragino Sans GB"/>
                <a:ea typeface="Hiragino Sans GB"/>
              </a:rPr>
              <a:t>医疗保健 · 贸易 · 商业服务，合计占全部空缺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141978"/>
            <a:ext cx="2279620" cy="274320"/>
          </a:xfrm>
          <a:prstGeom prst="roundRect">
            <a:avLst>
              <a:gd name="adj" fmla="val 50000"/>
            </a:avLst>
          </a:prstGeom>
          <a:solidFill>
            <a:srgbClr val="EA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4141978"/>
            <a:ext cx="1185402" cy="274320"/>
          </a:xfrm>
          <a:prstGeom prst="roundRect">
            <a:avLst>
              <a:gd name="adj" fmla="val 50000"/>
            </a:avLst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4042" y="4141978"/>
            <a:ext cx="1371600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323C"/>
                </a:solidFill>
                <a:latin typeface="Helvetica Neue"/>
                <a:ea typeface="Hiragino Sans GB"/>
              </a:rPr>
              <a:t>&gt;50%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74180" y="1435353"/>
            <a:ext cx="4304059" cy="2885186"/>
          </a:xfrm>
          <a:prstGeom prst="roundRect">
            <a:avLst>
              <a:gd name="adj" fmla="val 3803"/>
            </a:avLst>
          </a:prstGeom>
          <a:solidFill>
            <a:srgbClr val="FFFFFF"/>
          </a:solidFill>
          <a:ln w="12700">
            <a:solidFill>
              <a:srgbClr val="E7E0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48500" y="1654809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1E5B64"/>
                </a:solidFill>
                <a:latin typeface="Menlo"/>
                <a:ea typeface="Hiragino Sans GB"/>
              </a:rPr>
              <a:t>最缺人的行业：过半企业常年缺工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48500" y="202057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E5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truck__2C76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91" y="2158461"/>
            <a:ext cx="254568" cy="2545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06868" y="2020570"/>
            <a:ext cx="1082181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4323C"/>
                </a:solidFill>
                <a:latin typeface="Hiragino Sans GB"/>
                <a:ea typeface="Hiragino Sans GB"/>
              </a:rPr>
              <a:t>运输 / 物流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3370" y="202057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E5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hield-check__2C76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1261" y="2158461"/>
            <a:ext cx="254568" cy="2545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421738" y="2020570"/>
            <a:ext cx="1082181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4323C"/>
                </a:solidFill>
                <a:latin typeface="Hiragino Sans GB"/>
                <a:ea typeface="Hiragino Sans GB"/>
              </a:rPr>
              <a:t>安保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48500" y="2806954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E5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pray-can__2C76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6391" y="2944845"/>
            <a:ext cx="254568" cy="2545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06868" y="2806954"/>
            <a:ext cx="1082181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4323C"/>
                </a:solidFill>
                <a:latin typeface="Hiragino Sans GB"/>
                <a:ea typeface="Hiragino Sans GB"/>
              </a:rPr>
              <a:t>清洁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63370" y="2806954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E5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users__2C76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1261" y="2944845"/>
            <a:ext cx="254568" cy="25456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21738" y="2806954"/>
            <a:ext cx="1082181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4323C"/>
                </a:solidFill>
                <a:latin typeface="Hiragino Sans GB"/>
                <a:ea typeface="Hiragino Sans GB"/>
              </a:rPr>
              <a:t>人力派遣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485132"/>
            <a:ext cx="80467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6A5C"/>
                </a:solidFill>
                <a:latin typeface="Hiragino Sans GB"/>
                <a:ea typeface="Hiragino Sans GB"/>
              </a:rPr>
              <a:t>来源：CBS 空缺统计 · UWV 雇主用工短缺调查（2025–2026）。运输、商务服务类企业过半常缺人。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E5522"/>
                </a:solidFill>
                <a:latin typeface="Helvetica Neue"/>
                <a:ea typeface="Hiragino Sans GB"/>
              </a:rPr>
              <a:t>05 · 紧缺行业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323C"/>
                </a:solidFill>
                <a:latin typeface="Helvetica Neue"/>
                <a:ea typeface="Hiragino Sans GB"/>
              </a:rPr>
              <a:t>四大结构性紧缺，招不满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161034"/>
            <a:ext cx="1143000" cy="45720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6948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9292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16368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981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6325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8670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1014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3588" y="548640"/>
            <a:ext cx="25603" cy="146304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5703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8047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2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E6A5C"/>
                </a:solidFill>
                <a:latin typeface="Hiragino Sans GB"/>
                <a:ea typeface="Hiragino Sans GB"/>
              </a:rPr>
              <a:t>荷兰就业市场 2026 · 数据解读 · 截至 2026 年 7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E6A5C"/>
                </a:solidFill>
                <a:latin typeface="Menlo"/>
                <a:ea typeface="Hiragino Sans GB"/>
              </a:rPr>
              <a:t>05 / 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1490217"/>
            <a:ext cx="3822191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7E0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1636521"/>
            <a:ext cx="82296" cy="1005839"/>
          </a:xfrm>
          <a:prstGeom prst="roundRect">
            <a:avLst>
              <a:gd name="adj" fmla="val 44444"/>
            </a:avLst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2960" y="1709673"/>
            <a:ext cx="585216" cy="585216"/>
          </a:xfrm>
          <a:prstGeom prst="ellipse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heart-pulse_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116" y="1861830"/>
            <a:ext cx="280903" cy="280903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72768" y="1709673"/>
            <a:ext cx="2587751" cy="5852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4323C"/>
                </a:solidFill>
                <a:latin typeface="Hiragino Sans GB"/>
                <a:ea typeface="Hiragino Sans GB"/>
              </a:rPr>
              <a:t>医疗保健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2404618"/>
            <a:ext cx="32918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5B"/>
                </a:solidFill>
                <a:latin typeface="Hiragino Sans GB"/>
                <a:ea typeface="Hiragino Sans GB"/>
              </a:rPr>
              <a:t>护士、全科与老年照护长期缺人；结构性短缺预计持续到 2030 年后。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1490217"/>
            <a:ext cx="3822191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7E0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54880" y="1636521"/>
            <a:ext cx="82296" cy="1005839"/>
          </a:xfrm>
          <a:prstGeom prst="roundRect">
            <a:avLst>
              <a:gd name="adj" fmla="val 44444"/>
            </a:avLst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10912" y="1709673"/>
            <a:ext cx="585216" cy="585216"/>
          </a:xfrm>
          <a:prstGeom prst="ellipse">
            <a:avLst/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pu_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068" y="1861830"/>
            <a:ext cx="280903" cy="28090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60720" y="1709673"/>
            <a:ext cx="2587751" cy="5852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4323C"/>
                </a:solidFill>
                <a:latin typeface="Hiragino Sans GB"/>
                <a:ea typeface="Hiragino Sans GB"/>
              </a:rPr>
              <a:t>信息技术 ICT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2404618"/>
            <a:ext cx="32918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5B"/>
                </a:solidFill>
                <a:latin typeface="Hiragino Sans GB"/>
                <a:ea typeface="Hiragino Sans GB"/>
              </a:rPr>
              <a:t>约 55.3 万人从事 ICT；2025 年二季度仍有约 2.3 万个空缺待填。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044698"/>
            <a:ext cx="3822191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7E0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66928" y="3191002"/>
            <a:ext cx="82296" cy="1005839"/>
          </a:xfrm>
          <a:prstGeom prst="roundRect">
            <a:avLst>
              <a:gd name="adj" fmla="val 44444"/>
            </a:avLst>
          </a:prstGeom>
          <a:solidFill>
            <a:srgbClr val="5E7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2960" y="3264154"/>
            <a:ext cx="585216" cy="585216"/>
          </a:xfrm>
          <a:prstGeom prst="ellipse">
            <a:avLst/>
          </a:prstGeom>
          <a:solidFill>
            <a:srgbClr val="5E7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wrench_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116" y="3416310"/>
            <a:ext cx="280903" cy="280903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572768" y="3264154"/>
            <a:ext cx="2587751" cy="5852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4323C"/>
                </a:solidFill>
                <a:latin typeface="Hiragino Sans GB"/>
                <a:ea typeface="Hiragino Sans GB"/>
              </a:rPr>
              <a:t>技术工种 / 工程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7" y="3959098"/>
            <a:ext cx="32918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5B"/>
                </a:solidFill>
                <a:latin typeface="Hiragino Sans GB"/>
                <a:ea typeface="Hiragino Sans GB"/>
              </a:rPr>
              <a:t>电工、暖通、工业机械师需求旺盛；UWV 估到 2026 年工程领域缺约 21 万人。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0" y="3044698"/>
            <a:ext cx="3822191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7E0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754880" y="3191002"/>
            <a:ext cx="82296" cy="1005839"/>
          </a:xfrm>
          <a:prstGeom prst="roundRect">
            <a:avLst>
              <a:gd name="adj" fmla="val 44444"/>
            </a:avLst>
          </a:prstGeom>
          <a:solidFill>
            <a:srgbClr val="866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010912" y="3264154"/>
            <a:ext cx="585216" cy="585216"/>
          </a:xfrm>
          <a:prstGeom prst="ellipse">
            <a:avLst/>
          </a:prstGeom>
          <a:solidFill>
            <a:srgbClr val="866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graduation-cap_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3068" y="3416310"/>
            <a:ext cx="280903" cy="280903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760720" y="3264154"/>
            <a:ext cx="2587751" cy="5852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4323C"/>
                </a:solidFill>
                <a:latin typeface="Hiragino Sans GB"/>
                <a:ea typeface="Hiragino Sans GB"/>
              </a:rPr>
              <a:t>教育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0" y="3959098"/>
            <a:ext cx="32918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5B"/>
                </a:solidFill>
                <a:latin typeface="Hiragino Sans GB"/>
                <a:ea typeface="Hiragino Sans GB"/>
              </a:rPr>
              <a:t>教师持续短缺，与建筑、运输、医疗共同位列最难招人的领域。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448556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A5C"/>
                </a:solidFill>
                <a:latin typeface="Hiragino Sans GB"/>
                <a:ea typeface="Hiragino Sans GB"/>
              </a:rPr>
              <a:t>2025 年末，全国约 45% 的空缺岗位难以填补（UWV）；工程 / ICT 缺口数为需求预测。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E5522"/>
                </a:solidFill>
                <a:latin typeface="Helvetica Neue"/>
                <a:ea typeface="Hiragino Sans GB"/>
              </a:rPr>
              <a:t>06 · 薪资水平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323C"/>
                </a:solidFill>
                <a:latin typeface="Helvetica Neue"/>
                <a:ea typeface="Hiragino Sans GB"/>
              </a:rPr>
              <a:t>一个典型荷兰打工人挣多少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161034"/>
            <a:ext cx="1143000" cy="45720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6948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9292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16368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981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6325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8670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1014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3588" y="548640"/>
            <a:ext cx="25603" cy="146304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5703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8047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2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E6A5C"/>
                </a:solidFill>
                <a:latin typeface="Hiragino Sans GB"/>
                <a:ea typeface="Hiragino Sans GB"/>
              </a:rPr>
              <a:t>荷兰就业市场 2026 · 数据解读 · 截至 2026 年 7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E6A5C"/>
                </a:solidFill>
                <a:latin typeface="Menlo"/>
                <a:ea typeface="Hiragino Sans GB"/>
              </a:rPr>
              <a:t>06 /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1462785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1E5B64"/>
                </a:solidFill>
                <a:latin typeface="Menlo"/>
                <a:ea typeface="Hiragino Sans GB"/>
              </a:rPr>
              <a:t>三个官方参照点 · 年薪（千€）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365760" y="1791970"/>
          <a:ext cx="4304059" cy="224510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5760" y="4110228"/>
            <a:ext cx="430405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6A5C"/>
                </a:solidFill>
                <a:latin typeface="Hiragino Sans GB"/>
                <a:ea typeface="Hiragino Sans GB"/>
              </a:rPr>
              <a:t>中位数/平均：2024 个人年薪（CBS）· 模态：2026 CPB，含假期津贴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35579" y="1462785"/>
            <a:ext cx="3742660" cy="3223514"/>
          </a:xfrm>
          <a:prstGeom prst="roundRect">
            <a:avLst>
              <a:gd name="adj" fmla="val 3403"/>
            </a:avLst>
          </a:prstGeom>
          <a:solidFill>
            <a:srgbClr val="FFFFFF"/>
          </a:solidFill>
          <a:ln w="12700">
            <a:solidFill>
              <a:srgbClr val="E7E0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9899" y="1663953"/>
            <a:ext cx="3194020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A8791F"/>
                </a:solidFill>
                <a:latin typeface="Helvetica Neue"/>
                <a:ea typeface="Hiragino Sans GB"/>
              </a:rPr>
              <a:t>€14.99</a:t>
            </a:r>
            <a:r>
              <a:rPr sz="1500" b="1" i="0">
                <a:solidFill>
                  <a:srgbClr val="44545B"/>
                </a:solidFill>
                <a:latin typeface="Hiragino Sans GB"/>
                <a:ea typeface="Hiragino Sans GB"/>
              </a:rPr>
              <a:t>  / 小时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9899" y="2157730"/>
            <a:ext cx="31940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5B"/>
                </a:solidFill>
                <a:latin typeface="Hiragino Sans GB"/>
                <a:ea typeface="Hiragino Sans GB"/>
              </a:rPr>
              <a:t>法定最低时薪，2026 年 7 月起（21 岁+）；全职约 €2,600/月。净到手模态约 €3,100–3,200/月。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9899" y="2998978"/>
            <a:ext cx="3194020" cy="12801"/>
          </a:xfrm>
          <a:prstGeom prst="rect">
            <a:avLst/>
          </a:prstGeom>
          <a:solidFill>
            <a:srgbClr val="E7E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9899" y="3126994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B0461A"/>
                </a:solidFill>
                <a:latin typeface="Menlo"/>
                <a:ea typeface="Hiragino Sans GB"/>
              </a:rPr>
              <a:t>招聘市场行情 · 参考区间（非官方）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9899" y="3456178"/>
            <a:ext cx="2096740" cy="2926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4545B"/>
                </a:solidFill>
                <a:latin typeface="Hiragino Sans GB"/>
                <a:ea typeface="Hiragino Sans GB"/>
              </a:rPr>
              <a:t>资深软件工程师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199" y="3456178"/>
            <a:ext cx="1188720" cy="2926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323C"/>
                </a:solidFill>
                <a:latin typeface="Helvetica Neue"/>
                <a:ea typeface="Hiragino Sans GB"/>
              </a:rPr>
              <a:t>€95k–130k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9899" y="3840226"/>
            <a:ext cx="2096740" cy="2926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4545B"/>
                </a:solidFill>
                <a:latin typeface="Hiragino Sans GB"/>
                <a:ea typeface="Hiragino Sans GB"/>
              </a:rPr>
              <a:t>ICT 平均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199" y="3840226"/>
            <a:ext cx="1188720" cy="2926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323C"/>
                </a:solidFill>
                <a:latin typeface="Helvetica Neue"/>
                <a:ea typeface="Hiragino Sans GB"/>
              </a:rPr>
              <a:t>约 €65k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9899" y="4224274"/>
            <a:ext cx="2096740" cy="2926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4545B"/>
                </a:solidFill>
                <a:latin typeface="Hiragino Sans GB"/>
                <a:ea typeface="Hiragino Sans GB"/>
              </a:rPr>
              <a:t>医疗专科医生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199" y="4224274"/>
            <a:ext cx="1188720" cy="2926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323C"/>
                </a:solidFill>
                <a:latin typeface="Helvetica Neue"/>
                <a:ea typeface="Hiragino Sans GB"/>
              </a:rPr>
              <a:t>€200k–300k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384548"/>
            <a:ext cx="430405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E6A5C"/>
                </a:solidFill>
                <a:latin typeface="Hiragino Sans GB"/>
                <a:ea typeface="Hiragino Sans GB"/>
              </a:rPr>
              <a:t>行情取自招聘 / 薪酬平台，量级参考。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E5522"/>
                </a:solidFill>
                <a:latin typeface="Helvetica Neue"/>
                <a:ea typeface="Hiragino Sans GB"/>
              </a:rPr>
              <a:t>07 · 国际人才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323C"/>
                </a:solidFill>
                <a:latin typeface="Helvetica Neue"/>
                <a:ea typeface="Hiragino Sans GB"/>
              </a:rPr>
              <a:t>高技能移民签证：工资就是门槛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161034"/>
            <a:ext cx="1143000" cy="45720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6948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9292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16368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981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6325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8670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1014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3588" y="548640"/>
            <a:ext cx="25603" cy="146304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5703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8047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2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E6A5C"/>
                </a:solidFill>
                <a:latin typeface="Hiragino Sans GB"/>
                <a:ea typeface="Hiragino Sans GB"/>
              </a:rPr>
              <a:t>荷兰就业市场 2026 · 数据解读 · 截至 2026 年 7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E6A5C"/>
                </a:solidFill>
                <a:latin typeface="Menlo"/>
                <a:ea typeface="Hiragino Sans GB"/>
              </a:rPr>
              <a:t>07 /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417066"/>
            <a:ext cx="801014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4545B"/>
                </a:solidFill>
                <a:latin typeface="Hiragino Sans GB"/>
                <a:ea typeface="Hiragino Sans GB"/>
              </a:rPr>
              <a:t>荷兰用“知识移民”（kennismigrant）通道从海外引才——不看职位，看月薪。以下为 </a:t>
            </a:r>
            <a:r>
              <a:rPr sz="1300" b="1" i="0">
                <a:solidFill>
                  <a:srgbClr val="14323C"/>
                </a:solidFill>
                <a:latin typeface="Hiragino Sans GB"/>
                <a:ea typeface="Hiragino Sans GB"/>
              </a:rPr>
              <a:t>2026年7月起</a:t>
            </a:r>
            <a:r>
              <a:rPr sz="1300" b="0" i="0">
                <a:solidFill>
                  <a:srgbClr val="44545B"/>
                </a:solidFill>
                <a:latin typeface="Hiragino Sans GB"/>
                <a:ea typeface="Hiragino Sans GB"/>
              </a:rPr>
              <a:t>的最低月薪门槛（税前、不含 8% 假期津贴，仅计固定现金工资）：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20570"/>
            <a:ext cx="3246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323C"/>
                </a:solidFill>
                <a:latin typeface="Hiragino Sans GB"/>
                <a:ea typeface="Hiragino Sans GB"/>
              </a:rPr>
              <a:t>30 岁及以上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0" y="2084578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EA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40480" y="2084578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2084578"/>
            <a:ext cx="146304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323C"/>
                </a:solidFill>
                <a:latin typeface="Helvetica Neue"/>
                <a:ea typeface="Hiragino Sans GB"/>
              </a:rPr>
              <a:t>€5,942</a:t>
            </a:r>
            <a:r>
              <a:rPr sz="1100" b="1" i="0">
                <a:solidFill>
                  <a:srgbClr val="6E6A5C"/>
                </a:solidFill>
                <a:latin typeface="Helvetica Neue"/>
                <a:ea typeface="Hiragino Sans GB"/>
              </a:rPr>
              <a:t> /月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715513"/>
            <a:ext cx="3246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323C"/>
                </a:solidFill>
                <a:latin typeface="Hiragino Sans GB"/>
                <a:ea typeface="Hiragino Sans GB"/>
              </a:rPr>
              <a:t>30 岁以下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0" y="277952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EA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40480" y="2779522"/>
            <a:ext cx="2011464" cy="310896"/>
          </a:xfrm>
          <a:prstGeom prst="roundRect">
            <a:avLst>
              <a:gd name="adj" fmla="val 50000"/>
            </a:avLst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2779522"/>
            <a:ext cx="146304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323C"/>
                </a:solidFill>
                <a:latin typeface="Helvetica Neue"/>
                <a:ea typeface="Hiragino Sans GB"/>
              </a:rPr>
              <a:t>€4,357</a:t>
            </a:r>
            <a:r>
              <a:rPr sz="1100" b="1" i="0">
                <a:solidFill>
                  <a:srgbClr val="6E6A5C"/>
                </a:solidFill>
                <a:latin typeface="Helvetica Neue"/>
                <a:ea typeface="Hiragino Sans GB"/>
              </a:rPr>
              <a:t> /月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410458"/>
            <a:ext cx="3246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323C"/>
                </a:solidFill>
                <a:latin typeface="Hiragino Sans GB"/>
                <a:ea typeface="Hiragino Sans GB"/>
              </a:rPr>
              <a:t>荷兰高校应届 · 高教移民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648202"/>
            <a:ext cx="324612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A5C"/>
                </a:solidFill>
                <a:latin typeface="Hiragino Sans GB"/>
                <a:ea typeface="Hiragino Sans GB"/>
              </a:rPr>
              <a:t>不限年龄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0" y="3474466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EA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840480" y="3474466"/>
            <a:ext cx="1441311" cy="310896"/>
          </a:xfrm>
          <a:prstGeom prst="roundRect">
            <a:avLst>
              <a:gd name="adj" fmla="val 50000"/>
            </a:avLst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0" y="3474466"/>
            <a:ext cx="146304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323C"/>
                </a:solidFill>
                <a:latin typeface="Helvetica Neue"/>
                <a:ea typeface="Hiragino Sans GB"/>
              </a:rPr>
              <a:t>€3,122</a:t>
            </a:r>
            <a:r>
              <a:rPr sz="1100" b="1" i="0">
                <a:solidFill>
                  <a:srgbClr val="6E6A5C"/>
                </a:solidFill>
                <a:latin typeface="Helvetica Neue"/>
                <a:ea typeface="Hiragino Sans GB"/>
              </a:rPr>
              <a:t> /月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973068"/>
            <a:ext cx="8010144" cy="640080"/>
          </a:xfrm>
          <a:prstGeom prst="roundRect">
            <a:avLst>
              <a:gd name="adj" fmla="val 14285"/>
            </a:avLst>
          </a:prstGeom>
          <a:solidFill>
            <a:srgbClr val="E9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064508"/>
            <a:ext cx="64008" cy="457200"/>
          </a:xfrm>
          <a:prstGeom prst="rect">
            <a:avLst/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3973068"/>
            <a:ext cx="7644383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4323C"/>
                </a:solidFill>
                <a:latin typeface="Hiragino Sans GB"/>
                <a:ea typeface="Hiragino Sans GB"/>
              </a:rPr>
              <a:t>门槛每年随通胀指数化调整；2023 年该通道被使用约 1.3 万次，是荷兰雇主从海外招人的主力渠道。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E5522"/>
                </a:solidFill>
                <a:latin typeface="Helvetica Neue"/>
                <a:ea typeface="Hiragino Sans GB"/>
              </a:rPr>
              <a:t>08 · 政策收紧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323C"/>
                </a:solidFill>
                <a:latin typeface="Helvetica Neue"/>
                <a:ea typeface="Hiragino Sans GB"/>
              </a:rPr>
              <a:t>给外籍人才的窗口，正在变窄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161034"/>
            <a:ext cx="1143000" cy="45720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6948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9292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16368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981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6325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8670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1014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3588" y="548640"/>
            <a:ext cx="25603" cy="146304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5703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8047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2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E6A5C"/>
                </a:solidFill>
                <a:latin typeface="Hiragino Sans GB"/>
                <a:ea typeface="Hiragino Sans GB"/>
              </a:rPr>
              <a:t>荷兰就业市场 2026 · 数据解读 · 截至 2026 年 7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E6A5C"/>
                </a:solidFill>
                <a:latin typeface="Menlo"/>
                <a:ea typeface="Hiragino Sans GB"/>
              </a:rPr>
              <a:t>08 /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371346"/>
            <a:ext cx="8010144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4545B"/>
                </a:solidFill>
                <a:latin typeface="Hiragino Sans GB"/>
                <a:ea typeface="Hiragino Sans GB"/>
              </a:rPr>
              <a:t>“30% 规则”是荷兰吸引外籍专才的核心税收优惠。以下变化多自 2027 年起生效（政府预算案）：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7259" y="2064461"/>
            <a:ext cx="7086600" cy="2194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4964" y="199313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" y="2240026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6A5C"/>
                </a:solidFill>
                <a:latin typeface="Helvetica Neue"/>
                <a:ea typeface="Hiragino Sans GB"/>
              </a:rPr>
              <a:t>2024–26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2532634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323C"/>
                </a:solidFill>
                <a:latin typeface="Helvetica Neue"/>
                <a:ea typeface="Hiragino Sans GB"/>
              </a:rPr>
              <a:t>30% 免税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" y="2788666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6A5C"/>
                </a:solidFill>
                <a:latin typeface="Helvetica Neue"/>
                <a:ea typeface="Hiragino Sans GB"/>
              </a:rPr>
              <a:t>外籍专才规则维持 30% 免税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17164" y="199313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07920" y="2240026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E5522"/>
                </a:solidFill>
                <a:latin typeface="Helvetica Neue"/>
                <a:ea typeface="Hiragino Sans GB"/>
              </a:rPr>
              <a:t>2027起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7920" y="2532634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323C"/>
                </a:solidFill>
                <a:latin typeface="Helvetica Neue"/>
                <a:ea typeface="Hiragino Sans GB"/>
              </a:rPr>
              <a:t>降至 27%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6480" y="2788666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6A5C"/>
                </a:solidFill>
                <a:latin typeface="Helvetica Neue"/>
                <a:ea typeface="Hiragino Sans GB"/>
              </a:rPr>
              <a:t>最高免税比例 30%→27%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9364" y="199313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0120" y="2240026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6A5C"/>
                </a:solidFill>
                <a:latin typeface="Helvetica Neue"/>
                <a:ea typeface="Hiragino Sans GB"/>
              </a:rPr>
              <a:t>2027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0120" y="2532634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323C"/>
                </a:solidFill>
                <a:latin typeface="Helvetica Neue"/>
                <a:ea typeface="Hiragino Sans GB"/>
              </a:rPr>
              <a:t>门槛上调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8680" y="2788666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6A5C"/>
                </a:solidFill>
                <a:latin typeface="Helvetica Neue"/>
                <a:ea typeface="Hiragino Sans GB"/>
              </a:rPr>
              <a:t>收入标准 €46,107→€50,436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41564" y="199313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0" y="2240026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6A5C"/>
                </a:solidFill>
                <a:latin typeface="Helvetica Neue"/>
                <a:ea typeface="Hiragino Sans GB"/>
              </a:rPr>
              <a:t>2027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2532634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323C"/>
                </a:solidFill>
                <a:latin typeface="Helvetica Neue"/>
                <a:ea typeface="Hiragino Sans GB"/>
              </a:rPr>
              <a:t>审查趋严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2788666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6A5C"/>
                </a:solidFill>
                <a:latin typeface="Helvetica Neue"/>
                <a:ea typeface="Hiragino Sans GB"/>
              </a:rPr>
              <a:t>高技能移民门槛涨幅超通胀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319018"/>
            <a:ext cx="3822191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7E0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66928" y="3319018"/>
            <a:ext cx="64008" cy="566928"/>
          </a:xfrm>
          <a:prstGeom prst="roundRect">
            <a:avLst>
              <a:gd name="adj" fmla="val 42857"/>
            </a:avLst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" y="3319018"/>
            <a:ext cx="1371600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6A5C"/>
                </a:solidFill>
                <a:latin typeface="Hiragino Sans GB"/>
                <a:ea typeface="Hiragino Sans GB"/>
              </a:rPr>
              <a:t>免税比例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39" y="3319018"/>
            <a:ext cx="2377440" cy="566928"/>
          </a:xfrm>
          <a:prstGeom prst="rect">
            <a:avLst/>
          </a:prstGeom>
          <a:noFill/>
          <a:ln/>
        </p:spPr>
        <p:txBody>
          <a:bodyPr wrap="non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6E6A5C"/>
                </a:solidFill>
                <a:latin typeface="Helvetica Neue"/>
                <a:ea typeface="Hiragino Sans GB"/>
              </a:rPr>
              <a:t>30%</a:t>
            </a:r>
            <a:r>
              <a:rPr sz="1400" b="1" i="0">
                <a:solidFill>
                  <a:srgbClr val="CE5522"/>
                </a:solidFill>
                <a:latin typeface="Helvetica Neue"/>
                <a:ea typeface="Hiragino Sans GB"/>
              </a:rPr>
              <a:t>  →  </a:t>
            </a:r>
            <a:r>
              <a:rPr sz="1900" b="1" i="0">
                <a:solidFill>
                  <a:srgbClr val="14323C"/>
                </a:solidFill>
                <a:latin typeface="Helvetica Neue"/>
                <a:ea typeface="Hiragino Sans GB"/>
              </a:rPr>
              <a:t>27%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4880" y="3319018"/>
            <a:ext cx="3822191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7E0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54880" y="3319018"/>
            <a:ext cx="64008" cy="566928"/>
          </a:xfrm>
          <a:prstGeom prst="roundRect">
            <a:avLst>
              <a:gd name="adj" fmla="val 42857"/>
            </a:avLst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92624" y="3319018"/>
            <a:ext cx="1371600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6A5C"/>
                </a:solidFill>
                <a:latin typeface="Hiragino Sans GB"/>
                <a:ea typeface="Hiragino Sans GB"/>
              </a:rPr>
              <a:t>收入标准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8191" y="3319018"/>
            <a:ext cx="2377440" cy="566928"/>
          </a:xfrm>
          <a:prstGeom prst="rect">
            <a:avLst/>
          </a:prstGeom>
          <a:noFill/>
          <a:ln/>
        </p:spPr>
        <p:txBody>
          <a:bodyPr wrap="non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6E6A5C"/>
                </a:solidFill>
                <a:latin typeface="Helvetica Neue"/>
                <a:ea typeface="Hiragino Sans GB"/>
              </a:rPr>
              <a:t>€46,107</a:t>
            </a:r>
            <a:r>
              <a:rPr sz="1400" b="1" i="0">
                <a:solidFill>
                  <a:srgbClr val="2C7681"/>
                </a:solidFill>
                <a:latin typeface="Helvetica Neue"/>
                <a:ea typeface="Hiragino Sans GB"/>
              </a:rPr>
              <a:t>  →  </a:t>
            </a:r>
            <a:r>
              <a:rPr sz="1900" b="1" i="0">
                <a:solidFill>
                  <a:srgbClr val="14323C"/>
                </a:solidFill>
                <a:latin typeface="Helvetica Neue"/>
                <a:ea typeface="Hiragino Sans GB"/>
              </a:rPr>
              <a:t>€50,436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4101084"/>
            <a:ext cx="8010144" cy="548640"/>
          </a:xfrm>
          <a:prstGeom prst="roundRect">
            <a:avLst>
              <a:gd name="adj" fmla="val 8000"/>
            </a:avLst>
          </a:prstGeom>
          <a:solidFill>
            <a:srgbClr val="14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6928" y="4192524"/>
            <a:ext cx="54864" cy="365759"/>
          </a:xfrm>
          <a:prstGeom prst="rect">
            <a:avLst/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4101084"/>
            <a:ext cx="7552944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925C"/>
                </a:solidFill>
                <a:latin typeface="Helvetica Neue"/>
                <a:ea typeface="Hiragino Sans GB"/>
              </a:rPr>
              <a:t>解读   </a:t>
            </a:r>
            <a:r>
              <a:rPr sz="1350" b="0" i="0">
                <a:solidFill>
                  <a:srgbClr val="FFFFFF"/>
                </a:solidFill>
                <a:latin typeface="Helvetica Neue"/>
                <a:ea typeface="Hiragino Sans GB"/>
              </a:rPr>
              <a:t>更高的收入门槛叠加更低的免税额：2027 年前，是国际人才落地荷兰相对宽松的最后窗口。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E5522"/>
                </a:solidFill>
                <a:latin typeface="Helvetica Neue"/>
                <a:ea typeface="Hiragino Sans GB"/>
              </a:rPr>
              <a:t>09 · 区域差异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323C"/>
                </a:solidFill>
                <a:latin typeface="Helvetica Neue"/>
                <a:ea typeface="Hiragino Sans GB"/>
              </a:rPr>
              <a:t>机会在哪里：三个荷兰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161034"/>
            <a:ext cx="1143000" cy="45720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6948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9292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16368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981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6325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8670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1014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3588" y="548640"/>
            <a:ext cx="25603" cy="146304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5703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8047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2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E6A5C"/>
                </a:solidFill>
                <a:latin typeface="Hiragino Sans GB"/>
                <a:ea typeface="Hiragino Sans GB"/>
              </a:rPr>
              <a:t>荷兰就业市场 2026 · 数据解读 · 截至 2026 年 7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E6A5C"/>
                </a:solidFill>
                <a:latin typeface="Menlo"/>
                <a:ea typeface="Hiragino Sans GB"/>
              </a:rPr>
              <a:t>09 / 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1380490"/>
            <a:ext cx="8010144" cy="548640"/>
          </a:xfrm>
          <a:prstGeom prst="roundRect">
            <a:avLst>
              <a:gd name="adj" fmla="val 16666"/>
            </a:avLst>
          </a:prstGeom>
          <a:solidFill>
            <a:srgbClr val="14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1380490"/>
            <a:ext cx="754380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0925C"/>
                </a:solidFill>
                <a:latin typeface="Helvetica Neue"/>
                <a:ea typeface="Hiragino Sans GB"/>
              </a:rPr>
              <a:t>13 </a:t>
            </a:r>
            <a:r>
              <a:rPr sz="1200" b="0" i="0">
                <a:solidFill>
                  <a:srgbClr val="FAF6EF"/>
                </a:solidFill>
                <a:latin typeface="Hiragino Sans GB"/>
                <a:ea typeface="Hiragino Sans GB"/>
              </a:rPr>
              <a:t>个劳动力市场区被评为“极度紧张”（每名短期求职者 &gt; 5 个空缺）；全国平均约 3.5 : 1。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112010"/>
            <a:ext cx="2621280" cy="2574290"/>
          </a:xfrm>
          <a:prstGeom prst="roundRect">
            <a:avLst>
              <a:gd name="adj" fmla="val 3907"/>
            </a:avLst>
          </a:prstGeom>
          <a:solidFill>
            <a:srgbClr val="FFFFFF"/>
          </a:solidFill>
          <a:ln w="12700">
            <a:solidFill>
              <a:srgbClr val="E7E0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365760" y="2112010"/>
            <a:ext cx="2621280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3504" y="2386330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uilding-2_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40" y="2519466"/>
            <a:ext cx="245790" cy="2457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61872" y="2386330"/>
            <a:ext cx="1524000" cy="51206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4323C"/>
                </a:solidFill>
                <a:latin typeface="Hiragino Sans GB"/>
                <a:ea typeface="Hiragino Sans GB"/>
              </a:rPr>
              <a:t>兰斯塔德 Randstad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26410"/>
            <a:ext cx="214579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E5522"/>
                </a:solidFill>
                <a:latin typeface="Hiragino Sans GB"/>
                <a:ea typeface="Hiragino Sans GB"/>
              </a:rPr>
              <a:t>阿姆斯特丹·鹿特丹·乌得勒支·海牙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3410458"/>
            <a:ext cx="2145792" cy="101981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5B"/>
                </a:solidFill>
                <a:latin typeface="Hiragino Sans GB"/>
                <a:ea typeface="Hiragino Sans GB"/>
              </a:rPr>
              <a:t>经济核心：IT、工程、金融、物流、医疗需求集中；核心城市（阿姆/乌得勒支）薪酬高出全国 15–25%，生活成本亦高约 25%。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61360" y="2112010"/>
            <a:ext cx="2621280" cy="2574290"/>
          </a:xfrm>
          <a:prstGeom prst="roundRect">
            <a:avLst>
              <a:gd name="adj" fmla="val 3907"/>
            </a:avLst>
          </a:prstGeom>
          <a:solidFill>
            <a:srgbClr val="FFFFFF"/>
          </a:solidFill>
          <a:ln w="12700">
            <a:solidFill>
              <a:srgbClr val="E7E0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3261360" y="2112010"/>
            <a:ext cx="2621280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499103" y="2386330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pu_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2240" y="2519466"/>
            <a:ext cx="245790" cy="24579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157472" y="2386330"/>
            <a:ext cx="1524000" cy="51206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4323C"/>
                </a:solidFill>
                <a:latin typeface="Hiragino Sans GB"/>
                <a:ea typeface="Hiragino Sans GB"/>
              </a:rPr>
              <a:t>布雷恩港 Brainport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9103" y="3026410"/>
            <a:ext cx="214579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C7681"/>
                </a:solidFill>
                <a:latin typeface="Hiragino Sans GB"/>
                <a:ea typeface="Hiragino Sans GB"/>
              </a:rPr>
              <a:t>埃因霍温高科技集群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9103" y="3410458"/>
            <a:ext cx="2145792" cy="101981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5B"/>
                </a:solidFill>
                <a:latin typeface="Hiragino Sans GB"/>
                <a:ea typeface="Hiragino Sans GB"/>
              </a:rPr>
              <a:t>荷兰高科技工程集群：半导体、光子、精密制造，持续创造高需求岗位。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6960" y="2112010"/>
            <a:ext cx="2621280" cy="2574290"/>
          </a:xfrm>
          <a:prstGeom prst="roundRect">
            <a:avLst>
              <a:gd name="adj" fmla="val 3907"/>
            </a:avLst>
          </a:prstGeom>
          <a:solidFill>
            <a:srgbClr val="FFFFFF"/>
          </a:solidFill>
          <a:ln w="12700">
            <a:solidFill>
              <a:srgbClr val="E7E0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6156960" y="2112010"/>
            <a:ext cx="2621280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E7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94704" y="2386330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5E7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map-pin_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7840" y="2519466"/>
            <a:ext cx="245790" cy="24579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053072" y="2386330"/>
            <a:ext cx="1524000" cy="51206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4323C"/>
                </a:solidFill>
                <a:latin typeface="Hiragino Sans GB"/>
                <a:ea typeface="Hiragino Sans GB"/>
              </a:rPr>
              <a:t>其他地区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4704" y="3026410"/>
            <a:ext cx="214579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E7E88"/>
                </a:solidFill>
                <a:latin typeface="Hiragino Sans GB"/>
                <a:ea typeface="Hiragino Sans GB"/>
              </a:rPr>
              <a:t>东部 / 南部等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94704" y="3410458"/>
            <a:ext cx="2145792" cy="101981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5B"/>
                </a:solidFill>
                <a:latin typeface="Hiragino Sans GB"/>
                <a:ea typeface="Hiragino Sans GB"/>
              </a:rPr>
              <a:t>技术工种空缺大量未填补（尤以中级技能为主）；薪酬与生活成本均低于兰斯塔德。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E5522"/>
                </a:solidFill>
                <a:latin typeface="Helvetica Neue"/>
                <a:ea typeface="Hiragino Sans GB"/>
              </a:rPr>
              <a:t>10 · 结构特征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323C"/>
                </a:solidFill>
                <a:latin typeface="Helvetica Neue"/>
                <a:ea typeface="Hiragino Sans GB"/>
              </a:rPr>
              <a:t>兼职之国：隐藏的用工缺口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161034"/>
            <a:ext cx="1143000" cy="45720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6948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9292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16368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981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6325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8670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1014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3588" y="548640"/>
            <a:ext cx="25603" cy="146304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5703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8047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2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E6A5C"/>
                </a:solidFill>
                <a:latin typeface="Hiragino Sans GB"/>
                <a:ea typeface="Hiragino Sans GB"/>
              </a:rPr>
              <a:t>荷兰就业市场 2026 · 数据解读 · 截至 2026 年 7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E6A5C"/>
                </a:solidFill>
                <a:latin typeface="Menlo"/>
                <a:ea typeface="Hiragino Sans GB"/>
              </a:rPr>
              <a:t>10 /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1581657"/>
            <a:ext cx="2651759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E6A5C"/>
                </a:solidFill>
                <a:latin typeface="Hiragino Sans GB"/>
                <a:ea typeface="Hiragino Sans GB"/>
              </a:rPr>
              <a:t>全部就业者中的兼职比例（2025 年 12 月 · Eurostat）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892553"/>
            <a:ext cx="2651759" cy="310896"/>
          </a:xfrm>
          <a:prstGeom prst="roundRect">
            <a:avLst>
              <a:gd name="adj" fmla="val 50000"/>
            </a:avLst>
          </a:prstGeom>
          <a:solidFill>
            <a:srgbClr val="EA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1892553"/>
            <a:ext cx="1023579" cy="310896"/>
          </a:xfrm>
          <a:prstGeom prst="roundRect">
            <a:avLst>
              <a:gd name="adj" fmla="val 50000"/>
            </a:avLst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72219" y="1892553"/>
            <a:ext cx="146304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323C"/>
                </a:solidFill>
                <a:latin typeface="Helvetica Neue"/>
                <a:ea typeface="Hiragino Sans GB"/>
              </a:rPr>
              <a:t>38.6%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569209"/>
            <a:ext cx="2651759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E6A5C"/>
                </a:solidFill>
                <a:latin typeface="Hiragino Sans GB"/>
                <a:ea typeface="Hiragino Sans GB"/>
              </a:rPr>
              <a:t>在职女性中的兼职比例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2880105"/>
            <a:ext cx="2651759" cy="310896"/>
          </a:xfrm>
          <a:prstGeom prst="roundRect">
            <a:avLst>
              <a:gd name="adj" fmla="val 50000"/>
            </a:avLst>
          </a:prstGeom>
          <a:solidFill>
            <a:srgbClr val="EA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5760" y="2880105"/>
            <a:ext cx="1591055" cy="310896"/>
          </a:xfrm>
          <a:prstGeom prst="roundRect">
            <a:avLst>
              <a:gd name="adj" fmla="val 50000"/>
            </a:avLst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39696" y="2880105"/>
            <a:ext cx="146304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323C"/>
                </a:solidFill>
                <a:latin typeface="Helvetica Neue"/>
                <a:ea typeface="Hiragino Sans GB"/>
              </a:rPr>
              <a:t>约60%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447034"/>
            <a:ext cx="402335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4545B"/>
                </a:solidFill>
                <a:latin typeface="Hiragino Sans GB"/>
                <a:ea typeface="Hiragino Sans GB"/>
              </a:rPr>
              <a:t>荷兰兼职率长期居欧盟前列，同时女性就业率为欧盟第一——参与的人多，投入的工时少。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1481073"/>
            <a:ext cx="45720" cy="2427986"/>
          </a:xfrm>
          <a:prstGeom prst="rect">
            <a:avLst/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0912" y="1471929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1E5B64"/>
                </a:solidFill>
                <a:latin typeface="Menlo"/>
                <a:ea typeface="Hiragino Sans GB"/>
              </a:rPr>
              <a:t>为什么这很重要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912" y="1837689"/>
            <a:ext cx="3657599" cy="197078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14323C"/>
                </a:solidFill>
                <a:latin typeface="Hiragino Sans GB"/>
                <a:ea typeface="Hiragino Sans GB"/>
              </a:rPr>
              <a:t>低失业 + 高兼职，意味着按 </a:t>
            </a:r>
            <a:r>
              <a:rPr sz="1400" b="1" i="0">
                <a:solidFill>
                  <a:srgbClr val="B0461A"/>
                </a:solidFill>
                <a:latin typeface="Hiragino Sans GB"/>
                <a:ea typeface="Hiragino Sans GB"/>
              </a:rPr>
              <a:t>全职当量（FTE）</a:t>
            </a:r>
            <a:r>
              <a:rPr sz="1400" b="0" i="0">
                <a:solidFill>
                  <a:srgbClr val="14323C"/>
                </a:solidFill>
                <a:latin typeface="Hiragino Sans GB"/>
                <a:ea typeface="Hiragino Sans GB"/>
              </a:rPr>
              <a:t>计算的可用劳动力，比“人头数”更紧张。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0" i="0">
                <a:solidFill>
                  <a:srgbClr val="44545B"/>
                </a:solidFill>
                <a:latin typeface="Hiragino Sans GB"/>
                <a:ea typeface="Hiragino Sans GB"/>
              </a:rPr>
              <a:t>雇主若按人头规划招聘，会系统性低估真实缺口——这也是失业率下探、却依然招不到人的结构性原因之一。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155948"/>
            <a:ext cx="8010144" cy="512064"/>
          </a:xfrm>
          <a:prstGeom prst="roundRect">
            <a:avLst>
              <a:gd name="adj" fmla="val 8000"/>
            </a:avLst>
          </a:prstGeom>
          <a:solidFill>
            <a:srgbClr val="14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247388"/>
            <a:ext cx="54864" cy="329184"/>
          </a:xfrm>
          <a:prstGeom prst="rect">
            <a:avLst/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155948"/>
            <a:ext cx="7552944" cy="51206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925C"/>
                </a:solidFill>
                <a:latin typeface="Helvetica Neue"/>
                <a:ea typeface="Hiragino Sans GB"/>
              </a:rPr>
              <a:t>要点   </a:t>
            </a:r>
            <a:r>
              <a:rPr sz="1350" b="0" i="0">
                <a:solidFill>
                  <a:srgbClr val="FFFFFF"/>
                </a:solidFill>
                <a:latin typeface="Helvetica Neue"/>
                <a:ea typeface="Hiragino Sans GB"/>
              </a:rPr>
              <a:t>把“人”换算成“工时”，荷兰的劳动力缺口比失业率显示的更深。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2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E252C">
                  <a:alpha val="0"/>
                </a:srgbClr>
              </a:gs>
              <a:gs pos="100000">
                <a:srgbClr val="0E252C">
                  <a:alpha val="55000"/>
                </a:srgbClr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75488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0925C"/>
                </a:solidFill>
                <a:latin typeface="Helvetica Neue"/>
                <a:ea typeface="Hiragino Sans GB"/>
              </a:rPr>
              <a:t>11 · 趋势展望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86384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AF6EF"/>
                </a:solidFill>
                <a:latin typeface="Helvetica Neue"/>
                <a:ea typeface="Hiragino Sans GB"/>
              </a:rPr>
              <a:t>2026 → 2030：缺口会自己消失吗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161034"/>
            <a:ext cx="1143000" cy="45720"/>
          </a:xfrm>
          <a:prstGeom prst="rect">
            <a:avLst/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69480" y="548640"/>
            <a:ext cx="12801" cy="146304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92924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16368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39812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63256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86700" y="548640"/>
            <a:ext cx="12801" cy="146304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10144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3588" y="548640"/>
            <a:ext cx="25603" cy="146304"/>
          </a:xfrm>
          <a:prstGeom prst="rect">
            <a:avLst/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7032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80476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548640"/>
            <a:ext cx="12801" cy="146304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A290"/>
                </a:solidFill>
                <a:latin typeface="Hiragino Sans GB"/>
                <a:ea typeface="Hiragino Sans GB"/>
              </a:rPr>
              <a:t>荷兰就业市场 2026 · 数据解读 · 截至 2026 年 7 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9A290"/>
                </a:solidFill>
                <a:latin typeface="Menlo"/>
                <a:ea typeface="Hiragino Sans GB"/>
              </a:rPr>
              <a:t>11 / 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1554226"/>
            <a:ext cx="2426208" cy="64008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0925C"/>
                </a:solidFill>
                <a:latin typeface="Helvetica Neue"/>
                <a:ea typeface="Hiragino Sans GB"/>
              </a:rPr>
              <a:t>约140万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285746"/>
            <a:ext cx="242620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AF6EF"/>
                </a:solidFill>
                <a:latin typeface="Hiragino Sans GB"/>
                <a:ea typeface="Hiragino Sans GB"/>
              </a:rPr>
              <a:t>2030 劳动力缺口 · 麦肯锡预测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742946"/>
            <a:ext cx="242620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A290"/>
                </a:solidFill>
                <a:latin typeface="Hiragino Sans GB"/>
                <a:ea typeface="Hiragino Sans GB"/>
              </a:rPr>
              <a:t>约占当前劳动力 14%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8896" y="1554226"/>
            <a:ext cx="2426208" cy="64008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0925C"/>
                </a:solidFill>
                <a:latin typeface="Helvetica Neue"/>
                <a:ea typeface="Hiragino Sans GB"/>
              </a:rPr>
              <a:t>20.8%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8896" y="2285746"/>
            <a:ext cx="242620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AF6EF"/>
                </a:solidFill>
                <a:latin typeface="Hiragino Sans GB"/>
                <a:ea typeface="Hiragino Sans GB"/>
              </a:rPr>
              <a:t>65岁以上人口占比 ·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8896" y="2742946"/>
            <a:ext cx="242620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A290"/>
                </a:solidFill>
                <a:latin typeface="Hiragino Sans GB"/>
                <a:ea typeface="Hiragino Sans GB"/>
              </a:rPr>
              <a:t>1990 年仅为 12.8%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39440" y="1599946"/>
            <a:ext cx="10972" cy="137160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50864" y="1554226"/>
            <a:ext cx="2426208" cy="64008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0925C"/>
                </a:solidFill>
                <a:latin typeface="Helvetica Neue"/>
                <a:ea typeface="Hiragino Sans GB"/>
              </a:rPr>
              <a:t>+16%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0864" y="2285746"/>
            <a:ext cx="242620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AF6EF"/>
                </a:solidFill>
                <a:latin typeface="Hiragino Sans GB"/>
                <a:ea typeface="Hiragino Sans GB"/>
              </a:rPr>
              <a:t>劳动力总量 · 2020–2035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0864" y="2742946"/>
            <a:ext cx="242620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A290"/>
                </a:solidFill>
                <a:latin typeface="Hiragino Sans GB"/>
                <a:ea typeface="Hiragino Sans GB"/>
              </a:rPr>
              <a:t>Cedefop；但青年与中年人口下降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31408" y="1599946"/>
            <a:ext cx="10972" cy="137160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66928" y="3771900"/>
            <a:ext cx="8010144" cy="786384"/>
          </a:xfrm>
          <a:prstGeom prst="roundRect">
            <a:avLst>
              <a:gd name="adj" fmla="val 13953"/>
            </a:avLst>
          </a:prstGeom>
          <a:gradFill>
            <a:gsLst>
              <a:gs pos="0">
                <a:srgbClr val="2C7681">
                  <a:alpha val="16000"/>
                </a:srgbClr>
              </a:gs>
              <a:gs pos="100000">
                <a:srgbClr val="2C7681">
                  <a:alpha val="5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771900"/>
            <a:ext cx="64008" cy="786384"/>
          </a:xfrm>
          <a:prstGeom prst="rect">
            <a:avLst/>
          </a:prstGeom>
          <a:solidFill>
            <a:srgbClr val="6FB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771900"/>
            <a:ext cx="7680960" cy="7863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FBAC4"/>
                </a:solidFill>
                <a:latin typeface="Hiragino Sans GB"/>
                <a:ea typeface="Hiragino Sans GB"/>
              </a:rPr>
              <a:t>AI 与自动化：</a:t>
            </a:r>
            <a:r>
              <a:rPr sz="1300" b="0" i="0">
                <a:solidFill>
                  <a:srgbClr val="FAF6EF"/>
                </a:solidFill>
                <a:latin typeface="Hiragino Sans GB"/>
                <a:ea typeface="Hiragino Sans GB"/>
              </a:rPr>
              <a:t>高教育岗位更具韧性，低教育岗位面临工资下行压力——技术在重塑劳动力结构，而非填平老龄化留下的缺口。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1353058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A9A290"/>
                </a:solidFill>
                <a:latin typeface="Hiragino Sans GB"/>
                <a:ea typeface="Hiragino Sans GB"/>
              </a:rPr>
              <a:t>以下为机构预测/展望，非既成事实，已标注来源。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2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E252C">
                  <a:alpha val="0"/>
                </a:srgbClr>
              </a:gs>
              <a:gs pos="100000">
                <a:srgbClr val="0E252C">
                  <a:alpha val="55000"/>
                </a:srgbClr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75488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0925C"/>
                </a:solidFill>
                <a:latin typeface="Helvetica Neue"/>
                <a:ea typeface="Hiragino Sans GB"/>
              </a:rPr>
              <a:t>12 · 结语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86384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AF6EF"/>
                </a:solidFill>
                <a:latin typeface="Helvetica Neue"/>
                <a:ea typeface="Hiragino Sans GB"/>
              </a:rPr>
              <a:t>紧、贵、正在收紧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161034"/>
            <a:ext cx="1143000" cy="45720"/>
          </a:xfrm>
          <a:prstGeom prst="rect">
            <a:avLst/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69480" y="548640"/>
            <a:ext cx="12801" cy="146304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92924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16368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39812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63256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86700" y="548640"/>
            <a:ext cx="12801" cy="146304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10144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3588" y="548640"/>
            <a:ext cx="25603" cy="146304"/>
          </a:xfrm>
          <a:prstGeom prst="rect">
            <a:avLst/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7032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80476" y="603503"/>
            <a:ext cx="12801" cy="91440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548640"/>
            <a:ext cx="12801" cy="146304"/>
          </a:xfrm>
          <a:prstGeom prst="rect">
            <a:avLst/>
          </a:prstGeom>
          <a:solidFill>
            <a:srgbClr val="2A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A290"/>
                </a:solidFill>
                <a:latin typeface="Hiragino Sans GB"/>
                <a:ea typeface="Hiragino Sans GB"/>
              </a:rPr>
              <a:t>荷兰就业市场 2026 · 数据解读 · 截至 2026 年 7 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9A290"/>
                </a:solidFill>
                <a:latin typeface="Menlo"/>
                <a:ea typeface="Hiragino Sans GB"/>
              </a:rPr>
              <a:t>12 / 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1371346"/>
            <a:ext cx="801014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AF6EF"/>
                </a:solidFill>
                <a:latin typeface="Hiragino Sans GB"/>
                <a:ea typeface="Hiragino Sans GB"/>
              </a:rPr>
              <a:t>同一组数字，对不同的人意味着不同的行动。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1983994"/>
            <a:ext cx="2609087" cy="2775458"/>
          </a:xfrm>
          <a:prstGeom prst="roundRect">
            <a:avLst>
              <a:gd name="adj" fmla="val 4205"/>
            </a:avLst>
          </a:prstGeom>
          <a:solidFill>
            <a:srgbClr val="1C3B45"/>
          </a:solidFill>
          <a:ln w="12700">
            <a:solidFill>
              <a:srgbClr val="2C52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365760" y="1983994"/>
            <a:ext cx="2609087" cy="914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1792" y="2294889"/>
            <a:ext cx="548640" cy="548640"/>
          </a:xfrm>
          <a:prstGeom prst="ellipse">
            <a:avLst/>
          </a:prstGeom>
          <a:solidFill>
            <a:srgbClr val="FBE2D4"/>
          </a:solidFill>
          <a:ln w="17780">
            <a:solidFill>
              <a:srgbClr val="F092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user-round_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" y="2437536"/>
            <a:ext cx="263347" cy="26334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98448" y="2294889"/>
            <a:ext cx="1511807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AF6EF"/>
                </a:solidFill>
                <a:latin typeface="Hiragino Sans GB"/>
                <a:ea typeface="Hiragino Sans GB"/>
              </a:rPr>
              <a:t>求职者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1361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3062985"/>
            <a:ext cx="185928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4DDCF"/>
                </a:solidFill>
                <a:latin typeface="Hiragino Sans GB"/>
                <a:ea typeface="Hiragino Sans GB"/>
              </a:rPr>
              <a:t>紧缺行业（医疗·ICT·技术·教育）议价空间最大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92252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9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849370"/>
            <a:ext cx="185928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4DDCF"/>
                </a:solidFill>
                <a:latin typeface="Hiragino Sans GB"/>
                <a:ea typeface="Hiragino Sans GB"/>
              </a:rPr>
              <a:t>国际人才抓紧 2027 年门槛上调前的窗口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67455" y="1983994"/>
            <a:ext cx="2609087" cy="2775458"/>
          </a:xfrm>
          <a:prstGeom prst="roundRect">
            <a:avLst>
              <a:gd name="adj" fmla="val 4205"/>
            </a:avLst>
          </a:prstGeom>
          <a:solidFill>
            <a:srgbClr val="1C3B45"/>
          </a:solidFill>
          <a:ln w="12700">
            <a:solidFill>
              <a:srgbClr val="2C52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267455" y="1983994"/>
            <a:ext cx="2609087" cy="914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6FB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523487" y="2294889"/>
            <a:ext cx="548640" cy="548640"/>
          </a:xfrm>
          <a:prstGeom prst="ellipse">
            <a:avLst/>
          </a:prstGeom>
          <a:solidFill>
            <a:srgbClr val="D9EDEF"/>
          </a:solidFill>
          <a:ln w="17780">
            <a:solidFill>
              <a:srgbClr val="6FBA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briefcase_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134" y="2437536"/>
            <a:ext cx="263347" cy="263347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200144" y="2294889"/>
            <a:ext cx="1511807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AF6EF"/>
                </a:solidFill>
                <a:latin typeface="Hiragino Sans GB"/>
                <a:ea typeface="Hiragino Sans GB"/>
              </a:rPr>
              <a:t>雇主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41775" y="31361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6FB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61232" y="3062985"/>
            <a:ext cx="185928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4DDCF"/>
                </a:solidFill>
                <a:latin typeface="Hiragino Sans GB"/>
                <a:ea typeface="Hiragino Sans GB"/>
              </a:rPr>
              <a:t>招聘竞争激烈，需前置到欧盟其他国家挖人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541775" y="392252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6FB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61232" y="3849370"/>
            <a:ext cx="185928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4DDCF"/>
                </a:solidFill>
                <a:latin typeface="Hiragino Sans GB"/>
                <a:ea typeface="Hiragino Sans GB"/>
              </a:rPr>
              <a:t>按全职当量而非人头规划，别低估真实缺口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69151" y="1983994"/>
            <a:ext cx="2609087" cy="2775458"/>
          </a:xfrm>
          <a:prstGeom prst="roundRect">
            <a:avLst>
              <a:gd name="adj" fmla="val 4205"/>
            </a:avLst>
          </a:prstGeom>
          <a:solidFill>
            <a:srgbClr val="1C3B45"/>
          </a:solidFill>
          <a:ln w="12700">
            <a:solidFill>
              <a:srgbClr val="2C52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6169151" y="1983994"/>
            <a:ext cx="2609087" cy="914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7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25184" y="2294889"/>
            <a:ext cx="548640" cy="548640"/>
          </a:xfrm>
          <a:prstGeom prst="ellipse">
            <a:avLst/>
          </a:prstGeom>
          <a:solidFill>
            <a:srgbClr val="F0E6EB"/>
          </a:solidFill>
          <a:ln w="17780">
            <a:solidFill>
              <a:srgbClr val="C7A2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landmark_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7830" y="2437536"/>
            <a:ext cx="263347" cy="26334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101839" y="2294889"/>
            <a:ext cx="1511807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AF6EF"/>
                </a:solidFill>
                <a:latin typeface="Hiragino Sans GB"/>
                <a:ea typeface="Hiragino Sans GB"/>
              </a:rPr>
              <a:t>政策制定者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43471" y="31361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C7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62928" y="3062985"/>
            <a:ext cx="185928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4DDCF"/>
                </a:solidFill>
                <a:latin typeface="Hiragino Sans GB"/>
                <a:ea typeface="Hiragino Sans GB"/>
              </a:rPr>
              <a:t>结构性短缺预计持续到 2030 年后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43471" y="392252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C7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2928" y="3849370"/>
            <a:ext cx="185928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4DDCF"/>
                </a:solidFill>
                <a:latin typeface="Hiragino Sans GB"/>
                <a:ea typeface="Hiragino Sans GB"/>
              </a:rPr>
              <a:t>收紧移民与填补缺口之间存在张力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E5522"/>
                </a:solidFill>
                <a:latin typeface="Helvetica Neue"/>
                <a:ea typeface="Hiragino Sans GB"/>
              </a:rPr>
              <a:t>13 · 附录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323C"/>
                </a:solidFill>
                <a:latin typeface="Helvetica Neue"/>
                <a:ea typeface="Hiragino Sans GB"/>
              </a:rPr>
              <a:t>数据来源与口径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161034"/>
            <a:ext cx="1143000" cy="45720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6948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9292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16368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981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6325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8670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10144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3588" y="548640"/>
            <a:ext cx="25603" cy="146304"/>
          </a:xfrm>
          <a:prstGeom prst="rect">
            <a:avLst/>
          </a:prstGeom>
          <a:solidFill>
            <a:srgbClr val="CE5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57032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80476" y="603503"/>
            <a:ext cx="12801" cy="9144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20" y="548640"/>
            <a:ext cx="12801" cy="146304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E6A5C"/>
                </a:solidFill>
                <a:latin typeface="Hiragino Sans GB"/>
                <a:ea typeface="Hiragino Sans GB"/>
              </a:rPr>
              <a:t>荷兰就业市场 2026 · 数据解读 · 截至 2026 年 7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E6A5C"/>
                </a:solidFill>
                <a:latin typeface="Menlo"/>
                <a:ea typeface="Hiragino Sans GB"/>
              </a:rPr>
              <a:t>13 /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1462785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B0461A"/>
                </a:solidFill>
                <a:latin typeface="Menlo"/>
                <a:ea typeface="Hiragino Sans GB"/>
              </a:rPr>
              <a:t>主要来源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1865122"/>
            <a:ext cx="457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0461A"/>
                </a:solidFill>
                <a:latin typeface="Menlo"/>
                <a:ea typeface="Hiragino Sans GB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1865122"/>
            <a:ext cx="412110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323C"/>
                </a:solidFill>
                <a:latin typeface="Hiragino Sans GB"/>
                <a:ea typeface="Hiragino Sans GB"/>
              </a:rPr>
              <a:t>CBS 荷兰统计局 — 失业率 · 空缺 · 流动 · 兼职 · 收入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2176018"/>
            <a:ext cx="457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0461A"/>
                </a:solidFill>
                <a:latin typeface="Menlo"/>
                <a:ea typeface="Hiragino Sans GB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2176018"/>
            <a:ext cx="412110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323C"/>
                </a:solidFill>
                <a:latin typeface="Hiragino Sans GB"/>
                <a:ea typeface="Hiragino Sans GB"/>
              </a:rPr>
              <a:t>CPB 中央计划局 — 2026 模态收入（MEV）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2486913"/>
            <a:ext cx="457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0461A"/>
                </a:solidFill>
                <a:latin typeface="Menlo"/>
                <a:ea typeface="Hiragino Sans GB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2486913"/>
            <a:ext cx="412110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323C"/>
                </a:solidFill>
                <a:latin typeface="Hiragino Sans GB"/>
                <a:ea typeface="Hiragino Sans GB"/>
              </a:rPr>
              <a:t>IND 移民与归化局 — 高技能移民工资门槛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797809"/>
            <a:ext cx="457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0461A"/>
                </a:solidFill>
                <a:latin typeface="Menlo"/>
                <a:ea typeface="Hiragino Sans GB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797809"/>
            <a:ext cx="412110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323C"/>
                </a:solidFill>
                <a:latin typeface="Hiragino Sans GB"/>
                <a:ea typeface="Hiragino Sans GB"/>
              </a:rPr>
              <a:t>UWV 就业保险署 — 紧缺行业 · 区域紧张度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108705"/>
            <a:ext cx="457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0461A"/>
                </a:solidFill>
                <a:latin typeface="Menlo"/>
                <a:ea typeface="Hiragino Sans GB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108705"/>
            <a:ext cx="412110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323C"/>
                </a:solidFill>
                <a:latin typeface="Hiragino Sans GB"/>
                <a:ea typeface="Hiragino Sans GB"/>
              </a:rPr>
              <a:t>Government.nl · Business.gov.nl — 最低工资 · 30→27% 规则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3639057"/>
            <a:ext cx="457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0461A"/>
                </a:solidFill>
                <a:latin typeface="Menlo"/>
                <a:ea typeface="Hiragino Sans GB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3639057"/>
            <a:ext cx="412110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323C"/>
                </a:solidFill>
                <a:latin typeface="Hiragino Sans GB"/>
                <a:ea typeface="Hiragino Sans GB"/>
              </a:rPr>
              <a:t>Eurostat — 兼职就业率（欧盟口径）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3949953"/>
            <a:ext cx="457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0461A"/>
                </a:solidFill>
                <a:latin typeface="Menlo"/>
                <a:ea typeface="Hiragino Sans GB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3949953"/>
            <a:ext cx="412110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323C"/>
                </a:solidFill>
                <a:latin typeface="Hiragino Sans GB"/>
                <a:ea typeface="Hiragino Sans GB"/>
              </a:rPr>
              <a:t>麦肯锡 · Cedefop — 2030 缺口 · 2035 劳动力预测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9826" y="1462785"/>
            <a:ext cx="3468413" cy="3223514"/>
          </a:xfrm>
          <a:prstGeom prst="roundRect">
            <a:avLst>
              <a:gd name="adj" fmla="val 3403"/>
            </a:avLst>
          </a:prstGeom>
          <a:solidFill>
            <a:srgbClr val="FFFFFF"/>
          </a:solidFill>
          <a:ln w="12700">
            <a:solidFill>
              <a:srgbClr val="E7E0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65858" y="1700529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1E5B64"/>
                </a:solidFill>
                <a:latin typeface="Menlo"/>
                <a:ea typeface="Hiragino Sans GB"/>
              </a:rPr>
              <a:t>口径说明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5858" y="2130297"/>
            <a:ext cx="64008" cy="173736"/>
          </a:xfrm>
          <a:prstGeom prst="rect">
            <a:avLst/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30450" y="2102866"/>
            <a:ext cx="279175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323C"/>
                </a:solidFill>
                <a:latin typeface="Hiragino Sans GB"/>
                <a:ea typeface="Hiragino Sans GB"/>
              </a:rPr>
              <a:t>时点 vs 时期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30450" y="2377185"/>
            <a:ext cx="279175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545B"/>
                </a:solidFill>
                <a:latin typeface="Hiragino Sans GB"/>
                <a:ea typeface="Hiragino Sans GB"/>
              </a:rPr>
              <a:t>失业率为月度经季调值；空缺为季末时点数。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65858" y="2770378"/>
            <a:ext cx="64008" cy="173736"/>
          </a:xfrm>
          <a:prstGeom prst="rect">
            <a:avLst/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30450" y="2742946"/>
            <a:ext cx="279175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323C"/>
                </a:solidFill>
                <a:latin typeface="Hiragino Sans GB"/>
                <a:ea typeface="Hiragino Sans GB"/>
              </a:rPr>
              <a:t>实测 vs 预测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30450" y="3017266"/>
            <a:ext cx="279175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545B"/>
                </a:solidFill>
                <a:latin typeface="Hiragino Sans GB"/>
                <a:ea typeface="Hiragino Sans GB"/>
              </a:rPr>
              <a:t>3.9%、37.8 万、门槛为实测；140 万、+16% 为预测。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5858" y="3410458"/>
            <a:ext cx="64008" cy="173736"/>
          </a:xfrm>
          <a:prstGeom prst="rect">
            <a:avLst/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30450" y="3383026"/>
            <a:ext cx="279175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323C"/>
                </a:solidFill>
                <a:latin typeface="Hiragino Sans GB"/>
                <a:ea typeface="Hiragino Sans GB"/>
              </a:rPr>
              <a:t>含 / 不含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30450" y="3657346"/>
            <a:ext cx="279175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545B"/>
                </a:solidFill>
                <a:latin typeface="Hiragino Sans GB"/>
                <a:ea typeface="Hiragino Sans GB"/>
              </a:rPr>
              <a:t>模态年薪含 8% 假期津贴；签证门槛不含。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65858" y="4050538"/>
            <a:ext cx="64008" cy="173736"/>
          </a:xfrm>
          <a:prstGeom prst="rect">
            <a:avLst/>
          </a:prstGeom>
          <a:solidFill>
            <a:srgbClr val="2C76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30450" y="4023106"/>
            <a:ext cx="279175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323C"/>
                </a:solidFill>
                <a:latin typeface="Hiragino Sans GB"/>
                <a:ea typeface="Hiragino Sans GB"/>
              </a:rPr>
              <a:t>官方 vs 市场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30450" y="4297426"/>
            <a:ext cx="279175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545B"/>
                </a:solidFill>
                <a:latin typeface="Hiragino Sans GB"/>
                <a:ea typeface="Hiragino Sans GB"/>
              </a:rPr>
              <a:t>薪资区间取自招聘平台，非统计口径。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