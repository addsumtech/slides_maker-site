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实际值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欧委会预测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iragino Sans GB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紧张度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2020 前
均值</c:v>
                </c:pt>
                <c:pt idx="1">
                  <c:v>2022
峰值</c:v>
                </c:pt>
                <c:pt idx="2">
                  <c:v>2025
年末</c:v>
                </c:pt>
                <c:pt idx="3">
                  <c:v>2026
一季度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名义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实际（扣除通胀）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iragino Sans GB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申请量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EA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  <a:ea typeface="Hiragino Sans GB"/>
              </a:rPr>
              <a:t>圩田报告  ·  劳动力市场分析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  <a:ea typeface="Hiragino Sans GB"/>
              </a:rPr>
              <a:t>荷兰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  <a:ea typeface="Hiragino Sans GB"/>
              </a:rPr>
              <a:t>就业市场 </a:t>
            </a:r>
            <a:r>
              <a:rPr sz="5200" b="1" i="0">
                <a:solidFill>
                  <a:srgbClr val="D8542A"/>
                </a:solidFill>
                <a:latin typeface="Georgia"/>
                <a:ea typeface="Hiragino Sans GB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4A4E56"/>
                </a:solidFill>
                <a:latin typeface="Helvetica Neue"/>
                <a:ea typeface="Hiragino Sans GB"/>
              </a:rPr>
              <a:t>用数据解读一个顶端已经降温、底层依旧紧缺的就业市场。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8A8478"/>
                </a:solidFill>
                <a:latin typeface="Courier New"/>
                <a:ea typeface="Hiragino Sans GB"/>
              </a:rPr>
              <a:t>截至 2026 年 7 月 12 日   ·   来源：CBS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核心摘要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四个数字讲清整个故事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  <a:ea typeface="Hiragino Sans GB"/>
              </a:rPr>
              <a:t>就业强劲、紧张缓解、实际工资上涨——而通往海外人才的大门正悄然收窄。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失业率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  <a:ea typeface="Hiragino Sans GB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2026 年二季度 — 全欧盟最低之列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劳动力市场紧张度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每 100 名失业者对应的空缺数（2026 一季度）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协议工资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  <a:ea typeface="Hiragino Sans GB"/>
              </a:rPr>
              <a:t>+4.5%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同比，实际增长 +2.0%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女性就业率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  <a:ea typeface="Hiragino Sans GB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欧盟 27 国中最高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CBS（失业率、紧张度、工资、女性就业率）；Eurostat（欧盟平均值）。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宏观就业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从历史低位温和降温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失业率，占劳动力比重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  <a:ea typeface="Hiragino Sans GB"/>
              </a:rPr>
              <a:t>底部依然稳固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  <a:ea typeface="Hiragino Sans GB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随着增长放缓，失业率正略有回升——但起点是实实在在的低位。它远低于欧盟 6.0%、欧元区 6.2% 的平均水平。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  <a:ea typeface="Hiragino Sans GB"/>
              </a:rPr>
              <a:t>≈ 40 万</a:t>
            </a: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  人失业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占约 1,000 万劳动力（CBS，2025 四季度）。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劳动力数据；欧盟委员会预测；Eurostat（2026 年 5 月）。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劳动力市场紧张度  ·  转折点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从炽热降温——却远未宽松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每 100 名失业者对应的空缺数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  <a:ea typeface="Hiragino Sans GB"/>
              </a:rPr>
              <a:t>当下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每 100 名求职者对应的空缺——略低于持平线，已从 2022 年 142 的峰值回落，但仍是</a:t>
            </a:r>
            <a:r>
              <a:rPr sz="1250" b="1" i="0">
                <a:solidFill>
                  <a:srgbClr val="0E5C63"/>
                </a:solidFill>
                <a:latin typeface="Helvetica Neue"/>
                <a:ea typeface="Hiragino Sans GB"/>
              </a:rPr>
              <a:t>2020 年前常态的约 3 倍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（当时为 32）。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FA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  <a:ea typeface="Hiragino Sans GB"/>
              </a:rPr>
              <a:t>所以呢   </a:t>
            </a:r>
            <a:r>
              <a:rPr sz="1350" b="0" i="0">
                <a:solidFill>
                  <a:srgbClr val="20242A"/>
                </a:solidFill>
                <a:latin typeface="Helvetica Neue"/>
                <a:ea typeface="Hiragino Sans GB"/>
              </a:rPr>
              <a:t>总量上的平衡掩盖了结构性短缺：特定行业与地区依然极度缺人。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CBS（季度空缺与失业紧张比；2022 峰值与疫情前常态取自 CBS 序列）。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结构性特征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高参与、多兼职的经济体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  <a:ea typeface="Hiragino Sans GB"/>
              </a:rPr>
              <a:t>劳动参与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  <a:ea typeface="Hiragino Sans GB"/>
              </a:rPr>
              <a:t>全欧盟最高的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  <a:ea typeface="Hiragino Sans GB"/>
              </a:rPr>
              <a:t>女性就业率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女性就业率，15–74 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  <a:ea typeface="Hiragino Sans GB"/>
              </a:rPr>
              <a:t>69%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  <a:ea typeface="Hiragino Sans GB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  高于欧盟平均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  <a:ea typeface="Hiragino Sans GB"/>
              </a:rPr>
              <a:t>兼职文化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2A"/>
                </a:solidFill>
                <a:latin typeface="Georgia"/>
                <a:ea typeface="Hiragino Sans GB"/>
              </a:rPr>
              <a:t>欧洲的兼职之都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  <a:ea typeface="Hiragino Sans GB"/>
              </a:rPr>
              <a:t>约 190 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E56"/>
                </a:solidFill>
                <a:latin typeface="Helvetica Neue"/>
                <a:ea typeface="Hiragino Sans GB"/>
              </a:rPr>
              <a:t>每周工作 28–35 小时——四年间增加了 30 万人。三分之二的在职母亲从事兼职：这是紧张的市场仍可动用的工时储备。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与 Eurostat（就业率与兼职比例，2025 年）。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短缺行业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紧缺集中在哪里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即便总量在降温，UWV 仍指出五个领域存在持续的结构性短缺——2025 年底，这些领域约 45% 的空缺岗位无人填补。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医疗与社会照护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护士、护理员与专科人员——人口老龄化留下的结构性缺口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信息技术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软件开发者与数据专才高居需求榜首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技术工种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电工、机修工、安装与维护技工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教育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小学教师与理工科师资长期供不应求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运输与物流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兰斯塔德城市带的司机与物流调度员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UWV（短缺职业与空缺未填补统计，2025–2026 年）。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薪酬与工资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工资再度跑赢通胀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协议（CAO）工资涨幅，同比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  <a:ea typeface="Hiragino Sans GB"/>
              </a:rPr>
              <a:t>实际增长，已连续三年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  <a:ea typeface="Hiragino Sans GB"/>
              </a:rPr>
              <a:t>+2.0%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2026 年初协议工资上涨 4.5%——高出通胀 2.0 个百分点。家庭正实实在在地变富。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  <a:ea typeface="Hiragino Sans GB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  <a:ea typeface="Hiragino Sans GB"/>
              </a:rPr>
              <a:t>  /小时最低工资（21 岁以上）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自 2026 年 7 月 1 日起 · 平均薪酬 ≈ €5.34 万/年。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CBS（CAO 协议工资指数）；Business.gov.nl（最低工资）。2024 年数据为估算值。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薪资水平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行业之间差距悬殊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税前年薪估算，欧元/年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信息技术（中级）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€72k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€68k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金融与商业服务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€65k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全国平均（CBS）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€53k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医疗（注册护士）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€45k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住宿餐饮与零售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€33k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  <a:ea typeface="Hiragino Sans GB"/>
              </a:rPr>
              <a:t>差距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  <a:ea typeface="Hiragino Sans GB"/>
              </a:rPr>
              <a:t>科技行业的薪酬大约是住宿餐饮与零售的</a:t>
            </a:r>
            <a:r>
              <a:rPr sz="1400" b="1" i="0">
                <a:solidFill>
                  <a:srgbClr val="D8542A"/>
                </a:solidFill>
                <a:latin typeface="Helvetica Neue"/>
                <a:ea typeface="Hiragino Sans GB"/>
              </a:rPr>
              <a:t>两倍</a:t>
            </a:r>
            <a:r>
              <a:rPr sz="1300" b="0" i="0">
                <a:solidFill>
                  <a:srgbClr val="4A4E56"/>
                </a:solidFill>
                <a:latin typeface="Helvetica Neue"/>
                <a:ea typeface="Hiragino Sans GB"/>
              </a:rPr>
              <a:t>——这是两大行业间最悬殊的差距。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应读作区间而非精确点位。行业数字为招聘调研的估算中位数；€53.4k 的平均值来自 CBS。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CBS（全国平均薪资，2026 年）；行业中位数取自招聘薪酬指南——为估算值。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国际人才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高技能移民通道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kennismigrant（高技能移民）计划不设劳动力市场测试——是否合格几乎完全取决于按年龄和身份设定的税前月薪门槛（2026 年，不含 8% 假期津贴）。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高技能移民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  <a:ea typeface="Hiragino Sans GB"/>
              </a:rPr>
              <a:t>€5,942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税前 / 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30 岁及以上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高技能移民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  <a:ea typeface="Hiragino Sans GB"/>
              </a:rPr>
              <a:t>€4,357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税前 / 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30 岁以下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应届毕业生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  <a:ea typeface="Hiragino Sans GB"/>
              </a:rPr>
              <a:t>€3,122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税前 / 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求职年签证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学术研究人员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  <a:ea typeface="Hiragino Sans GB"/>
              </a:rPr>
              <a:t>€3,583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税前 / 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公立科研机构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  <a:ea typeface="Hiragino Sans GB"/>
              </a:rPr>
              <a:t>约 1 万家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  认证雇主    ·    主要来源国：</a:t>
            </a:r>
            <a:r>
              <a:rPr sz="1200" b="1" i="0">
                <a:solidFill>
                  <a:srgbClr val="20242A"/>
                </a:solidFill>
                <a:latin typeface="Helvetica Neue"/>
                <a:ea typeface="Hiragino Sans GB"/>
              </a:rPr>
              <a:t>印度、土耳其、中国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    ·    门槛每年随指数调整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IND（2026 年所需薪资标准；认证雇主名录）；OECD（国籍构成）。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政策转向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欢迎的大门正悄然收紧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30% 外籍税收优惠，逐步下调</a:t>
            </a:r>
          </a:p>
        </p:txBody>
      </p:sp>
      <p:sp>
        <p:nvSpPr>
          <p:cNvPr id="6" name="Rectangle 5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  <a:ea typeface="Hiragino Sans GB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  <a:ea typeface="Hiragino Sans GB"/>
              </a:rPr>
              <a:t>30% 免税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收入标准 €46,107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  <a:ea typeface="Hiragino Sans GB"/>
              </a:rPr>
              <a:t>2027 年 1 月 1 日  </a:t>
            </a:r>
            <a:r>
              <a:rPr sz="1300" b="1" i="0">
                <a:solidFill>
                  <a:srgbClr val="20242A"/>
                </a:solidFill>
                <a:latin typeface="Helvetica Neue"/>
                <a:ea typeface="Hiragino Sans GB"/>
              </a:rPr>
              <a:t>→ 27% 免税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标准升至 €50,436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  <a:ea typeface="Hiragino Sans GB"/>
              </a:rPr>
              <a:t>30 岁以下硕士  </a:t>
            </a:r>
            <a:r>
              <a:rPr sz="1300" b="1" i="0">
                <a:solidFill>
                  <a:srgbClr val="20242A"/>
                </a:solidFill>
                <a:latin typeface="Helvetica Neue"/>
                <a:ea typeface="Hiragino Sans GB"/>
              </a:rPr>
              <a:t>门槛提高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€35,048 → €38,388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高技能移民申请量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申请量一年内下降约 16%；2025 年非欧盟高技能人才入境进一步降至 ≈14,000 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  <a:ea typeface="Hiragino Sans GB"/>
              </a:rPr>
              <a:t>更低的税收优惠 + 更高的薪资门槛 = 一道更昂贵、更挑剔的大门。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Business.gov.nl（30%→27% 优惠与收入标准，2027 年）；IND 与 OECD（申请量与入境人数）。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地区差异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处处紧张，局部更热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每 100 名失业者对应的空缺数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乌得勒支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泽兰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荷兰（平均）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格罗宁根（复苏中）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78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  <a:ea typeface="Hiragino Sans GB"/>
              </a:rPr>
              <a:t>13/35</a:t>
            </a:r>
            <a:r>
              <a:rPr sz="1300" b="0" i="0">
                <a:solidFill>
                  <a:srgbClr val="4A4E56"/>
                </a:solidFill>
                <a:latin typeface="Helvetica Neue"/>
                <a:ea typeface="Hiragino Sans GB"/>
              </a:rPr>
              <a:t>  个地区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被列为“极度紧张”（每名求职者对应 5 个以上空缺）。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  <a:ea typeface="Hiragino Sans GB"/>
              </a:rPr>
              <a:t>兰斯塔德核心区最热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乌得勒支与中部地带的紧张度居全国之首。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  <a:ea typeface="Hiragino Sans GB"/>
              </a:rPr>
              <a:t>仅两个省保持平稳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2025 年除乌得勒支和林堡外，各地失业率普遍上升。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与 UWV（各省紧张比与 35 地区劳动力市场分类，2025–2026 年）。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  <a:ea typeface="Hiragino Sans GB"/>
              </a:rPr>
              <a:t>展望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0242A"/>
                </a:solidFill>
                <a:latin typeface="Georgia"/>
                <a:ea typeface="Hiragino Sans GB"/>
              </a:rPr>
              <a:t>顶端趋于平衡，底层依旧紧缺。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DD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  <a:ea typeface="Hiragino Sans GB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增长保持温和，失业率到 2027 年略有上升——仍处历史低位。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E1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  <a:ea typeface="Hiragino Sans GB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就业总量到 2027 年仍在增长（UWV）：是降温，而非收缩。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F9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  <a:ea typeface="Hiragino Sans GB"/>
              </a:rPr>
              <a:t>2/3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的在职母亲从事兼职；老龄化的劳动力让短缺持续紧绷。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Rabobank、欧盟委员会与 ABN AMRO（2026–27 年预测）；UWV（就业增长与再培训展望）。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  <a:ea typeface="Hiragino Sans GB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0242A"/>
                </a:solidFill>
                <a:latin typeface="Georgia"/>
                <a:ea typeface="Hiragino Sans GB"/>
              </a:rPr>
              <a:t>值得记住的五件事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  <a:ea typeface="Hiragino Sans GB"/>
              </a:rPr>
              <a:t>降温，但不疲软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空缺数如今与求职者大致持平——已从 2022 峰值回落，但仍是 2020 年前常态的约 3 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  <a:ea typeface="Hiragino Sans GB"/>
              </a:rPr>
              <a:t>短缺是结构性的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无论总量如何变化，照护、信息技术、技术工种、教育与物流始终极度缺人。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  <a:ea typeface="Hiragino Sans GB"/>
              </a:rPr>
              <a:t>工资在赢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协议工资已连续三年跑赢通胀；实际收入正在上升。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  <a:ea typeface="Hiragino Sans GB"/>
              </a:rPr>
              <a:t>大门在收窄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27% 的外籍税收优惠、更高的薪资门槛和更少的许可，使引进外籍人才更贵、更挑剔。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  <a:ea typeface="Hiragino Sans GB"/>
              </a:rPr>
              <a:t>人口结构决定底线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老龄化、多兼职的劳动力让市场持续紧张——释压阀是再培训，而非闲置。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  <a:ea typeface="Hiragino Sans GB"/>
              </a:rPr>
              <a:t>来源  ·  截至 2026 年 7 月 12 日核实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CBS — 失业率、空缺与紧张度、工资（CAO 指数）、劳动参与、平均薪资。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欧盟委员会 — 2025 年秋季预测，荷兰（2026–27 年失业率）。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Eurostat — 统一口径失业率，荷兰 vs 欧盟/欧元区（2026 年 5 月）。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UWV — 短缺职业、35 地区紧张度地图、2026–27 年就业增长展望。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IND — 2026 年高技能移民薪资门槛；认证雇主名录。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Business.gov.nl — 法定最低工资（2026 年 7 月）；30%→27% 外籍税收优惠（2027 年）。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OECD — 《2025 年国际移民展望》（许可、入境、国籍构成）。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Rabobank · ABN AMRO · DNB — 2026–27 年宏观与劳动力市场评论。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招聘薪酬指南 — 行业中位数估算（非官方统计）。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这是 slide-maker 模板库的一份示例样稿。</a:t>
            </a:r>
            <a:r>
              <a:rPr sz="1250" b="1" i="0">
                <a:solidFill>
                  <a:srgbClr val="B23F1C"/>
                </a:solidFill>
                <a:latin typeface="Helvetica Neue"/>
                <a:ea typeface="Hiragino Sans GB"/>
              </a:rPr>
              <a:t>整套视觉系统可复用——替换成你自己核实过的内容即可。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荷兰就业市场 · 2026   ·   用 slide-maker 制作的示例样稿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