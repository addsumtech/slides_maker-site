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Stand-up is one of the youngest and most exposed art forms we have — and its history is shorter and stranger than most people assume. Let's trace it from the variety stage to the phone in your pocket.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Strip stand-up down and it's almost nothing: a person, a microphone, a room. No set, no scene partner, no character to hide behind. The persona is the performer, and every joke is a small argument about how the world actually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didn't arrive fully formed. Through the late 1800s and early 1900s the solo comic was just one turn on a crowded variety bill, and comic monologue also grew out of the lecture circuit — Mark Twain among its platform humorists. Who counts as the 'first' modern stand-up is genuinely disputed; the form has many parents.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thing that changed everything was the room. As vaudeville died and television arrived in the 1950s, comedy moved into the nightclub, where a single comic could hold the stage for a whole set — and started speaking as themselves instead of doing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50s and 60s gave us the 'thinking comedians'. Mort Sahl did political satire; Lenny Bruce got arrested for pushing the limits; and Bob Newhart's debut record was the first comedy album to win the Grammy for Album of the Year. The routine became authorship.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the 70s blew it open. Richard Pryor turned his own life and pain into material, George Carlin reinvented himself as a critic of language and power, and Joan Rivers broke barriers as a woman on the front line. Comedy stopped being jokes and became autobiography and social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70s and 80s industrialized it. Dedicated clubs — the Comedy Store in LA and London, the Comedy Cellar in New York — gave comics a nightly stage, and cable carried them everywhere. Hundreds of clubs opened; then oversaturation burst the bubble in the early 90s.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your own point of view is the material, the form branches. Observational comedy of the everyday, surreal one-liners, the anti-club alternative scene, and long-form confessional storytelling — all different answers to 'how do I sound like myself?'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it went global. British alternative comedy rebooted the form in 1979, and a generation later it took root across India, the Arab world, South Africa and China — usually reinventing itself in a new language. China's 脱口秀 scene boomed, hit a hard setback in 2023, and came back in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three forces decide who gets heard: the streaming special economy, the podcast, and the short-form clip. The money at the very top is reportedly huge, but notice the core hasn't changed — it's still one person, a mic, and a room choosing whether to laugh.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every style is the same machine. A setup steers you one way; a punchline breaks it. Around that sit the tools — premise, act-out, tag, callback — but it always comes back to building an expectation and then breaking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it matter? Because one person, armed only with a point of view, can say the thing the room was afraid to. That's not small — Lenny Bruce was jailed for it, and Carlin's routine went all the way to the Supreme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history keeps repeating in miniature every night: the lights come up, someone steps to the mic, and it begins again.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" title=""/>
          <p:cNvPicPr>
            <a:picLocks noChangeAspect="1"/>
          </p:cNvPicPr>
          <p:nvPr/>
        </p:nvPicPr>
        <p:blipFill>
          <a:blip r:embed="rId2"/>
          <a:srcRect t="20076" b="20076"/>
          <a:stretch>
            <a:fillRect/>
          </a:stretch>
        </p:blipFill>
        <p:spPr>
          <a:xfrm>
            <a:off x="1901380" y="57292"/>
            <a:ext cx="6072759" cy="3634454"/>
          </a:xfrm>
          <a:prstGeom prst="rect">
            <a:avLst/>
          </a:prstGeom>
        </p:spPr>
      </p:pic>
      <p:pic>
        <p:nvPicPr>
          <p:cNvPr id="4" name="Picture 3" descr="microphone" title="micro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603504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22860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240">
                <a:solidFill>
                  <a:srgbClr val="A9792E"/>
                </a:solidFill>
                <a:latin typeface="Courier New"/>
                <a:ea typeface="Hiragino Sans GB"/>
              </a:rPr>
              <a:t>SLIDE-MAKER · GALLERY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78608"/>
            <a:ext cx="7955279" cy="1463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1E9D8"/>
                </a:solidFill>
                <a:latin typeface="Georgia"/>
                <a:ea typeface="Hiragino Sans GB"/>
              </a:rPr>
              <a:t>A Brief History of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1E9D8"/>
                </a:solidFill>
                <a:latin typeface="Georgia"/>
                <a:ea typeface="Hiragino Sans GB"/>
              </a:rPr>
              <a:t>Stand-Up Comedy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041648"/>
            <a:ext cx="1371600" cy="54864"/>
          </a:xfrm>
          <a:prstGeom prst="rect">
            <a:avLst/>
          </a:prstGeom>
          <a:solidFill>
            <a:srgbClr val="D4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224528"/>
            <a:ext cx="76809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9C9284"/>
                </a:solidFill>
                <a:latin typeface="Georgia"/>
                <a:ea typeface="Hiragino Sans GB"/>
              </a:rPr>
              <a:t>One person, a microphone, and the nerve to say it out 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718304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C9284"/>
                </a:solidFill>
                <a:latin typeface="Courier New"/>
                <a:ea typeface="Hiragino Sans GB"/>
              </a:rPr>
              <a:t>ORIGINS → THE GOLDEN AGE → GLOBAL →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6E5E46"/>
                </a:solidFill>
                <a:latin typeface="Courier New"/>
                <a:ea typeface="Hiragino Sans GB"/>
              </a:rPr>
              <a:t>THE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211A"/>
                </a:solidFill>
                <a:latin typeface="Georgia"/>
                <a:ea typeface="Hiragino Sans GB"/>
              </a:rPr>
              <a:t>One voice, no 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6688"/>
            <a:ext cx="1188720" cy="45720"/>
          </a:xfrm>
          <a:prstGeom prst="rect">
            <a:avLst/>
          </a:prstGeom>
          <a:solidFill>
            <a:srgbClr val="B0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81381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4211A"/>
                </a:solidFill>
                <a:latin typeface="Georgia"/>
                <a:ea typeface="Hiragino Sans GB"/>
              </a:rPr>
              <a:t>A single performer speaks </a:t>
            </a:r>
            <a:r>
              <a:rPr sz="1800" b="1" i="0">
                <a:solidFill>
                  <a:srgbClr val="B02E24"/>
                </a:solidFill>
                <a:latin typeface="Georgia"/>
                <a:ea typeface="Hiragino Sans GB"/>
              </a:rPr>
              <a:t>directly to the room</a:t>
            </a:r>
            <a:r>
              <a:rPr sz="1800" b="0" i="0">
                <a:solidFill>
                  <a:srgbClr val="24211A"/>
                </a:solidFill>
                <a:latin typeface="Georgia"/>
                <a:ea typeface="Hiragino Sans GB"/>
              </a:rPr>
              <a:t> in their own voice — building an expectation, then breaking it for a laugh.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487168"/>
            <a:ext cx="1097280" cy="36576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2743200"/>
            <a:ext cx="548640" cy="548640"/>
          </a:xfrm>
          <a:prstGeom prst="ellipse">
            <a:avLst/>
          </a:prstGeom>
          <a:solidFill>
            <a:srgbClr val="F7F1E4"/>
          </a:solidFill>
          <a:ln w="17780">
            <a:solidFill>
              <a:srgbClr val="B0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bler_user_B02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" y="2885846"/>
            <a:ext cx="263347" cy="2633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3438144"/>
            <a:ext cx="25603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211A"/>
                </a:solidFill>
                <a:latin typeface="Georgia"/>
                <a:ea typeface="Hiragino Sans GB"/>
              </a:rPr>
              <a:t>A person, not a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22191"/>
            <a:ext cx="2560319" cy="6629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271"/>
                </a:solidFill>
                <a:latin typeface="Arial"/>
                <a:ea typeface="Hiragino Sans GB"/>
              </a:rPr>
              <a:t>The comic is the persona.</a:t>
            </a:r>
          </a:p>
        </p:txBody>
      </p:sp>
      <p:sp>
        <p:nvSpPr>
          <p:cNvPr id="12" name="Oval 11"/>
          <p:cNvSpPr/>
          <p:nvPr/>
        </p:nvSpPr>
        <p:spPr>
          <a:xfrm>
            <a:off x="3291839" y="2743200"/>
            <a:ext cx="548640" cy="548640"/>
          </a:xfrm>
          <a:prstGeom prst="ellipse">
            <a:avLst/>
          </a:prstGeom>
          <a:solidFill>
            <a:srgbClr val="F7F1E4"/>
          </a:solidFill>
          <a:ln w="17780">
            <a:solidFill>
              <a:srgbClr val="B0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bler_microphone-2_B02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486" y="2885846"/>
            <a:ext cx="263347" cy="2633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91839" y="3438144"/>
            <a:ext cx="25603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211A"/>
                </a:solidFill>
                <a:latin typeface="Georgia"/>
                <a:ea typeface="Hiragino Sans GB"/>
              </a:rPr>
              <a:t>A mic, a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3822191"/>
            <a:ext cx="2560319" cy="6629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271"/>
                </a:solidFill>
                <a:latin typeface="Arial"/>
                <a:ea typeface="Hiragino Sans GB"/>
              </a:rPr>
              <a:t>No sets, no scene partners.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19" y="2743200"/>
            <a:ext cx="548640" cy="548640"/>
          </a:xfrm>
          <a:prstGeom prst="ellipse">
            <a:avLst/>
          </a:prstGeom>
          <a:solidFill>
            <a:srgbClr val="F7F1E4"/>
          </a:solidFill>
          <a:ln w="17780">
            <a:solidFill>
              <a:srgbClr val="B0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abler_bulb_B02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566" y="2885846"/>
            <a:ext cx="263347" cy="2633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919" y="3438144"/>
            <a:ext cx="25603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211A"/>
                </a:solidFill>
                <a:latin typeface="Georgia"/>
                <a:ea typeface="Hiragino Sans GB"/>
              </a:rPr>
              <a:t>A point of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3822191"/>
            <a:ext cx="2560319" cy="6629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271"/>
                </a:solidFill>
                <a:latin typeface="Arial"/>
                <a:ea typeface="Hiragino Sans GB"/>
              </a:rPr>
              <a:t>Every joke makes an argument.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271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8271"/>
                </a:solidFill>
                <a:latin typeface="Courier New"/>
                <a:ea typeface="Hiragino Sans GB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6E5E46"/>
                </a:solidFill>
                <a:latin typeface="Courier New"/>
                <a:ea typeface="Hiragino Sans GB"/>
              </a:rPr>
              <a:t>ORIGINS · 1850S–1930S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211A"/>
                </a:solidFill>
                <a:latin typeface="Georgia"/>
                <a:ea typeface="Hiragino Sans GB"/>
              </a:rPr>
              <a:t>Before it had a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6688"/>
            <a:ext cx="1188720" cy="45720"/>
          </a:xfrm>
          <a:prstGeom prst="rect">
            <a:avLst/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97880" y="182880"/>
            <a:ext cx="3154680" cy="8961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1" i="0">
                <a:solidFill>
                  <a:srgbClr val="E7DAC0"/>
                </a:solidFill>
                <a:latin typeface="Georgia"/>
                <a:ea typeface="Hiragino Sans GB"/>
              </a:rPr>
              <a:t>1900s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8521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B8271"/>
                </a:solidFill>
                <a:latin typeface="Georgia"/>
                <a:ea typeface="Hiragino Sans GB"/>
              </a:rPr>
              <a:t>The solo comic surfaced slowly — one turn on the variety bill, heir to the humorists of the lecture hall.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982980" y="2869387"/>
            <a:ext cx="7178040" cy="21945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0684" y="27980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" y="3044952"/>
            <a:ext cx="18745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8271"/>
                </a:solidFill>
                <a:latin typeface="Arial"/>
                <a:ea typeface="Hiragino Sans GB"/>
              </a:rPr>
              <a:t>1850s–1918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" y="3337560"/>
            <a:ext cx="18745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Arial"/>
                <a:ea typeface="Hiragino Sans GB"/>
              </a:rPr>
              <a:t>British music hall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" y="3593592"/>
            <a:ext cx="2057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Arial"/>
                <a:ea typeface="Hiragino Sans GB"/>
              </a:rPr>
              <a:t>Songs &amp; patter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3364" y="27980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8400" y="3044952"/>
            <a:ext cx="18745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8271"/>
                </a:solidFill>
                <a:latin typeface="Arial"/>
                <a:ea typeface="Hiragino Sans GB"/>
              </a:rPr>
              <a:t>1880s–1930s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8400" y="3337560"/>
            <a:ext cx="18745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Arial"/>
                <a:ea typeface="Hiragino Sans GB"/>
              </a:rPr>
              <a:t>American vaudeville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6960" y="3593592"/>
            <a:ext cx="2057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Arial"/>
                <a:ea typeface="Hiragino Sans GB"/>
              </a:rPr>
              <a:t>The variety circuit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86044" y="27980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1080" y="3044952"/>
            <a:ext cx="18745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8271"/>
                </a:solidFill>
                <a:latin typeface="Arial"/>
                <a:ea typeface="Hiragino Sans GB"/>
              </a:rPr>
              <a:t>from 1860s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1080" y="3337560"/>
            <a:ext cx="18745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Arial"/>
                <a:ea typeface="Hiragino Sans GB"/>
              </a:rPr>
              <a:t>The lecture circuit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9640" y="3593592"/>
            <a:ext cx="2057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Arial"/>
                <a:ea typeface="Hiragino Sans GB"/>
              </a:rPr>
              <a:t>Twain &amp; platform wits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8723" y="27980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3044952"/>
            <a:ext cx="18745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9792E"/>
                </a:solidFill>
                <a:latin typeface="Arial"/>
                <a:ea typeface="Hiragino Sans GB"/>
              </a:rPr>
              <a:t>late 1800s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3337560"/>
            <a:ext cx="18745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Arial"/>
                <a:ea typeface="Hiragino Sans GB"/>
              </a:rPr>
              <a:t>The solo monologue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593592"/>
            <a:ext cx="2057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Arial"/>
                <a:ea typeface="Hiragino Sans GB"/>
              </a:rPr>
              <a:t>Charley Case, credited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24528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8B8271"/>
                </a:solidFill>
                <a:latin typeface="Arial"/>
                <a:ea typeface="Hiragino Sans GB"/>
              </a:rPr>
              <a:t>Who counts as the </a:t>
            </a:r>
            <a:r>
              <a:rPr sz="1100" b="1" i="1">
                <a:solidFill>
                  <a:srgbClr val="B02E24"/>
                </a:solidFill>
                <a:latin typeface="Arial"/>
                <a:ea typeface="Hiragino Sans GB"/>
              </a:rPr>
              <a:t>first</a:t>
            </a:r>
            <a:r>
              <a:rPr sz="1100" b="0" i="1">
                <a:solidFill>
                  <a:srgbClr val="8B8271"/>
                </a:solidFill>
                <a:latin typeface="Arial"/>
                <a:ea typeface="Hiragino Sans GB"/>
              </a:rPr>
              <a:t> modern stand-up is disputed — the form has many parents.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271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8271"/>
                </a:solidFill>
                <a:latin typeface="Courier New"/>
                <a:ea typeface="Hiragino Sans GB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6E5E46"/>
                </a:solidFill>
                <a:latin typeface="Courier New"/>
                <a:ea typeface="Hiragino Sans GB"/>
              </a:rPr>
              <a:t>THE MODERN FORM · 1950S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211A"/>
                </a:solidFill>
                <a:latin typeface="Georgia"/>
                <a:ea typeface="Hiragino Sans GB"/>
              </a:rPr>
              <a:t>The nightclub changes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6688"/>
            <a:ext cx="1188720" cy="45720"/>
          </a:xfrm>
          <a:prstGeom prst="rect">
            <a:avLst/>
          </a:prstGeom>
          <a:solidFill>
            <a:srgbClr val="B0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81381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B8271"/>
                </a:solidFill>
                <a:latin typeface="Georgia"/>
                <a:ea typeface="Hiragino Sans GB"/>
              </a:rPr>
              <a:t>As vaudeville faded and TV arrived, comedy moved into the nightclub — where one comic could hold the stage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B0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2E24"/>
                </a:solidFill>
                <a:latin typeface="Arial"/>
                <a:ea typeface="Hiragino Sans GB"/>
              </a:rPr>
              <a:t>THE SHIFT  </a:t>
            </a:r>
            <a:r>
              <a:rPr sz="1250" b="0" i="0">
                <a:solidFill>
                  <a:srgbClr val="24211A"/>
                </a:solidFill>
                <a:latin typeface="Arial"/>
                <a:ea typeface="Hiragino Sans GB"/>
              </a:rPr>
              <a:t>The unit of comedy stops being the joke and becomes the comedian.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12848"/>
            <a:ext cx="3680459" cy="1527048"/>
          </a:xfrm>
          <a:prstGeom prst="roundRect">
            <a:avLst>
              <a:gd name="adj" fmla="val 5988"/>
            </a:avLst>
          </a:prstGeom>
          <a:solidFill>
            <a:srgbClr val="EDE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414016"/>
            <a:ext cx="322325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6E5E46"/>
                </a:solidFill>
                <a:latin typeface="Courier New"/>
                <a:ea typeface="Hiragino Sans GB"/>
              </a:rPr>
              <a:t>BEFORE — THE VARIETY 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43784"/>
            <a:ext cx="73152" cy="73152"/>
          </a:xfrm>
          <a:prstGeom prst="rect">
            <a:avLst/>
          </a:prstGeom>
          <a:solidFill>
            <a:srgbClr val="8B8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70632"/>
            <a:ext cx="29489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211A"/>
                </a:solidFill>
                <a:latin typeface="Arial"/>
                <a:ea typeface="Hiragino Sans GB"/>
              </a:rPr>
              <a:t>A slot on a crowded bill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95244"/>
            <a:ext cx="73152" cy="73152"/>
          </a:xfrm>
          <a:prstGeom prst="rect">
            <a:avLst/>
          </a:prstGeom>
          <a:solidFill>
            <a:srgbClr val="8B8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22092"/>
            <a:ext cx="29489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211A"/>
                </a:solidFill>
                <a:latin typeface="Arial"/>
                <a:ea typeface="Hiragino Sans GB"/>
              </a:rPr>
              <a:t>Rapid-fire gags &amp; props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46703"/>
            <a:ext cx="73152" cy="73152"/>
          </a:xfrm>
          <a:prstGeom prst="rect">
            <a:avLst/>
          </a:prstGeom>
          <a:solidFill>
            <a:srgbClr val="8B8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73552"/>
            <a:ext cx="29489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211A"/>
                </a:solidFill>
                <a:latin typeface="Arial"/>
                <a:ea typeface="Hiragino Sans GB"/>
              </a:rPr>
              <a:t>A character or a costume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7779" y="2212848"/>
            <a:ext cx="3680459" cy="1527048"/>
          </a:xfrm>
          <a:prstGeom prst="roundRect">
            <a:avLst>
              <a:gd name="adj" fmla="val 5988"/>
            </a:avLst>
          </a:prstGeom>
          <a:solidFill>
            <a:srgbClr val="1A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3812" y="2414016"/>
            <a:ext cx="322325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A9792E"/>
                </a:solidFill>
                <a:latin typeface="Courier New"/>
                <a:ea typeface="Hiragino Sans GB"/>
              </a:rPr>
              <a:t>AFTER — THE SOLO VOICE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72099" y="2843784"/>
            <a:ext cx="73152" cy="73152"/>
          </a:xfrm>
          <a:prstGeom prst="rect">
            <a:avLst/>
          </a:prstGeom>
          <a:solidFill>
            <a:srgbClr val="D4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4979" y="2770632"/>
            <a:ext cx="29489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9D8"/>
                </a:solidFill>
                <a:latin typeface="Arial"/>
                <a:ea typeface="Hiragino Sans GB"/>
              </a:rPr>
              <a:t>One comic, the whole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72099" y="3095244"/>
            <a:ext cx="73152" cy="73152"/>
          </a:xfrm>
          <a:prstGeom prst="rect">
            <a:avLst/>
          </a:prstGeom>
          <a:solidFill>
            <a:srgbClr val="D4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4979" y="3022092"/>
            <a:ext cx="29489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9D8"/>
                </a:solidFill>
                <a:latin typeface="Arial"/>
                <a:ea typeface="Hiragino Sans GB"/>
              </a:rPr>
              <a:t>Longer, personal routines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72099" y="3346703"/>
            <a:ext cx="73152" cy="73152"/>
          </a:xfrm>
          <a:prstGeom prst="rect">
            <a:avLst/>
          </a:prstGeom>
          <a:solidFill>
            <a:srgbClr val="D4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4979" y="3273552"/>
            <a:ext cx="29489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9D8"/>
                </a:solidFill>
                <a:latin typeface="Arial"/>
                <a:ea typeface="Hiragino Sans GB"/>
              </a:rPr>
              <a:t>Speaking as themselves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315968" y="2848356"/>
            <a:ext cx="51206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0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271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8271"/>
                </a:solidFill>
                <a:latin typeface="Courier New"/>
                <a:ea typeface="Hiragino Sans GB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6E5E46"/>
                </a:solidFill>
                <a:latin typeface="Courier New"/>
                <a:ea typeface="Hiragino Sans GB"/>
              </a:rPr>
              <a:t>THE GOLDEN AGE · 1950S–1960S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211A"/>
                </a:solidFill>
                <a:latin typeface="Georgia"/>
                <a:ea typeface="Hiragino Sans GB"/>
              </a:rPr>
              <a:t>The thinking comedians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6688"/>
            <a:ext cx="1188720" cy="45720"/>
          </a:xfrm>
          <a:prstGeom prst="rect">
            <a:avLst/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81381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B8271"/>
                </a:solidFill>
                <a:latin typeface="Georgia"/>
                <a:ea typeface="Hiragino Sans GB"/>
              </a:rPr>
              <a:t>Literate, political, neurotic — a new wave turned the comedy LP into a hit format, and the routine into authorship.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03120"/>
            <a:ext cx="2560319" cy="2382012"/>
          </a:xfrm>
          <a:prstGeom prst="roundRect">
            <a:avLst>
              <a:gd name="adj" fmla="val 8000"/>
            </a:avLst>
          </a:prstGeom>
          <a:solidFill>
            <a:srgbClr val="F8F2E5"/>
          </a:solidFill>
          <a:ln w="1397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340863"/>
            <a:ext cx="457200" cy="457200"/>
          </a:xfrm>
          <a:prstGeom prst="ellipse">
            <a:avLst/>
          </a:prstGeom>
          <a:solidFill>
            <a:srgbClr val="EF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bler_vinyl_A979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459735"/>
            <a:ext cx="219456" cy="2194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719071" y="2395727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1" y="2395727"/>
            <a:ext cx="932688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  <a:ea typeface="Hiragino Sans GB"/>
              </a:rPr>
              <a:t>from 1953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962656"/>
            <a:ext cx="21031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4211A"/>
                </a:solidFill>
                <a:latin typeface="Georgia"/>
                <a:ea typeface="Hiragino Sans GB"/>
              </a:rPr>
              <a:t>Mort Sahl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383279"/>
            <a:ext cx="2103119" cy="9646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271"/>
                </a:solidFill>
                <a:latin typeface="Arial"/>
                <a:ea typeface="Hiragino Sans GB"/>
              </a:rPr>
              <a:t>Political satire, delivered like a newspaper column.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39" y="2103120"/>
            <a:ext cx="2560319" cy="2382012"/>
          </a:xfrm>
          <a:prstGeom prst="roundRect">
            <a:avLst>
              <a:gd name="adj" fmla="val 8000"/>
            </a:avLst>
          </a:prstGeom>
          <a:solidFill>
            <a:srgbClr val="F8F2E5"/>
          </a:solidFill>
          <a:ln w="1397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3" y="2340863"/>
            <a:ext cx="457200" cy="457200"/>
          </a:xfrm>
          <a:prstGeom prst="ellipse">
            <a:avLst/>
          </a:prstGeom>
          <a:solidFill>
            <a:srgbClr val="EF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abler_vinyl_A979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5" y="2459735"/>
            <a:ext cx="219456" cy="21945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45151" y="2395727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1" y="2395727"/>
            <a:ext cx="932688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  <a:ea typeface="Hiragino Sans GB"/>
              </a:rPr>
              <a:t>early 1960s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3" y="2962656"/>
            <a:ext cx="21031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4211A"/>
                </a:solidFill>
                <a:latin typeface="Georgia"/>
                <a:ea typeface="Hiragino Sans GB"/>
              </a:rPr>
              <a:t>Lenny Bruce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3" y="3383279"/>
            <a:ext cx="2103119" cy="9646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271"/>
                </a:solidFill>
                <a:latin typeface="Arial"/>
                <a:ea typeface="Hiragino Sans GB"/>
              </a:rPr>
              <a:t>Confessional, profane, arrested again and again.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19" y="2103120"/>
            <a:ext cx="2560319" cy="2382012"/>
          </a:xfrm>
          <a:prstGeom prst="roundRect">
            <a:avLst>
              <a:gd name="adj" fmla="val 8000"/>
            </a:avLst>
          </a:prstGeom>
          <a:solidFill>
            <a:srgbClr val="F8F2E5"/>
          </a:solidFill>
          <a:ln w="1397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5663" y="2340863"/>
            <a:ext cx="457200" cy="457200"/>
          </a:xfrm>
          <a:prstGeom prst="ellipse">
            <a:avLst/>
          </a:prstGeom>
          <a:solidFill>
            <a:srgbClr val="EF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bler_vinyl_A979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5" y="2459735"/>
            <a:ext cx="219456" cy="21945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571231" y="2395727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2395727"/>
            <a:ext cx="932688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  <a:ea typeface="Hiragino Sans GB"/>
              </a:rPr>
              <a:t>1960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3" y="2962656"/>
            <a:ext cx="21031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4211A"/>
                </a:solidFill>
                <a:latin typeface="Georgia"/>
                <a:ea typeface="Hiragino Sans GB"/>
              </a:rPr>
              <a:t>Bob Newhart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3" y="3383279"/>
            <a:ext cx="2103119" cy="9646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271"/>
                </a:solidFill>
                <a:latin typeface="Arial"/>
                <a:ea typeface="Hiragino Sans GB"/>
              </a:rPr>
              <a:t>First comedy album to win the Grammy for Album of the Year.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271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8271"/>
                </a:solidFill>
                <a:latin typeface="Courier New"/>
                <a:ea typeface="Hiragino Sans GB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" title=""/>
          <p:cNvPicPr>
            <a:picLocks noChangeAspect="1"/>
          </p:cNvPicPr>
          <p:nvPr/>
        </p:nvPicPr>
        <p:blipFill>
          <a:blip r:embed="rId2"/>
          <a:srcRect t="15517" b="15517"/>
          <a:stretch>
            <a:fillRect/>
          </a:stretch>
        </p:blipFill>
        <p:spPr>
          <a:xfrm>
            <a:off x="290893" y="194310"/>
            <a:ext cx="5270373" cy="3634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93776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A9792E"/>
                </a:solidFill>
                <a:latin typeface="Courier New"/>
                <a:ea typeface="Hiragino Sans GB"/>
              </a:rPr>
              <a:t>THE REVOLUTION · LATE 1960S–1970S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1E9D8"/>
                </a:solidFill>
                <a:latin typeface="Georgia"/>
                <a:ea typeface="Hiragino Sans GB"/>
              </a:rPr>
              <a:t>From joke-teller to truth-teller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188720" cy="45720"/>
          </a:xfrm>
          <a:prstGeom prst="rect">
            <a:avLst/>
          </a:prstGeom>
          <a:solidFill>
            <a:srgbClr val="D4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813816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9284"/>
                </a:solidFill>
                <a:latin typeface="Georgia"/>
                <a:ea typeface="Hiragino Sans GB"/>
              </a:rPr>
              <a:t>A new generation made the act </a:t>
            </a:r>
            <a:r>
              <a:rPr sz="1400" b="1" i="0">
                <a:solidFill>
                  <a:srgbClr val="D4402E"/>
                </a:solidFill>
                <a:latin typeface="Georgia"/>
                <a:ea typeface="Hiragino Sans GB"/>
              </a:rPr>
              <a:t>personal, confrontational and their own</a:t>
            </a:r>
            <a:r>
              <a:rPr sz="1400" b="0" i="0">
                <a:solidFill>
                  <a:srgbClr val="9C9284"/>
                </a:solidFill>
                <a:latin typeface="Georgia"/>
                <a:ea typeface="Hiragino Sans GB"/>
              </a:rPr>
              <a:t> — comedy as autobiography and argument.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24327"/>
            <a:ext cx="91440" cy="91440"/>
          </a:xfrm>
          <a:prstGeom prst="rect">
            <a:avLst/>
          </a:prstGeom>
          <a:solidFill>
            <a:srgbClr val="D4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532888"/>
            <a:ext cx="28346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1E9D8"/>
                </a:solidFill>
                <a:latin typeface="Georgia"/>
                <a:ea typeface="Hiragino Sans GB"/>
              </a:rPr>
              <a:t>Richard Pryor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51176"/>
            <a:ext cx="502920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C9284"/>
                </a:solidFill>
                <a:latin typeface="Arial"/>
                <a:ea typeface="Hiragino Sans GB"/>
              </a:rPr>
              <a:t>Confessional comedy drawn from his own life, race and pain.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282696"/>
            <a:ext cx="91440" cy="91440"/>
          </a:xfrm>
          <a:prstGeom prst="rect">
            <a:avLst/>
          </a:prstGeom>
          <a:solidFill>
            <a:srgbClr val="D4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191256"/>
            <a:ext cx="28346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1E9D8"/>
                </a:solidFill>
                <a:latin typeface="Georgia"/>
                <a:ea typeface="Hiragino Sans GB"/>
              </a:rPr>
              <a:t>George Carlin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09544"/>
            <a:ext cx="502920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C9284"/>
                </a:solidFill>
                <a:latin typeface="Arial"/>
                <a:ea typeface="Hiragino Sans GB"/>
              </a:rPr>
              <a:t>Reinvented himself as a countercultural critic of language and power.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941063"/>
            <a:ext cx="91440" cy="91440"/>
          </a:xfrm>
          <a:prstGeom prst="rect">
            <a:avLst/>
          </a:prstGeom>
          <a:solidFill>
            <a:srgbClr val="D4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849624"/>
            <a:ext cx="28346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1E9D8"/>
                </a:solidFill>
                <a:latin typeface="Georgia"/>
                <a:ea typeface="Hiragino Sans GB"/>
              </a:rPr>
              <a:t>Joan 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867911"/>
            <a:ext cx="502920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C9284"/>
                </a:solidFill>
                <a:latin typeface="Arial"/>
                <a:ea typeface="Hiragino Sans GB"/>
              </a:rPr>
              <a:t>Broke barriers as a woman working the front line of the 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C9284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84"/>
                </a:solidFill>
                <a:latin typeface="Courier New"/>
                <a:ea typeface="Hiragino Sans GB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6E5E46"/>
                </a:solidFill>
                <a:latin typeface="Courier New"/>
                <a:ea typeface="Hiragino Sans GB"/>
              </a:rPr>
              <a:t>THE BOOM · 1972–1992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211A"/>
                </a:solidFill>
                <a:latin typeface="Georgia"/>
                <a:ea typeface="Hiragino Sans GB"/>
              </a:rPr>
              <a:t>The clubs, then the cameras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6688"/>
            <a:ext cx="1188720" cy="45720"/>
          </a:xfrm>
          <a:prstGeom prst="rect">
            <a:avLst/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81381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B8271"/>
                </a:solidFill>
                <a:latin typeface="Georgia"/>
                <a:ea typeface="Hiragino Sans GB"/>
              </a:rPr>
              <a:t>Dedicated comedy clubs gave comics a nightly stage; cable carried them into every living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57907"/>
            <a:ext cx="7498079" cy="21945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0664" y="23865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2633472"/>
            <a:ext cx="1554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9792E"/>
                </a:solidFill>
                <a:latin typeface="Arial"/>
                <a:ea typeface="Hiragino Sans GB"/>
              </a:rPr>
              <a:t>1972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2926080"/>
            <a:ext cx="1554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Arial"/>
                <a:ea typeface="Hiragino Sans GB"/>
              </a:rPr>
              <a:t>Comedy Store 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5184" y="23865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39" y="2633472"/>
            <a:ext cx="1554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9792E"/>
                </a:solidFill>
                <a:latin typeface="Arial"/>
                <a:ea typeface="Hiragino Sans GB"/>
              </a:rPr>
              <a:t>1979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39" y="2926080"/>
            <a:ext cx="1554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Arial"/>
                <a:ea typeface="Hiragino Sans GB"/>
              </a:rPr>
              <a:t>Store, London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23865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633472"/>
            <a:ext cx="1554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9792E"/>
                </a:solidFill>
                <a:latin typeface="Arial"/>
                <a:ea typeface="Hiragino Sans GB"/>
              </a:rPr>
              <a:t>1982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926080"/>
            <a:ext cx="1554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Arial"/>
                <a:ea typeface="Hiragino Sans GB"/>
              </a:rPr>
              <a:t>Comedy Cellar NYC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3865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633472"/>
            <a:ext cx="1554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9792E"/>
                </a:solidFill>
                <a:latin typeface="Arial"/>
                <a:ea typeface="Hiragino Sans GB"/>
              </a:rPr>
              <a:t>1983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926080"/>
            <a:ext cx="1554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Arial"/>
                <a:ea typeface="Hiragino Sans GB"/>
              </a:rPr>
              <a:t>Murphy: Delirious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38744" y="23865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633472"/>
            <a:ext cx="1554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9792E"/>
                </a:solidFill>
                <a:latin typeface="Arial"/>
                <a:ea typeface="Hiragino Sans GB"/>
              </a:rPr>
              <a:t>1992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926080"/>
            <a:ext cx="15544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Arial"/>
                <a:ea typeface="Hiragino Sans GB"/>
              </a:rPr>
              <a:t>Def Comedy Jam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26763"/>
            <a:ext cx="8046720" cy="722376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84554"/>
            <a:ext cx="64008" cy="606795"/>
          </a:xfrm>
          <a:prstGeom prst="rect">
            <a:avLst/>
          </a:prstGeom>
          <a:solidFill>
            <a:srgbClr val="B0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826763"/>
            <a:ext cx="7644384" cy="7223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2E24"/>
                </a:solidFill>
                <a:latin typeface="Arial"/>
                <a:ea typeface="Hiragino Sans GB"/>
              </a:rPr>
              <a:t>BOOM &amp; BUST  </a:t>
            </a:r>
            <a:r>
              <a:rPr sz="1250" b="0" i="0">
                <a:solidFill>
                  <a:srgbClr val="24211A"/>
                </a:solidFill>
                <a:latin typeface="Arial"/>
                <a:ea typeface="Hiragino Sans GB"/>
              </a:rPr>
              <a:t>By the late 1980s the U.S. had hundreds of clubs; oversaturation caved the circuit in the early 1990s.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271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8271"/>
                </a:solidFill>
                <a:latin typeface="Courier New"/>
                <a:ea typeface="Hiragino Sans GB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6E5E46"/>
                </a:solidFill>
                <a:latin typeface="Courier New"/>
                <a:ea typeface="Hiragino Sans GB"/>
              </a:rPr>
              <a:t>STYLE · 1980S–2000S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211A"/>
                </a:solidFill>
                <a:latin typeface="Georgia"/>
                <a:ea typeface="Hiragino Sans GB"/>
              </a:rPr>
              <a:t>The voice branches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6688"/>
            <a:ext cx="1188720" cy="45720"/>
          </a:xfrm>
          <a:prstGeom prst="rect">
            <a:avLst/>
          </a:prstGeom>
          <a:solidFill>
            <a:srgbClr val="B0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1381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B8271"/>
                </a:solidFill>
                <a:latin typeface="Georgia"/>
                <a:ea typeface="Hiragino Sans GB"/>
              </a:rPr>
              <a:t>Once the comic's own view was the material, the form split into schools — each an answer to “how do I sound like myself?”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874519"/>
            <a:ext cx="2651760" cy="548640"/>
          </a:xfrm>
          <a:prstGeom prst="roundRect">
            <a:avLst>
              <a:gd name="adj" fmla="val 20000"/>
            </a:avLst>
          </a:prstGeom>
          <a:solidFill>
            <a:srgbClr val="1A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874519"/>
            <a:ext cx="2651760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E9D8"/>
                </a:solidFill>
                <a:latin typeface="Georgia"/>
                <a:ea typeface="Hiragino Sans GB"/>
              </a:rPr>
              <a:t>A single point of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4684" y="2423160"/>
            <a:ext cx="14630" cy="210311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14450" y="2626156"/>
            <a:ext cx="6515099" cy="14630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07134" y="2633472"/>
            <a:ext cx="14630" cy="219456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852928"/>
            <a:ext cx="1897379" cy="1540764"/>
          </a:xfrm>
          <a:prstGeom prst="roundRect">
            <a:avLst>
              <a:gd name="adj" fmla="val 8000"/>
            </a:avLst>
          </a:prstGeom>
          <a:solidFill>
            <a:srgbClr val="F8F2E5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8418" y="3035808"/>
            <a:ext cx="512064" cy="512064"/>
          </a:xfrm>
          <a:prstGeom prst="ellipse">
            <a:avLst/>
          </a:prstGeom>
          <a:solidFill>
            <a:srgbClr val="EF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abler_eye_A979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54" y="3168944"/>
            <a:ext cx="245790" cy="24579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0624" y="3602736"/>
            <a:ext cx="1787651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Georgia"/>
                <a:ea typeface="Hiragino Sans GB"/>
              </a:rPr>
              <a:t>Observational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95344"/>
            <a:ext cx="171449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271"/>
                </a:solidFill>
                <a:latin typeface="Arial"/>
                <a:ea typeface="Hiragino Sans GB"/>
              </a:rPr>
              <a:t>Everyday detail (Seinfeld)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8834" y="2633472"/>
            <a:ext cx="14630" cy="219456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37459" y="2852928"/>
            <a:ext cx="1897379" cy="1540764"/>
          </a:xfrm>
          <a:prstGeom prst="roundRect">
            <a:avLst>
              <a:gd name="adj" fmla="val 8000"/>
            </a:avLst>
          </a:prstGeom>
          <a:solidFill>
            <a:srgbClr val="F8F2E5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30117" y="3035808"/>
            <a:ext cx="512064" cy="512064"/>
          </a:xfrm>
          <a:prstGeom prst="ellipse">
            <a:avLst/>
          </a:prstGeom>
          <a:solidFill>
            <a:srgbClr val="EF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abler_bolt_2E6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254" y="3168944"/>
            <a:ext cx="245790" cy="2457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92323" y="3602736"/>
            <a:ext cx="1787651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Georgia"/>
                <a:ea typeface="Hiragino Sans GB"/>
              </a:rPr>
              <a:t>One-liners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8899" y="3895344"/>
            <a:ext cx="171449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271"/>
                </a:solidFill>
                <a:latin typeface="Arial"/>
                <a:ea typeface="Hiragino Sans GB"/>
              </a:rPr>
              <a:t>Surreal &amp; compressed — Wright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534" y="2633472"/>
            <a:ext cx="14630" cy="219456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09159" y="2852928"/>
            <a:ext cx="1897379" cy="1540764"/>
          </a:xfrm>
          <a:prstGeom prst="roundRect">
            <a:avLst>
              <a:gd name="adj" fmla="val 8000"/>
            </a:avLst>
          </a:prstGeom>
          <a:solidFill>
            <a:srgbClr val="F8F2E5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01817" y="3035808"/>
            <a:ext cx="512064" cy="512064"/>
          </a:xfrm>
          <a:prstGeom prst="ellipse">
            <a:avLst/>
          </a:prstGeom>
          <a:solidFill>
            <a:srgbClr val="EF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abler_arrows-shuffle_7A4A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954" y="3168944"/>
            <a:ext cx="245790" cy="24579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64023" y="3602736"/>
            <a:ext cx="1787651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Georgia"/>
                <a:ea typeface="Hiragino Sans GB"/>
              </a:rPr>
              <a:t>Alternative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599" y="3895344"/>
            <a:ext cx="171449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271"/>
                </a:solidFill>
                <a:latin typeface="Arial"/>
                <a:ea typeface="Hiragino Sans GB"/>
              </a:rPr>
              <a:t>Anti-club experiment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2234" y="2633472"/>
            <a:ext cx="14630" cy="219456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80859" y="2852928"/>
            <a:ext cx="1897379" cy="1540764"/>
          </a:xfrm>
          <a:prstGeom prst="roundRect">
            <a:avLst>
              <a:gd name="adj" fmla="val 8000"/>
            </a:avLst>
          </a:prstGeom>
          <a:solidFill>
            <a:srgbClr val="F8F2E5"/>
          </a:solidFill>
          <a:ln w="1270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73517" y="3035808"/>
            <a:ext cx="512064" cy="512064"/>
          </a:xfrm>
          <a:prstGeom prst="ellipse">
            <a:avLst/>
          </a:prstGeom>
          <a:solidFill>
            <a:srgbClr val="EF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abler_book-2_4E6B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654" y="3168944"/>
            <a:ext cx="245790" cy="24579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35723" y="3602736"/>
            <a:ext cx="1787651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211A"/>
                </a:solidFill>
                <a:latin typeface="Georgia"/>
                <a:ea typeface="Hiragino Sans GB"/>
              </a:rPr>
              <a:t>Storytelling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2299" y="3895344"/>
            <a:ext cx="171449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271"/>
                </a:solidFill>
                <a:latin typeface="Arial"/>
                <a:ea typeface="Hiragino Sans GB"/>
              </a:rPr>
              <a:t>Long-form, confessional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271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8271"/>
                </a:solidFill>
                <a:latin typeface="Courier New"/>
                <a:ea typeface="Hiragino Sans GB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6E5E46"/>
                </a:solidFill>
                <a:latin typeface="Courier New"/>
                <a:ea typeface="Hiragino Sans GB"/>
              </a:rPr>
              <a:t>GOING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211A"/>
                </a:solidFill>
                <a:latin typeface="Georgia"/>
                <a:ea typeface="Hiragino Sans GB"/>
              </a:rPr>
              <a:t>A form without borders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6688"/>
            <a:ext cx="1188720" cy="45720"/>
          </a:xfrm>
          <a:prstGeom prst="rect">
            <a:avLst/>
          </a:prstGeom>
          <a:solidFill>
            <a:srgbClr val="B0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09728"/>
            <a:ext cx="21945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0" b="1" i="0">
                <a:solidFill>
                  <a:srgbClr val="E6D9BE"/>
                </a:solidFill>
                <a:latin typeface="Georgia"/>
                <a:ea typeface="Hiragino Sans GB"/>
              </a:rPr>
              <a:t>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26464"/>
            <a:ext cx="81381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B8271"/>
                </a:solidFill>
                <a:latin typeface="Georgia"/>
                <a:ea typeface="Hiragino Sans GB"/>
              </a:rPr>
              <a:t>British alternative comedy rebooted the form in 1979; later it took root worldwide — often in a new language.</a:t>
            </a:r>
          </a:p>
        </p:txBody>
      </p:sp>
      <p:pic>
        <p:nvPicPr>
          <p:cNvPr id="8" name="Picture 7" descr="pin" title="p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49424"/>
            <a:ext cx="274320" cy="274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9264" y="223113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31136"/>
            <a:ext cx="91440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  <a:ea typeface="Hiragino Sans GB"/>
              </a:rPr>
              <a:t>1979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194560"/>
            <a:ext cx="2148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211A"/>
                </a:solidFill>
                <a:latin typeface="Georgia"/>
                <a:ea typeface="Hiragino Sans GB"/>
              </a:rPr>
              <a:t>United Kingdom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203704"/>
            <a:ext cx="448056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Arial"/>
                <a:ea typeface="Hiragino Sans GB"/>
              </a:rPr>
              <a:t>London's Comedy Store launches “alternative comedy.”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33472"/>
            <a:ext cx="8046720" cy="10972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n" title="p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52344"/>
            <a:ext cx="274320" cy="2743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69264" y="273405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2E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2734056"/>
            <a:ext cx="91440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Hiragino Sans GB"/>
              </a:rPr>
              <a:t>2010s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2697479"/>
            <a:ext cx="2148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211A"/>
                </a:solidFill>
                <a:latin typeface="Georgia"/>
                <a:ea typeface="Hiragino Sans GB"/>
              </a:rPr>
              <a:t>India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706624"/>
            <a:ext cx="448056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Arial"/>
                <a:ea typeface="Hiragino Sans GB"/>
              </a:rPr>
              <a:t>An English-language scene rises (Vir Das).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36391"/>
            <a:ext cx="8046720" cy="10972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in" title="p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55264"/>
            <a:ext cx="274320" cy="27432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69264" y="323697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7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236976"/>
            <a:ext cx="91440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Hiragino Sans GB"/>
              </a:rPr>
              <a:t>mid-2000s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3200400"/>
            <a:ext cx="2148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211A"/>
                </a:solidFill>
                <a:latin typeface="Georgia"/>
                <a:ea typeface="Hiragino Sans GB"/>
              </a:rPr>
              <a:t>Arab world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209544"/>
            <a:ext cx="448056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Arial"/>
                <a:ea typeface="Hiragino Sans GB"/>
              </a:rPr>
              <a:t>A touring circuit grows, English then Arabic.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39312"/>
            <a:ext cx="8046720" cy="10972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in" title="p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58184"/>
            <a:ext cx="274320" cy="27432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69264" y="373989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4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739896"/>
            <a:ext cx="91440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Hiragino Sans GB"/>
              </a:rPr>
              <a:t>2010s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9968" y="3703320"/>
            <a:ext cx="2148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211A"/>
                </a:solidFill>
                <a:latin typeface="Georgia"/>
                <a:ea typeface="Hiragino Sans GB"/>
              </a:rPr>
              <a:t>South Africa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712464"/>
            <a:ext cx="448056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Arial"/>
                <a:ea typeface="Hiragino Sans GB"/>
              </a:rPr>
              <a:t>Trevor Noah takes the scene global.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142232"/>
            <a:ext cx="8046720" cy="10972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in" title="p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61104"/>
            <a:ext cx="274320" cy="27432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69264" y="424281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3B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4242816"/>
            <a:ext cx="91440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Hiragino Sans GB"/>
              </a:rPr>
              <a:t>2017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9968" y="4206240"/>
            <a:ext cx="2148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211A"/>
                </a:solidFill>
                <a:latin typeface="Georgia"/>
                <a:ea typeface="Hiragino Sans GB"/>
              </a:rPr>
              <a:t>China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4215384"/>
            <a:ext cx="448056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Arial"/>
                <a:ea typeface="Hiragino Sans GB"/>
              </a:rPr>
              <a:t>脱口秀 booms, stumbles in 2023, returns in 2024.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271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8271"/>
                </a:solidFill>
                <a:latin typeface="Courier New"/>
                <a:ea typeface="Hiragino Sans GB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6E5E46"/>
                </a:solidFill>
                <a:latin typeface="Courier New"/>
                <a:ea typeface="Hiragino Sans GB"/>
              </a:rPr>
              <a:t>THE INDUSTRY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4211A"/>
                </a:solidFill>
                <a:latin typeface="Georgia"/>
                <a:ea typeface="Hiragino Sans GB"/>
              </a:rPr>
              <a:t>Three forces reshaping the mic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4176"/>
            <a:ext cx="1188720" cy="45720"/>
          </a:xfrm>
          <a:prstGeom prst="rect">
            <a:avLst/>
          </a:prstGeom>
          <a:solidFill>
            <a:srgbClr val="B0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120000">
            <a:off x="7680960" y="457200"/>
            <a:ext cx="1243584" cy="365760"/>
          </a:xfrm>
          <a:prstGeom prst="rect">
            <a:avLst/>
          </a:prstGeom>
          <a:noFill/>
          <a:ln w="20320">
            <a:solidFill>
              <a:srgbClr val="A97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457200"/>
            <a:ext cx="1243584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9792E"/>
                </a:solidFill>
                <a:latin typeface="Arial"/>
                <a:ea typeface="Hiragino Sans GB"/>
              </a:rPr>
              <a:t>AS OF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B0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2E24"/>
                </a:solidFill>
                <a:latin typeface="Arial"/>
                <a:ea typeface="Hiragino Sans GB"/>
              </a:rPr>
              <a:t>STILL  </a:t>
            </a:r>
            <a:r>
              <a:rPr sz="1250" b="0" i="0">
                <a:solidFill>
                  <a:srgbClr val="24211A"/>
                </a:solidFill>
                <a:latin typeface="Arial"/>
                <a:ea typeface="Hiragino Sans GB"/>
              </a:rPr>
              <a:t>The core hasn't changed: one person, a microphone, and a room deciding whether to laugh.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755648"/>
            <a:ext cx="2560319" cy="1984248"/>
          </a:xfrm>
          <a:prstGeom prst="roundRect">
            <a:avLst>
              <a:gd name="adj" fmla="val 8000"/>
            </a:avLst>
          </a:prstGeom>
          <a:solidFill>
            <a:srgbClr val="F8F2E5"/>
          </a:solidFill>
          <a:ln w="1397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97510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F1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bler_device-tv_B02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40" y="2108240"/>
            <a:ext cx="245790" cy="2457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" y="2596896"/>
            <a:ext cx="21031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211A"/>
                </a:solidFill>
                <a:latin typeface="Georgia"/>
                <a:ea typeface="Hiragino Sans GB"/>
              </a:rPr>
              <a:t>The special economy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962656"/>
            <a:ext cx="2103119" cy="6492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Arial"/>
                <a:ea typeface="Hiragino Sans GB"/>
              </a:rPr>
              <a:t>A marquee streaming release — reportedly eight-figure deals at the top.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39" y="1755648"/>
            <a:ext cx="2560319" cy="1984248"/>
          </a:xfrm>
          <a:prstGeom prst="roundRect">
            <a:avLst>
              <a:gd name="adj" fmla="val 8000"/>
            </a:avLst>
          </a:prstGeom>
          <a:solidFill>
            <a:srgbClr val="F8F2E5"/>
          </a:solidFill>
          <a:ln w="1397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29583" y="197510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F1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bler_headphones_B02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720" y="2108240"/>
            <a:ext cx="245790" cy="2457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29583" y="2596896"/>
            <a:ext cx="21031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211A"/>
                </a:solidFill>
                <a:latin typeface="Georgia"/>
                <a:ea typeface="Hiragino Sans GB"/>
              </a:rPr>
              <a:t>The podcast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3" y="2962656"/>
            <a:ext cx="2103119" cy="6492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Arial"/>
                <a:ea typeface="Hiragino Sans GB"/>
              </a:rPr>
              <a:t>Weekly shows now build a comic's audience directly.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19" y="1755648"/>
            <a:ext cx="2560319" cy="1984248"/>
          </a:xfrm>
          <a:prstGeom prst="roundRect">
            <a:avLst>
              <a:gd name="adj" fmla="val 8000"/>
            </a:avLst>
          </a:prstGeom>
          <a:solidFill>
            <a:srgbClr val="F8F2E5"/>
          </a:solidFill>
          <a:ln w="13970">
            <a:solidFill>
              <a:srgbClr val="D8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55663" y="197510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F1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bler_player-play_B02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800" y="2108240"/>
            <a:ext cx="245790" cy="2457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55663" y="2596896"/>
            <a:ext cx="21031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4211A"/>
                </a:solidFill>
                <a:latin typeface="Georgia"/>
                <a:ea typeface="Hiragino Sans GB"/>
              </a:rPr>
              <a:t>The clip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3" y="2962656"/>
            <a:ext cx="2103119" cy="6492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Arial"/>
                <a:ea typeface="Hiragino Sans GB"/>
              </a:rPr>
              <a:t>A 40-second bit travels further than TV ever could.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271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8271"/>
                </a:solidFill>
                <a:latin typeface="Courier New"/>
                <a:ea typeface="Hiragino Sans GB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6E5E46"/>
                </a:solidFill>
                <a:latin typeface="Courier New"/>
                <a:ea typeface="Hiragino Sans GB"/>
              </a:rPr>
              <a:t>THE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211A"/>
                </a:solidFill>
                <a:latin typeface="Georgia"/>
                <a:ea typeface="Hiragino Sans GB"/>
              </a:rPr>
              <a:t>Anatomy of a joke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6688"/>
            <a:ext cx="1188720" cy="45720"/>
          </a:xfrm>
          <a:prstGeom prst="rect">
            <a:avLst/>
          </a:prstGeom>
          <a:solidFill>
            <a:srgbClr val="B0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81381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B8271"/>
                </a:solidFill>
                <a:latin typeface="Georgia"/>
                <a:ea typeface="Hiragino Sans GB"/>
              </a:rPr>
              <a:t>Under every style sits the same machine: a setup that steers you, a punchline that breaks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8046720" cy="8229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4211A"/>
                </a:solidFill>
                <a:latin typeface="Georgia"/>
                <a:ea typeface="Georgia"/>
              </a:rPr>
              <a:t>SET-UP</a:t>
            </a:r>
            <a:r>
              <a:rPr sz="3000" b="1" i="0">
                <a:solidFill>
                  <a:srgbClr val="B02E24"/>
                </a:solidFill>
                <a:latin typeface="Georgia"/>
                <a:ea typeface="Georgia"/>
              </a:rPr>
              <a:t>  →  </a:t>
            </a:r>
            <a:r>
              <a:rPr sz="2800" b="1" i="0">
                <a:solidFill>
                  <a:srgbClr val="B02E24"/>
                </a:solidFill>
                <a:latin typeface="Georgia"/>
                <a:ea typeface="Georgia"/>
              </a:rPr>
              <a:t>PUNCHLINE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35661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B8271"/>
                </a:solidFill>
                <a:latin typeface="Arial"/>
                <a:ea typeface="Hiragino Sans GB"/>
              </a:rPr>
              <a:t>build the expectation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688336"/>
            <a:ext cx="35661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1">
                <a:solidFill>
                  <a:srgbClr val="B02E24"/>
                </a:solidFill>
                <a:latin typeface="Arial"/>
                <a:ea typeface="Hiragino Sans GB"/>
              </a:rPr>
              <a:t>break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63824"/>
            <a:ext cx="8046720" cy="10972"/>
          </a:xfrm>
          <a:prstGeom prst="rect">
            <a:avLst/>
          </a:prstGeom>
          <a:solidFill>
            <a:srgbClr val="D8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328416"/>
            <a:ext cx="329184" cy="45720"/>
          </a:xfrm>
          <a:prstGeom prst="rect">
            <a:avLst/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456432"/>
            <a:ext cx="189737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211A"/>
                </a:solidFill>
                <a:latin typeface="Georgia"/>
                <a:ea typeface="Hiragino Sans GB"/>
              </a:rPr>
              <a:t>Premise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03904"/>
            <a:ext cx="1897379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1"/>
                </a:solidFill>
                <a:latin typeface="Arial"/>
                <a:ea typeface="Hiragino Sans GB"/>
              </a:rPr>
              <a:t>the idea a bit is built 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7459" y="3328416"/>
            <a:ext cx="329184" cy="45720"/>
          </a:xfrm>
          <a:prstGeom prst="rect">
            <a:avLst/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7459" y="3456432"/>
            <a:ext cx="189737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211A"/>
                </a:solidFill>
                <a:latin typeface="Georgia"/>
                <a:ea typeface="Hiragino Sans GB"/>
              </a:rPr>
              <a:t>Act-out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7459" y="3803904"/>
            <a:ext cx="1897379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1"/>
                </a:solidFill>
                <a:latin typeface="Arial"/>
                <a:ea typeface="Hiragino Sans GB"/>
              </a:rPr>
              <a:t>performing the moment, not describing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3328416"/>
            <a:ext cx="329184" cy="45720"/>
          </a:xfrm>
          <a:prstGeom prst="rect">
            <a:avLst/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3456432"/>
            <a:ext cx="189737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211A"/>
                </a:solidFill>
                <a:latin typeface="Georgia"/>
                <a:ea typeface="Hiragino Sans GB"/>
              </a:rPr>
              <a:t>Tag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3803904"/>
            <a:ext cx="1897379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1"/>
                </a:solidFill>
                <a:latin typeface="Arial"/>
                <a:ea typeface="Hiragino Sans GB"/>
              </a:rPr>
              <a:t>a second laugh on the same punchline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80859" y="3328416"/>
            <a:ext cx="329184" cy="45720"/>
          </a:xfrm>
          <a:prstGeom prst="rect">
            <a:avLst/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0859" y="3456432"/>
            <a:ext cx="189737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211A"/>
                </a:solidFill>
                <a:latin typeface="Georgia"/>
                <a:ea typeface="Hiragino Sans GB"/>
              </a:rPr>
              <a:t>Callback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0859" y="3803904"/>
            <a:ext cx="1897379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1"/>
                </a:solidFill>
                <a:latin typeface="Arial"/>
                <a:ea typeface="Hiragino Sans GB"/>
              </a:rPr>
              <a:t>a later joke paying off an earlier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271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8271"/>
                </a:solidFill>
                <a:latin typeface="Courier New"/>
                <a:ea typeface="Hiragino Sans GB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" title=""/>
          <p:cNvPicPr>
            <a:picLocks noChangeAspect="1"/>
          </p:cNvPicPr>
          <p:nvPr/>
        </p:nvPicPr>
        <p:blipFill>
          <a:blip r:embed="rId2"/>
          <a:srcRect t="16379" b="16379"/>
          <a:stretch>
            <a:fillRect/>
          </a:stretch>
        </p:blipFill>
        <p:spPr>
          <a:xfrm>
            <a:off x="3474720" y="320039"/>
            <a:ext cx="530352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93776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A9792E"/>
                </a:solidFill>
                <a:latin typeface="Courier New"/>
                <a:ea typeface="Hiragino Sans GB"/>
              </a:rPr>
              <a:t>WHY THE CRAFT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6400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D4402E"/>
                </a:solidFill>
                <a:latin typeface="Georgia"/>
                <a:ea typeface="Hiragino Sans GB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6309360" cy="11064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1">
                <a:solidFill>
                  <a:srgbClr val="F1E9D8"/>
                </a:solidFill>
                <a:latin typeface="Georgia"/>
                <a:ea typeface="Hiragino Sans GB"/>
              </a:rPr>
              <a:t>One person, unarmed except for a point of view, can say the thing the room was afraid to say out 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87752"/>
            <a:ext cx="6309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271"/>
                </a:solidFill>
                <a:latin typeface="Arial"/>
                <a:ea typeface="Hiragino Sans GB"/>
              </a:rPr>
              <a:t>— the enduring bargain of stand-up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5643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456432"/>
            <a:ext cx="96012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  <a:ea typeface="Hiragino Sans GB"/>
              </a:rPr>
              <a:t>1961–64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3474720"/>
            <a:ext cx="722376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C9284"/>
                </a:solidFill>
                <a:latin typeface="Arial"/>
                <a:ea typeface="Hiragino Sans GB"/>
              </a:rPr>
              <a:t>Lenny Bruce is jailed for obscenity again and again — pardoned by New York in 2003.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4164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A9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041648"/>
            <a:ext cx="96012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  <a:ea typeface="Hiragino Sans GB"/>
              </a:rPr>
              <a:t>1978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4059935"/>
            <a:ext cx="722376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C9284"/>
                </a:solidFill>
                <a:latin typeface="Arial"/>
                <a:ea typeface="Hiragino Sans GB"/>
              </a:rPr>
              <a:t>George Carlin's routine reaches the Supreme Court — the FCC v. Pacifica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9452"/>
            <a:ext cx="5852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C9284"/>
                </a:solidFill>
                <a:latin typeface="Courier New"/>
                <a:ea typeface="Hiragino Sans GB"/>
              </a:rPr>
              <a:t>A Brief History of Stand-Up Comedy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84"/>
                </a:solidFill>
                <a:latin typeface="Courier New"/>
                <a:ea typeface="Hiragino Sans GB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" title=""/>
          <p:cNvPicPr>
            <a:picLocks noChangeAspect="1"/>
          </p:cNvPicPr>
          <p:nvPr/>
        </p:nvPicPr>
        <p:blipFill>
          <a:blip r:embed="rId2"/>
          <a:srcRect t="21094" b="21094"/>
          <a:stretch>
            <a:fillRect/>
          </a:stretch>
        </p:blipFill>
        <p:spPr>
          <a:xfrm>
            <a:off x="1645919" y="91439"/>
            <a:ext cx="5852160" cy="3383280"/>
          </a:xfrm>
          <a:prstGeom prst="rect">
            <a:avLst/>
          </a:prstGeom>
        </p:spPr>
      </p:pic>
      <p:pic>
        <p:nvPicPr>
          <p:cNvPr id="4" name="Picture 3" descr="microphone" title="micro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7" y="51206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883664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260">
                <a:solidFill>
                  <a:srgbClr val="A9792E"/>
                </a:solidFill>
                <a:latin typeface="Courier New"/>
                <a:ea typeface="Hiragino Sans GB"/>
              </a:rPr>
              <a:t>CURTAIN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863840" cy="1371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1E9D8"/>
                </a:solidFill>
                <a:latin typeface="Georgia"/>
                <a:ea typeface="Hiragino Sans GB"/>
              </a:rPr>
              <a:t>The lights come up.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1E9D8"/>
                </a:solidFill>
                <a:latin typeface="Georgia"/>
                <a:ea typeface="Hiragino Sans GB"/>
              </a:rPr>
              <a:t>Someone steps to the mic.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1E9D8"/>
                </a:solidFill>
                <a:latin typeface="Georgia"/>
                <a:ea typeface="Hiragino Sans GB"/>
              </a:rPr>
              <a:t>It begins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584448"/>
            <a:ext cx="1371600" cy="54864"/>
          </a:xfrm>
          <a:prstGeom prst="rect">
            <a:avLst/>
          </a:prstGeom>
          <a:solidFill>
            <a:srgbClr val="D4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03904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792E"/>
                </a:solidFill>
                <a:latin typeface="Courier New"/>
                <a:ea typeface="Hiragino Sans GB"/>
              </a:rPr>
              <a:t>SOURCED FROM  </a:t>
            </a:r>
            <a:r>
              <a:rPr sz="950" b="0" i="0">
                <a:solidFill>
                  <a:srgbClr val="9C9284"/>
                </a:solidFill>
                <a:latin typeface="Courier New"/>
                <a:ea typeface="Hiragino Sans GB"/>
              </a:rPr>
              <a:t>Britannica · Wikipedia · GRAMMY.com · press &amp; archival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14800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792E"/>
                </a:solidFill>
                <a:latin typeface="Courier New"/>
                <a:ea typeface="Hiragino Sans GB"/>
              </a:rPr>
              <a:t>MADE WITH  </a:t>
            </a:r>
            <a:r>
              <a:rPr sz="950" b="0" i="0">
                <a:solidFill>
                  <a:srgbClr val="9C9284"/>
                </a:solidFill>
                <a:latin typeface="Courier New"/>
                <a:ea typeface="Hiragino Sans GB"/>
              </a:rPr>
              <a:t>slide-maker  ·  a “Lights Down” editorial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594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C9284"/>
                </a:solidFill>
                <a:latin typeface="Courier New"/>
                <a:ea typeface="Hiragino Sans GB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