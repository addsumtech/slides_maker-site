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Stand-up comedy is the purest stage form there is: one person, one microphone, talking straight to the audience. In about ten minutes we'll walk its history from 1866 to today — where it came from, and how it grew into what it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what it is. Stand-up has three ingredients: one person (no double act, no band); one mic (no props or costume); and, most important, you speak as yourself, directly to the audience. Put together, that's turning the truth into laughter.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Going back: many call Mark Twain a father of stand-up — he toured the country giving humorous lectures from 1866. That wasn't quite today's stand-up; it was 7-to-15-minute funny stories. But it grew from rich soil: vaudeville, music halls, comic monologues — the tradition of one person standing and talking to a crowd starts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 1800s to early 1900s, the big thing was vaudeville — a variety bill with acrobatics, song, sketches, everything. The turning point: some performers began using just themselves, no props, talking straight to the audience — like Charlie Case. The moment they drop the props and the character, the prototype of stand-up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1940s–50s two things made it real. One, the electric microphone — one person could fill a room without shouting. Two, nightclubs, especially the resort-circuit 'Borscht Belt', gave comics endless stage time. The rhythm changed too: from long stories to one quick joke after another. 'Stand-up' takes its modern shape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1950s–60s brought rebels — above all Lenny Bruce. He turned stand-up into sharp social commentary, tackled taboo subjects, and got arrested repeatedly: San Francisco in 1961, an obscenity conviction in 1964. He wasn't pardoned until 2003 — a first in U.S. history. He paid the price that pushed the line of what could be said forward for Carlin, Pryor and everyone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1970s are the golden age, and it splits into two paths. One is observational — George Carlin, whose 'Seven Words You Can Never Say on Television' is legendary; he was arrested in 1972 for performing it, essentially a war over language and censorship. The other is confessional — Richard Pryor, who put race, poverty and his own struggles on stage, honest and raw. Observe the world, or reveal yourself — those two paths run to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1970s–80s are the industry boom. Comedy clubs became star factories — the Comedy Store opened in 1972. Comics started fighting for their rights too: in 1979 about 150 struck for six weeks just to be paid for performing. Add late-night TV and HBO specials, and stand-up went from a nightclub side-gig to a full industry with clubs, television and stars.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1990s–2000s: stand-up both deepens and spreads. So-called alternative comedy went anti-formula, anti-mainstream, growing new voices in small bars. At the same time club chains, touring and DVDs scaled the audience. It became mainstream entertainment in the English-speaking world and started spreading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streaming era we're living in. In 2013 Netflix released its first original stand-up special. Over the following decade, 200-plus comics and 350-plus specials went online. Global on-demand plus algorithmic recommendation can send a special around the world overnight — what's been called comedy's second boom.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China. Stand-up is an import here. In 2012 director Ye Feng launched 'Tonight's 80s Talk Show', its first real mainstream appearance. In 2014 Xiaoguo Culture was founded — future core talents like Li Dan were there. In 2017 'Roast' and 'Rock &amp; Roast' exploded together — the year Chinese stand-up went mass-market and industrial. It found its own voice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close: from Mark Twain to Netflix, from a New York basement to China's Rock &amp; Roast, in over a century the form has barely changed — still one person, one mic. It's the cheapest stage and the freest mic there is: turning the truth into laughter.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960120"/>
            <a:ext cx="4572000" cy="292608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1234440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34440"/>
            <a:ext cx="1737360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1866 →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755648"/>
            <a:ext cx="4206240" cy="12344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1A1A1A"/>
                </a:solidFill>
                <a:latin typeface="Arial Black"/>
              </a:rPr>
              <a:t>A Brief History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1A1A1A"/>
                </a:solidFill>
                <a:latin typeface="Arial Black"/>
              </a:rPr>
              <a:t>of Stand-Up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42062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One person · one mic · the truth, told as a joke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2E93"/>
                </a:solidFill>
                <a:latin typeface="Arial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What Is Stand-Up?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FFC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522"/>
                </a:solidFill>
                <a:latin typeface="Arial"/>
              </a:rPr>
              <a:t>IN A LINE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Stand-up = one person, in their own words, turning truth into laughter — the simplest and freest stage form there 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17904"/>
            <a:ext cx="2560319" cy="1997963"/>
          </a:xfrm>
          <a:prstGeom prst="roundRect">
            <a:avLst>
              <a:gd name="adj" fmla="val 7322"/>
            </a:avLst>
          </a:prstGeom>
          <a:solidFill>
            <a:srgbClr val="FFE4F1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60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One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194559" cy="122986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No partner, no band — just you in the spotlight.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39" y="1517904"/>
            <a:ext cx="2560319" cy="1997963"/>
          </a:xfrm>
          <a:prstGeom prst="roundRect">
            <a:avLst>
              <a:gd name="adj" fmla="val 7322"/>
            </a:avLst>
          </a:prstGeom>
          <a:solidFill>
            <a:srgbClr val="DFF7FA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291839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19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One Mic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19" y="2103120"/>
            <a:ext cx="2194559" cy="122986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No props, no character — only a mic and your material.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517904"/>
            <a:ext cx="2560319" cy="1997963"/>
          </a:xfrm>
          <a:prstGeom prst="roundRect">
            <a:avLst>
              <a:gd name="adj" fmla="val 7322"/>
            </a:avLst>
          </a:prstGeom>
          <a:solidFill>
            <a:srgbClr val="FFECE4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217919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799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Face the Crowd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2103120"/>
            <a:ext cx="2194559" cy="122986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Speaking as yourself, straight to the audience.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BEDB"/>
                </a:solidFill>
                <a:latin typeface="Arial"/>
              </a:rPr>
              <a:t>19TH CENTURY · THE LECTURE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Origins · The Age of Comic Lectures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BEDB"/>
                </a:solidFill>
                <a:latin typeface="Arial"/>
              </a:rPr>
              <a:t>STARTING POINT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Not yet stand-up — but the DNA of 'one person, standing, turning stories into laughs' is already here.</a:t>
            </a:r>
          </a:p>
        </p:txBody>
      </p:sp>
      <p:pic>
        <p:nvPicPr>
          <p:cNvPr id="11" name="Picture 10" descr="Memphis illustration, slide 3" title="Memphis illustration, slid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  <a:noFill/>
          <a:ln w="3302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67227" y="1463040"/>
            <a:ext cx="2654046" cy="2052827"/>
          </a:xfrm>
          <a:prstGeom prst="roundRect">
            <a:avLst>
              <a:gd name="adj" fmla="val 7126"/>
            </a:avLst>
          </a:prstGeom>
          <a:solidFill>
            <a:srgbClr val="FFE4F1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967227" y="1463040"/>
            <a:ext cx="2654046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0108" y="1463040"/>
            <a:ext cx="2288286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Mark Twain · 1866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0108" y="2048256"/>
            <a:ext cx="2288286" cy="128473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1866 debut tour: 'Our Fellow Savages of the Sandwich Islands.'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7–15 min monologues — a forerunner of stand-up.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1314" y="1463040"/>
            <a:ext cx="2654046" cy="2052827"/>
          </a:xfrm>
          <a:prstGeom prst="roundRect">
            <a:avLst>
              <a:gd name="adj" fmla="val 7126"/>
            </a:avLst>
          </a:prstGeom>
          <a:solidFill>
            <a:srgbClr val="F0E6FF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5941314" y="1463040"/>
            <a:ext cx="2654046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4194" y="1463040"/>
            <a:ext cx="2288286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The Soil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4194" y="2048256"/>
            <a:ext cx="2288286" cy="128473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· Vaudeville &amp; music halls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· Minstrel stump speeches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· Medicine-show &amp; circus patter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B3DFF"/>
                </a:solidFill>
                <a:latin typeface="Arial"/>
              </a:rPr>
              <a:t>1880s–1930s · VAUDEVILLE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Prototype · From Variety Bill to Solo Spot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8ED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ED81F"/>
                </a:solidFill>
                <a:latin typeface="Arial"/>
              </a:rPr>
              <a:t>THE LEAP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When performers drop the props and the character and speak as 'themselves' — the form of stand-up first comes into focus.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3794759" cy="1961387"/>
          </a:xfrm>
          <a:prstGeom prst="roundRect">
            <a:avLst>
              <a:gd name="adj" fmla="val 7459"/>
            </a:avLst>
          </a:prstGeom>
          <a:solidFill>
            <a:srgbClr val="F0E6FF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60" y="1554480"/>
            <a:ext cx="379475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42899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Variety Bill · Vaudeville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39696"/>
            <a:ext cx="3428999" cy="119329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Acrobatics, song, sketch and monologue in one multi-act show — the top entertainment of the 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80" y="1554480"/>
            <a:ext cx="3794759" cy="1961387"/>
          </a:xfrm>
          <a:prstGeom prst="roundRect">
            <a:avLst>
              <a:gd name="adj" fmla="val 7459"/>
            </a:avLst>
          </a:prstGeom>
          <a:solidFill>
            <a:srgbClr val="DFF7FA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983480" y="1554480"/>
            <a:ext cx="379475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1554480"/>
            <a:ext cx="342899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One Person, Standing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2139696"/>
            <a:ext cx="3428999" cy="119329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Charlie Case is seen as the earliest prop-less act: no props, no character, talking straight to the crowd.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215383" y="2388870"/>
            <a:ext cx="71323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6B2C"/>
                </a:solidFill>
                <a:latin typeface="Arial"/>
              </a:rPr>
              <a:t>1940s–50s · THE MIC 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Takes Shape · The Mic &amp; the Nightclub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FFC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522"/>
                </a:solidFill>
                <a:latin typeface="Arial"/>
              </a:rPr>
              <a:t>SET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'Stand-up' — one person, one mic, standing — takes its modern shape in these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17904"/>
            <a:ext cx="2560319" cy="2221991"/>
          </a:xfrm>
          <a:prstGeom prst="roundRect">
            <a:avLst>
              <a:gd name="adj" fmla="val 6584"/>
            </a:avLst>
          </a:prstGeom>
          <a:solidFill>
            <a:srgbClr val="DFF7FA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60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Electric 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194559" cy="145389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With the mic everywhere, one voice can fill a room — no more shouting.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39" y="1517904"/>
            <a:ext cx="2560319" cy="2221991"/>
          </a:xfrm>
          <a:prstGeom prst="roundRect">
            <a:avLst>
              <a:gd name="adj" fmla="val 6584"/>
            </a:avLst>
          </a:prstGeom>
          <a:solidFill>
            <a:srgbClr val="FFECE4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291839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19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Clubs &amp; Borscht Belt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19" y="2103120"/>
            <a:ext cx="2194559" cy="145389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Resort-circuit nightclubs became the comic's training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19" y="1517904"/>
            <a:ext cx="2560319" cy="2221991"/>
          </a:xfrm>
          <a:prstGeom prst="roundRect">
            <a:avLst>
              <a:gd name="adj" fmla="val 6584"/>
            </a:avLst>
          </a:prstGeom>
          <a:solidFill>
            <a:srgbClr val="FFE4F1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217919" y="1517904"/>
            <a:ext cx="256031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799" y="1517904"/>
            <a:ext cx="219455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A Faster Rhythm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2103120"/>
            <a:ext cx="2194559" cy="1453895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From long stories to one quick joke after another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B3DFF"/>
                </a:solidFill>
                <a:latin typeface="Arial"/>
              </a:rPr>
              <a:t>1950s–60s · CENSORSHIP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Rebellion · Jailed for 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BEDB"/>
                </a:solidFill>
                <a:latin typeface="Arial"/>
              </a:rPr>
              <a:t>WHY IT MATTERS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He paid the price for free speech, pushing the line of 'what can be said' forward for Carlin, Pryor and all who followed.</a:t>
            </a:r>
          </a:p>
        </p:txBody>
      </p:sp>
      <p:pic>
        <p:nvPicPr>
          <p:cNvPr id="11" name="Picture 10" descr="Memphis illustration, slide 6" title="Memphis illustration, slid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  <a:noFill/>
          <a:ln w="3302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7227" y="1463040"/>
            <a:ext cx="5628132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Lenny Bruce turned stand-up into sharp social commentary — and was arrested again and again: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2325" y="2216139"/>
            <a:ext cx="29260" cy="1186708"/>
          </a:xfrm>
          <a:prstGeom prst="rect">
            <a:avLst/>
          </a:prstGeom>
          <a:solidFill>
            <a:srgbClr val="BF9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85515" y="224713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4427" y="2139696"/>
            <a:ext cx="5079492" cy="39776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8B3DFF"/>
                </a:solidFill>
                <a:latin typeface="Arial Black"/>
              </a:rPr>
              <a:t>1961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Arrested in SF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on obscenity charges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85515" y="2718053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4427" y="2610611"/>
            <a:ext cx="5079492" cy="39776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8B3DFF"/>
                </a:solidFill>
                <a:latin typeface="Arial Black"/>
              </a:rPr>
              <a:t>1964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Obscenity conviction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a NYC café 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85515" y="318896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4427" y="3081527"/>
            <a:ext cx="5079492" cy="39776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8B3DFF"/>
                </a:solidFill>
                <a:latin typeface="Arial Black"/>
              </a:rPr>
              <a:t>2003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Posthumous pardon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a U.S.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2E93"/>
                </a:solidFill>
                <a:latin typeface="Arial"/>
              </a:rPr>
              <a:t>1970s · THE GOLDEN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The Golden Age ·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FFC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522"/>
                </a:solidFill>
                <a:latin typeface="Arial"/>
              </a:rPr>
              <a:t>THE SPLIT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Observe the world vs. reveal yourself — these two modes are still stand-up's two main lineages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3749039" cy="1961387"/>
          </a:xfrm>
          <a:prstGeom prst="roundRect">
            <a:avLst>
              <a:gd name="adj" fmla="val 7459"/>
            </a:avLst>
          </a:prstGeom>
          <a:solidFill>
            <a:srgbClr val="DFF7FA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60" y="1554480"/>
            <a:ext cx="374903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8327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Observational · Carlin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39696"/>
            <a:ext cx="3383279" cy="119329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'Seven Words You Can Never Say' (1972); arrested the same year for performing it — a war over language and censorship.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554480"/>
            <a:ext cx="3749039" cy="1961387"/>
          </a:xfrm>
          <a:prstGeom prst="roundRect">
            <a:avLst>
              <a:gd name="adj" fmla="val 7459"/>
            </a:avLst>
          </a:prstGeom>
          <a:solidFill>
            <a:srgbClr val="FFECE4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029200" y="1554480"/>
            <a:ext cx="374903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554480"/>
            <a:ext cx="338327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Confessional · Pryor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139696"/>
            <a:ext cx="3383279" cy="1193291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Put race, poverty and his own struggles on stage — honest, raw, defenseless — setting the bar for confessional comedy.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220599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42816" y="2205990"/>
            <a:ext cx="658368" cy="658368"/>
          </a:xfrm>
          <a:prstGeom prst="roundRect">
            <a:avLst>
              <a:gd name="adj" fmla="val 50000"/>
            </a:avLst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2205990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C522"/>
                </a:solidFill>
                <a:latin typeface="Arial Black"/>
              </a:rPr>
              <a:t>VS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6B2C"/>
                </a:solidFill>
                <a:latin typeface="Arial"/>
              </a:rPr>
              <a:t>1970s–80s · THE CLUB BOOM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Boom · Clubs &amp; TV Stardom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BEDB"/>
                </a:solidFill>
                <a:latin typeface="Arial"/>
              </a:rPr>
              <a:t>TURNING POINT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Stand-up goes from a nightclub side-gig to a full industry — with clubs, television and stars.</a:t>
            </a:r>
          </a:p>
        </p:txBody>
      </p:sp>
      <p:pic>
        <p:nvPicPr>
          <p:cNvPr id="11" name="Picture 10" descr="Memphis illustration, slide 8" title="Memphis illustration, slid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1463040"/>
            <a:ext cx="2052827" cy="2052827"/>
          </a:xfrm>
          <a:prstGeom prst="roundRect">
            <a:avLst>
              <a:gd name="adj" fmla="val 7126"/>
            </a:avLst>
          </a:prstGeom>
          <a:noFill/>
          <a:ln w="3302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67227" y="1463040"/>
            <a:ext cx="5628132" cy="586740"/>
          </a:xfrm>
          <a:prstGeom prst="roundRect">
            <a:avLst>
              <a:gd name="adj" fmla="val 18701"/>
            </a:avLst>
          </a:prstGeom>
          <a:solidFill>
            <a:srgbClr val="FFEAF4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95244" y="1581912"/>
            <a:ext cx="118872" cy="348996"/>
          </a:xfrm>
          <a:prstGeom prst="roundRect">
            <a:avLst>
              <a:gd name="adj" fmla="val 46153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1275" y="1463040"/>
            <a:ext cx="5097780" cy="5867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Comedy Clubs · 1972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4A4540"/>
                </a:solidFill>
                <a:latin typeface="Arial"/>
              </a:rPr>
              <a:t>The Comedy Store opens — an LA star factory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67227" y="2196084"/>
            <a:ext cx="5628132" cy="586740"/>
          </a:xfrm>
          <a:prstGeom prst="roundRect">
            <a:avLst>
              <a:gd name="adj" fmla="val 18701"/>
            </a:avLst>
          </a:prstGeom>
          <a:solidFill>
            <a:srgbClr val="F3EC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95244" y="2314956"/>
            <a:ext cx="118872" cy="348996"/>
          </a:xfrm>
          <a:prstGeom prst="roundRect">
            <a:avLst>
              <a:gd name="adj" fmla="val 46153"/>
            </a:avLst>
          </a:prstGeom>
          <a:solidFill>
            <a:srgbClr val="8B3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1275" y="2196084"/>
            <a:ext cx="5097780" cy="5867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Comics' Strike · 1979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4A4540"/>
                </a:solidFill>
                <a:latin typeface="Arial"/>
              </a:rPr>
              <a:t>~150 comics strike 6 weeks for pay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7227" y="2929128"/>
            <a:ext cx="5628132" cy="586740"/>
          </a:xfrm>
          <a:prstGeom prst="roundRect">
            <a:avLst>
              <a:gd name="adj" fmla="val 18701"/>
            </a:avLst>
          </a:prstGeom>
          <a:solidFill>
            <a:srgbClr val="FFF0EA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95244" y="3048000"/>
            <a:ext cx="118872" cy="348996"/>
          </a:xfrm>
          <a:prstGeom prst="roundRect">
            <a:avLst>
              <a:gd name="adj" fmla="val 46153"/>
            </a:avLst>
          </a:prstGeom>
          <a:solidFill>
            <a:srgbClr val="FF6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1275" y="2929128"/>
            <a:ext cx="5097780" cy="5867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TV + Specials · 80s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4A4540"/>
                </a:solidFill>
                <a:latin typeface="Arial"/>
              </a:rPr>
              <a:t>Late-night &amp; HBO reach every home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ED81F"/>
                </a:solidFill>
                <a:latin typeface="Arial"/>
              </a:rPr>
              <a:t>1990s–2000s ·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Spread · Alt-Comedy &amp; Going Global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8ED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FFC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522"/>
                </a:solidFill>
                <a:latin typeface="Arial"/>
              </a:rPr>
              <a:t>SPILLOVER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No longer just New York and LA — stand-up is becoming a global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" y="2057400"/>
            <a:ext cx="2514600" cy="1463040"/>
          </a:xfrm>
          <a:prstGeom prst="roundRect">
            <a:avLst>
              <a:gd name="adj" fmla="val 8000"/>
            </a:avLst>
          </a:prstGeom>
          <a:solidFill>
            <a:srgbClr val="7D3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" y="2057400"/>
            <a:ext cx="2276856" cy="1463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Alt-Comedy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Anti-formula, anti-mainstream —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new voices in small bars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66644" y="2642615"/>
            <a:ext cx="39319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4700" y="2057400"/>
            <a:ext cx="2514600" cy="1463040"/>
          </a:xfrm>
          <a:prstGeom prst="roundRect">
            <a:avLst>
              <a:gd name="adj" fmla="val 8000"/>
            </a:avLst>
          </a:prstGeom>
          <a:solidFill>
            <a:srgbClr val="0F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3572" y="2057400"/>
            <a:ext cx="2276856" cy="1463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Touring + DVD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Club chains, national tours,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DVDs scale the audience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84164" y="2642615"/>
            <a:ext cx="39319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32220" y="2057400"/>
            <a:ext cx="2514600" cy="1463040"/>
          </a:xfrm>
          <a:prstGeom prst="roundRect">
            <a:avLst>
              <a:gd name="adj" fmla="val 8000"/>
            </a:avLst>
          </a:prstGeom>
          <a:solidFill>
            <a:srgbClr val="B1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1092" y="2057400"/>
            <a:ext cx="2276856" cy="14630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Going Global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Mainstream in the English-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speaking world, spreading further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7BEDB"/>
                </a:solidFill>
                <a:latin typeface="Arial"/>
              </a:rPr>
              <a:t>2010s–TODAY ·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Streaming · The Second Comedy Boom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2013: Netflix releases its first original stand-up special — Aziz Ansari, 'Buried Alive'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FFC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522"/>
                </a:solidFill>
                <a:latin typeface="Arial"/>
              </a:rPr>
              <a:t>ALGORITHMIC STARDOM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Global on-demand + platform recommendation send a special around the world overnight — comedy's second boom.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37360"/>
            <a:ext cx="4023359" cy="1778507"/>
          </a:xfrm>
          <a:prstGeom prst="roundRect">
            <a:avLst>
              <a:gd name="adj" fmla="val 8226"/>
            </a:avLst>
          </a:prstGeom>
          <a:solidFill>
            <a:srgbClr val="FFE4F1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365760" y="1737360"/>
            <a:ext cx="402335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37360"/>
            <a:ext cx="365759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2013–2023 · Comics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68880"/>
            <a:ext cx="365759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F2871"/>
                </a:solidFill>
                <a:latin typeface="Arial Black"/>
              </a:rPr>
              <a:t>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36575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comics featured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37360"/>
            <a:ext cx="4023359" cy="1778507"/>
          </a:xfrm>
          <a:prstGeom prst="roundRect">
            <a:avLst>
              <a:gd name="adj" fmla="val 8226"/>
            </a:avLst>
          </a:prstGeom>
          <a:solidFill>
            <a:srgbClr val="DFF7FA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1737360"/>
            <a:ext cx="4023359" cy="475488"/>
          </a:xfrm>
          <a:prstGeom prst="round2SameRect">
            <a:avLst>
              <a:gd name="adj1" fmla="val 30769"/>
              <a:gd name="adj2" fmla="val 0"/>
            </a:avLst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737360"/>
            <a:ext cx="3657599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2013–2023 · Specials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468880"/>
            <a:ext cx="365759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07484"/>
                </a:solidFill>
                <a:latin typeface="Arial Black"/>
              </a:rPr>
              <a:t>350+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127248"/>
            <a:ext cx="36575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original specials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g_plat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2E93"/>
                </a:solidFill>
                <a:latin typeface="Arial"/>
              </a:rPr>
              <a:t>2012–2017 · CHINA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8046720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Arial Black"/>
              </a:rPr>
              <a:t>China · Localizing an Import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234440" cy="73152"/>
          </a:xfrm>
          <a:prstGeom prst="rect">
            <a:avLst/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19" y="1170432"/>
            <a:ext cx="27432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07B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7BEDB"/>
                </a:solidFill>
                <a:latin typeface="Arial"/>
              </a:rPr>
              <a:t>LANDING 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From TV show to variety IP — stand-up found its own voice and stage in China.</a:t>
            </a:r>
          </a:p>
        </p:txBody>
      </p:sp>
      <p:pic>
        <p:nvPicPr>
          <p:cNvPr id="11" name="Picture 10" descr="Memphis illustration, slide 11" title="Memphis illustration, slid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2276856" cy="2276856"/>
          </a:xfrm>
          <a:prstGeom prst="roundRect">
            <a:avLst>
              <a:gd name="adj" fmla="val 6425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1463040"/>
            <a:ext cx="2276856" cy="2276856"/>
          </a:xfrm>
          <a:prstGeom prst="roundRect">
            <a:avLst>
              <a:gd name="adj" fmla="val 6425"/>
            </a:avLst>
          </a:prstGeom>
          <a:noFill/>
          <a:ln w="3302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91256" y="1463040"/>
            <a:ext cx="5404104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An import — in just five years it grew from a single TV show into a nationwide variety IP: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6353" y="2234062"/>
            <a:ext cx="29260" cy="1374891"/>
          </a:xfrm>
          <a:prstGeom prst="rect">
            <a:avLst/>
          </a:prstGeom>
          <a:solidFill>
            <a:srgbClr val="FF8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9544" y="2284475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139696"/>
            <a:ext cx="4855464" cy="47243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2E93"/>
                </a:solidFill>
                <a:latin typeface="Arial Black"/>
              </a:rPr>
              <a:t>2012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'Tonight's 80s Talk Show'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Ye Feng launches it; goes mainstream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9544" y="28300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8456" y="2685288"/>
            <a:ext cx="4855464" cy="47243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2E93"/>
                </a:solidFill>
                <a:latin typeface="Arial Black"/>
              </a:rPr>
              <a:t>2014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Xiaoguo Culture founded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future core talents like Li Dan join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9544" y="33756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8456" y="3230880"/>
            <a:ext cx="4855464" cy="472439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2E93"/>
                </a:solidFill>
                <a:latin typeface="Arial Black"/>
              </a:rPr>
              <a:t>2017   </a:t>
            </a:r>
            <a:r>
              <a:rPr sz="1450" b="1" i="0">
                <a:solidFill>
                  <a:srgbClr val="1A1A1A"/>
                </a:solidFill>
                <a:latin typeface="Arial"/>
              </a:rPr>
              <a:t>Roast / Rock &amp; Roast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4A4540"/>
                </a:solidFill>
                <a:latin typeface="Arial"/>
              </a:rPr>
              <a:t>the year it scaled into an industry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4540"/>
                </a:solidFill>
                <a:latin typeface="Arial"/>
              </a:rPr>
              <a:t>A Brief History of Stand-Up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4316"/>
            <a:ext cx="5486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1005840"/>
            <a:ext cx="4572000" cy="3154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3048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2E93"/>
                </a:solidFill>
                <a:latin typeface="Arial"/>
              </a:rPr>
              <a:t>IN CLOSING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682496"/>
            <a:ext cx="4206240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A1A1A"/>
                </a:solidFill>
                <a:latin typeface="Arial Black"/>
              </a:rPr>
              <a:t>The cheapest stage,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A1A1A"/>
                </a:solidFill>
                <a:latin typeface="Arial Black"/>
              </a:rPr>
              <a:t>the freest mic.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17520"/>
            <a:ext cx="42062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540"/>
                </a:solidFill>
                <a:latin typeface="Arial"/>
              </a:rPr>
              <a:t>One person, one mic, turning truth into laughter — from Mark Twain to today, the form has barely changed.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675887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FF2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675887"/>
            <a:ext cx="1645920" cy="40233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THANKS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