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actuals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 forecast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tension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Pre-2020
avg</c:v>
                </c:pt>
                <c:pt idx="1">
                  <c:v>2022
peak</c:v>
                </c:pt>
                <c:pt idx="2">
                  <c:v>End
2025</c:v>
                </c:pt>
                <c:pt idx="3">
                  <c:v>Q1
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(after inflation)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applications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THE POLDER REPORT  ·  LABOUR-MARKET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The Netherlands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Job Market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A data-driven read on a market that has cooled at the top and stayed scarce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8A8478"/>
                </a:solidFill>
                <a:latin typeface="Courier New"/>
              </a:rPr>
              <a:t>AS OF 12 JULY 2026   ·   SOURCES: 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story in four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Strong employment, easing tension, real wage gains — and a door to foreign talent that is quietly narrowing.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UNEMPLOYMENT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Q2 2026 — among the EU's lowest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LABOUR-MARKET 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vacancies per 100 unemployed (Q1 2026)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NEGOTIATED WAGES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year-on-year, +2.0% in real terms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FEMALE EMPLOYMENT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the highest rate in the EU-27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(unemployment, tension, wages, female employment); Eurostat (EU average).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MACRO EMPLOYMENT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Cooling gently, from a historic 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UNEMPLOYMENT RATE, % OF LABOUR FORCE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FLOOR IS HOLDING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Joblessness is edging up as growth slows — but from a genuine low. It sits far under the EU average of 6.0% and the euro-area's 6.2%.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400,000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unemployed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out of a ~10 million labour force (CBS, Q4 2025).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labour-force figures; European Commission forecast; Eurostat (May 2026).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LABOUR-MARKET TIGHTNESS  · 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Cooled from red-hot — but far from loose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vacancies per 100 jobseekers — just below parity, down from a 2022 peak of 142, yet still 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~3× the pre-2020 norm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of 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SO WHAT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Aggregate balance masks structural scarcity: specific sectors and regions stay acutely short of workers.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(quarterly vacancy-to-unemployment tension ratio; 2022 peak and pre-pandemic norm per CBS series).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STRUCTURAL TRAITS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high-participation, part-time economy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PARTICIPATION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The EU's highest female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employment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Female employment, ages 15–74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above the EU average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PART-TIME CULTURE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Europe's part-time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~1.9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work a 28–35h week — up 300,000 in four years. Two-thirds of employed mothers work part-time: a reserve of hours the tight market can still draw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Eurostat (employment rates and part-time shares, 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SHORTAGE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Where the scarcity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Even as the aggregate cools, UWV flags persistent, structural shortages in five areas — roughly 45% of vacancies in these fields went unfilled in late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Healthcare &amp; social care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Nurses, carers and specialists — an ageing population's structural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ICT &amp;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Software developers and data specialists top the demand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Technical trades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Electricians, mechanics, installation and maintenance fitters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Education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Primary-school teachers and STEM staff in chronic short supply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Transport &amp; 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Drivers and logistics planners across the Randstad corridor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 (shortage-occupation and unfilled-vacancy reporting, 2025–2026).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PAY &amp; WAGES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Wages are beating inflation again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NEGOTIATED (CAO) WAGE GROWTH, YEAR-ON-YEAR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REAL GAINS, THREE YEARS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Collectively-agreed pay rose 4.5% in early 2026 — 2.0 points ahead of inflation. Households are genuinely getting richer.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/hr minimum wage (21+)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from 1 July 2026 · average pay ≈ €53.4k/yr.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(CAO negotiated-wage index); Business.gov.nl (minimum wage). 2024 figure indicative.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SALARY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wide spread across the sectors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INDICATIVE GROSS SALARY, € PER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ICT &amp; technology (mid-level)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Engineering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Finance &amp; business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National average (CBS)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Healthcare (registered nurse)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Hospitality &amp; retail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SPREAD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Technology pays roughly 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double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what hospitality and retail do — the widest gap between two big sectors.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Read as ranges, not points. Sector figures are indicative recruiter-survey midpoints; the €53.4k average is CBS.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(national average salary, 2026); sector midpoints from recruiter salary guides — indicative.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highly skilled migrant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The kennismigrant scheme has no labour-market test — eligibility runs almost entirely on a gross monthly salary threshold set by age and profile (2026, excl. 8% holiday pay).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age 30 and 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under age 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RECENT GRADUATE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orientation-year visa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ACADEMIC RESEARCHER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public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~10,000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recognised sponsors    ·    top nationalities: 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India, Türkiye, China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thresholds indexed yearly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 (required salary amounts 2026; recognised-sponsor register); OECD (nationality mix).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POLICY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welcome is quietly tightening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THE 30% EXPAT RULING, PHASED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tax-free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income norm €46,107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1 Jan 2027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tax-free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norm rises to €50,436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Under-30 MSc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higher 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HIGHLY SKILLED MIGRANT APPLICATIONS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Applications fell ~16% in a year; non-EU skilled arrivals dropped further to ≈14,000 in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Lower tax break + higher salary bars = a costlier, more selective door.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 (30%→27% ruling and income norms, 2027); IND &amp; OECD (applications and arrivals).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REGIONAL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Tight everywhere, hotter in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Utrecht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Zeeland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Netherlands (avg)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Groningen (recovering)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 of 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classed “extremely tight” (5+ vacancies per jobseeker).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Randstad core runs hottest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Utrecht and the central belt lead the country for tension.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Only two provinces held steady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Unemployment rose in 2025 everywhere except Utrecht and Limburg.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UWV (provincial tension ratios and 35-region labour-market classification, 2025–2026).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OUTLOOK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Balance at the top, scarcity underneath.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Unemployment edges up to 2027 as growth stays modest — still historically 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Total jobs still grow through 2027 (UWV): cooling, not contracting.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 in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employed mothers work part-time; an ageing workforce keeps shortages tight.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Rabobank, European Commission &amp; ABN AMRO (2026–27 forecasts); UWV (job-growth &amp; reskilling outlook).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IN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Five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Cooled, not slack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Vacancies now roughly match jobseekers — down from the 2022 peak, but still ~3× the pre-2020 norm.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Scarcity is structural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Care, ICT, technical trades, teaching and logistics stay acutely short whatever the aggregate does.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Pay is winning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Negotiated wages have beaten inflation three years running; real incomes are rising.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The door is narrowing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 27% expat ruling, higher salary bars and fewer permits make foreign hiring costlier and more selective.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Demographics set the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An ageing, part-time workforce keeps the market tight — reskilling, not slack, is the release valve.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SOURCES  ·  VERIFIED AS OF 12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unemployment, vacancies &amp; tension, wages (CAO index), participation, average salary.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European Commission — Autumn 2025 forecast, Netherlands (unemployment 2026–27).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harmonised unemployment, NL vs EU / euro-area (May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shortage occupations, 35-region tightness map, 2026–27 job-growth outlook.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highly skilled migrant salary thresholds 2026; recognised-sponsor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statutory minimum wage (Jul 2026); 30%→27% expat ruling (2027).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International Migration Outlook 2025 (permits, arrivals, nationality mix).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macro &amp; labour-market commentary.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Recruiter salary guides — indicative sector midpoints (not official statistics).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An example deck for the slide-maker template gallery. 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The visual system is reusable — swap in your own verified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