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Vacancies (k)</c:v>
                </c:pt>
              </c:strCache>
            </c:strRef>
          </c:tx>
          <c:spPr>
            <a:ln w="31750">
              <a:solidFill>
                <a:srgbClr val="BE672B"/>
              </a:solidFill>
            </a:ln>
          </c:spPr>
          <c:marker>
            <c:spPr>
              <a:solidFill>
                <a:srgbClr val="BE672B"/>
              </a:solidFill>
              <a:ln>
                <a:solidFill>
                  <a:srgbClr val="BE672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471</c:v>
                </c:pt>
                <c:pt idx="1">
                  <c:v>425</c:v>
                </c:pt>
                <c:pt idx="2">
                  <c:v>401</c:v>
                </c:pt>
                <c:pt idx="3">
                  <c:v>380</c:v>
                </c:pt>
                <c:pt idx="4">
                  <c:v>378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Unemployed (k)</c:v>
                </c:pt>
              </c:strCache>
            </c:strRef>
          </c:tx>
          <c:spPr>
            <a:ln w="31750">
              <a:solidFill>
                <a:srgbClr val="B8BECC"/>
              </a:solidFill>
            </a:ln>
          </c:spPr>
          <c:marker>
            <c:spPr>
              <a:solidFill>
                <a:srgbClr val="B8BECC"/>
              </a:solidFill>
              <a:ln>
                <a:solidFill>
                  <a:srgbClr val="B8BEC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350</c:v>
                </c:pt>
                <c:pt idx="1">
                  <c:v>365</c:v>
                </c:pt>
                <c:pt idx="2">
                  <c:v>385</c:v>
                </c:pt>
                <c:pt idx="3">
                  <c:v>410</c:v>
                </c:pt>
                <c:pt idx="4">
                  <c:v>399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491740"/>
            <a:ext cx="9144000" cy="2651760"/>
          </a:xfrm>
          <a:prstGeom prst="rect">
            <a:avLst/>
          </a:prstGeom>
          <a:gradFill>
            <a:gsLst>
              <a:gs pos="0">
                <a:srgbClr val="F4EBDA">
                  <a:alpha val="0"/>
                </a:srgbClr>
              </a:gs>
              <a:gs pos="45000">
                <a:srgbClr val="F4EBDA">
                  <a:alpha val="97000"/>
                </a:srgbClr>
              </a:gs>
              <a:gs pos="100000">
                <a:srgbClr val="F4EBDA">
                  <a:alpha val="99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50108"/>
            <a:ext cx="7863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E672B"/>
                </a:solidFill>
                <a:latin typeface="Calibri"/>
              </a:rPr>
              <a:t>THE 2026 DUTCH JOB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3479291"/>
            <a:ext cx="8046720" cy="960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6334C"/>
                </a:solidFill>
                <a:latin typeface="Georgia"/>
              </a:rPr>
              <a:t>A looser market, a sharper game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430268"/>
            <a:ext cx="1005840" cy="50292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576572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D4E5B"/>
                </a:solidFill>
                <a:latin typeface="Calibri"/>
              </a:rPr>
              <a:t>Analysis &amp; advice for internationals job-hunting in the Netherlands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4585716"/>
            <a:ext cx="2057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334C"/>
                </a:solidFill>
                <a:latin typeface="Calibri"/>
              </a:rPr>
              <a:t>as of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</a:rPr>
              <a:t>PART 1 · THE MACRO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</a:rPr>
              <a:t>The market has loosened — but it's still winnable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28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3732"/>
            <a:ext cx="5943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The 2026 Dutch job market for internationals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3732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2560319" cy="1481328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325880"/>
            <a:ext cx="91440" cy="1481328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527048"/>
            <a:ext cx="2103119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</a:rPr>
              <a:t>UNEMPLOYMENT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783080"/>
            <a:ext cx="2103119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</a:rPr>
              <a:t>3.9%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59736"/>
            <a:ext cx="210311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May 2026 · 399k people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39" y="1325880"/>
            <a:ext cx="2560319" cy="1481328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91839" y="1325880"/>
            <a:ext cx="91440" cy="1481328"/>
          </a:xfrm>
          <a:prstGeom prst="roundRect">
            <a:avLst>
              <a:gd name="adj" fmla="val 5000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1" y="1527048"/>
            <a:ext cx="2103119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</a:rPr>
              <a:t>OPEN VACANCIES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1" y="1783080"/>
            <a:ext cx="2103119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</a:rPr>
              <a:t>378k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1" y="2459736"/>
            <a:ext cx="210311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end of Q1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19" y="1325880"/>
            <a:ext cx="2560319" cy="1481328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19" y="1325880"/>
            <a:ext cx="91440" cy="1481328"/>
          </a:xfrm>
          <a:prstGeom prst="roundRect">
            <a:avLst>
              <a:gd name="adj" fmla="val 5000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1" y="1527048"/>
            <a:ext cx="2103119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</a:rPr>
              <a:t>VACANCIES / 100 JOBSEEKERS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1" y="1783080"/>
            <a:ext cx="2103119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</a:rPr>
              <a:t>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1" y="2459736"/>
            <a:ext cx="210311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first dip below 100 since 2021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48640" y="3017520"/>
          <a:ext cx="49834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5715000" y="3017520"/>
            <a:ext cx="2880360" cy="1554480"/>
          </a:xfrm>
          <a:prstGeom prst="roundRect">
            <a:avLst>
              <a:gd name="adj" fmla="val 5882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5715000" y="3017520"/>
            <a:ext cx="2880360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16168" y="3054096"/>
            <a:ext cx="2478024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6168" y="3529584"/>
            <a:ext cx="2478024" cy="896111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D4E5B"/>
                </a:solidFill>
                <a:latin typeface="Calibri"/>
              </a:rPr>
              <a:t>Tightness has eased from its 2022 peak — jobseekers now </a:t>
            </a:r>
            <a:r>
              <a:rPr sz="1150" b="1" i="0">
                <a:solidFill>
                  <a:srgbClr val="16334C"/>
                </a:solidFill>
                <a:latin typeface="Calibri"/>
              </a:rPr>
              <a:t>slightly outnumber vacancies</a:t>
            </a:r>
            <a:r>
              <a:rPr sz="1150" b="0" i="0">
                <a:solidFill>
                  <a:srgbClr val="3D4E5B"/>
                </a:solidFill>
                <a:latin typeface="Calibri"/>
              </a:rPr>
              <a:t>. The market is normalising, not crashing (GDP still grows ~1–1.4%).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</a:rPr>
              <a:t>PART 1 · WHERE THE JOBS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</a:rPr>
              <a:t>Shortages persist — but they're concentrated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28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3732"/>
            <a:ext cx="5943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The 2026 Dutch job market for internationals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3732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5" y="141732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" y="1417320"/>
            <a:ext cx="1335024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Healthcare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nurses, care, GPs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8255" y="141732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7" y="1417320"/>
            <a:ext cx="1335024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IT / Tech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software, data, cyber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85615" y="141732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1417320"/>
            <a:ext cx="1335024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Engineering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incl. semiconductors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22975" y="141732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1847" y="1298448"/>
            <a:ext cx="1335024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Trades
install/build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0336" y="141732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6E7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9208" y="1417320"/>
            <a:ext cx="1335024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Education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teachers, STEM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560320"/>
            <a:ext cx="3977639" cy="960120"/>
          </a:xfrm>
          <a:prstGeom prst="roundRect">
            <a:avLst>
              <a:gd name="adj" fmla="val 9523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24912"/>
            <a:ext cx="35661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baseline="25412">
                <a:solidFill>
                  <a:srgbClr val="003C66"/>
                </a:solidFill>
                <a:latin typeface="Calibri"/>
              </a:rPr>
              <a:t>68k → </a:t>
            </a:r>
            <a:r>
              <a:rPr sz="2900" b="1" i="0">
                <a:solidFill>
                  <a:srgbClr val="2C6B76"/>
                </a:solidFill>
                <a:latin typeface="Calibri"/>
              </a:rPr>
              <a:t>71k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82112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D4E5B"/>
                </a:solidFill>
                <a:latin typeface="Calibri"/>
              </a:rPr>
              <a:t>Healthcare — still </a:t>
            </a:r>
            <a:r>
              <a:rPr sz="1100" b="1" i="0">
                <a:solidFill>
                  <a:srgbClr val="16334C"/>
                </a:solidFill>
                <a:latin typeface="Calibri"/>
              </a:rPr>
              <a:t>adding</a:t>
            </a:r>
            <a:r>
              <a:rPr sz="1100" b="0" i="0">
                <a:solidFill>
                  <a:srgbClr val="3D4E5B"/>
                </a:solidFill>
                <a:latin typeface="Calibri"/>
              </a:rPr>
              <a:t> jobs (Q4 2025)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2560320"/>
            <a:ext cx="3886200" cy="960120"/>
          </a:xfrm>
          <a:prstGeom prst="roundRect">
            <a:avLst>
              <a:gd name="adj" fmla="val 9523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8" y="2724912"/>
            <a:ext cx="3483864" cy="64922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D4E5B"/>
                </a:solidFill>
                <a:latin typeface="Calibri"/>
              </a:rPr>
              <a:t>Meanwhile trade and business-services </a:t>
            </a:r>
            <a:r>
              <a:rPr sz="1150" b="1" i="0">
                <a:solidFill>
                  <a:srgbClr val="16334C"/>
                </a:solidFill>
                <a:latin typeface="Calibri"/>
              </a:rPr>
              <a:t>shed</a:t>
            </a:r>
            <a:r>
              <a:rPr sz="1150" b="0" i="0">
                <a:solidFill>
                  <a:srgbClr val="3D4E5B"/>
                </a:solidFill>
                <a:latin typeface="Calibri"/>
              </a:rPr>
              <a:t> vacancies — openings are real, but only in the right corners.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75887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822191"/>
            <a:ext cx="73152" cy="576071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813048"/>
            <a:ext cx="1554480" cy="59435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</a:rPr>
              <a:t>TAKEAWAY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794759"/>
            <a:ext cx="6126480" cy="63093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Aim at shortage sectors.  </a:t>
            </a:r>
            <a:r>
              <a:rPr sz="1250" b="0" i="0">
                <a:solidFill>
                  <a:srgbClr val="CFD3CC"/>
                </a:solidFill>
                <a:latin typeface="Calibri"/>
              </a:rPr>
              <a:t>They are your highest-probability door into the market.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</a:rPr>
              <a:t>PART 1 · THE ENGLISH-SPEAKING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</a:rPr>
              <a:t>How far can you get on English alone?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28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3732"/>
            <a:ext cx="5943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The 2026 Dutch job market for internationals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3732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931920" cy="2057400"/>
          </a:xfrm>
          <a:prstGeom prst="roundRect">
            <a:avLst>
              <a:gd name="adj" fmla="val 444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371600"/>
            <a:ext cx="3931920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08176"/>
            <a:ext cx="3529584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OFTEN OPEN IN ENGLISH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002536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920240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</a:rPr>
              <a:t>Multinationals &amp; HQs — </a:t>
            </a:r>
            <a:r>
              <a:rPr sz="1250" b="0" i="0">
                <a:solidFill>
                  <a:srgbClr val="3A4A55"/>
                </a:solidFill>
                <a:latin typeface="Calibri"/>
              </a:rPr>
              <a:t>run in English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326640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2244344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</a:rPr>
              <a:t>Tech / IT — </a:t>
            </a:r>
            <a:r>
              <a:rPr sz="1250" b="0" i="0">
                <a:solidFill>
                  <a:srgbClr val="3A4A55"/>
                </a:solidFill>
                <a:latin typeface="Calibri"/>
              </a:rPr>
              <a:t>software, data, product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650743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568448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</a:rPr>
              <a:t>Finance, consulting, </a:t>
            </a:r>
            <a:r>
              <a:rPr sz="1250" b="0" i="0">
                <a:solidFill>
                  <a:srgbClr val="3A4A55"/>
                </a:solidFill>
                <a:latin typeface="Calibri"/>
              </a:rPr>
              <a:t>scale-ups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74847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2892552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</a:rPr>
              <a:t>Academia &amp; </a:t>
            </a:r>
            <a:r>
              <a:rPr sz="1250" b="0" i="0">
                <a:solidFill>
                  <a:srgbClr val="3A4A55"/>
                </a:solidFill>
                <a:latin typeface="Calibri"/>
              </a:rPr>
              <a:t>research institutes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298951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3088639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</a:rPr>
              <a:t>Randstad / Brainport startups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1371600"/>
            <a:ext cx="3931920" cy="2057400"/>
          </a:xfrm>
          <a:prstGeom prst="roundRect">
            <a:avLst>
              <a:gd name="adj" fmla="val 444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4663440" y="1371600"/>
            <a:ext cx="3931920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7" y="1408176"/>
            <a:ext cx="3529584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USUALLY NEEDS DUTCH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2002536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93207" y="1920240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</a:rPr>
              <a:t>Public sector &amp; </a:t>
            </a:r>
            <a:r>
              <a:rPr sz="1250" b="0" i="0">
                <a:solidFill>
                  <a:srgbClr val="3A4A55"/>
                </a:solidFill>
                <a:latin typeface="Calibri"/>
              </a:rPr>
              <a:t>government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2326640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93207" y="2244344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</a:rPr>
              <a:t>Frontline healthcare </a:t>
            </a:r>
            <a:r>
              <a:rPr sz="1250" b="0" i="0">
                <a:solidFill>
                  <a:srgbClr val="3A4A55"/>
                </a:solidFill>
                <a:latin typeface="Calibri"/>
              </a:rPr>
              <a:t>&amp; care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2650743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93207" y="2568448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</a:rPr>
              <a:t>Client-facing sales &amp; </a:t>
            </a:r>
            <a:r>
              <a:rPr sz="1250" b="0" i="0">
                <a:solidFill>
                  <a:srgbClr val="3A4A55"/>
                </a:solidFill>
                <a:latin typeface="Calibri"/>
              </a:rPr>
              <a:t>local SMEs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2974847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93207" y="2892552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3C66"/>
                </a:solidFill>
                <a:latin typeface="Calibri"/>
              </a:rPr>
              <a:t>Many admin, legal &amp; </a:t>
            </a:r>
            <a:r>
              <a:rPr sz="1250" b="0" i="0">
                <a:solidFill>
                  <a:srgbClr val="3A4A55"/>
                </a:solidFill>
                <a:latin typeface="Calibri"/>
              </a:rPr>
              <a:t>ops roles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675887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822191"/>
            <a:ext cx="73152" cy="576071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" y="3813048"/>
            <a:ext cx="1554480" cy="59435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</a:rPr>
              <a:t>TAKEAWAY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3794759"/>
            <a:ext cx="6126480" cy="63093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Target English-first employers.  </a:t>
            </a:r>
            <a:r>
              <a:rPr sz="1250" b="0" i="0">
                <a:solidFill>
                  <a:srgbClr val="CFD3CC"/>
                </a:solidFill>
                <a:latin typeface="Calibri"/>
              </a:rPr>
              <a:t>Learning Dutch later widens the funnel dramatically.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gradFill>
            <a:gsLst>
              <a:gs pos="0">
                <a:srgbClr val="F4EBDA">
                  <a:alpha val="96000"/>
                </a:srgbClr>
              </a:gs>
              <a:gs pos="70000">
                <a:srgbClr val="F4EBDA">
                  <a:alpha val="88000"/>
                </a:srgbClr>
              </a:gs>
              <a:gs pos="100000">
                <a:srgbClr val="F4EBDA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863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E672B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7955279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6334C"/>
                </a:solidFill>
                <a:latin typeface="Georgia"/>
              </a:rPr>
              <a:t>The system: visas, money &amp; politics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D4E5B"/>
                </a:solidFill>
                <a:latin typeface="Calibri"/>
              </a:rPr>
              <a:t>What governs whether — and on what terms — you can actually work 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</a:rPr>
              <a:t>PART 2 · THE VISA 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</a:rPr>
              <a:t>Your main door: the highly-skilled migrant route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28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3732"/>
            <a:ext cx="5943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The 2026 Dutch job market for internationals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3732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2560319" cy="1508760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91440" cy="1508760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572768"/>
            <a:ext cx="2103119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</a:rPr>
              <a:t>AGE 30 AND 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28800"/>
            <a:ext cx="2103119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</a:rPr>
              <a:t>€5,942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578608"/>
            <a:ext cx="210311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gross / month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39" y="1371600"/>
            <a:ext cx="2560319" cy="1508760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91839" y="1371600"/>
            <a:ext cx="91440" cy="1508760"/>
          </a:xfrm>
          <a:prstGeom prst="roundRect">
            <a:avLst>
              <a:gd name="adj" fmla="val 5000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1" y="1572768"/>
            <a:ext cx="2103119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</a:rPr>
              <a:t>UNDER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1" y="1828800"/>
            <a:ext cx="2103119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</a:rPr>
              <a:t>€4,357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1" y="2578608"/>
            <a:ext cx="210311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gross / month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19" y="1371600"/>
            <a:ext cx="2560319" cy="1508760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19" y="1371600"/>
            <a:ext cx="91440" cy="1508760"/>
          </a:xfrm>
          <a:prstGeom prst="roundRect">
            <a:avLst>
              <a:gd name="adj" fmla="val 5000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1" y="1572768"/>
            <a:ext cx="2103119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</a:rPr>
              <a:t>REDUCED (RECENT GRADS)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1" y="1828800"/>
            <a:ext cx="2103119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</a:rPr>
              <a:t>€3,122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1" y="2578608"/>
            <a:ext cx="210311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gross / month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923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867968"/>
                </a:solidFill>
                <a:latin typeface="Calibri"/>
              </a:rPr>
              <a:t>2026 IND salary thresholds, excluding 8% holiday allowance.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666744"/>
            <a:ext cx="73152" cy="576071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657600"/>
            <a:ext cx="1554480" cy="59435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</a:rPr>
              <a:t>THE CATCH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3639312"/>
            <a:ext cx="6126480" cy="63093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Your employer must be a recognised sponsor.  </a:t>
            </a:r>
            <a:r>
              <a:rPr sz="1250" b="0" i="0">
                <a:solidFill>
                  <a:srgbClr val="CFD3CC"/>
                </a:solidFill>
                <a:latin typeface="Calibri"/>
              </a:rPr>
              <a:t>So your job search is really a sponsor search — filter every opening by the IND public register.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</a:rPr>
              <a:t>PART 2 · THE MONEY 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</a:rPr>
              <a:t>The 30% ruling: a real perk, but shrinking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28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3732"/>
            <a:ext cx="5943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The 2026 Dutch job market for internationals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3732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931920" cy="2240280"/>
          </a:xfrm>
          <a:prstGeom prst="roundRect">
            <a:avLst>
              <a:gd name="adj" fmla="val 4081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72768"/>
            <a:ext cx="35661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672B"/>
                </a:solidFill>
                <a:latin typeface="Calibri"/>
              </a:rPr>
              <a:t>TAX-FREE ALLOWANCE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74519"/>
            <a:ext cx="34747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 baseline="22154">
                <a:solidFill>
                  <a:srgbClr val="003C66"/>
                </a:solidFill>
                <a:latin typeface="Calibri"/>
              </a:rPr>
              <a:t>30% → </a:t>
            </a:r>
            <a:r>
              <a:rPr sz="4200" b="1" i="0">
                <a:solidFill>
                  <a:srgbClr val="BE672B"/>
                </a:solidFill>
                <a:latin typeface="Calibri"/>
              </a:rPr>
              <a:t>27%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7480"/>
            <a:ext cx="3566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D4E5B"/>
                </a:solidFill>
                <a:latin typeface="Calibri"/>
              </a:rPr>
              <a:t>The 30% tax-free allowance for skilled migrants stays at 30% in 2026, then drops to 27% from 1 Jan 2027.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41732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672B"/>
                </a:solidFill>
                <a:latin typeface="Calibri"/>
              </a:rPr>
              <a:t>HOW IT GOT HERE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0795" y="1810512"/>
            <a:ext cx="21945" cy="178308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181965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1807" y="1755648"/>
            <a:ext cx="31546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A0AE"/>
                </a:solidFill>
                <a:latin typeface="Calibri"/>
              </a:rPr>
              <a:t>2024  </a:t>
            </a:r>
            <a:r>
              <a:rPr sz="1300" b="1" i="0">
                <a:solidFill>
                  <a:srgbClr val="003C66"/>
                </a:solidFill>
                <a:latin typeface="Calibri"/>
              </a:rPr>
              <a:t>“30-20-10” scrapped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7" y="2048256"/>
            <a:ext cx="3154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feared step-down cancelled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19472" y="241401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7" y="2350008"/>
            <a:ext cx="31546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A0AE"/>
                </a:solidFill>
                <a:latin typeface="Calibri"/>
              </a:rPr>
              <a:t>2026  </a:t>
            </a:r>
            <a:r>
              <a:rPr sz="1300" b="1" i="0">
                <a:solidFill>
                  <a:srgbClr val="003C66"/>
                </a:solidFill>
                <a:latin typeface="Calibri"/>
              </a:rPr>
              <a:t>Stays at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642616"/>
            <a:ext cx="3154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current rate held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19472" y="30083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21807" y="2944368"/>
            <a:ext cx="31546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E672B"/>
                </a:solidFill>
                <a:latin typeface="Calibri"/>
              </a:rPr>
              <a:t>2027  </a:t>
            </a:r>
            <a:r>
              <a:rPr sz="1300" b="1" i="0">
                <a:solidFill>
                  <a:srgbClr val="003C66"/>
                </a:solidFill>
                <a:latin typeface="Calibri"/>
              </a:rPr>
              <a:t>Drops to 27%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7" y="3236976"/>
            <a:ext cx="3154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confirmed reduction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033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849624"/>
            <a:ext cx="73152" cy="576071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840480"/>
            <a:ext cx="1554480" cy="59435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</a:rPr>
              <a:t>TAKEAWAY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822191"/>
            <a:ext cx="6126480" cy="63093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Don't over-budget on it.  </a:t>
            </a:r>
            <a:r>
              <a:rPr sz="1250" b="0" i="0">
                <a:solidFill>
                  <a:srgbClr val="CFD3CC"/>
                </a:solidFill>
                <a:latin typeface="Calibri"/>
              </a:rPr>
              <a:t>It's still worth real money — just less, and trending down.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</a:rPr>
              <a:t>PART 2 · POLITICS &amp;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</a:rPr>
              <a:t>Headwinds: the rules are in 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28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3732"/>
            <a:ext cx="5943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The 2026 Dutch job market for internationals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3732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2560319" cy="1874519"/>
          </a:xfrm>
          <a:prstGeom prst="roundRect">
            <a:avLst>
              <a:gd name="adj" fmla="val 4878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365760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2157983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HSM TIGHTENING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83664"/>
            <a:ext cx="2157983" cy="1216151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D4E5B"/>
                </a:solidFill>
                <a:latin typeface="Calibri"/>
              </a:rPr>
              <a:t>A July 2025 plan to raise salary thresholds &amp; cap the grad rate was </a:t>
            </a:r>
            <a:r>
              <a:rPr sz="1100" b="1" i="0">
                <a:solidFill>
                  <a:srgbClr val="16334C"/>
                </a:solidFill>
                <a:latin typeface="Calibri"/>
              </a:rPr>
              <a:t>sent back by Parliament (Nov 2025)</a:t>
            </a:r>
            <a:r>
              <a:rPr sz="1100" b="0" i="0">
                <a:solidFill>
                  <a:srgbClr val="3D4E5B"/>
                </a:solidFill>
                <a:latin typeface="Calibri"/>
              </a:rPr>
              <a:t> — proposed, not law.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39" y="1371600"/>
            <a:ext cx="2560319" cy="1874519"/>
          </a:xfrm>
          <a:prstGeom prst="roundRect">
            <a:avLst>
              <a:gd name="adj" fmla="val 4878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3291839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7" y="1408176"/>
            <a:ext cx="2157983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BALANCED MIGRATION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7" y="1883664"/>
            <a:ext cx="2157983" cy="1216151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D4E5B"/>
                </a:solidFill>
                <a:latin typeface="Calibri"/>
              </a:rPr>
              <a:t>Active political push to curb labour migration and international student intake (numerus fixus on English tracks).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19" y="1371600"/>
            <a:ext cx="2560319" cy="1874519"/>
          </a:xfrm>
          <a:prstGeom prst="roundRect">
            <a:avLst>
              <a:gd name="adj" fmla="val 4878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217919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7" y="1408176"/>
            <a:ext cx="2157983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EU MIGRATION 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7" y="1856232"/>
            <a:ext cx="2157983" cy="1216151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D4E5B"/>
                </a:solidFill>
                <a:latin typeface="Calibri"/>
              </a:rPr>
              <a:t>From 12 June 2026, the EU Migration &amp; Asylum Pact changes parts of the system.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49624"/>
            <a:ext cx="73152" cy="576071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3840480"/>
            <a:ext cx="1554480" cy="59435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</a:rPr>
              <a:t>TAKEAWAY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822191"/>
            <a:ext cx="6126480" cy="63093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Move while conditions are favourable.  </a:t>
            </a:r>
            <a:r>
              <a:rPr sz="1250" b="0" i="0">
                <a:solidFill>
                  <a:srgbClr val="CFD3CC"/>
                </a:solidFill>
                <a:latin typeface="Calibri"/>
              </a:rPr>
              <a:t>The policy mood is tightening — keep watching the news.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</a:rPr>
              <a:t>PART 2 · THE HOUSING BARRIER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</a:rPr>
              <a:t>The real bottleneck may be housing, not the job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28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3732"/>
            <a:ext cx="5943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The 2026 Dutch job market for internationals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3732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4023359" cy="1481328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91440" cy="1481328"/>
          </a:xfrm>
          <a:prstGeom prst="roundRect">
            <a:avLst>
              <a:gd name="adj" fmla="val 5000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572768"/>
            <a:ext cx="3566159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</a:rPr>
              <a:t>NATIONAL HOUSING SHORTAGE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28800"/>
            <a:ext cx="3566159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</a:rPr>
              <a:t>~410k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505456"/>
            <a:ext cx="356615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homes short · 4.8% of the stock (early 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371600"/>
            <a:ext cx="4023359" cy="1481328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1371600"/>
            <a:ext cx="91440" cy="1481328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572768"/>
            <a:ext cx="3566159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7968"/>
                </a:solidFill>
                <a:latin typeface="Calibri"/>
              </a:rPr>
              <a:t>NEW-TENANT RENTS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1828800"/>
            <a:ext cx="3566159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03C66"/>
                </a:solidFill>
                <a:latin typeface="Calibri"/>
              </a:rPr>
              <a:t>+7.3%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505456"/>
            <a:ext cx="356615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67968"/>
                </a:solidFill>
                <a:latin typeface="Calibri"/>
              </a:rPr>
              <a:t>year-on-year · €21.12 / m² (Q1 2026)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971800"/>
            <a:ext cx="8046720" cy="640080"/>
          </a:xfrm>
          <a:prstGeom prst="roundRect">
            <a:avLst>
              <a:gd name="adj" fmla="val 14285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099816"/>
            <a:ext cx="7644384" cy="32918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D4E5B"/>
                </a:solidFill>
                <a:latin typeface="Calibri"/>
              </a:rPr>
              <a:t>Free-sector rentals are shrinking while competition rises — expats feel it hardest in Eindhoven/Brainport.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49624"/>
            <a:ext cx="73152" cy="576071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3840480"/>
            <a:ext cx="1554480" cy="59435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</a:rPr>
              <a:t>PLAN EARLY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822191"/>
            <a:ext cx="6126480" cy="63093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Budget and search for housing up front.  </a:t>
            </a:r>
            <a:r>
              <a:rPr sz="1250" b="0" i="0">
                <a:solidFill>
                  <a:srgbClr val="CFD3CC"/>
                </a:solidFill>
                <a:latin typeface="Calibri"/>
              </a:rPr>
              <a:t>It can be harder to secure than the offer itself.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gradFill>
            <a:gsLst>
              <a:gs pos="0">
                <a:srgbClr val="F4EBDA">
                  <a:alpha val="96000"/>
                </a:srgbClr>
              </a:gs>
              <a:gs pos="70000">
                <a:srgbClr val="F4EBDA">
                  <a:alpha val="88000"/>
                </a:srgbClr>
              </a:gs>
              <a:gs pos="100000">
                <a:srgbClr val="F4EBDA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863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E672B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04672"/>
            <a:ext cx="7955279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6334C"/>
                </a:solidFill>
                <a:latin typeface="Georgia"/>
              </a:rPr>
              <a:t>The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D4E5B"/>
                </a:solidFill>
                <a:latin typeface="Calibri"/>
              </a:rPr>
              <a:t>Turning the analysis into a concrete job-hunting strategy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</a:rPr>
              <a:t>PART 3 · STUDENTS &amp; GRADUATES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</a:rPr>
              <a:t>Graduates get a privileged on-ramp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28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3732"/>
            <a:ext cx="5943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The 2026 Dutch job market for internationals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3732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931920" cy="2240280"/>
          </a:xfrm>
          <a:prstGeom prst="roundRect">
            <a:avLst>
              <a:gd name="adj" fmla="val 4081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371600"/>
            <a:ext cx="3931920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08176"/>
            <a:ext cx="3529584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ORIENTATION YEAR (“ZOEKJAAR”)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057400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975104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</a:rPr>
              <a:t>12-month permit </a:t>
            </a:r>
            <a:r>
              <a:rPr sz="1200" b="0" i="0">
                <a:solidFill>
                  <a:srgbClr val="3A4A55"/>
                </a:solidFill>
                <a:latin typeface="Calibri"/>
              </a:rPr>
              <a:t>after graduating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392680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2310384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</a:rPr>
              <a:t>Work </a:t>
            </a:r>
            <a:r>
              <a:rPr sz="1200" b="0" i="0">
                <a:solidFill>
                  <a:srgbClr val="3A4A55"/>
                </a:solidFill>
                <a:latin typeface="Calibri"/>
              </a:rPr>
              <a:t>any job, no salary floor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727960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645664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</a:rPr>
              <a:t>Employer </a:t>
            </a:r>
            <a:r>
              <a:rPr sz="1200" b="0" i="0">
                <a:solidFill>
                  <a:srgbClr val="3A4A55"/>
                </a:solidFill>
                <a:latin typeface="Calibri"/>
              </a:rPr>
              <a:t>need not be a sponsor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063240"/>
            <a:ext cx="82296" cy="82296"/>
          </a:xfrm>
          <a:prstGeom prst="rect">
            <a:avLst/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2980944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</a:rPr>
              <a:t>Then switch </a:t>
            </a:r>
            <a:r>
              <a:rPr sz="1200" b="0" i="0">
                <a:solidFill>
                  <a:srgbClr val="3A4A55"/>
                </a:solidFill>
                <a:latin typeface="Calibri"/>
              </a:rPr>
              <a:t>to the €3,122 reduced rate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1371600"/>
            <a:ext cx="3931920" cy="2240280"/>
          </a:xfrm>
          <a:prstGeom prst="roundRect">
            <a:avLst>
              <a:gd name="adj" fmla="val 4081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4663440" y="1371600"/>
            <a:ext cx="3931920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7" y="1408176"/>
            <a:ext cx="3529584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BUT THE MOOD IS SHIFTING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92040" y="2057400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93207" y="1975104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</a:rPr>
              <a:t>Numerus fixus </a:t>
            </a:r>
            <a:r>
              <a:rPr sz="1200" b="0" i="0">
                <a:solidFill>
                  <a:srgbClr val="3A4A55"/>
                </a:solidFill>
                <a:latin typeface="Calibri"/>
              </a:rPr>
              <a:t>on English-track degrees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2392680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93207" y="2310384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</a:rPr>
              <a:t>Internationalisation </a:t>
            </a:r>
            <a:r>
              <a:rPr sz="1200" b="0" i="0">
                <a:solidFill>
                  <a:srgbClr val="3A4A55"/>
                </a:solidFill>
                <a:latin typeface="Calibri"/>
              </a:rPr>
              <a:t>being curbed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2727960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93207" y="2645664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</a:rPr>
              <a:t>Signals </a:t>
            </a:r>
            <a:r>
              <a:rPr sz="1200" b="0" i="0">
                <a:solidFill>
                  <a:srgbClr val="3A4A55"/>
                </a:solidFill>
                <a:latin typeface="Calibri"/>
              </a:rPr>
              <a:t>a tighter future climate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3063240"/>
            <a:ext cx="82296" cy="82296"/>
          </a:xfrm>
          <a:prstGeom prst="rect">
            <a:avLst/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93207" y="2980944"/>
            <a:ext cx="3319272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C66"/>
                </a:solidFill>
                <a:latin typeface="Calibri"/>
              </a:rPr>
              <a:t>So act </a:t>
            </a:r>
            <a:r>
              <a:rPr sz="1200" b="0" i="0">
                <a:solidFill>
                  <a:srgbClr val="3A4A55"/>
                </a:solidFill>
                <a:latin typeface="Calibri"/>
              </a:rPr>
              <a:t>deliberately, don't drift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7033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849624"/>
            <a:ext cx="73152" cy="576071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3840480"/>
            <a:ext cx="1554480" cy="59435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E672B"/>
                </a:solidFill>
                <a:latin typeface="Calibri"/>
              </a:rPr>
              <a:t>TAKEAWAY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3822191"/>
            <a:ext cx="6126480" cy="63093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Use the orientation year as a runway —  </a:t>
            </a:r>
            <a:r>
              <a:rPr sz="1250" b="0" i="0">
                <a:solidFill>
                  <a:srgbClr val="CFD3CC"/>
                </a:solidFill>
                <a:latin typeface="Calibri"/>
              </a:rPr>
              <a:t>line up a sponsor before it ends.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</a:rPr>
              <a:t>PART 3 · THE PRACTICAL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</a:rPr>
              <a:t>Your six-move job-hunting playbook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28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3732"/>
            <a:ext cx="5943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The 2026 Dutch job market for internationals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3732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365760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2157983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1 · TARGET SPONSORS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83664"/>
            <a:ext cx="2157983" cy="42062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</a:rPr>
              <a:t>Filter roles by the IND recognised-sponsor public register.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39" y="1371600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3291839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2C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7" y="1408176"/>
            <a:ext cx="2157983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2 · ENGLISH-FIRST BOARDS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7" y="1883664"/>
            <a:ext cx="2157983" cy="42062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</a:rPr>
              <a:t>Undutchables, IamExpat, Together Abroad, Expatica, LinkedIn.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19" y="1371600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217919" y="1371600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16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7" y="1408176"/>
            <a:ext cx="2157983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3 · NETWORK HARD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7" y="1837944"/>
            <a:ext cx="2157983" cy="42062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</a:rPr>
              <a:t>Referrals beat cold applies: meetups, alumni, LinkedIn.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578608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365760" y="2578608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A66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615184"/>
            <a:ext cx="2157983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4 · LEARN DUTCH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090672"/>
            <a:ext cx="2157983" cy="42062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</a:rPr>
              <a:t>Even A2–B1 widens the funnel and signals commitment.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39" y="2578608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3291839" y="2578608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6E7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3007" y="2615184"/>
            <a:ext cx="2157983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5 · PICK YOUR REGION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3007" y="3044952"/>
            <a:ext cx="2157983" cy="42062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</a:rPr>
              <a:t>Randstad for breadth; Brainport for tech and engineering.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19" y="2578608"/>
            <a:ext cx="2560319" cy="1078992"/>
          </a:xfrm>
          <a:prstGeom prst="roundRect">
            <a:avLst>
              <a:gd name="adj" fmla="val 8474"/>
            </a:avLst>
          </a:prstGeom>
          <a:solidFill>
            <a:srgbClr val="FCF8EF"/>
          </a:solidFill>
          <a:ln w="12700">
            <a:solidFill>
              <a:srgbClr val="D9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6217919" y="2578608"/>
            <a:ext cx="2560319" cy="384048"/>
          </a:xfrm>
          <a:prstGeom prst="round2SameRect">
            <a:avLst>
              <a:gd name="adj1" fmla="val 23809"/>
              <a:gd name="adj2" fmla="val 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7" y="2615184"/>
            <a:ext cx="2157983" cy="3291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6 · TUNE YOUR CV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7" y="3090672"/>
            <a:ext cx="2157983" cy="42062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3D4E5B"/>
                </a:solidFill>
                <a:latin typeface="Calibri"/>
              </a:rPr>
              <a:t>Short, achievement-led, NL norms — no photo/age needed.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918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E672B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6334C"/>
                </a:solidFill>
                <a:latin typeface="Georgia"/>
              </a:rPr>
              <a:t>The strategy in five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25295"/>
            <a:ext cx="86868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7228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3732"/>
            <a:ext cx="5943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The 2026 Dutch job market for internationals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713732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334C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435608"/>
            <a:ext cx="82296" cy="8229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353312"/>
            <a:ext cx="775411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03C66"/>
                </a:solidFill>
                <a:latin typeface="Calibri"/>
              </a:rPr>
              <a:t>The door is open, but narrower — </a:t>
            </a:r>
            <a:r>
              <a:rPr sz="1450" b="0" i="0">
                <a:solidFill>
                  <a:srgbClr val="3A4A55"/>
                </a:solidFill>
                <a:latin typeface="Calibri"/>
              </a:rPr>
              <a:t>a normalising market, not a boom.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824736"/>
            <a:ext cx="82296" cy="8229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742440"/>
            <a:ext cx="775411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03C66"/>
                </a:solidFill>
                <a:latin typeface="Calibri"/>
              </a:rPr>
              <a:t>Aim at shortage sectors </a:t>
            </a:r>
            <a:r>
              <a:rPr sz="1450" b="0" i="0">
                <a:solidFill>
                  <a:srgbClr val="3A4A55"/>
                </a:solidFill>
                <a:latin typeface="Calibri"/>
              </a:rPr>
              <a:t>and English-first employers.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13863"/>
            <a:ext cx="82296" cy="8229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131568"/>
            <a:ext cx="775411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03C66"/>
                </a:solidFill>
                <a:latin typeface="Calibri"/>
              </a:rPr>
              <a:t>Hunt for recognised sponsors; </a:t>
            </a:r>
            <a:r>
              <a:rPr sz="1450" b="0" i="0">
                <a:solidFill>
                  <a:srgbClr val="3A4A55"/>
                </a:solidFill>
                <a:latin typeface="Calibri"/>
              </a:rPr>
              <a:t>your visa rides on the employer.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02991"/>
            <a:ext cx="82296" cy="8229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520695"/>
            <a:ext cx="775411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03C66"/>
                </a:solidFill>
                <a:latin typeface="Calibri"/>
              </a:rPr>
              <a:t>Treat housing as a core task, </a:t>
            </a:r>
            <a:r>
              <a:rPr sz="1450" b="0" i="0">
                <a:solidFill>
                  <a:srgbClr val="3A4A55"/>
                </a:solidFill>
                <a:latin typeface="Calibri"/>
              </a:rPr>
              <a:t>not an afterthought.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92119"/>
            <a:ext cx="82296" cy="82296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2909823"/>
            <a:ext cx="775411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03C66"/>
                </a:solidFill>
                <a:latin typeface="Calibri"/>
              </a:rPr>
              <a:t>Watch the policy — </a:t>
            </a:r>
            <a:r>
              <a:rPr sz="1450" b="0" i="0">
                <a:solidFill>
                  <a:srgbClr val="3A4A55"/>
                </a:solidFill>
                <a:latin typeface="Calibri"/>
              </a:rPr>
              <a:t>move while the conditions are favourable.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56432"/>
            <a:ext cx="1005840" cy="45720"/>
          </a:xfrm>
          <a:prstGeom prst="rect">
            <a:avLst/>
          </a:prstGeom>
          <a:solidFill>
            <a:srgbClr val="BE6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584448"/>
            <a:ext cx="7955279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6334C"/>
                </a:solidFill>
                <a:latin typeface="Georgia"/>
              </a:rPr>
              <a:t>The door is open — narrower, and only to the prepared.  </a:t>
            </a:r>
            <a:r>
              <a:rPr sz="1400" b="0" i="0">
                <a:solidFill>
                  <a:srgbClr val="3D4E5B"/>
                </a:solidFill>
                <a:latin typeface="Calibri"/>
              </a:rPr>
              <a:t>Plan the route, and start early.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67968"/>
                </a:solidFill>
                <a:latin typeface="Calibri"/>
              </a:rPr>
              <a:t>Sources: CBS · IND · government.nl / business.gov.nl · NL Times · DutchNews · Pararius · Nuffic · CPB  —  as of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