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CBS actuals</c:v>
                </c:pt>
              </c:strCache>
            </c:strRef>
          </c:tx>
          <c:spPr>
            <a:ln w="31750">
              <a:solidFill>
                <a:srgbClr val="D8542A"/>
              </a:solidFill>
            </a:ln>
          </c:spPr>
          <c:marker>
            <c:spPr>
              <a:solidFill>
                <a:srgbClr val="D8542A"/>
              </a:solidFill>
              <a:ln>
                <a:solidFill>
                  <a:srgbClr val="D8542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f</c:v>
                </c:pt>
                <c:pt idx="4">
                  <c:v>2027 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3.7</c:v>
                </c:pt>
                <c:pt idx="2">
                  <c:v>3.9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 forecast</c:v>
                </c:pt>
              </c:strCache>
            </c:strRef>
          </c:tx>
          <c:spPr>
            <a:ln w="31750">
              <a:solidFill>
                <a:srgbClr val="E39A6B"/>
              </a:solidFill>
            </a:ln>
          </c:spPr>
          <c:marker>
            <c:spPr>
              <a:solidFill>
                <a:srgbClr val="E39A6B"/>
              </a:solidFill>
              <a:ln>
                <a:solidFill>
                  <a:srgbClr val="E39A6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f</c:v>
                </c:pt>
                <c:pt idx="4">
                  <c:v>2027 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2">
                  <c:v>3.9</c:v>
                </c:pt>
                <c:pt idx="3">
                  <c:v>4.2</c:v>
                </c:pt>
                <c:pt idx="4">
                  <c:v>4.4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>
              <a:solidFill>
                <a:srgbClr val="222A37"/>
              </a:solidFill>
              <a:latin typeface="Hiragino Sans GB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tension</c:v>
                </c:pt>
              </c:strCache>
            </c:strRef>
          </c:tx>
          <c:spPr>
            <a:solidFill>
              <a:srgbClr val="D8542A"/>
            </a:solidFill>
            <a:ln w="31750">
              <a:solidFill>
                <a:srgbClr val="D8542A"/>
              </a:solidFill>
            </a:ln>
          </c:spPr>
          <c:dPt>
            <c:idx val="0"/>
            <c:spPr>
              <a:solidFill>
                <a:srgbClr val="B8BECC"/>
              </a:solidFill>
            </c:spPr>
          </c:dPt>
          <c:dPt>
            <c:idx val="1"/>
            <c:spPr>
              <a:solidFill>
                <a:srgbClr val="B8BECC"/>
              </a:solidFill>
            </c:spPr>
          </c:dPt>
          <c:dPt>
            <c:idx val="2"/>
            <c:spPr>
              <a:solidFill>
                <a:srgbClr val="B8BECC"/>
              </a:solidFill>
            </c:spPr>
          </c:dPt>
          <c:dPt>
            <c:idx val="3"/>
            <c:spPr>
              <a:solidFill>
                <a:srgbClr val="D8542A"/>
              </a:solidFill>
            </c:spPr>
          </c:dPt>
          <c:cat>
            <c:strRef>
              <c:f>Sheet1!$A$2:$A$5</c:f>
              <c:strCache>
                <c:ptCount val="4"/>
                <c:pt idx="0">
                  <c:v>Pre-2020
avg</c:v>
                </c:pt>
                <c:pt idx="1">
                  <c:v>2022
peak</c:v>
                </c:pt>
                <c:pt idx="2">
                  <c:v>End
2025</c:v>
                </c:pt>
                <c:pt idx="3">
                  <c:v>Q1
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142</c:v>
                </c:pt>
                <c:pt idx="2">
                  <c:v>93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Nominal</c:v>
                </c:pt>
              </c:strCache>
            </c:strRef>
          </c:tx>
          <c:spPr>
            <a:solidFill>
              <a:srgbClr val="0E5C63"/>
            </a:solidFill>
            <a:ln w="31750">
              <a:solidFill>
                <a:srgbClr val="0E5C6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(Q1)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6.6</c:v>
                </c:pt>
                <c:pt idx="1">
                  <c:v>5.0</c:v>
                </c:pt>
                <c:pt idx="2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(after inflation)</c:v>
                </c:pt>
              </c:strCache>
            </c:strRef>
          </c:tx>
          <c:spPr>
            <a:solidFill>
              <a:srgbClr val="C08A2E"/>
            </a:solidFill>
            <a:ln w="31750">
              <a:solidFill>
                <a:srgbClr val="C08A2E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(Q1)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</c:v>
                </c:pt>
                <c:pt idx="1">
                  <c:v>1.6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>
              <a:solidFill>
                <a:srgbClr val="222A37"/>
              </a:solidFill>
              <a:latin typeface="Hiragino Sans GB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0E5C63"/>
            </a:solidFill>
            <a:ln w="31750">
              <a:solidFill>
                <a:srgbClr val="0E5C63"/>
              </a:solidFill>
            </a:ln>
          </c:spPr>
          <c:dPt>
            <c:idx val="0"/>
            <c:spPr>
              <a:solidFill>
                <a:srgbClr val="B8BECC"/>
              </a:solidFill>
            </c:spPr>
          </c:dPt>
          <c:dPt>
            <c:idx val="1"/>
            <c:spPr>
              <a:solidFill>
                <a:srgbClr val="0E5C63"/>
              </a:solidFill>
            </c:spPr>
          </c:dPt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25870</c:v>
                </c:pt>
                <c:pt idx="1">
                  <c:v>21730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2E8A8C"/>
                </a:solidFill>
                <a:latin typeface="Courier New"/>
                <a:ea typeface="Hiragino Sans GB"/>
              </a:rPr>
              <a:t>THE POLDER REPORT  ·  LABOUR-MARKET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8138160" cy="2011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1EBDD"/>
                </a:solidFill>
                <a:latin typeface="Georgia"/>
                <a:ea typeface="Hiragino Sans GB"/>
              </a:rPr>
              <a:t>The Netherlands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1EBDD"/>
                </a:solidFill>
                <a:latin typeface="Georgia"/>
                <a:ea typeface="Hiragino Sans GB"/>
              </a:rPr>
              <a:t>Job Market </a:t>
            </a:r>
            <a:r>
              <a:rPr sz="5200" b="1" i="0">
                <a:solidFill>
                  <a:srgbClr val="D8542A"/>
                </a:solidFill>
                <a:latin typeface="Georgia"/>
                <a:ea typeface="Hiragino Sans GB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29584"/>
            <a:ext cx="76809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9D2DE"/>
                </a:solidFill>
                <a:latin typeface="Helvetica Neue"/>
                <a:ea typeface="Hiragino Sans GB"/>
              </a:rPr>
              <a:t>A data-driven read on a market that has cooled at the top and stayed scarce underneath.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76572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9BA6B4"/>
                </a:solidFill>
                <a:latin typeface="Courier New"/>
                <a:ea typeface="Hiragino Sans GB"/>
              </a:rPr>
              <a:t>AS OF 12 JULY 2026   ·   SOURCES: CBS · IND · UWV · EUROSTAT · OECD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The story in four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3886"/>
            <a:ext cx="804672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E56"/>
                </a:solidFill>
                <a:latin typeface="Helvetica Neue"/>
                <a:ea typeface="Hiragino Sans GB"/>
              </a:rPr>
              <a:t>Strong employment, easing tension, real wage gains — and a door to foreign talent that is quietly narrowing.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84831"/>
            <a:ext cx="1828799" cy="212598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365760" y="2084831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22576"/>
            <a:ext cx="1463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8478"/>
                </a:solidFill>
                <a:latin typeface="Courier New"/>
                <a:ea typeface="Hiragino Sans GB"/>
              </a:rPr>
              <a:t>UNEMPLOYMENT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55447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E5C63"/>
                </a:solidFill>
                <a:latin typeface="Helvetica Neue"/>
                <a:ea typeface="Hiragino Sans GB"/>
              </a:rPr>
              <a:t>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02735"/>
            <a:ext cx="1444751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Q2 2026 — among the EU's lowest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084831"/>
            <a:ext cx="1828799" cy="212598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2560320" y="2084831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2322576"/>
            <a:ext cx="1463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8478"/>
                </a:solidFill>
                <a:latin typeface="Courier New"/>
                <a:ea typeface="Hiragino Sans GB"/>
              </a:rPr>
              <a:t>LABOUR-MARKET 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16352"/>
            <a:ext cx="155447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8542A"/>
                </a:solidFill>
                <a:latin typeface="Helvetica Neue"/>
                <a:ea typeface="Hiragino Sans GB"/>
              </a:rPr>
              <a:t>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3602735"/>
            <a:ext cx="1444751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vacancies per 100 unemployed (Q1 2026)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084831"/>
            <a:ext cx="1828799" cy="212598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4754880" y="2084831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2322576"/>
            <a:ext cx="1463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8478"/>
                </a:solidFill>
                <a:latin typeface="Courier New"/>
                <a:ea typeface="Hiragino Sans GB"/>
              </a:rPr>
              <a:t>NEGOTIATED WAGES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16352"/>
            <a:ext cx="155447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E5C63"/>
                </a:solidFill>
                <a:latin typeface="Helvetica Neue"/>
                <a:ea typeface="Hiragino Sans GB"/>
              </a:rPr>
              <a:t>+4.5%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602735"/>
            <a:ext cx="1444751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year-on-year, +2.0% in real terms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2084831"/>
            <a:ext cx="1828799" cy="212598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6949440" y="2084831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7" y="2322576"/>
            <a:ext cx="1463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8478"/>
                </a:solidFill>
                <a:latin typeface="Courier New"/>
                <a:ea typeface="Hiragino Sans GB"/>
              </a:rPr>
              <a:t>FEMALE EMPLOYMENT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816352"/>
            <a:ext cx="155447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E5C63"/>
                </a:solidFill>
                <a:latin typeface="Helvetica Neue"/>
                <a:ea typeface="Hiragino Sans GB"/>
              </a:rPr>
              <a:t>69%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7" y="3602735"/>
            <a:ext cx="1444751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the highest rate in the EU-27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(unemployment, tension, wages, female employment); Eurostat (EU average).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MACRO EMPLOYMENT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Cooling gently, from a historic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36192"/>
            <a:ext cx="4891143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UNEMPLOYMENT RATE, % OF LABOUR FORCE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828800"/>
          <a:ext cx="4891143" cy="19705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22663" y="1554480"/>
            <a:ext cx="315557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F1C"/>
                </a:solidFill>
                <a:latin typeface="Courier New"/>
                <a:ea typeface="Hiragino Sans GB"/>
              </a:rPr>
              <a:t>THE FLOOR IS HOLDING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2663" y="1828800"/>
            <a:ext cx="3155576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D8542A"/>
                </a:solidFill>
                <a:latin typeface="Helvetica Neue"/>
                <a:ea typeface="Hiragino Sans GB"/>
              </a:rPr>
              <a:t>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2663" y="2633472"/>
            <a:ext cx="3155576" cy="9601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Joblessness is edging up as growth slows — but from a genuine low. It sits far under the EU average of 6.0% and the euro-area's 6.2%.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2663" y="3703320"/>
            <a:ext cx="3155576" cy="12801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2663" y="3822191"/>
            <a:ext cx="31555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5C63"/>
                </a:solidFill>
                <a:latin typeface="Helvetica Neue"/>
                <a:ea typeface="Hiragino Sans GB"/>
              </a:rPr>
              <a:t>≈ 400,000</a:t>
            </a: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  unemployed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2663" y="4160520"/>
            <a:ext cx="315557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out of a ~10 million labour force (CBS, Q4 2025).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labour-force figures; European Commission forecast; Eurostat (May 2026).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LABOUR-MARKET TIGHTNESS  ·  THE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Cooled from red-hot — but far from loose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35608"/>
            <a:ext cx="4828031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VACANCIES PER 100 UNEMPLOYED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737360"/>
          <a:ext cx="4828031" cy="169621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59552" y="1481328"/>
            <a:ext cx="32186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F1C"/>
                </a:solidFill>
                <a:latin typeface="Courier New"/>
                <a:ea typeface="Hiragino Sans GB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9552" y="1700784"/>
            <a:ext cx="3218687" cy="82296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D8542A"/>
                </a:solidFill>
                <a:latin typeface="Helvetica Neue"/>
                <a:ea typeface="Hiragino Sans GB"/>
              </a:rPr>
              <a:t>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2688336"/>
            <a:ext cx="3218687" cy="7772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vacancies per 100 jobseekers — just below parity, down from a 2022 peak of 142, yet still </a:t>
            </a:r>
            <a:r>
              <a:rPr sz="1250" b="1" i="0">
                <a:solidFill>
                  <a:srgbClr val="0E5C63"/>
                </a:solidFill>
                <a:latin typeface="Helvetica Neue"/>
                <a:ea typeface="Hiragino Sans GB"/>
              </a:rPr>
              <a:t>~3× the pre-2020 norm</a:t>
            </a: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 of 32.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84448"/>
            <a:ext cx="8046720" cy="530352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75887"/>
            <a:ext cx="54864" cy="347471"/>
          </a:xfrm>
          <a:prstGeom prst="rect">
            <a:avLst/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584448"/>
            <a:ext cx="7589520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8542A"/>
                </a:solidFill>
                <a:latin typeface="Helvetica Neue"/>
                <a:ea typeface="Hiragino Sans GB"/>
              </a:rPr>
              <a:t>SO WHAT   </a:t>
            </a:r>
            <a:r>
              <a:rPr sz="1350" b="0" i="0">
                <a:solidFill>
                  <a:srgbClr val="FFFFFF"/>
                </a:solidFill>
                <a:latin typeface="Helvetica Neue"/>
                <a:ea typeface="Hiragino Sans GB"/>
              </a:rPr>
              <a:t>Aggregate balance masks structural scarcity: specific sectors and regions stay acutely short of workers.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(quarterly vacancy-to-unemployment tension ratio; 2022 peak and pre-pandemic norm per CBS series).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5C63"/>
                </a:solidFill>
                <a:latin typeface="Helvetica Neue"/>
                <a:ea typeface="Hiragino Sans GB"/>
              </a:rPr>
              <a:t>STRUCTURAL TRAITS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A high-participation, part-time economy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4023359" cy="2766060"/>
          </a:xfrm>
          <a:prstGeom prst="roundRect">
            <a:avLst>
              <a:gd name="adj" fmla="val 3966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34747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5C63"/>
                </a:solidFill>
                <a:latin typeface="Courier New"/>
                <a:ea typeface="Hiragino Sans GB"/>
              </a:rPr>
              <a:t>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347471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0242A"/>
                </a:solidFill>
                <a:latin typeface="Georgia"/>
                <a:ea typeface="Hiragino Sans GB"/>
              </a:rPr>
              <a:t>The EU's highest female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0242A"/>
                </a:solidFill>
                <a:latin typeface="Georgia"/>
                <a:ea typeface="Hiragino Sans GB"/>
              </a:rPr>
              <a:t>employment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514599" cy="292608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Female employment, ages 15–74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27248"/>
            <a:ext cx="2514599" cy="237744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127248"/>
            <a:ext cx="1735073" cy="237744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59" y="3127248"/>
            <a:ext cx="1097280" cy="2377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242A"/>
                </a:solidFill>
                <a:latin typeface="Helvetica Neue"/>
                <a:ea typeface="Hiragino Sans GB"/>
              </a:rPr>
              <a:t>69%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75887"/>
            <a:ext cx="3474719" cy="5029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5C63"/>
                </a:solidFill>
                <a:latin typeface="Helvetica Neue"/>
                <a:ea typeface="Hiragino Sans GB"/>
              </a:rPr>
              <a:t>+12.7 pp</a:t>
            </a: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  above the EU average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463040"/>
            <a:ext cx="4023359" cy="2766060"/>
          </a:xfrm>
          <a:prstGeom prst="roundRect">
            <a:avLst>
              <a:gd name="adj" fmla="val 3966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82496"/>
            <a:ext cx="34747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8A8C"/>
                </a:solidFill>
                <a:latin typeface="Courier New"/>
                <a:ea typeface="Hiragino Sans GB"/>
              </a:rPr>
              <a:t>PART-TIME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75104"/>
            <a:ext cx="347471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BDD"/>
                </a:solidFill>
                <a:latin typeface="Georgia"/>
                <a:ea typeface="Hiragino Sans GB"/>
              </a:rPr>
              <a:t>Europe's part-time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33472"/>
            <a:ext cx="3474719" cy="7772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D8542A"/>
                </a:solidFill>
                <a:latin typeface="Helvetica Neue"/>
                <a:ea typeface="Hiragino Sans GB"/>
              </a:rPr>
              <a:t>~1.9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01568"/>
            <a:ext cx="347471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D2DE"/>
                </a:solidFill>
                <a:latin typeface="Helvetica Neue"/>
                <a:ea typeface="Hiragino Sans GB"/>
              </a:rPr>
              <a:t>work a 28–35h week — up 300,000 in four years. Two-thirds of employed mothers work part-time: a reserve of hours the tight market can still draw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&amp; Eurostat (employment rates and part-time shares, 2025).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SHORTAGE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Where the scarcity concentrates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80467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Even as the aggregate cools, UWV flags persistent, structural shortages in five areas — roughly 45% of vacancies in these fields went unfilled in late 2025.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38528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64008" cy="216712"/>
          </a:xfrm>
          <a:prstGeom prst="rect">
            <a:avLst/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5216" y="1909724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rtbeat_D854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8" y="2019086"/>
            <a:ext cx="201899" cy="2018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7008" y="1938528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Healthcare &amp; social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1938528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Nurses, carers and specialists — an ageing population's structural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20416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93568"/>
            <a:ext cx="64008" cy="216712"/>
          </a:xfrm>
          <a:prstGeom prst="rect">
            <a:avLst/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91613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pu_0E5C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78" y="2500975"/>
            <a:ext cx="201899" cy="2018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7008" y="2420416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ICT &amp; 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420416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Software developers and data specialists top the demand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02305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975457"/>
            <a:ext cx="64008" cy="21671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2873502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ools_C08A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78" y="2982864"/>
            <a:ext cx="201899" cy="2018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07008" y="2902305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Technical trades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79" y="2902305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Electricians, mechanics, installation and maintenance fitters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384194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457346"/>
            <a:ext cx="64008" cy="216712"/>
          </a:xfrm>
          <a:prstGeom prst="rect">
            <a:avLst/>
          </a:prstGeom>
          <a:solidFill>
            <a:srgbClr val="3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5216" y="3355390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chool_3E6B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78" y="3464753"/>
            <a:ext cx="201899" cy="2018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7008" y="3384194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3384194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Primary-school teachers and STEM staff in chronic short supply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866083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939235"/>
            <a:ext cx="64008" cy="216712"/>
          </a:xfrm>
          <a:prstGeom prst="rect">
            <a:avLst/>
          </a:prstGeom>
          <a:solidFill>
            <a:srgbClr val="9C4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5216" y="3837279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ruck-delivery_9C47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78" y="3946641"/>
            <a:ext cx="201899" cy="2018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07008" y="3866083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Transport &amp; logistics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79" y="3866083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Drivers and logistics planners across the Randstad corridor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UWV (shortage-occupation and unfilled-vacancy reporting, 2025–2026).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5C63"/>
                </a:solidFill>
                <a:latin typeface="Helvetica Neue"/>
                <a:ea typeface="Hiragino Sans GB"/>
              </a:rPr>
              <a:t>PAY &amp; WAGES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Wages are beating inflation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4828031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NEGOTIATED (CAO) WAGE GROWTH, YEAR-ON-YEAR %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810512"/>
          <a:ext cx="4828031" cy="23088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59552" y="1554480"/>
            <a:ext cx="32186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5C63"/>
                </a:solidFill>
                <a:latin typeface="Courier New"/>
                <a:ea typeface="Hiragino Sans GB"/>
              </a:rPr>
              <a:t>REAL GAINS, THREE YEARS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9552" y="1828800"/>
            <a:ext cx="3218687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E5C63"/>
                </a:solidFill>
                <a:latin typeface="Helvetica Neue"/>
                <a:ea typeface="Hiragino Sans GB"/>
              </a:rPr>
              <a:t>+2.0%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2633472"/>
            <a:ext cx="3218687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Collectively-agreed pay rose 4.5% in early 2026 — 2.0 points ahead of inflation. Households are genuinely getting richer.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3703320"/>
            <a:ext cx="3218687" cy="12801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9552" y="3822191"/>
            <a:ext cx="3218687" cy="2743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8542A"/>
                </a:solidFill>
                <a:latin typeface="Helvetica Neue"/>
                <a:ea typeface="Hiragino Sans GB"/>
              </a:rPr>
              <a:t>€14.99</a:t>
            </a:r>
            <a:r>
              <a:rPr sz="1100" b="0" i="0">
                <a:solidFill>
                  <a:srgbClr val="4A4E56"/>
                </a:solidFill>
                <a:latin typeface="Helvetica Neue"/>
                <a:ea typeface="Hiragino Sans GB"/>
              </a:rPr>
              <a:t>  /hr minimum wage (21+)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4151376"/>
            <a:ext cx="321868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from 1 July 2026 · average pay ≈ €53.4k/yr.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(CAO negotiated-wage index); Business.gov.nl (minimum wage). 2024 figure indicative.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SALARY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A wide spread across the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08836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INDICATIVE GROSS SALARY, € PER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83664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ICT &amp; technology (mid-level)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39696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139696"/>
            <a:ext cx="3427386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6847" y="2139696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€72k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57806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513838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513838"/>
            <a:ext cx="3236975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6847" y="2513838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€68k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31948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Finance &amp; business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7980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2887980"/>
            <a:ext cx="3094168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6847" y="2887980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€65k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06090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National average (CBS)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62122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262122"/>
            <a:ext cx="2543691" cy="164592"/>
          </a:xfrm>
          <a:prstGeom prst="roundRect">
            <a:avLst>
              <a:gd name="adj" fmla="val 5000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6847" y="3262122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€53k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0232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Healthcare (registered nurse)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36264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3636264"/>
            <a:ext cx="2142116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6847" y="3636264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€45k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754373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Hospitality &amp; retail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010406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4010406"/>
            <a:ext cx="1570885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6847" y="4010406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€33k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9887" y="1554480"/>
            <a:ext cx="295835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F1C"/>
                </a:solidFill>
                <a:latin typeface="Courier New"/>
                <a:ea typeface="Hiragino Sans GB"/>
              </a:rPr>
              <a:t>THE SPREAD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9887" y="1828800"/>
            <a:ext cx="2958352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E56"/>
                </a:solidFill>
                <a:latin typeface="Helvetica Neue"/>
                <a:ea typeface="Hiragino Sans GB"/>
              </a:rPr>
              <a:t>Technology pays roughly </a:t>
            </a:r>
            <a:r>
              <a:rPr sz="1400" b="1" i="0">
                <a:solidFill>
                  <a:srgbClr val="D8542A"/>
                </a:solidFill>
                <a:latin typeface="Helvetica Neue"/>
                <a:ea typeface="Hiragino Sans GB"/>
              </a:rPr>
              <a:t>double</a:t>
            </a:r>
            <a:r>
              <a:rPr sz="1300" b="0" i="0">
                <a:solidFill>
                  <a:srgbClr val="4A4E56"/>
                </a:solidFill>
                <a:latin typeface="Helvetica Neue"/>
                <a:ea typeface="Hiragino Sans GB"/>
              </a:rPr>
              <a:t> what hospitality and retail do — the widest gap between two big sectors.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19887" y="3154680"/>
            <a:ext cx="2958352" cy="960120"/>
          </a:xfrm>
          <a:prstGeom prst="roundRect">
            <a:avLst>
              <a:gd name="adj" fmla="val 9523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21055" y="3291839"/>
            <a:ext cx="2556016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Read as ranges, not points. Sector figures are indicative recruiter-survey midpoints; the €53.4k average is CBS.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(national average salary, 2026); sector midpoints from recruiter salary guides — indicative.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5C63"/>
                </a:solidFill>
                <a:latin typeface="Helvetica Neue"/>
                <a:ea typeface="Hiragino Sans GB"/>
              </a:rPr>
              <a:t>INTERNATIONAL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The highly skilled migrant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80467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The kennismigrant scheme has no labour-market test — eligibility runs almost entirely on a gross monthly salary threshold set by age and profile (2026, excl. 8% holiday pay).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74519"/>
            <a:ext cx="1828799" cy="19431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365760" y="1874519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93976"/>
            <a:ext cx="1463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8"/>
                </a:solidFill>
                <a:latin typeface="Courier New"/>
                <a:ea typeface="Hiragino Sans GB"/>
              </a:rPr>
              <a:t>HIGHLY SKILLED MIGRANT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42615"/>
            <a:ext cx="1499615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8542A"/>
                </a:solidFill>
                <a:latin typeface="Helvetica Neue"/>
                <a:ea typeface="Hiragino Sans GB"/>
              </a:rPr>
              <a:t>€5,942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18104"/>
            <a:ext cx="146303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8"/>
                </a:solidFill>
                <a:latin typeface="Courier New"/>
                <a:ea typeface="Hiragino Sans GB"/>
              </a:rPr>
              <a:t>gross /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55848"/>
            <a:ext cx="1426463" cy="10972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447287"/>
            <a:ext cx="1463039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42A"/>
                </a:solidFill>
                <a:latin typeface="Helvetica Neue"/>
                <a:ea typeface="Hiragino Sans GB"/>
              </a:rPr>
              <a:t>age 30 and 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1874519"/>
            <a:ext cx="1828799" cy="19431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2560320" y="1874519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2093976"/>
            <a:ext cx="1463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8"/>
                </a:solidFill>
                <a:latin typeface="Courier New"/>
                <a:ea typeface="Hiragino Sans GB"/>
              </a:rPr>
              <a:t>HIGHLY SKILLED MIGRANT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42615"/>
            <a:ext cx="1499615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5C63"/>
                </a:solidFill>
                <a:latin typeface="Helvetica Neue"/>
                <a:ea typeface="Hiragino Sans GB"/>
              </a:rPr>
              <a:t>€4,357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118104"/>
            <a:ext cx="146303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8"/>
                </a:solidFill>
                <a:latin typeface="Courier New"/>
                <a:ea typeface="Hiragino Sans GB"/>
              </a:rPr>
              <a:t>gross / 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3355848"/>
            <a:ext cx="1426463" cy="10972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3447287"/>
            <a:ext cx="1463039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42A"/>
                </a:solidFill>
                <a:latin typeface="Helvetica Neue"/>
                <a:ea typeface="Hiragino Sans GB"/>
              </a:rPr>
              <a:t>under age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874519"/>
            <a:ext cx="1828799" cy="19431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4754880" y="1874519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2093976"/>
            <a:ext cx="1463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8"/>
                </a:solidFill>
                <a:latin typeface="Courier New"/>
                <a:ea typeface="Hiragino Sans GB"/>
              </a:rPr>
              <a:t>RECENT GRADUATE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642615"/>
            <a:ext cx="1499615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08A2E"/>
                </a:solidFill>
                <a:latin typeface="Helvetica Neue"/>
                <a:ea typeface="Hiragino Sans GB"/>
              </a:rPr>
              <a:t>€3,122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118104"/>
            <a:ext cx="146303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8"/>
                </a:solidFill>
                <a:latin typeface="Courier New"/>
                <a:ea typeface="Hiragino Sans GB"/>
              </a:rPr>
              <a:t>gross /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3355848"/>
            <a:ext cx="1426463" cy="10972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3447287"/>
            <a:ext cx="1463039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42A"/>
                </a:solidFill>
                <a:latin typeface="Helvetica Neue"/>
                <a:ea typeface="Hiragino Sans GB"/>
              </a:rPr>
              <a:t>orientation-year visa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874519"/>
            <a:ext cx="1828799" cy="19431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6949440" y="1874519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7" y="2093976"/>
            <a:ext cx="1463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8"/>
                </a:solidFill>
                <a:latin typeface="Courier New"/>
                <a:ea typeface="Hiragino Sans GB"/>
              </a:rPr>
              <a:t>ACADEMIC RESEARCHER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642615"/>
            <a:ext cx="1499615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E6B57"/>
                </a:solidFill>
                <a:latin typeface="Helvetica Neue"/>
                <a:ea typeface="Hiragino Sans GB"/>
              </a:rPr>
              <a:t>€3,583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7" y="3118104"/>
            <a:ext cx="146303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8"/>
                </a:solidFill>
                <a:latin typeface="Courier New"/>
                <a:ea typeface="Hiragino Sans GB"/>
              </a:rPr>
              <a:t>gross / month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0607" y="3355848"/>
            <a:ext cx="1426463" cy="10972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0607" y="3447287"/>
            <a:ext cx="1463039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42A"/>
                </a:solidFill>
                <a:latin typeface="Helvetica Neue"/>
                <a:ea typeface="Hiragino Sans GB"/>
              </a:rPr>
              <a:t>public 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13632"/>
            <a:ext cx="804672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5C63"/>
                </a:solidFill>
                <a:latin typeface="Helvetica Neue"/>
                <a:ea typeface="Hiragino Sans GB"/>
              </a:rPr>
              <a:t>~10,000</a:t>
            </a: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  recognised sponsors    ·    top nationalities: </a:t>
            </a:r>
            <a:r>
              <a:rPr sz="1200" b="1" i="0">
                <a:solidFill>
                  <a:srgbClr val="20242A"/>
                </a:solidFill>
                <a:latin typeface="Helvetica Neue"/>
                <a:ea typeface="Hiragino Sans GB"/>
              </a:rPr>
              <a:t>India, Türkiye, China</a:t>
            </a: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    ·    thresholds indexed yearly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IND (required salary amounts 2026; recognised-sponsor register); OECD (nationality mix).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POLICY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The welcome is quietly tightening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454814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THE 30% EXPAT RULING, PHASED 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515" y="2011680"/>
            <a:ext cx="21945" cy="1280160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3192" y="20208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56816"/>
            <a:ext cx="409094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8478"/>
                </a:solidFill>
                <a:latin typeface="Helvetica Neue"/>
                <a:ea typeface="Hiragino Sans GB"/>
              </a:rPr>
              <a:t>2024–26  </a:t>
            </a:r>
            <a:r>
              <a:rPr sz="1300" b="1" i="0">
                <a:solidFill>
                  <a:srgbClr val="20242A"/>
                </a:solidFill>
                <a:latin typeface="Helvetica Neue"/>
                <a:ea typeface="Hiragino Sans GB"/>
              </a:rPr>
              <a:t>30% tax-free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49424"/>
            <a:ext cx="409094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income norm €46,107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" y="244754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83536"/>
            <a:ext cx="409094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542A"/>
                </a:solidFill>
                <a:latin typeface="Helvetica Neue"/>
                <a:ea typeface="Hiragino Sans GB"/>
              </a:rPr>
              <a:t>1 Jan 2027  </a:t>
            </a:r>
            <a:r>
              <a:rPr sz="1300" b="1" i="0">
                <a:solidFill>
                  <a:srgbClr val="20242A"/>
                </a:solidFill>
                <a:latin typeface="Helvetica Neue"/>
                <a:ea typeface="Hiragino Sans GB"/>
              </a:rPr>
              <a:t>→ 27% tax-free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76144"/>
            <a:ext cx="409094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norm rises to €50,436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28742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810256"/>
            <a:ext cx="409094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8478"/>
                </a:solidFill>
                <a:latin typeface="Helvetica Neue"/>
                <a:ea typeface="Hiragino Sans GB"/>
              </a:rPr>
              <a:t>Under-30 MSc  </a:t>
            </a:r>
            <a:r>
              <a:rPr sz="1300" b="1" i="0">
                <a:solidFill>
                  <a:srgbClr val="20242A"/>
                </a:solidFill>
                <a:latin typeface="Helvetica Neue"/>
                <a:ea typeface="Hiragino Sans GB"/>
              </a:rPr>
              <a:t>higher 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02864"/>
            <a:ext cx="409094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€35,048 → €38,388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9666" y="1508760"/>
            <a:ext cx="3498573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HIGHLY SKILLED MIGRANT APPLICATIONS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279666" y="1792224"/>
          <a:ext cx="3498573" cy="1280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279666" y="3182112"/>
            <a:ext cx="3498573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Applications fell ~16% in a year; non-EU skilled arrivals dropped further to ≈14,000 in 2025.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9666" y="3886200"/>
            <a:ext cx="3498573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23F1C"/>
                </a:solidFill>
                <a:latin typeface="Helvetica Neue"/>
                <a:ea typeface="Hiragino Sans GB"/>
              </a:rPr>
              <a:t>Lower tax break + higher salary bars = a costlier, more selective door.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Business.gov.nl (30%→27% ruling and income norms, 2027); IND &amp; OECD (applications and arrivals).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5C63"/>
                </a:solidFill>
                <a:latin typeface="Helvetica Neue"/>
                <a:ea typeface="Hiragino Sans GB"/>
              </a:rPr>
              <a:t>REGIONAL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Tight everywhere, hotter in pockets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425109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VACANCIES PER 100 UNEMPLOYED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310809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Utrecht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21991"/>
            <a:ext cx="3108097" cy="182880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221991"/>
            <a:ext cx="2615088" cy="182880"/>
          </a:xfrm>
          <a:prstGeom prst="roundRect">
            <a:avLst>
              <a:gd name="adj" fmla="val 5000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6737" y="2221991"/>
            <a:ext cx="777240" cy="1828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242A"/>
                </a:solidFill>
                <a:latin typeface="Helvetica Neue"/>
                <a:ea typeface="Hiragino Sans GB"/>
              </a:rPr>
              <a:t>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14600"/>
            <a:ext cx="310809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Zeeland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70632"/>
            <a:ext cx="3108097" cy="182880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770632"/>
            <a:ext cx="2615088" cy="182880"/>
          </a:xfrm>
          <a:prstGeom prst="roundRect">
            <a:avLst>
              <a:gd name="adj" fmla="val 5000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6737" y="2770632"/>
            <a:ext cx="777240" cy="1828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242A"/>
                </a:solidFill>
                <a:latin typeface="Helvetica Neue"/>
                <a:ea typeface="Hiragino Sans GB"/>
              </a:rPr>
              <a:t>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310809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Netherlands (avg)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19272"/>
            <a:ext cx="3108097" cy="182880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319272"/>
            <a:ext cx="1950599" cy="182880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6737" y="3319272"/>
            <a:ext cx="777240" cy="1828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242A"/>
                </a:solidFill>
                <a:latin typeface="Helvetica Neue"/>
                <a:ea typeface="Hiragino Sans GB"/>
              </a:rPr>
              <a:t>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11880"/>
            <a:ext cx="310809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Groningen (recovering)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67912"/>
            <a:ext cx="3108097" cy="182880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867912"/>
            <a:ext cx="1671942" cy="182880"/>
          </a:xfrm>
          <a:prstGeom prst="roundRect">
            <a:avLst>
              <a:gd name="adj" fmla="val 50000"/>
            </a:avLst>
          </a:prstGeom>
          <a:solidFill>
            <a:srgbClr val="2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6737" y="3867912"/>
            <a:ext cx="777240" cy="1828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242A"/>
                </a:solidFill>
                <a:latin typeface="Helvetica Neue"/>
                <a:ea typeface="Hiragino Sans GB"/>
              </a:rPr>
              <a:t>78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2617" y="1554480"/>
            <a:ext cx="3795622" cy="1133856"/>
          </a:xfrm>
          <a:prstGeom prst="roundRect">
            <a:avLst>
              <a:gd name="adj" fmla="val 887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649" y="1755648"/>
            <a:ext cx="3338422" cy="4572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D8542A"/>
                </a:solidFill>
                <a:latin typeface="Helvetica Neue"/>
                <a:ea typeface="Hiragino Sans GB"/>
              </a:rPr>
              <a:t>13 of 35</a:t>
            </a:r>
            <a:r>
              <a:rPr sz="1300" b="0" i="0">
                <a:solidFill>
                  <a:srgbClr val="C9D2DE"/>
                </a:solidFill>
                <a:latin typeface="Helvetica Neue"/>
                <a:ea typeface="Hiragino Sans GB"/>
              </a:rPr>
              <a:t>  regions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649" y="2249424"/>
            <a:ext cx="332013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A6B4"/>
                </a:solidFill>
                <a:latin typeface="Helvetica Neue"/>
                <a:ea typeface="Hiragino Sans GB"/>
              </a:rPr>
              <a:t>classed “extremely tight” (5+ vacancies per jobseeker).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617" y="2871215"/>
            <a:ext cx="64008" cy="603504"/>
          </a:xfrm>
          <a:prstGeom prst="rect">
            <a:avLst/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3785" y="2871215"/>
            <a:ext cx="352130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0242A"/>
                </a:solidFill>
                <a:latin typeface="Helvetica Neue"/>
                <a:ea typeface="Hiragino Sans GB"/>
              </a:rPr>
              <a:t>Randstad core runs hottest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3785" y="3145535"/>
            <a:ext cx="352130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Utrecht and the central belt lead the country for tension.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2617" y="3529583"/>
            <a:ext cx="64008" cy="603504"/>
          </a:xfrm>
          <a:prstGeom prst="rect">
            <a:avLst/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3785" y="3529583"/>
            <a:ext cx="352130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0242A"/>
                </a:solidFill>
                <a:latin typeface="Helvetica Neue"/>
                <a:ea typeface="Hiragino Sans GB"/>
              </a:rPr>
              <a:t>Only two provinces held steady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3785" y="3803903"/>
            <a:ext cx="352130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Unemployment rose in 2025 everywhere except Utrecht and Limburg.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&amp; UWV (provincial tension ratios and 35-region labour-market classification, 2025–2026).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2E8A8C"/>
                </a:solidFill>
                <a:latin typeface="Courier New"/>
                <a:ea typeface="Hiragino Sans GB"/>
              </a:rPr>
              <a:t>OUTLOOK  · 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8595360" cy="82296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EBDD"/>
                </a:solidFill>
                <a:latin typeface="Georgia"/>
                <a:ea typeface="Hiragino Sans GB"/>
              </a:rPr>
              <a:t>Balance at the top, scarcity underneath.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2560319" cy="2034540"/>
          </a:xfrm>
          <a:prstGeom prst="roundRect">
            <a:avLst>
              <a:gd name="adj" fmla="val 4943"/>
            </a:avLst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2276856"/>
            <a:ext cx="438912" cy="438912"/>
          </a:xfrm>
          <a:prstGeom prst="roundRect">
            <a:avLst>
              <a:gd name="adj" fmla="val 24000"/>
            </a:avLst>
          </a:prstGeom>
          <a:solidFill>
            <a:srgbClr val="24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ing-up_0E5C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21" y="2390973"/>
            <a:ext cx="210677" cy="2106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2843784"/>
            <a:ext cx="2103119" cy="5029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5C63"/>
                </a:solidFill>
                <a:latin typeface="Helvetica Neue"/>
                <a:ea typeface="Hiragino Sans GB"/>
              </a:rPr>
              <a:t>4.2 → 4.4%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337560"/>
            <a:ext cx="210311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2DE"/>
                </a:solidFill>
                <a:latin typeface="Helvetica Neue"/>
                <a:ea typeface="Hiragino Sans GB"/>
              </a:rPr>
              <a:t>Unemployment edges up to 2027 as growth stays modest — still historically 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2057400"/>
            <a:ext cx="2560319" cy="2034540"/>
          </a:xfrm>
          <a:prstGeom prst="roundRect">
            <a:avLst>
              <a:gd name="adj" fmla="val 4943"/>
            </a:avLst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9583" y="2276856"/>
            <a:ext cx="438912" cy="438912"/>
          </a:xfrm>
          <a:prstGeom prst="roundRect">
            <a:avLst>
              <a:gd name="adj" fmla="val 24000"/>
            </a:avLst>
          </a:prstGeom>
          <a:solidFill>
            <a:srgbClr val="24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line_2E8A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701" y="2390973"/>
            <a:ext cx="210677" cy="2106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29583" y="2843784"/>
            <a:ext cx="2103119" cy="5029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E8A8C"/>
                </a:solidFill>
                <a:latin typeface="Helvetica Neue"/>
                <a:ea typeface="Hiragino Sans GB"/>
              </a:rPr>
              <a:t>+1.1%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3" y="3337560"/>
            <a:ext cx="210311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2DE"/>
                </a:solidFill>
                <a:latin typeface="Helvetica Neue"/>
                <a:ea typeface="Hiragino Sans GB"/>
              </a:rPr>
              <a:t>Total jobs still grow through 2027 (UWV): cooling, not contracting.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19" y="2057400"/>
            <a:ext cx="2560319" cy="2034540"/>
          </a:xfrm>
          <a:prstGeom prst="roundRect">
            <a:avLst>
              <a:gd name="adj" fmla="val 4943"/>
            </a:avLst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55663" y="2276856"/>
            <a:ext cx="438912" cy="438912"/>
          </a:xfrm>
          <a:prstGeom prst="roundRect">
            <a:avLst>
              <a:gd name="adj" fmla="val 24000"/>
            </a:avLst>
          </a:prstGeom>
          <a:solidFill>
            <a:srgbClr val="24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sers_D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781" y="2390973"/>
            <a:ext cx="210677" cy="21067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5663" y="2843784"/>
            <a:ext cx="2103119" cy="5029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8542A"/>
                </a:solidFill>
                <a:latin typeface="Helvetica Neue"/>
                <a:ea typeface="Hiragino Sans GB"/>
              </a:rPr>
              <a:t>2 in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3" y="3337560"/>
            <a:ext cx="210311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2DE"/>
                </a:solidFill>
                <a:latin typeface="Helvetica Neue"/>
                <a:ea typeface="Hiragino Sans GB"/>
              </a:rPr>
              <a:t>employed mothers work part-time; an ageing workforce keeps shortages tight.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E8A8C"/>
                </a:solidFill>
                <a:latin typeface="Courier New"/>
                <a:ea typeface="Hiragino Sans GB"/>
              </a:rPr>
              <a:t>SOURCE   </a:t>
            </a:r>
            <a:r>
              <a:rPr sz="850" b="0" i="0">
                <a:solidFill>
                  <a:srgbClr val="9BA6B4"/>
                </a:solidFill>
                <a:latin typeface="Courier New"/>
                <a:ea typeface="Hiragino Sans GB"/>
              </a:rPr>
              <a:t>Rabobank, European Commission &amp; ABN AMRO (2026–27 forecasts); UWV (job-growth &amp; reskilling outlook).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BA6B4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A6B4"/>
                </a:solidFill>
                <a:latin typeface="Courier New"/>
                <a:ea typeface="Hiragino Sans GB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2E8A8C"/>
                </a:solidFill>
                <a:latin typeface="Courier New"/>
                <a:ea typeface="Hiragino Sans GB"/>
              </a:rPr>
              <a:t>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1EBDD"/>
                </a:solidFill>
                <a:latin typeface="Georgia"/>
                <a:ea typeface="Hiragino Sans GB"/>
              </a:rPr>
              <a:t>Five things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828800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BDD"/>
                </a:solidFill>
                <a:latin typeface="Georgia"/>
                <a:ea typeface="Hiragino Sans GB"/>
              </a:rPr>
              <a:t>Cooled, not slack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2DE"/>
                </a:solidFill>
                <a:latin typeface="Helvetica Neue"/>
                <a:ea typeface="Hiragino Sans GB"/>
              </a:rPr>
              <a:t>Vacancies now roughly match jobseekers — down from the 2022 peak, but still ~3× the pre-2020 norm.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2318003"/>
            <a:ext cx="7754111" cy="9144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63724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63724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BDD"/>
                </a:solidFill>
                <a:latin typeface="Georgia"/>
                <a:ea typeface="Hiragino Sans GB"/>
              </a:rPr>
              <a:t>Scarcity is structural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63724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2DE"/>
                </a:solidFill>
                <a:latin typeface="Helvetica Neue"/>
                <a:ea typeface="Hiragino Sans GB"/>
              </a:rPr>
              <a:t>Care, ICT, technical trades, teaching and logistics stay acutely short whatever the aggregate does.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2852927"/>
            <a:ext cx="7754111" cy="9144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98648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898648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BDD"/>
                </a:solidFill>
                <a:latin typeface="Georgia"/>
                <a:ea typeface="Hiragino Sans GB"/>
              </a:rPr>
              <a:t>Pay is winning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98648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2DE"/>
                </a:solidFill>
                <a:latin typeface="Helvetica Neue"/>
                <a:ea typeface="Hiragino Sans GB"/>
              </a:rPr>
              <a:t>Negotiated wages have beaten inflation three years running; real incomes are rising.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3387851"/>
            <a:ext cx="7754111" cy="9144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33572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433572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BDD"/>
                </a:solidFill>
                <a:latin typeface="Georgia"/>
                <a:ea typeface="Hiragino Sans GB"/>
              </a:rPr>
              <a:t>The door is narrowing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33572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2DE"/>
                </a:solidFill>
                <a:latin typeface="Helvetica Neue"/>
                <a:ea typeface="Hiragino Sans GB"/>
              </a:rPr>
              <a:t>A 27% expat ruling, higher salary bars and fewer permits make foreign hiring costlier and more selective.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3922776"/>
            <a:ext cx="7754111" cy="9144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68496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968496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BDD"/>
                </a:solidFill>
                <a:latin typeface="Georgia"/>
                <a:ea typeface="Hiragino Sans GB"/>
              </a:rPr>
              <a:t>Demographics set the floor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968496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2DE"/>
                </a:solidFill>
                <a:latin typeface="Helvetica Neue"/>
                <a:ea typeface="Hiragino Sans GB"/>
              </a:rPr>
              <a:t>An ageing, part-time workforce keeps the market tight — reskilling, not slack, is the release valve.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BA6B4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A6B4"/>
                </a:solidFill>
                <a:latin typeface="Courier New"/>
                <a:ea typeface="Hiragino Sans GB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50">
                <a:solidFill>
                  <a:srgbClr val="D8542A"/>
                </a:solidFill>
                <a:latin typeface="Courier New"/>
                <a:ea typeface="Hiragino Sans GB"/>
              </a:rPr>
              <a:t>SOURCES  ·  VERIFIED AS OF 12 JULY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" cy="45720"/>
          </a:xfrm>
          <a:prstGeom prst="rect">
            <a:avLst/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01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CBS — unemployment, vacancies &amp; tension, wages (CAO index), participation, average salary.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0824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02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European Commission — Autumn 2025 forecast, Netherlands (unemployment 2026–27).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03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Eurostat — harmonised unemployment, NL vs EU / euro-area (May 2026).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04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UWV — shortage occupations, 35-region tightness map, 2026–27 job-growth outlook.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82696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05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IND — highly skilled migrant salary thresholds 2026; recognised-sponsor register.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06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Business.gov.nl — statutory minimum wage (Jul 2026); 30%→27% expat ruling (2027).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20824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07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OECD — International Migration Outlook 2025 (permits, arrivals, nationality mix).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41448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08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Rabobank · ABN AMRO · DNB — 2026–27 macro &amp; labour-market commentary.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62072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09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Recruiter salary guides — indicative sector midpoints (not official statistics).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13632"/>
            <a:ext cx="7863840" cy="12801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An example deck for the slide-maker template gallery. </a:t>
            </a:r>
            <a:r>
              <a:rPr sz="1250" b="1" i="0">
                <a:solidFill>
                  <a:srgbClr val="B23F1C"/>
                </a:solidFill>
                <a:latin typeface="Helvetica Neue"/>
                <a:ea typeface="Hiragino Sans GB"/>
              </a:rPr>
              <a:t>The visual system is reusable — swap in your own verified content.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The Netherlands Job Market · 2026   ·   an example deck built with slide-maker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