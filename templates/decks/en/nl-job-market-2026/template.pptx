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CBS actuals</c:v>
                </c:pt>
              </c:strCache>
            </c:strRef>
          </c:tx>
          <c:spPr>
            <a:ln w="31750">
              <a:solidFill>
                <a:srgbClr val="D8542A"/>
              </a:solidFill>
            </a:ln>
          </c:spPr>
          <c:marker>
            <c:spPr>
              <a:solidFill>
                <a:srgbClr val="D8542A"/>
              </a:solidFill>
              <a:ln>
                <a:solidFill>
                  <a:srgbClr val="D8542A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 f</c:v>
                </c:pt>
                <c:pt idx="4">
                  <c:v>2027 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3.6</c:v>
                </c:pt>
                <c:pt idx="1">
                  <c:v>3.7</c:v>
                </c:pt>
                <c:pt idx="2">
                  <c:v>3.9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EC forecast</c:v>
                </c:pt>
              </c:strCache>
            </c:strRef>
          </c:tx>
          <c:spPr>
            <a:ln w="31750">
              <a:solidFill>
                <a:srgbClr val="E39A6B"/>
              </a:solidFill>
            </a:ln>
          </c:spPr>
          <c:marker>
            <c:spPr>
              <a:solidFill>
                <a:srgbClr val="E39A6B"/>
              </a:solidFill>
              <a:ln>
                <a:solidFill>
                  <a:srgbClr val="E39A6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 f</c:v>
                </c:pt>
                <c:pt idx="4">
                  <c:v>2027 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2">
                  <c:v>3.9</c:v>
                </c:pt>
                <c:pt idx="3">
                  <c:v>4.2</c:v>
                </c:pt>
                <c:pt idx="4">
                  <c:v>4.4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E7E9F0"/>
              </a:solidFill>
            </a:ln>
          </c:spPr>
        </c:majorGridlines>
        <c:numFmt formatCode="0.0&quot;%&quot;" sourceLinked="0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>
              <a:solidFill>
                <a:srgbClr val="222A37"/>
              </a:solidFill>
              <a:latin typeface="Helvetica Neue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solidFill>
            <a:srgbClr val="222A37"/>
          </a:solidFill>
          <a:latin typeface="Helvetica Neue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tension</c:v>
                </c:pt>
              </c:strCache>
            </c:strRef>
          </c:tx>
          <c:spPr>
            <a:solidFill>
              <a:srgbClr val="D8542A"/>
            </a:solidFill>
            <a:ln w="31750">
              <a:solidFill>
                <a:srgbClr val="D8542A"/>
              </a:solidFill>
            </a:ln>
          </c:spPr>
          <c:dPt>
            <c:idx val="0"/>
            <c:spPr>
              <a:solidFill>
                <a:srgbClr val="B8BECC"/>
              </a:solidFill>
            </c:spPr>
          </c:dPt>
          <c:dPt>
            <c:idx val="1"/>
            <c:spPr>
              <a:solidFill>
                <a:srgbClr val="B8BECC"/>
              </a:solidFill>
            </c:spPr>
          </c:dPt>
          <c:dPt>
            <c:idx val="2"/>
            <c:spPr>
              <a:solidFill>
                <a:srgbClr val="B8BECC"/>
              </a:solidFill>
            </c:spPr>
          </c:dPt>
          <c:dPt>
            <c:idx val="3"/>
            <c:spPr>
              <a:solidFill>
                <a:srgbClr val="D8542A"/>
              </a:solidFill>
            </c:spPr>
          </c:dPt>
          <c:cat>
            <c:strRef>
              <c:f>Sheet1!$A$2:$A$5</c:f>
              <c:strCache>
                <c:ptCount val="4"/>
                <c:pt idx="0">
                  <c:v>Pre-2020
avg</c:v>
                </c:pt>
                <c:pt idx="1">
                  <c:v>2022
peak</c:v>
                </c:pt>
                <c:pt idx="2">
                  <c:v>End
2025</c:v>
                </c:pt>
                <c:pt idx="3">
                  <c:v>Q1
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</c:v>
                </c:pt>
                <c:pt idx="1">
                  <c:v>142</c:v>
                </c:pt>
                <c:pt idx="2">
                  <c:v>93</c:v>
                </c:pt>
                <c:pt idx="3">
                  <c:v>91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E7E9F0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22A37"/>
          </a:solidFill>
          <a:latin typeface="Helvetica Neue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Nominal</c:v>
                </c:pt>
              </c:strCache>
            </c:strRef>
          </c:tx>
          <c:spPr>
            <a:solidFill>
              <a:srgbClr val="0E5C63"/>
            </a:solidFill>
            <a:ln w="31750">
              <a:solidFill>
                <a:srgbClr val="0E5C63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 (Q1)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6.6</c:v>
                </c:pt>
                <c:pt idx="1">
                  <c:v>5.0</c:v>
                </c:pt>
                <c:pt idx="2">
                  <c:v>4.5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 (after inflation)</c:v>
                </c:pt>
              </c:strCache>
            </c:strRef>
          </c:tx>
          <c:spPr>
            <a:solidFill>
              <a:srgbClr val="C08A2E"/>
            </a:solidFill>
            <a:ln w="31750">
              <a:solidFill>
                <a:srgbClr val="C08A2E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 (Q1)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2.5</c:v>
                </c:pt>
                <c:pt idx="1">
                  <c:v>1.6</c:v>
                </c:pt>
                <c:pt idx="2">
                  <c:v>2.0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E7E9F0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222A37"/>
              </a:solidFill>
              <a:latin typeface="Helvetica Neue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222A37"/>
          </a:solidFill>
          <a:latin typeface="Helvetica Neue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applications</c:v>
                </c:pt>
              </c:strCache>
            </c:strRef>
          </c:tx>
          <c:spPr>
            <a:solidFill>
              <a:srgbClr val="0E5C63"/>
            </a:solidFill>
            <a:ln w="31750">
              <a:solidFill>
                <a:srgbClr val="0E5C63"/>
              </a:solidFill>
            </a:ln>
          </c:spPr>
          <c:dPt>
            <c:idx val="0"/>
            <c:spPr>
              <a:solidFill>
                <a:srgbClr val="B8BECC"/>
              </a:solidFill>
            </c:spPr>
          </c:dPt>
          <c:dPt>
            <c:idx val="1"/>
            <c:spPr>
              <a:solidFill>
                <a:srgbClr val="0E5C63"/>
              </a:solidFill>
            </c:spPr>
          </c:dPt>
          <c:cat>
            <c:strRef>
              <c:f>Sheet1!$A$2:$A$3</c:f>
              <c:strCache>
                <c:ptCount val="2"/>
                <c:pt idx="0">
                  <c:v>2023</c:v>
                </c:pt>
                <c:pt idx="1">
                  <c:v>2024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25870</c:v>
                </c:pt>
                <c:pt idx="1">
                  <c:v>21730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E7E9F0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22A37"/>
          </a:solidFill>
          <a:latin typeface="Helvetica Neue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20540"/>
            <a:ext cx="9144000" cy="822960"/>
          </a:xfrm>
          <a:prstGeom prst="rect">
            <a:avLst/>
          </a:prstGeom>
          <a:solidFill>
            <a:srgbClr val="EAE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320540"/>
            <a:ext cx="1280160" cy="54864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3268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0E5C63"/>
                </a:solidFill>
                <a:latin typeface="Courier New"/>
              </a:rPr>
              <a:t>THE POLDER REPORT  ·  LABOUR-MARKET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8138160" cy="2011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5200" b="1" i="0">
                <a:solidFill>
                  <a:srgbClr val="20242A"/>
                </a:solidFill>
                <a:latin typeface="Georgia"/>
              </a:rPr>
              <a:t>The Netherlands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5200" b="1" i="0">
                <a:solidFill>
                  <a:srgbClr val="20242A"/>
                </a:solidFill>
                <a:latin typeface="Georgia"/>
              </a:rPr>
              <a:t>Job Market </a:t>
            </a:r>
            <a:r>
              <a:rPr sz="5200" b="1" i="0">
                <a:solidFill>
                  <a:srgbClr val="D8542A"/>
                </a:solidFill>
                <a:latin typeface="Georgia"/>
              </a:rPr>
              <a:t>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310128"/>
            <a:ext cx="1280160" cy="54864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3529584"/>
            <a:ext cx="768096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4A4E56"/>
                </a:solidFill>
                <a:latin typeface="Helvetica Neue"/>
              </a:rPr>
              <a:t>A data-driven read on a market that has cooled at the top and stayed scarce underneath.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576572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50">
                <a:solidFill>
                  <a:srgbClr val="8A8478"/>
                </a:solidFill>
                <a:latin typeface="Courier New"/>
              </a:rPr>
              <a:t>AS OF 12 JULY 2026   ·   SOURCES: CBS · IND · UWV · EUROSTAT · OECD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The story in four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3886"/>
            <a:ext cx="804672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E56"/>
                </a:solidFill>
                <a:latin typeface="Helvetica Neue"/>
              </a:rPr>
              <a:t>Strong employment, easing tension, real wage gains — and a door to foreign talent that is quietly narrowing.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084831"/>
            <a:ext cx="1828799" cy="212598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365760" y="2084831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322576"/>
            <a:ext cx="1463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A8478"/>
                </a:solidFill>
                <a:latin typeface="Courier New"/>
              </a:rPr>
              <a:t>UNEMPLOYMENT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16352"/>
            <a:ext cx="1554479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E5C63"/>
                </a:solidFill>
                <a:latin typeface="Helvetica Neue"/>
              </a:rPr>
              <a:t>3.9%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602735"/>
            <a:ext cx="1444751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</a:rPr>
              <a:t>Q2 2026 — among the EU's lowest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2084831"/>
            <a:ext cx="1828799" cy="212598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2560320" y="2084831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61488" y="2322576"/>
            <a:ext cx="1463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A8478"/>
                </a:solidFill>
                <a:latin typeface="Courier New"/>
              </a:rPr>
              <a:t>LABOUR-MARKET TENSION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2816352"/>
            <a:ext cx="1554479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D8542A"/>
                </a:solidFill>
                <a:latin typeface="Helvetica Neue"/>
              </a:rPr>
              <a:t>91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61488" y="3602735"/>
            <a:ext cx="1444751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</a:rPr>
              <a:t>vacancies per 100 unemployed (Q1 2026)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2084831"/>
            <a:ext cx="1828799" cy="212598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 Same Side Corner Rectangle 16"/>
          <p:cNvSpPr/>
          <p:nvPr/>
        </p:nvSpPr>
        <p:spPr>
          <a:xfrm>
            <a:off x="4754880" y="2084831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2322576"/>
            <a:ext cx="1463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A8478"/>
                </a:solidFill>
                <a:latin typeface="Courier New"/>
              </a:rPr>
              <a:t>NEGOTIATED WAGES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2816352"/>
            <a:ext cx="1554479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E5C63"/>
                </a:solidFill>
                <a:latin typeface="Helvetica Neue"/>
              </a:rPr>
              <a:t>+4.5%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6048" y="3602735"/>
            <a:ext cx="1444751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</a:rPr>
              <a:t>year-on-year, +2.0% in real terms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49440" y="2084831"/>
            <a:ext cx="1828799" cy="212598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 Same Side Corner Rectangle 21"/>
          <p:cNvSpPr/>
          <p:nvPr/>
        </p:nvSpPr>
        <p:spPr>
          <a:xfrm>
            <a:off x="6949440" y="2084831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50607" y="2322576"/>
            <a:ext cx="1463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A8478"/>
                </a:solidFill>
                <a:latin typeface="Courier New"/>
              </a:rPr>
              <a:t>FEMALE EMPLOYMENT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2816352"/>
            <a:ext cx="1554479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E5C63"/>
                </a:solidFill>
                <a:latin typeface="Helvetica Neue"/>
              </a:rPr>
              <a:t>69%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0607" y="3602735"/>
            <a:ext cx="1444751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</a:rPr>
              <a:t>the highest rate in the EU-27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 (unemployment, tension, wages, female employment); Eurostat (EU average).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</a:rPr>
              <a:t>MACRO EMPLOYMENT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Cooling gently, from a historic 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536192"/>
            <a:ext cx="4891143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UNEMPLOYMENT RATE, % OF LABOUR FORCE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828800"/>
          <a:ext cx="4891143" cy="197053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22663" y="1554480"/>
            <a:ext cx="315557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23F1C"/>
                </a:solidFill>
                <a:latin typeface="Courier New"/>
              </a:rPr>
              <a:t>THE FLOOR IS HOLDING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2663" y="1828800"/>
            <a:ext cx="3155576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D8542A"/>
                </a:solidFill>
                <a:latin typeface="Helvetica Neue"/>
              </a:rPr>
              <a:t>3.9%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22663" y="2633472"/>
            <a:ext cx="3155576" cy="9601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E56"/>
                </a:solidFill>
                <a:latin typeface="Helvetica Neue"/>
              </a:rPr>
              <a:t>Joblessness is edging up as growth slows — but from a genuine low. It sits far under the EU average of 6.0% and the euro-area's 6.2%.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2663" y="3703320"/>
            <a:ext cx="3155576" cy="12801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2663" y="3822191"/>
            <a:ext cx="3155576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E5C63"/>
                </a:solidFill>
                <a:latin typeface="Helvetica Neue"/>
              </a:rPr>
              <a:t>≈ 400,000</a:t>
            </a:r>
            <a:r>
              <a:rPr sz="1250" b="0" i="0">
                <a:solidFill>
                  <a:srgbClr val="4A4E56"/>
                </a:solidFill>
                <a:latin typeface="Helvetica Neue"/>
              </a:rPr>
              <a:t>  unemployed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2663" y="4160520"/>
            <a:ext cx="315557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out of a ~10 million labour force (CBS, Q4 2025).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 labour-force figures; European Commission forecast; Eurostat (May 2026).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</a:rPr>
              <a:t>LABOUR-MARKET TIGHTNESS  ·  THE PIVOT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Cooled from red-hot — but far from loose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35608"/>
            <a:ext cx="4828031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VACANCIES PER 100 UNEMPLOYED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737360"/>
          <a:ext cx="4828031" cy="169621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559552" y="1481328"/>
            <a:ext cx="321868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23F1C"/>
                </a:solidFill>
                <a:latin typeface="Courier New"/>
              </a:rPr>
              <a:t>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59552" y="1700784"/>
            <a:ext cx="3218687" cy="82296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D8542A"/>
                </a:solidFill>
                <a:latin typeface="Helvetica Neue"/>
              </a:rPr>
              <a:t>91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9552" y="2688336"/>
            <a:ext cx="3218687" cy="7772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E56"/>
                </a:solidFill>
                <a:latin typeface="Helvetica Neue"/>
              </a:rPr>
              <a:t>vacancies per 100 jobseekers — just below parity, down from a 2022 peak of 142, yet still </a:t>
            </a:r>
            <a:r>
              <a:rPr sz="1250" b="1" i="0">
                <a:solidFill>
                  <a:srgbClr val="0E5C63"/>
                </a:solidFill>
                <a:latin typeface="Helvetica Neue"/>
              </a:rPr>
              <a:t>~3× the pre-2020 norm</a:t>
            </a:r>
            <a:r>
              <a:rPr sz="1200" b="0" i="0">
                <a:solidFill>
                  <a:srgbClr val="4A4E56"/>
                </a:solidFill>
                <a:latin typeface="Helvetica Neue"/>
              </a:rPr>
              <a:t> of 32.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584448"/>
            <a:ext cx="8046720" cy="530352"/>
          </a:xfrm>
          <a:prstGeom prst="roundRect">
            <a:avLst>
              <a:gd name="adj" fmla="val 8000"/>
            </a:avLst>
          </a:prstGeom>
          <a:solidFill>
            <a:srgbClr val="FAE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675887"/>
            <a:ext cx="54864" cy="347471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3584448"/>
            <a:ext cx="7589520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8542A"/>
                </a:solidFill>
                <a:latin typeface="Helvetica Neue"/>
              </a:rPr>
              <a:t>SO WHAT   </a:t>
            </a:r>
            <a:r>
              <a:rPr sz="1350" b="0" i="0">
                <a:solidFill>
                  <a:srgbClr val="20242A"/>
                </a:solidFill>
                <a:latin typeface="Helvetica Neue"/>
              </a:rPr>
              <a:t>Aggregate balance masks structural scarcity: specific sectors and regions stay acutely short of workers.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 (quarterly vacancy-to-unemployment tension ratio; 2022 peak and pre-pandemic norm per CBS series).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5C63"/>
                </a:solidFill>
                <a:latin typeface="Helvetica Neue"/>
              </a:rPr>
              <a:t>STRUCTURAL TRAITS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A high-participation, part-time economy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463040"/>
            <a:ext cx="4023359" cy="2766060"/>
          </a:xfrm>
          <a:prstGeom prst="roundRect">
            <a:avLst>
              <a:gd name="adj" fmla="val 3966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82496"/>
            <a:ext cx="34747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5C63"/>
                </a:solidFill>
                <a:latin typeface="Courier New"/>
              </a:rPr>
              <a:t>PARTICIPATION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38528"/>
            <a:ext cx="3474719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0242A"/>
                </a:solidFill>
                <a:latin typeface="Georgia"/>
              </a:rPr>
              <a:t>The EU's highest female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0242A"/>
                </a:solidFill>
                <a:latin typeface="Georgia"/>
              </a:rPr>
              <a:t>employment 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34640"/>
            <a:ext cx="2514599" cy="292608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A8478"/>
                </a:solidFill>
                <a:latin typeface="Helvetica Neue"/>
              </a:rPr>
              <a:t>Female employment, ages 15–74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27248"/>
            <a:ext cx="2514599" cy="237744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3127248"/>
            <a:ext cx="1735073" cy="237744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59" y="3127248"/>
            <a:ext cx="1097280" cy="23774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0242A"/>
                </a:solidFill>
                <a:latin typeface="Helvetica Neue"/>
              </a:rPr>
              <a:t>69%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75887"/>
            <a:ext cx="3474719" cy="5029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5C63"/>
                </a:solidFill>
                <a:latin typeface="Helvetica Neue"/>
              </a:rPr>
              <a:t>+12.7 pp</a:t>
            </a:r>
            <a:r>
              <a:rPr sz="1200" b="0" i="0">
                <a:solidFill>
                  <a:srgbClr val="4A4E56"/>
                </a:solidFill>
                <a:latin typeface="Helvetica Neue"/>
              </a:rPr>
              <a:t>  above the EU average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1463040"/>
            <a:ext cx="4023359" cy="2766060"/>
          </a:xfrm>
          <a:prstGeom prst="roundRect">
            <a:avLst>
              <a:gd name="adj" fmla="val 3966"/>
            </a:avLst>
          </a:prstGeom>
          <a:solidFill>
            <a:srgbClr val="ECE4D6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1682496"/>
            <a:ext cx="34747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5C63"/>
                </a:solidFill>
                <a:latin typeface="Courier New"/>
              </a:rPr>
              <a:t>PART-TIME CULTURE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1975104"/>
            <a:ext cx="347471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0242A"/>
                </a:solidFill>
                <a:latin typeface="Georgia"/>
              </a:rPr>
              <a:t>Europe's part-time capital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633472"/>
            <a:ext cx="3474719" cy="7772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D8542A"/>
                </a:solidFill>
                <a:latin typeface="Helvetica Neue"/>
              </a:rPr>
              <a:t>~1.9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401568"/>
            <a:ext cx="3474719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E56"/>
                </a:solidFill>
                <a:latin typeface="Helvetica Neue"/>
              </a:rPr>
              <a:t>work a 28–35h week — up 300,000 in four years. Two-thirds of employed mothers work part-time: a reserve of hours the tight market can still draw 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 &amp; Eurostat (employment rates and part-time shares, 2025).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</a:rPr>
              <a:t>SHORTAGE SECTORS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Where the scarcity concentrates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53312"/>
            <a:ext cx="8046720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E56"/>
                </a:solidFill>
                <a:latin typeface="Helvetica Neue"/>
              </a:rPr>
              <a:t>Even as the aggregate cools, UWV flags persistent, structural shortages in five areas — roughly 45% of vacancies in these fields went unfilled in late 2025.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938528"/>
            <a:ext cx="8412480" cy="363016"/>
          </a:xfrm>
          <a:prstGeom prst="roundRect">
            <a:avLst>
              <a:gd name="adj" fmla="val 2267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011680"/>
            <a:ext cx="64008" cy="216712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85216" y="1909724"/>
            <a:ext cx="420624" cy="420624"/>
          </a:xfrm>
          <a:prstGeom prst="ellipse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artbeat_D854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578" y="2019086"/>
            <a:ext cx="201899" cy="2018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07008" y="1938528"/>
            <a:ext cx="2331720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Helvetica Neue"/>
              </a:rPr>
              <a:t>Healthcare &amp; social care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79" y="1938528"/>
            <a:ext cx="4937759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Nurses, carers and specialists — an ageing population's structural gap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2420416"/>
            <a:ext cx="8412480" cy="363016"/>
          </a:xfrm>
          <a:prstGeom prst="roundRect">
            <a:avLst>
              <a:gd name="adj" fmla="val 2267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2493568"/>
            <a:ext cx="64008" cy="216712"/>
          </a:xfrm>
          <a:prstGeom prst="rect">
            <a:avLst/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216" y="2391613"/>
            <a:ext cx="420624" cy="420624"/>
          </a:xfrm>
          <a:prstGeom prst="ellipse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pu_0E5C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578" y="2500975"/>
            <a:ext cx="201899" cy="20189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07008" y="2420416"/>
            <a:ext cx="2331720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Helvetica Neue"/>
              </a:rPr>
              <a:t>ICT &amp; technology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79" y="2420416"/>
            <a:ext cx="4937759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Software developers and data specialists top the demand list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2902305"/>
            <a:ext cx="8412480" cy="363016"/>
          </a:xfrm>
          <a:prstGeom prst="roundRect">
            <a:avLst>
              <a:gd name="adj" fmla="val 2267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2975457"/>
            <a:ext cx="64008" cy="216712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85216" y="2873502"/>
            <a:ext cx="420624" cy="420624"/>
          </a:xfrm>
          <a:prstGeom prst="ellipse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ools_C08A2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578" y="2982864"/>
            <a:ext cx="201899" cy="20189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07008" y="2902305"/>
            <a:ext cx="2331720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Helvetica Neue"/>
              </a:rPr>
              <a:t>Technical trades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79" y="2902305"/>
            <a:ext cx="4937759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Electricians, mechanics, installation and maintenance fitters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3384194"/>
            <a:ext cx="8412480" cy="363016"/>
          </a:xfrm>
          <a:prstGeom prst="roundRect">
            <a:avLst>
              <a:gd name="adj" fmla="val 2267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3457346"/>
            <a:ext cx="64008" cy="216712"/>
          </a:xfrm>
          <a:prstGeom prst="rect">
            <a:avLst/>
          </a:prstGeom>
          <a:solidFill>
            <a:srgbClr val="3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85216" y="3355390"/>
            <a:ext cx="420624" cy="420624"/>
          </a:xfrm>
          <a:prstGeom prst="ellipse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chool_3E6B5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578" y="3464753"/>
            <a:ext cx="201899" cy="20189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207008" y="3384194"/>
            <a:ext cx="2331720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Helvetica Neue"/>
              </a:rPr>
              <a:t>Education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79" y="3384194"/>
            <a:ext cx="4937759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Primary-school teachers and STEM staff in chronic short supply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3866083"/>
            <a:ext cx="8412480" cy="363016"/>
          </a:xfrm>
          <a:prstGeom prst="roundRect">
            <a:avLst>
              <a:gd name="adj" fmla="val 2267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3939235"/>
            <a:ext cx="64008" cy="216712"/>
          </a:xfrm>
          <a:prstGeom prst="rect">
            <a:avLst/>
          </a:prstGeom>
          <a:solidFill>
            <a:srgbClr val="9C4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85216" y="3837279"/>
            <a:ext cx="420624" cy="420624"/>
          </a:xfrm>
          <a:prstGeom prst="ellipse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truck-delivery_9C472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578" y="3946641"/>
            <a:ext cx="201899" cy="201899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207008" y="3866083"/>
            <a:ext cx="2331720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Helvetica Neue"/>
              </a:rPr>
              <a:t>Transport &amp; logistics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1879" y="3866083"/>
            <a:ext cx="4937759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Drivers and logistics planners across the Randstad corridor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UWV (shortage-occupation and unfilled-vacancy reporting, 2025–2026).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5C63"/>
                </a:solidFill>
                <a:latin typeface="Helvetica Neue"/>
              </a:rPr>
              <a:t>PAY &amp; WAGES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Wages are beating inflation again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508760"/>
            <a:ext cx="4828031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NEGOTIATED (CAO) WAGE GROWTH, YEAR-ON-YEAR %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810512"/>
          <a:ext cx="4828031" cy="23088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559552" y="1554480"/>
            <a:ext cx="321868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5C63"/>
                </a:solidFill>
                <a:latin typeface="Courier New"/>
              </a:rPr>
              <a:t>REAL GAINS, THREE YEARS 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59552" y="1828800"/>
            <a:ext cx="3218687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0E5C63"/>
                </a:solidFill>
                <a:latin typeface="Helvetica Neue"/>
              </a:rPr>
              <a:t>+2.0%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9552" y="2633472"/>
            <a:ext cx="3218687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E56"/>
                </a:solidFill>
                <a:latin typeface="Helvetica Neue"/>
              </a:rPr>
              <a:t>Collectively-agreed pay rose 4.5% in early 2026 — 2.0 points ahead of inflation. Households are genuinely getting richer.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3703320"/>
            <a:ext cx="3218687" cy="12801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9552" y="3822191"/>
            <a:ext cx="3218687" cy="2743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D8542A"/>
                </a:solidFill>
                <a:latin typeface="Helvetica Neue"/>
              </a:rPr>
              <a:t>€14.99</a:t>
            </a:r>
            <a:r>
              <a:rPr sz="1100" b="0" i="0">
                <a:solidFill>
                  <a:srgbClr val="4A4E56"/>
                </a:solidFill>
                <a:latin typeface="Helvetica Neue"/>
              </a:rPr>
              <a:t>  /hr minimum wage (21+)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59552" y="4151376"/>
            <a:ext cx="3218687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from 1 July 2026 · average pay ≈ €53.4k/yr.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 (CAO negotiated-wage index); Business.gov.nl (minimum wage). 2024 figure indicative.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</a:rPr>
              <a:t>SALARY 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A wide spread across the sectors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508760"/>
            <a:ext cx="508836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INDICATIVE GROSS SALARY, € PER YEAR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883664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</a:rPr>
              <a:t>ICT &amp; technology (mid-level)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139696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" y="2139696"/>
            <a:ext cx="3427386" cy="164592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56847" y="2139696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</a:rPr>
              <a:t>€72k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257806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</a:rPr>
              <a:t>Engineering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513838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" y="2513838"/>
            <a:ext cx="3236975" cy="164592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56847" y="2513838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</a:rPr>
              <a:t>€68k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631948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</a:rPr>
              <a:t>Finance &amp; business services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887980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2887980"/>
            <a:ext cx="3094168" cy="164592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56847" y="2887980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</a:rPr>
              <a:t>€65k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006090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</a:rPr>
              <a:t>National average (CBS)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262122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5760" y="3262122"/>
            <a:ext cx="2543691" cy="164592"/>
          </a:xfrm>
          <a:prstGeom prst="roundRect">
            <a:avLst>
              <a:gd name="adj" fmla="val 5000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56847" y="3262122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</a:rPr>
              <a:t>€53k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380232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</a:rPr>
              <a:t>Healthcare (registered nurse)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3636264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65760" y="3636264"/>
            <a:ext cx="2142116" cy="164592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56847" y="3636264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</a:rPr>
              <a:t>€45k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3754373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</a:rPr>
              <a:t>Hospitality &amp; retail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" y="4010406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65760" y="4010406"/>
            <a:ext cx="1570885" cy="164592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56847" y="4010406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</a:rPr>
              <a:t>€33k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19887" y="1554480"/>
            <a:ext cx="295835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23F1C"/>
                </a:solidFill>
                <a:latin typeface="Courier New"/>
              </a:rPr>
              <a:t>THE SPREAD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19887" y="1828800"/>
            <a:ext cx="2958352" cy="10972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A4E56"/>
                </a:solidFill>
                <a:latin typeface="Helvetica Neue"/>
              </a:rPr>
              <a:t>Technology pays roughly </a:t>
            </a:r>
            <a:r>
              <a:rPr sz="1400" b="1" i="0">
                <a:solidFill>
                  <a:srgbClr val="D8542A"/>
                </a:solidFill>
                <a:latin typeface="Helvetica Neue"/>
              </a:rPr>
              <a:t>double</a:t>
            </a:r>
            <a:r>
              <a:rPr sz="1300" b="0" i="0">
                <a:solidFill>
                  <a:srgbClr val="4A4E56"/>
                </a:solidFill>
                <a:latin typeface="Helvetica Neue"/>
              </a:rPr>
              <a:t> what hospitality and retail do — the widest gap between two big sectors.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19887" y="3154680"/>
            <a:ext cx="2958352" cy="960120"/>
          </a:xfrm>
          <a:prstGeom prst="roundRect">
            <a:avLst>
              <a:gd name="adj" fmla="val 9523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1055" y="3291839"/>
            <a:ext cx="2556016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Read as ranges, not points. Sector figures are indicative recruiter-survey midpoints; the €53.4k average is CBS.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 (national average salary, 2026); sector midpoints from recruiter salary guides — indicative.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5C63"/>
                </a:solidFill>
                <a:latin typeface="Helvetica Neue"/>
              </a:rPr>
              <a:t>INTERNATIONAL TALENT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The highly skilled migrant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53312"/>
            <a:ext cx="8046720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E56"/>
                </a:solidFill>
                <a:latin typeface="Helvetica Neue"/>
              </a:rPr>
              <a:t>The kennismigrant scheme has no labour-market test — eligibility runs almost entirely on a gross monthly salary threshold set by age and profile (2026, excl. 8% holiday pay).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74519"/>
            <a:ext cx="1828799" cy="19431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365760" y="1874519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093976"/>
            <a:ext cx="1463039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8478"/>
                </a:solidFill>
                <a:latin typeface="Courier New"/>
              </a:rPr>
              <a:t>HIGHLY SKILLED MIGRANT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42615"/>
            <a:ext cx="1499615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D8542A"/>
                </a:solidFill>
                <a:latin typeface="Helvetica Neue"/>
              </a:rPr>
              <a:t>€5,942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118104"/>
            <a:ext cx="1463039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8478"/>
                </a:solidFill>
                <a:latin typeface="Courier New"/>
              </a:rPr>
              <a:t>gross / month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355848"/>
            <a:ext cx="1426463" cy="10972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47287"/>
            <a:ext cx="14630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242A"/>
                </a:solidFill>
                <a:latin typeface="Helvetica Neue"/>
              </a:rPr>
              <a:t>age 30 and over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60320" y="1874519"/>
            <a:ext cx="1828799" cy="19431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 Same Side Corner Rectangle 13"/>
          <p:cNvSpPr/>
          <p:nvPr/>
        </p:nvSpPr>
        <p:spPr>
          <a:xfrm>
            <a:off x="2560320" y="1874519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61488" y="2093976"/>
            <a:ext cx="1463039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8478"/>
                </a:solidFill>
                <a:latin typeface="Courier New"/>
              </a:rPr>
              <a:t>HIGHLY SKILLED MIGRANT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642615"/>
            <a:ext cx="1499615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E5C63"/>
                </a:solidFill>
                <a:latin typeface="Helvetica Neue"/>
              </a:rPr>
              <a:t>€4,357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61488" y="3118104"/>
            <a:ext cx="1463039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8478"/>
                </a:solidFill>
                <a:latin typeface="Courier New"/>
              </a:rPr>
              <a:t>gross / month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61488" y="3355848"/>
            <a:ext cx="1426463" cy="10972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61488" y="3447287"/>
            <a:ext cx="14630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242A"/>
                </a:solidFill>
                <a:latin typeface="Helvetica Neue"/>
              </a:rPr>
              <a:t>under age 30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0" y="1874519"/>
            <a:ext cx="1828799" cy="19431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 Same Side Corner Rectangle 20"/>
          <p:cNvSpPr/>
          <p:nvPr/>
        </p:nvSpPr>
        <p:spPr>
          <a:xfrm>
            <a:off x="4754880" y="1874519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0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2093976"/>
            <a:ext cx="1463039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8478"/>
                </a:solidFill>
                <a:latin typeface="Courier New"/>
              </a:rPr>
              <a:t>RECENT GRADUATE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2642615"/>
            <a:ext cx="1499615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C08A2E"/>
                </a:solidFill>
                <a:latin typeface="Helvetica Neue"/>
              </a:rPr>
              <a:t>€3,122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56048" y="3118104"/>
            <a:ext cx="1463039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8478"/>
                </a:solidFill>
                <a:latin typeface="Courier New"/>
              </a:rPr>
              <a:t>gross / month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56048" y="3355848"/>
            <a:ext cx="1426463" cy="10972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3447287"/>
            <a:ext cx="14630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242A"/>
                </a:solidFill>
                <a:latin typeface="Helvetica Neue"/>
              </a:rPr>
              <a:t>orientation-year visa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0" y="1874519"/>
            <a:ext cx="1828799" cy="19431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 Same Side Corner Rectangle 27"/>
          <p:cNvSpPr/>
          <p:nvPr/>
        </p:nvSpPr>
        <p:spPr>
          <a:xfrm>
            <a:off x="6949440" y="1874519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3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50607" y="2093976"/>
            <a:ext cx="1463039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8478"/>
                </a:solidFill>
                <a:latin typeface="Courier New"/>
              </a:rPr>
              <a:t>ACADEMIC RESEARCHER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2642615"/>
            <a:ext cx="1499615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3E6B57"/>
                </a:solidFill>
                <a:latin typeface="Helvetica Neue"/>
              </a:rPr>
              <a:t>€3,583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50607" y="3118104"/>
            <a:ext cx="1463039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8478"/>
                </a:solidFill>
                <a:latin typeface="Courier New"/>
              </a:rPr>
              <a:t>gross / month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50607" y="3355848"/>
            <a:ext cx="1426463" cy="10972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50607" y="3447287"/>
            <a:ext cx="14630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242A"/>
                </a:solidFill>
                <a:latin typeface="Helvetica Neue"/>
              </a:rPr>
              <a:t>public research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3913632"/>
            <a:ext cx="804672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E5C63"/>
                </a:solidFill>
                <a:latin typeface="Helvetica Neue"/>
              </a:rPr>
              <a:t>~10,000</a:t>
            </a:r>
            <a:r>
              <a:rPr sz="1200" b="0" i="0">
                <a:solidFill>
                  <a:srgbClr val="4A4E56"/>
                </a:solidFill>
                <a:latin typeface="Helvetica Neue"/>
              </a:rPr>
              <a:t>  recognised sponsors    ·    top nationalities: </a:t>
            </a:r>
            <a:r>
              <a:rPr sz="1200" b="1" i="0">
                <a:solidFill>
                  <a:srgbClr val="20242A"/>
                </a:solidFill>
                <a:latin typeface="Helvetica Neue"/>
              </a:rPr>
              <a:t>India, Türkiye, China</a:t>
            </a:r>
            <a:r>
              <a:rPr sz="1200" b="0" i="0">
                <a:solidFill>
                  <a:srgbClr val="4A4E56"/>
                </a:solidFill>
                <a:latin typeface="Helvetica Neue"/>
              </a:rPr>
              <a:t>    ·    thresholds indexed yearly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IND (required salary amounts 2026; recognised-sponsor register); OECD (nationality mix).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</a:rPr>
              <a:t>POLICY 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The welcome is quietly tightening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508760"/>
            <a:ext cx="454814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THE 30% EXPAT RULING, PHASED DOWN</a:t>
            </a:r>
          </a:p>
        </p:txBody>
      </p:sp>
      <p:sp>
        <p:nvSpPr>
          <p:cNvPr id="6" name="Rectangle 5"/>
          <p:cNvSpPr/>
          <p:nvPr/>
        </p:nvSpPr>
        <p:spPr>
          <a:xfrm>
            <a:off x="464515" y="2011680"/>
            <a:ext cx="21945" cy="1280160"/>
          </a:xfrm>
          <a:prstGeom prst="rect">
            <a:avLst/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93192" y="202082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1956816"/>
            <a:ext cx="409094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A8478"/>
                </a:solidFill>
                <a:latin typeface="Helvetica Neue"/>
              </a:rPr>
              <a:t>2024–26  </a:t>
            </a:r>
            <a:r>
              <a:rPr sz="1300" b="1" i="0">
                <a:solidFill>
                  <a:srgbClr val="20242A"/>
                </a:solidFill>
                <a:latin typeface="Helvetica Neue"/>
              </a:rPr>
              <a:t>30% tax-free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249424"/>
            <a:ext cx="409094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income norm €46,107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3192" y="244754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2383536"/>
            <a:ext cx="409094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D8542A"/>
                </a:solidFill>
                <a:latin typeface="Helvetica Neue"/>
              </a:rPr>
              <a:t>1 Jan 2027  </a:t>
            </a:r>
            <a:r>
              <a:rPr sz="1300" b="1" i="0">
                <a:solidFill>
                  <a:srgbClr val="20242A"/>
                </a:solidFill>
                <a:latin typeface="Helvetica Neue"/>
              </a:rPr>
              <a:t>→ 27% tax-free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676144"/>
            <a:ext cx="409094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norm rises to €50,436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3192" y="28742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810256"/>
            <a:ext cx="409094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A8478"/>
                </a:solidFill>
                <a:latin typeface="Helvetica Neue"/>
              </a:rPr>
              <a:t>Under-30 MSc  </a:t>
            </a:r>
            <a:r>
              <a:rPr sz="1300" b="1" i="0">
                <a:solidFill>
                  <a:srgbClr val="20242A"/>
                </a:solidFill>
                <a:latin typeface="Helvetica Neue"/>
              </a:rPr>
              <a:t>higher bar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" y="3102864"/>
            <a:ext cx="409094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€35,048 → €38,388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9666" y="1508760"/>
            <a:ext cx="3498573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HIGHLY SKILLED MIGRANT APPLICATIONS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5279666" y="1792224"/>
          <a:ext cx="3498573" cy="1280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5279666" y="3182112"/>
            <a:ext cx="3498573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E56"/>
                </a:solidFill>
                <a:latin typeface="Helvetica Neue"/>
              </a:rPr>
              <a:t>Applications fell ~16% in a year; non-EU skilled arrivals dropped further to ≈14,000 in 2025.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9666" y="3886200"/>
            <a:ext cx="3498573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B23F1C"/>
                </a:solidFill>
                <a:latin typeface="Helvetica Neue"/>
              </a:rPr>
              <a:t>Lower tax break + higher salary bars = a costlier, more selective door.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Business.gov.nl (30%→27% ruling and income norms, 2027); IND &amp; OECD (applications and arrivals).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5C63"/>
                </a:solidFill>
                <a:latin typeface="Helvetica Neue"/>
              </a:rPr>
              <a:t>REGIONAL DIFFERENCES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Tight everywhere, hotter in pockets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508760"/>
            <a:ext cx="425109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VACANCIES PER 100 UNEMPLOYED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965960"/>
            <a:ext cx="310809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A8478"/>
                </a:solidFill>
                <a:latin typeface="Helvetica Neue"/>
              </a:rPr>
              <a:t>Utrecht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221991"/>
            <a:ext cx="3108097" cy="182880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" y="2221991"/>
            <a:ext cx="2615088" cy="182880"/>
          </a:xfrm>
          <a:prstGeom prst="roundRect">
            <a:avLst>
              <a:gd name="adj" fmla="val 5000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6737" y="2221991"/>
            <a:ext cx="777240" cy="1828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0242A"/>
                </a:solidFill>
                <a:latin typeface="Helvetica Neue"/>
              </a:rPr>
              <a:t>122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514600"/>
            <a:ext cx="310809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A8478"/>
                </a:solidFill>
                <a:latin typeface="Helvetica Neue"/>
              </a:rPr>
              <a:t>Zeeland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770632"/>
            <a:ext cx="3108097" cy="182880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" y="2770632"/>
            <a:ext cx="2615088" cy="182880"/>
          </a:xfrm>
          <a:prstGeom prst="roundRect">
            <a:avLst>
              <a:gd name="adj" fmla="val 5000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6737" y="2770632"/>
            <a:ext cx="777240" cy="1828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0242A"/>
                </a:solidFill>
                <a:latin typeface="Helvetica Neue"/>
              </a:rPr>
              <a:t>122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3240"/>
            <a:ext cx="310809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A8478"/>
                </a:solidFill>
                <a:latin typeface="Helvetica Neue"/>
              </a:rPr>
              <a:t>Netherlands (avg)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19272"/>
            <a:ext cx="3108097" cy="182880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3319272"/>
            <a:ext cx="1950599" cy="182880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6737" y="3319272"/>
            <a:ext cx="777240" cy="1828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0242A"/>
                </a:solidFill>
                <a:latin typeface="Helvetica Neue"/>
              </a:rPr>
              <a:t>91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611880"/>
            <a:ext cx="310809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A8478"/>
                </a:solidFill>
                <a:latin typeface="Helvetica Neue"/>
              </a:rPr>
              <a:t>Groningen (recovering)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867912"/>
            <a:ext cx="3108097" cy="182880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5760" y="3867912"/>
            <a:ext cx="1671942" cy="182880"/>
          </a:xfrm>
          <a:prstGeom prst="roundRect">
            <a:avLst>
              <a:gd name="adj" fmla="val 50000"/>
            </a:avLst>
          </a:prstGeom>
          <a:solidFill>
            <a:srgbClr val="2E8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6737" y="3867912"/>
            <a:ext cx="777240" cy="1828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0242A"/>
                </a:solidFill>
                <a:latin typeface="Helvetica Neue"/>
              </a:rPr>
              <a:t>78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2617" y="1554480"/>
            <a:ext cx="3795622" cy="1133856"/>
          </a:xfrm>
          <a:prstGeom prst="roundRect">
            <a:avLst>
              <a:gd name="adj" fmla="val 8870"/>
            </a:avLst>
          </a:prstGeom>
          <a:solidFill>
            <a:srgbClr val="ECE4D6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8649" y="1755648"/>
            <a:ext cx="3338422" cy="45720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D8542A"/>
                </a:solidFill>
                <a:latin typeface="Helvetica Neue"/>
              </a:rPr>
              <a:t>13 of 35</a:t>
            </a:r>
            <a:r>
              <a:rPr sz="1300" b="0" i="0">
                <a:solidFill>
                  <a:srgbClr val="4A4E56"/>
                </a:solidFill>
                <a:latin typeface="Helvetica Neue"/>
              </a:rPr>
              <a:t>  regions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8649" y="2249424"/>
            <a:ext cx="332013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classed “extremely tight” (5+ vacancies per jobseeker).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82617" y="2871215"/>
            <a:ext cx="64008" cy="603504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83785" y="2871215"/>
            <a:ext cx="352130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0242A"/>
                </a:solidFill>
                <a:latin typeface="Helvetica Neue"/>
              </a:rPr>
              <a:t>Randstad core runs hottest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83785" y="3145535"/>
            <a:ext cx="352130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</a:rPr>
              <a:t>Utrecht and the central belt lead the country for tension.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82617" y="3529583"/>
            <a:ext cx="64008" cy="603504"/>
          </a:xfrm>
          <a:prstGeom prst="rect">
            <a:avLst/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83785" y="3529583"/>
            <a:ext cx="352130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0242A"/>
                </a:solidFill>
                <a:latin typeface="Helvetica Neue"/>
              </a:rPr>
              <a:t>Only two provinces held steady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83785" y="3803903"/>
            <a:ext cx="352130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</a:rPr>
              <a:t>Unemployment rose in 2025 everywhere except Utrecht and Limburg.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 &amp; UWV (provincial tension ratios and 35-region labour-market classification, 2025–2026).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0E5C63"/>
                </a:solidFill>
                <a:latin typeface="Courier New"/>
              </a:rPr>
              <a:t>OUTLOOK  ·  2026–2027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41248"/>
            <a:ext cx="1188720" cy="50292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42415"/>
            <a:ext cx="8595360" cy="82296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0242A"/>
                </a:solidFill>
                <a:latin typeface="Georgia"/>
              </a:rPr>
              <a:t>Balance at the top, scarcity underneath.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057400"/>
            <a:ext cx="2560319" cy="2034540"/>
          </a:xfrm>
          <a:prstGeom prst="roundRect">
            <a:avLst>
              <a:gd name="adj" fmla="val 4943"/>
            </a:avLst>
          </a:prstGeom>
          <a:solidFill>
            <a:srgbClr val="ECE4D6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3504" y="2276856"/>
            <a:ext cx="438912" cy="438912"/>
          </a:xfrm>
          <a:prstGeom prst="roundRect">
            <a:avLst>
              <a:gd name="adj" fmla="val 24000"/>
            </a:avLst>
          </a:prstGeom>
          <a:solidFill>
            <a:srgbClr val="DDE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rending-up_0E5C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621" y="2390973"/>
            <a:ext cx="210677" cy="21067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" y="2843784"/>
            <a:ext cx="2103119" cy="5029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E5C63"/>
                </a:solidFill>
                <a:latin typeface="Helvetica Neue"/>
              </a:rPr>
              <a:t>4.2 → 4.4%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3337560"/>
            <a:ext cx="2103119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Unemployment edges up to 2027 as growth stays modest — still historically low.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39" y="2057400"/>
            <a:ext cx="2560319" cy="2034540"/>
          </a:xfrm>
          <a:prstGeom prst="roundRect">
            <a:avLst>
              <a:gd name="adj" fmla="val 4943"/>
            </a:avLst>
          </a:prstGeom>
          <a:solidFill>
            <a:srgbClr val="ECE4D6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29583" y="2276856"/>
            <a:ext cx="438912" cy="438912"/>
          </a:xfrm>
          <a:prstGeom prst="roundRect">
            <a:avLst>
              <a:gd name="adj" fmla="val 24000"/>
            </a:avLst>
          </a:prstGeom>
          <a:solidFill>
            <a:srgbClr val="E1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art-line_2E8A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3701" y="2390973"/>
            <a:ext cx="210677" cy="21067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29583" y="2843784"/>
            <a:ext cx="2103119" cy="5029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2E8A8C"/>
                </a:solidFill>
                <a:latin typeface="Helvetica Neue"/>
              </a:rPr>
              <a:t>+1.1%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3" y="3337560"/>
            <a:ext cx="2103119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Total jobs still grow through 2027 (UWV): cooling, not contracting.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19" y="2057400"/>
            <a:ext cx="2560319" cy="2034540"/>
          </a:xfrm>
          <a:prstGeom prst="roundRect">
            <a:avLst>
              <a:gd name="adj" fmla="val 4943"/>
            </a:avLst>
          </a:prstGeom>
          <a:solidFill>
            <a:srgbClr val="ECE4D6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55663" y="2276856"/>
            <a:ext cx="438912" cy="438912"/>
          </a:xfrm>
          <a:prstGeom prst="roundRect">
            <a:avLst>
              <a:gd name="adj" fmla="val 24000"/>
            </a:avLst>
          </a:prstGeom>
          <a:solidFill>
            <a:srgbClr val="F9E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users_D8542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9781" y="2390973"/>
            <a:ext cx="210677" cy="21067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55663" y="2843784"/>
            <a:ext cx="2103119" cy="5029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8542A"/>
                </a:solidFill>
                <a:latin typeface="Helvetica Neue"/>
              </a:rPr>
              <a:t>2 in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3" y="3337560"/>
            <a:ext cx="2103119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employed mothers work part-time; an ageing workforce keeps shortages tight.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Rabobank, European Commission &amp; ABN AMRO (2026–27 forecasts); UWV (job-growth &amp; reskilling outlook).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0E5C63"/>
                </a:solidFill>
                <a:latin typeface="Courier New"/>
              </a:rPr>
              <a:t>IN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41248"/>
            <a:ext cx="1188720" cy="50292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24128"/>
            <a:ext cx="813816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20242A"/>
                </a:solidFill>
                <a:latin typeface="Georgia"/>
              </a:rPr>
              <a:t>Five things to remember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828800"/>
            <a:ext cx="603504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1">
                <a:solidFill>
                  <a:srgbClr val="D8542A"/>
                </a:solidFill>
                <a:latin typeface="Georgia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1828800"/>
            <a:ext cx="2423160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Georgia"/>
              </a:rPr>
              <a:t>Cooled, not slack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828800"/>
            <a:ext cx="5212079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Vacancies now roughly match jobseekers — down from the 2022 peak, but still ~3× the pre-2020 norm.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24128" y="2318003"/>
            <a:ext cx="7754111" cy="9144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63724"/>
            <a:ext cx="603504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1">
                <a:solidFill>
                  <a:srgbClr val="D8542A"/>
                </a:solidFill>
                <a:latin typeface="Georgia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363724"/>
            <a:ext cx="2423160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Georgia"/>
              </a:rPr>
              <a:t>Scarcity is structural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363724"/>
            <a:ext cx="5212079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Care, ICT, technical trades, teaching and logistics stay acutely short whatever the aggregate does.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24128" y="2852927"/>
            <a:ext cx="7754111" cy="9144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898648"/>
            <a:ext cx="603504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1">
                <a:solidFill>
                  <a:srgbClr val="D8542A"/>
                </a:solidFill>
                <a:latin typeface="Georgia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898648"/>
            <a:ext cx="2423160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Georgia"/>
              </a:rPr>
              <a:t>Pay is winning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898648"/>
            <a:ext cx="5212079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Negotiated wages have beaten inflation three years running; real incomes are rising.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3387851"/>
            <a:ext cx="7754111" cy="9144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433572"/>
            <a:ext cx="603504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1">
                <a:solidFill>
                  <a:srgbClr val="D8542A"/>
                </a:solidFill>
                <a:latin typeface="Georgia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3433572"/>
            <a:ext cx="2423160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Georgia"/>
              </a:rPr>
              <a:t>The door is narrowing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3433572"/>
            <a:ext cx="5212079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A 27% expat ruling, higher salary bars and fewer permits make foreign hiring costlier and more selective.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24128" y="3922776"/>
            <a:ext cx="7754111" cy="9144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968496"/>
            <a:ext cx="603504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1">
                <a:solidFill>
                  <a:srgbClr val="D8542A"/>
                </a:solidFill>
                <a:latin typeface="Georgia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968496"/>
            <a:ext cx="2423160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Georgia"/>
              </a:rPr>
              <a:t>Demographics set the floor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3968496"/>
            <a:ext cx="5212079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An ageing, part-time workforce keeps the market tight — reskilling, not slack, is the release valve.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150">
                <a:solidFill>
                  <a:srgbClr val="D8542A"/>
                </a:solidFill>
                <a:latin typeface="Courier New"/>
              </a:rPr>
              <a:t>SOURCES  ·  VERIFIED AS OF 12 JULY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32688"/>
            <a:ext cx="1097280" cy="45720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01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CBS — unemployment, vacancies &amp; tension, wages (CAO index), participation, average salary.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20824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02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European Commission — Autumn 2025 forecast, Netherlands (unemployment 2026–27).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41448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03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Eurostat — harmonised unemployment, NL vs EU / euro-area (May 2026).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62072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04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UWV — shortage occupations, 35-region tightness map, 2026–27 job-growth outlook.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82696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05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IND — highly skilled migrant salary thresholds 2026; recognised-sponsor register.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600200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06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Business.gov.nl — statutory minimum wage (Jul 2026); 30%→27% expat ruling (2027).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020824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07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OECD — International Migration Outlook 2025 (permits, arrivals, nationality mix).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441448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08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Rabobank · ABN AMRO · DNB — 2026–27 macro &amp; labour-market commentary.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862072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09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Recruiter salary guides — indicative sector midpoints (not official statistics).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913632"/>
            <a:ext cx="7863840" cy="12801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114800"/>
            <a:ext cx="786384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E56"/>
                </a:solidFill>
                <a:latin typeface="Helvetica Neue"/>
              </a:rPr>
              <a:t>An example deck for the slide-maker template gallery. </a:t>
            </a:r>
            <a:r>
              <a:rPr sz="1250" b="1" i="0">
                <a:solidFill>
                  <a:srgbClr val="B23F1C"/>
                </a:solidFill>
                <a:latin typeface="Helvetica Neue"/>
              </a:rPr>
              <a:t>The visual system is reusable — swap in your own verified content.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