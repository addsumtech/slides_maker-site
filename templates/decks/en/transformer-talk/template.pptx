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that reset the field. In 2017 eight researchers at Google proposed dropping recurrence and convolution entirely and building a sequence model out of attention alone. Today it is the architecture behind essentially every large language model. Let's walk through what it actually says.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get technical, why care. Recurrent nets read a sentence one word at a time. This paper's bet was that a model built only from attention could do better and train far faster. It won at NeurIPS 2017, and the same architecture is now the backbone of GPT, BERT and the rest.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why the field needed a new idea at all — the trouble with recurrent sequence models.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Recurrent models have two structural problems. First, they are sequential — you cannot compute step t until step t minus one is done, so training does not parallelise. Second, information between two distant tokens has to travel the full length of the chain, and that signal fades. The maximum path length grows with sequence length 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claim, stated as baldly as the paper does. Get rid of recurrence and convolution completely. Build the whole model out of attention. If it works, you get three things for free: full parallelism, a constant-length path between any two tokens, and attention maps you can actually inspect.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shape of the model itself: how the encoder and decoder are put together.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thing. On the left, an encoder: a stack of six identical layers, each with a self-attention sub-layer and a feed-forward sub-layer. On the right, a decoder: also six layers, but with three sub-layers — masked self-attention, then attention over the encoder's output — that dashed coral link carries the keys and values — and a feed-forward. Embeddings plus positional encodings go in at the bottom; a linear-plus-softmax head reads out probabilities at the top.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Zooming into a single sub-layer. Whatever the sub-layer computes — attention or feed-forward — its input is added back via a residual skip connection, and the sum is layer-normalised. That skip is what lets you stack six of these without the gradient dying. The feed-forward sub-layer is just two linear maps with a ReLU, widening from 512 to 2048 and back.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 is the engine everything is built from — the attention operation itself, in three forms.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the paper. Attention is a soft dictionary lookup. Each query is compared to every key by dot product; those scores are scaled by one over root d-k, turned into weights by a softmax, and used to take a weighted sum of the values. Why the scaling? For large key dimension the dot products get big, softmax saturates, and gradients vanish — dividing by root d-k fixes that.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attention is a bit limited — it can only produce one weighted average. So the paper runs eight of them in parallel. It projects the queries, keys and values into eight 64-dimensional subspaces, runs attention independently in each, concatenates the results and projects back. Different heads end up specialising — some track syntax, some track long-distance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catch: attention is permutation-invariant. If you shuffle the input tokens it produces the same set of outputs — it has no idea of order. The fix is to add a fixed positional signal to every embedding: sines and cosines of geometrically increasing wavelength. This plot is the real function from the paper — short wavelengths in the low dimensions, long ones higher up — which lets the model read both absolute and relative position.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 this actually better, not just different. This table is from the paper. A self-attention layer costs order n-squared times d, but crucially it needs only a constant number of sequential operations, so it parallelises, and the maximum path between any two positions is constant — one hop — versus order n for a recurrent net. Parallel, short-path, and the attention weights are inspectable.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it work? Yes. On English-to-German the big Transformer scores 28.4 BLEU, more than two points above the previous best, including ensembles. On English-to-French it sets a new single-model record of 41.8, beating ensembles. And it does this in three and a half days on eight P100 GPUs — under a quarter of the training cost of the models it beat.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not free. Attention is quadratic in sequence length, so very long inputs are costly — the paper even suggests restricting attention to a local window for long sequences, which foreshadowed a whole line of efficient-attention work. But the honest verdict is that this architecture became the backbone. BERT, GPT and the Vision Transformer are all directly this. NOTE: this legacy panel is my framing added for the talk, not claims from the 2017 paper.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First: attention replaces recurrence — you get global dependencies in a single layer. Second: because there is no sequential chain, it trains in parallel and keeps every token one hop from every other. Third: this exact design became the backbone of modern AI. The title was not an exaggeration. Thanks —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3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5143500"/>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flipV="1">
            <a:off x="5074920" y="1051560"/>
            <a:ext cx="1600200" cy="1097280"/>
          </a:xfrm>
          <a:prstGeom prst="line">
            <a:avLst/>
          </a:prstGeom>
          <a:ln w="6350">
            <a:solidFill>
              <a:srgbClr val="283C52"/>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flipV="1">
            <a:off x="5715000" y="1051560"/>
            <a:ext cx="960120" cy="1097280"/>
          </a:xfrm>
          <a:prstGeom prst="line">
            <a:avLst/>
          </a:prstGeom>
          <a:ln w="6350">
            <a:solidFill>
              <a:srgbClr val="283C52"/>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6355080" y="1051560"/>
            <a:ext cx="320040" cy="1097280"/>
          </a:xfrm>
          <a:prstGeom prst="line">
            <a:avLst/>
          </a:prstGeom>
          <a:ln w="12954">
            <a:solidFill>
              <a:srgbClr val="E5484D"/>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675120" y="1051560"/>
            <a:ext cx="320040" cy="1097280"/>
          </a:xfrm>
          <a:prstGeom prst="line">
            <a:avLst/>
          </a:prstGeom>
          <a:ln w="8382">
            <a:solidFill>
              <a:srgbClr val="283C52"/>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675120" y="1051560"/>
            <a:ext cx="960120" cy="1097280"/>
          </a:xfrm>
          <a:prstGeom prst="line">
            <a:avLst/>
          </a:prstGeom>
          <a:ln w="6350">
            <a:solidFill>
              <a:srgbClr val="283C52"/>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6675120" y="1051560"/>
            <a:ext cx="1600200" cy="1097280"/>
          </a:xfrm>
          <a:prstGeom prst="line">
            <a:avLst/>
          </a:prstGeom>
          <a:ln w="6350">
            <a:solidFill>
              <a:srgbClr val="283C52"/>
            </a:solidFill>
          </a:ln>
          <a:effectLst/>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997196" y="973836"/>
            <a:ext cx="155448" cy="155448"/>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52059" y="973836"/>
            <a:ext cx="45720" cy="155448"/>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12" name="Oval 11"/>
          <p:cNvSpPr/>
          <p:nvPr/>
        </p:nvSpPr>
        <p:spPr>
          <a:xfrm>
            <a:off x="5637276" y="973836"/>
            <a:ext cx="155448" cy="155448"/>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92140" y="973836"/>
            <a:ext cx="45720" cy="155448"/>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14" name="Oval 13"/>
          <p:cNvSpPr/>
          <p:nvPr/>
        </p:nvSpPr>
        <p:spPr>
          <a:xfrm>
            <a:off x="6277356" y="973836"/>
            <a:ext cx="155448" cy="155448"/>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32220" y="973836"/>
            <a:ext cx="45720" cy="155448"/>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16" name="Oval 15"/>
          <p:cNvSpPr/>
          <p:nvPr/>
        </p:nvSpPr>
        <p:spPr>
          <a:xfrm>
            <a:off x="6917436" y="973836"/>
            <a:ext cx="155448" cy="155448"/>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72300" y="973836"/>
            <a:ext cx="45720" cy="155448"/>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18" name="Oval 17"/>
          <p:cNvSpPr/>
          <p:nvPr/>
        </p:nvSpPr>
        <p:spPr>
          <a:xfrm>
            <a:off x="7557515" y="973836"/>
            <a:ext cx="155448" cy="155448"/>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12379" y="973836"/>
            <a:ext cx="45720" cy="155448"/>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20" name="Oval 19"/>
          <p:cNvSpPr/>
          <p:nvPr/>
        </p:nvSpPr>
        <p:spPr>
          <a:xfrm>
            <a:off x="8197596" y="973836"/>
            <a:ext cx="155448" cy="155448"/>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2460" y="973836"/>
            <a:ext cx="45720" cy="155448"/>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22" name="Oval 21"/>
          <p:cNvSpPr/>
          <p:nvPr/>
        </p:nvSpPr>
        <p:spPr>
          <a:xfrm>
            <a:off x="6597396" y="2071116"/>
            <a:ext cx="155448" cy="155448"/>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52259" y="2071116"/>
            <a:ext cx="45720" cy="155448"/>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24" name="TextBox 23"/>
          <p:cNvSpPr txBox="1"/>
          <p:nvPr/>
        </p:nvSpPr>
        <p:spPr>
          <a:xfrm>
            <a:off x="658368" y="1481328"/>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spc="300">
                <a:solidFill>
                  <a:srgbClr val="F07872"/>
                </a:solidFill>
                <a:latin typeface="Menlo"/>
              </a:rPr>
              <a:t>PAPER TALK · NEURIPS 2017</a:t>
            </a:r>
          </a:p>
        </p:txBody>
      </p:sp>
      <p:sp>
        <p:nvSpPr>
          <p:cNvPr id="25" name="TextBox 24"/>
          <p:cNvSpPr txBox="1"/>
          <p:nvPr/>
        </p:nvSpPr>
        <p:spPr>
          <a:xfrm>
            <a:off x="621792" y="1810512"/>
            <a:ext cx="6309360" cy="1737360"/>
          </a:xfrm>
          <a:prstGeom prst="rect">
            <a:avLst/>
          </a:prstGeom>
          <a:noFill/>
          <a:ln/>
        </p:spPr>
        <p:txBody>
          <a:bodyPr wrap="square" anchor="t" lIns="25400" rIns="25400" tIns="25400" bIns="25400">
            <a:spAutoFit/>
          </a:bodyPr>
          <a:lstStyle/>
          <a:p>
            <a:pPr algn="l">
              <a:lnSpc>
                <a:spcPct val="98000"/>
              </a:lnSpc>
              <a:spcBef>
                <a:spcPts val="0"/>
              </a:spcBef>
              <a:spcAft>
                <a:spcPts val="200"/>
              </a:spcAft>
            </a:pPr>
            <a:r>
              <a:rPr sz="5400" b="1" i="0">
                <a:solidFill>
                  <a:srgbClr val="FFFFFF"/>
                </a:solidFill>
                <a:latin typeface="Charter"/>
              </a:rPr>
              <a:t>Attention Is</a:t>
            </a:r>
          </a:p>
          <a:p>
            <a:pPr algn="l">
              <a:lnSpc>
                <a:spcPct val="98000"/>
              </a:lnSpc>
              <a:spcBef>
                <a:spcPts val="0"/>
              </a:spcBef>
              <a:spcAft>
                <a:spcPts val="200"/>
              </a:spcAft>
            </a:pPr>
            <a:r>
              <a:rPr sz="5400" b="1" i="0">
                <a:solidFill>
                  <a:srgbClr val="FFFFFF"/>
                </a:solidFill>
                <a:latin typeface="Charter"/>
              </a:rPr>
              <a:t>All You Need</a:t>
            </a:r>
          </a:p>
        </p:txBody>
      </p:sp>
      <p:sp>
        <p:nvSpPr>
          <p:cNvPr id="26" name="TextBox 25"/>
          <p:cNvSpPr txBox="1"/>
          <p:nvPr/>
        </p:nvSpPr>
        <p:spPr>
          <a:xfrm>
            <a:off x="658368" y="3529584"/>
            <a:ext cx="7680960" cy="54864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800" b="0" i="0">
                <a:solidFill>
                  <a:srgbClr val="96A8BA"/>
                </a:solidFill>
                <a:latin typeface="Helvetica Neue"/>
              </a:rPr>
              <a:t>How the Transformer replaced recurrence with </a:t>
            </a:r>
            <a:r>
              <a:rPr sz="1800" b="1" i="0">
                <a:solidFill>
                  <a:srgbClr val="F07872"/>
                </a:solidFill>
                <a:latin typeface="Helvetica Neue"/>
              </a:rPr>
              <a:t>attention</a:t>
            </a:r>
            <a:r>
              <a:rPr sz="1800" b="0" i="0">
                <a:solidFill>
                  <a:srgbClr val="96A8BA"/>
                </a:solidFill>
                <a:latin typeface="Helvetica Neue"/>
              </a:rPr>
              <a:t>.</a:t>
            </a:r>
          </a:p>
        </p:txBody>
      </p:sp>
      <p:sp>
        <p:nvSpPr>
          <p:cNvPr id="27" name="Rectangle 26"/>
          <p:cNvSpPr/>
          <p:nvPr/>
        </p:nvSpPr>
        <p:spPr>
          <a:xfrm>
            <a:off x="676656" y="4160520"/>
            <a:ext cx="1097280" cy="29260"/>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4279392"/>
            <a:ext cx="7863840" cy="640080"/>
          </a:xfrm>
          <a:prstGeom prst="rect">
            <a:avLst/>
          </a:prstGeom>
          <a:noFill/>
          <a:ln/>
        </p:spPr>
        <p:txBody>
          <a:bodyPr wrap="square" anchor="t" lIns="25400" rIns="25400" tIns="25400" bIns="25400">
            <a:spAutoFit/>
          </a:bodyPr>
          <a:lstStyle/>
          <a:p>
            <a:pPr algn="l">
              <a:lnSpc>
                <a:spcPct val="110000"/>
              </a:lnSpc>
              <a:spcBef>
                <a:spcPts val="0"/>
              </a:spcBef>
              <a:spcAft>
                <a:spcPts val="300"/>
              </a:spcAft>
            </a:pPr>
            <a:r>
              <a:rPr sz="1250" b="0" i="0">
                <a:solidFill>
                  <a:srgbClr val="96A8BA"/>
                </a:solidFill>
                <a:latin typeface="Helvetica Neue"/>
              </a:rPr>
              <a:t>Vaswani · Shazeer · Parmar · Uszkoreit · Jones · Gomez · Kaiser · Polosukhin</a:t>
            </a:r>
          </a:p>
          <a:p>
            <a:pPr algn="l">
              <a:lnSpc>
                <a:spcPct val="110000"/>
              </a:lnSpc>
              <a:spcBef>
                <a:spcPts val="0"/>
              </a:spcBef>
              <a:spcAft>
                <a:spcPts val="300"/>
              </a:spcAft>
            </a:pPr>
            <a:r>
              <a:rPr sz="1150" b="0" i="0">
                <a:solidFill>
                  <a:srgbClr val="96A8BA"/>
                </a:solidFill>
                <a:latin typeface="Helvetica Neue"/>
              </a:rPr>
              <a:t>Google Brain / Google Research  ·  arXiv:1706.03762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220">
                <a:solidFill>
                  <a:srgbClr val="BE2A2F"/>
                </a:solidFill>
                <a:latin typeface="Menlo"/>
              </a:rPr>
              <a:t>WHY THIS PAPER</a:t>
            </a:r>
          </a:p>
        </p:txBody>
      </p:sp>
      <p:sp>
        <p:nvSpPr>
          <p:cNvPr id="4" name="TextBox 3"/>
          <p:cNvSpPr txBox="1"/>
          <p:nvPr/>
        </p:nvSpPr>
        <p:spPr>
          <a:xfrm>
            <a:off x="621792" y="76809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800" b="1" i="0">
                <a:solidFill>
                  <a:srgbClr val="182B3D"/>
                </a:solidFill>
                <a:latin typeface="Charter"/>
              </a:rPr>
              <a:t>One idea, and most of modern AI followed</a:t>
            </a:r>
          </a:p>
        </p:txBody>
      </p:sp>
      <p:sp>
        <p:nvSpPr>
          <p:cNvPr id="5" name="Rectangle 4"/>
          <p:cNvSpPr/>
          <p:nvPr/>
        </p:nvSpPr>
        <p:spPr>
          <a:xfrm>
            <a:off x="640080" y="1463040"/>
            <a:ext cx="1005840" cy="27432"/>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7955279" cy="1097280"/>
          </a:xfrm>
          <a:prstGeom prst="rect">
            <a:avLst/>
          </a:prstGeom>
          <a:noFill/>
          <a:ln/>
        </p:spPr>
        <p:txBody>
          <a:bodyPr wrap="square" anchor="t" lIns="25400" rIns="25400" tIns="25400" bIns="25400">
            <a:spAutoFit/>
          </a:bodyPr>
          <a:lstStyle/>
          <a:p>
            <a:pPr algn="l">
              <a:lnSpc>
                <a:spcPct val="116000"/>
              </a:lnSpc>
              <a:spcBef>
                <a:spcPts val="0"/>
              </a:spcBef>
              <a:spcAft>
                <a:spcPts val="0"/>
              </a:spcAft>
            </a:pPr>
            <a:r>
              <a:rPr sz="2200" b="0" i="0">
                <a:solidFill>
                  <a:srgbClr val="182B3D"/>
                </a:solidFill>
                <a:latin typeface="Charter"/>
              </a:rPr>
              <a:t>Replace the recurrent chain with </a:t>
            </a:r>
            <a:r>
              <a:rPr sz="2200" b="1" i="0">
                <a:solidFill>
                  <a:srgbClr val="BE2A2F"/>
                </a:solidFill>
                <a:latin typeface="Charter"/>
              </a:rPr>
              <a:t>attention</a:t>
            </a:r>
            <a:r>
              <a:rPr sz="2200" b="0" i="0">
                <a:solidFill>
                  <a:srgbClr val="182B3D"/>
                </a:solidFill>
                <a:latin typeface="Charter"/>
              </a:rPr>
              <a:t> — let every token look directly at every other, all at once.</a:t>
            </a:r>
          </a:p>
        </p:txBody>
      </p:sp>
      <p:sp>
        <p:nvSpPr>
          <p:cNvPr id="7" name="Rounded Rectangle 6"/>
          <p:cNvSpPr/>
          <p:nvPr/>
        </p:nvSpPr>
        <p:spPr>
          <a:xfrm>
            <a:off x="365760" y="2926080"/>
            <a:ext cx="2560319" cy="1371600"/>
          </a:xfrm>
          <a:prstGeom prst="roundRect">
            <a:avLst>
              <a:gd name="adj" fmla="val 8000"/>
            </a:avLst>
          </a:prstGeom>
          <a:solidFill>
            <a:srgbClr val="FFFDF9"/>
          </a:solidFill>
          <a:ln w="12700">
            <a:solidFill>
              <a:srgbClr val="C4BD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5760" y="2926080"/>
            <a:ext cx="82296" cy="1371600"/>
          </a:xfrm>
          <a:prstGeom prst="roundRect">
            <a:avLst>
              <a:gd name="adj" fmla="val 8000"/>
            </a:avLst>
          </a:prstGeom>
          <a:solidFill>
            <a:srgbClr val="3767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3108960"/>
            <a:ext cx="2103119" cy="45720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200" b="1" i="0">
                <a:solidFill>
                  <a:srgbClr val="37678F"/>
                </a:solidFill>
                <a:latin typeface="Charter"/>
              </a:rPr>
              <a:t>2017</a:t>
            </a:r>
          </a:p>
        </p:txBody>
      </p:sp>
      <p:sp>
        <p:nvSpPr>
          <p:cNvPr id="10" name="TextBox 9"/>
          <p:cNvSpPr txBox="1"/>
          <p:nvPr/>
        </p:nvSpPr>
        <p:spPr>
          <a:xfrm>
            <a:off x="621792" y="3602736"/>
            <a:ext cx="2103119" cy="640080"/>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300" b="0" i="0">
                <a:solidFill>
                  <a:srgbClr val="3A4A55"/>
                </a:solidFill>
                <a:latin typeface="Helvetica Neue"/>
              </a:rPr>
              <a:t>Published at NeurIPS; introduced the Transformer</a:t>
            </a:r>
          </a:p>
        </p:txBody>
      </p:sp>
      <p:sp>
        <p:nvSpPr>
          <p:cNvPr id="11" name="Rounded Rectangle 10"/>
          <p:cNvSpPr/>
          <p:nvPr/>
        </p:nvSpPr>
        <p:spPr>
          <a:xfrm>
            <a:off x="3291839" y="2926080"/>
            <a:ext cx="2560319" cy="1371600"/>
          </a:xfrm>
          <a:prstGeom prst="roundRect">
            <a:avLst>
              <a:gd name="adj" fmla="val 8000"/>
            </a:avLst>
          </a:prstGeom>
          <a:solidFill>
            <a:srgbClr val="FFFDF9"/>
          </a:solidFill>
          <a:ln w="12700">
            <a:solidFill>
              <a:srgbClr val="C4BD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291839" y="2926080"/>
            <a:ext cx="82296" cy="1371600"/>
          </a:xfrm>
          <a:prstGeom prst="roundRect">
            <a:avLst>
              <a:gd name="adj" fmla="val 8000"/>
            </a:avLst>
          </a:prstGeom>
          <a:solidFill>
            <a:srgbClr val="0E8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1" y="3108960"/>
            <a:ext cx="2103119" cy="45720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200" b="1" i="0">
                <a:solidFill>
                  <a:srgbClr val="096970"/>
                </a:solidFill>
                <a:latin typeface="Charter"/>
              </a:rPr>
              <a:t>8 GPUs</a:t>
            </a:r>
          </a:p>
        </p:txBody>
      </p:sp>
      <p:sp>
        <p:nvSpPr>
          <p:cNvPr id="14" name="TextBox 13"/>
          <p:cNvSpPr txBox="1"/>
          <p:nvPr/>
        </p:nvSpPr>
        <p:spPr>
          <a:xfrm>
            <a:off x="3547871" y="3602736"/>
            <a:ext cx="2103119" cy="640080"/>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300" b="0" i="0">
                <a:solidFill>
                  <a:srgbClr val="3A4A55"/>
                </a:solidFill>
                <a:latin typeface="Helvetica Neue"/>
              </a:rPr>
              <a:t>Big model trained in 3.5 days on 8 NVIDIA P100 GPUs</a:t>
            </a:r>
          </a:p>
        </p:txBody>
      </p:sp>
      <p:sp>
        <p:nvSpPr>
          <p:cNvPr id="15" name="Rounded Rectangle 14"/>
          <p:cNvSpPr/>
          <p:nvPr/>
        </p:nvSpPr>
        <p:spPr>
          <a:xfrm>
            <a:off x="6217919" y="2926080"/>
            <a:ext cx="2560319" cy="1371600"/>
          </a:xfrm>
          <a:prstGeom prst="roundRect">
            <a:avLst>
              <a:gd name="adj" fmla="val 8000"/>
            </a:avLst>
          </a:prstGeom>
          <a:solidFill>
            <a:srgbClr val="FFFDF9"/>
          </a:solidFill>
          <a:ln w="12700">
            <a:solidFill>
              <a:srgbClr val="C4BD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19" y="2926080"/>
            <a:ext cx="82296" cy="1371600"/>
          </a:xfrm>
          <a:prstGeom prst="roundRect">
            <a:avLst>
              <a:gd name="adj" fmla="val 8000"/>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73951" y="3108960"/>
            <a:ext cx="2103119" cy="45720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200" b="1" i="0">
                <a:solidFill>
                  <a:srgbClr val="BE2A2F"/>
                </a:solidFill>
                <a:latin typeface="Charter"/>
              </a:rPr>
              <a:t>The backbone</a:t>
            </a:r>
          </a:p>
        </p:txBody>
      </p:sp>
      <p:sp>
        <p:nvSpPr>
          <p:cNvPr id="18" name="TextBox 17"/>
          <p:cNvSpPr txBox="1"/>
          <p:nvPr/>
        </p:nvSpPr>
        <p:spPr>
          <a:xfrm>
            <a:off x="6473951" y="3602736"/>
            <a:ext cx="2103119" cy="640080"/>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300" b="0" i="0">
                <a:solidFill>
                  <a:srgbClr val="3A4A55"/>
                </a:solidFill>
                <a:latin typeface="Helvetica Neue"/>
              </a:rPr>
              <a:t>The architecture behind today's large language models</a:t>
            </a:r>
          </a:p>
        </p:txBody>
      </p:sp>
      <p:sp>
        <p:nvSpPr>
          <p:cNvPr id="19" name="TextBox 18"/>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35D51"/>
                </a:solidFill>
                <a:latin typeface="Helvetica Neue"/>
              </a:rPr>
              <a:t>Attention Is All You Need · Vaswani et al., NeurIPS 2017</a:t>
            </a:r>
          </a:p>
        </p:txBody>
      </p:sp>
      <p:sp>
        <p:nvSpPr>
          <p:cNvPr id="20" name="TextBox 19"/>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35D51"/>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3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5143500"/>
          </a:xfrm>
          <a:prstGeom prst="rect">
            <a:avLst/>
          </a:prstGeom>
          <a:solidFill>
            <a:srgbClr val="3767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0" y="457200"/>
            <a:ext cx="3291840" cy="4206240"/>
          </a:xfrm>
          <a:prstGeom prst="rect">
            <a:avLst/>
          </a:prstGeom>
          <a:noFill/>
        </p:spPr>
        <p:txBody>
          <a:bodyPr wrap="square" anchor="ctr" lIns="25400" rIns="25400" tIns="25400" bIns="25400">
            <a:spAutoFit/>
          </a:bodyPr>
          <a:lstStyle/>
          <a:p>
            <a:pPr algn="r">
              <a:lnSpc>
                <a:spcPct val="90000"/>
              </a:lnSpc>
              <a:spcBef>
                <a:spcPts val="0"/>
              </a:spcBef>
              <a:spcAft>
                <a:spcPts val="0"/>
              </a:spcAft>
            </a:pPr>
            <a:r>
              <a:rPr sz="22000" b="1" i="0">
                <a:solidFill>
                  <a:srgbClr val="2D445D"/>
                </a:solidFill>
                <a:latin typeface="Charter"/>
              </a:rPr>
              <a:t>01</a:t>
            </a:r>
          </a:p>
        </p:txBody>
      </p:sp>
      <p:sp>
        <p:nvSpPr>
          <p:cNvPr id="5" name="TextBox 4"/>
          <p:cNvSpPr txBox="1"/>
          <p:nvPr/>
        </p:nvSpPr>
        <p:spPr>
          <a:xfrm>
            <a:off x="731520" y="1874519"/>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spc="300">
                <a:solidFill>
                  <a:srgbClr val="8CA8C4"/>
                </a:solidFill>
                <a:latin typeface="Menlo"/>
              </a:rPr>
              <a:t>SECTION 01</a:t>
            </a:r>
          </a:p>
        </p:txBody>
      </p:sp>
      <p:sp>
        <p:nvSpPr>
          <p:cNvPr id="6" name="TextBox 5"/>
          <p:cNvSpPr txBox="1"/>
          <p:nvPr/>
        </p:nvSpPr>
        <p:spPr>
          <a:xfrm>
            <a:off x="713232" y="2157984"/>
            <a:ext cx="53949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200" b="1" i="0">
                <a:solidFill>
                  <a:srgbClr val="FFFFFF"/>
                </a:solidFill>
                <a:latin typeface="Charter"/>
              </a:rPr>
              <a:t>The problem</a:t>
            </a:r>
          </a:p>
        </p:txBody>
      </p:sp>
      <p:sp>
        <p:nvSpPr>
          <p:cNvPr id="7" name="Rectangle 6"/>
          <p:cNvSpPr/>
          <p:nvPr/>
        </p:nvSpPr>
        <p:spPr>
          <a:xfrm>
            <a:off x="749808" y="2962656"/>
            <a:ext cx="1005840" cy="29260"/>
          </a:xfrm>
          <a:prstGeom prst="rect">
            <a:avLst/>
          </a:prstGeom>
          <a:solidFill>
            <a:srgbClr val="8CA8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127248"/>
            <a:ext cx="4846320" cy="822960"/>
          </a:xfrm>
          <a:prstGeom prst="rect">
            <a:avLst/>
          </a:prstGeom>
          <a:noFill/>
          <a:ln/>
        </p:spPr>
        <p:txBody>
          <a:bodyPr wrap="square" anchor="t" lIns="25400" rIns="25400" tIns="25400" bIns="25400">
            <a:spAutoFit/>
          </a:bodyPr>
          <a:lstStyle/>
          <a:p>
            <a:pPr algn="l">
              <a:lnSpc>
                <a:spcPct val="116000"/>
              </a:lnSpc>
              <a:spcBef>
                <a:spcPts val="0"/>
              </a:spcBef>
              <a:spcAft>
                <a:spcPts val="600"/>
              </a:spcAft>
            </a:pPr>
            <a:r>
              <a:rPr sz="1600" b="0" i="1">
                <a:solidFill>
                  <a:srgbClr val="96A8BA"/>
                </a:solidFill>
                <a:latin typeface="Helvetica Neue"/>
              </a:rPr>
              <a:t>Recurrence made sequence models slow to train and forgetful over distance.</a:t>
            </a:r>
          </a:p>
        </p:txBody>
      </p:sp>
      <p:cxnSp>
        <p:nvCxnSpPr>
          <p:cNvPr id="9" name="Connector 8"/>
          <p:cNvCxnSpPr/>
          <p:nvPr/>
        </p:nvCxnSpPr>
        <p:spPr>
          <a:xfrm flipH="1" flipV="1">
            <a:off x="5806440" y="4160520"/>
            <a:ext cx="1188720" cy="548640"/>
          </a:xfrm>
          <a:prstGeom prst="line">
            <a:avLst/>
          </a:prstGeom>
          <a:ln w="6350">
            <a:solidFill>
              <a:srgbClr val="223448"/>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flipV="1">
            <a:off x="6400800" y="4160520"/>
            <a:ext cx="594360" cy="548640"/>
          </a:xfrm>
          <a:prstGeom prst="line">
            <a:avLst/>
          </a:prstGeom>
          <a:ln w="6350">
            <a:solidFill>
              <a:srgbClr val="223448"/>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95160" y="4160520"/>
            <a:ext cx="0" cy="548640"/>
          </a:xfrm>
          <a:prstGeom prst="line">
            <a:avLst/>
          </a:prstGeom>
          <a:ln w="12801">
            <a:solidFill>
              <a:srgbClr val="37678F"/>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95160" y="4160520"/>
            <a:ext cx="594360" cy="548640"/>
          </a:xfrm>
          <a:prstGeom prst="line">
            <a:avLst/>
          </a:prstGeom>
          <a:ln w="6350">
            <a:solidFill>
              <a:srgbClr val="223448"/>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995160" y="4160520"/>
            <a:ext cx="1188719" cy="548640"/>
          </a:xfrm>
          <a:prstGeom prst="line">
            <a:avLst/>
          </a:prstGeom>
          <a:ln w="6350">
            <a:solidFill>
              <a:srgbClr val="223448"/>
            </a:solidFill>
          </a:ln>
          <a:effectLst/>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5742431" y="4096511"/>
            <a:ext cx="128016" cy="128016"/>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97295" y="4096511"/>
            <a:ext cx="18288" cy="128016"/>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16" name="Oval 15"/>
          <p:cNvSpPr/>
          <p:nvPr/>
        </p:nvSpPr>
        <p:spPr>
          <a:xfrm>
            <a:off x="6336792" y="4096511"/>
            <a:ext cx="128016" cy="128016"/>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5" y="4096511"/>
            <a:ext cx="18288" cy="128016"/>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18" name="Oval 17"/>
          <p:cNvSpPr/>
          <p:nvPr/>
        </p:nvSpPr>
        <p:spPr>
          <a:xfrm>
            <a:off x="6931152" y="4096511"/>
            <a:ext cx="128016" cy="128016"/>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86016" y="4096511"/>
            <a:ext cx="18288" cy="128016"/>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20" name="Oval 19"/>
          <p:cNvSpPr/>
          <p:nvPr/>
        </p:nvSpPr>
        <p:spPr>
          <a:xfrm>
            <a:off x="7525512" y="4096511"/>
            <a:ext cx="128016" cy="128016"/>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0376" y="4096511"/>
            <a:ext cx="18288" cy="128016"/>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22" name="Oval 21"/>
          <p:cNvSpPr/>
          <p:nvPr/>
        </p:nvSpPr>
        <p:spPr>
          <a:xfrm>
            <a:off x="8119871" y="4096511"/>
            <a:ext cx="128016" cy="128016"/>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74736" y="4096511"/>
            <a:ext cx="18288" cy="128016"/>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24" name="Oval 23"/>
          <p:cNvSpPr/>
          <p:nvPr/>
        </p:nvSpPr>
        <p:spPr>
          <a:xfrm>
            <a:off x="6931152" y="4645152"/>
            <a:ext cx="128016" cy="128016"/>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86016" y="4645152"/>
            <a:ext cx="18288" cy="128016"/>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26" name="TextBox 25"/>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96A8BA"/>
                </a:solidFill>
                <a:latin typeface="Menlo"/>
              </a:rPr>
              <a:t>03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220">
                <a:solidFill>
                  <a:srgbClr val="37678F"/>
                </a:solidFill>
                <a:latin typeface="Menlo"/>
              </a:rPr>
              <a:t>THE PROBLEM</a:t>
            </a:r>
          </a:p>
        </p:txBody>
      </p:sp>
      <p:sp>
        <p:nvSpPr>
          <p:cNvPr id="4" name="TextBox 3"/>
          <p:cNvSpPr txBox="1"/>
          <p:nvPr/>
        </p:nvSpPr>
        <p:spPr>
          <a:xfrm>
            <a:off x="621792" y="76809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800" b="1" i="0">
                <a:solidFill>
                  <a:srgbClr val="182B3D"/>
                </a:solidFill>
                <a:latin typeface="Charter"/>
              </a:rPr>
              <a:t>Recurrence forces one step at a time</a:t>
            </a:r>
          </a:p>
        </p:txBody>
      </p:sp>
      <p:sp>
        <p:nvSpPr>
          <p:cNvPr id="5" name="Rectangle 4"/>
          <p:cNvSpPr/>
          <p:nvPr/>
        </p:nvSpPr>
        <p:spPr>
          <a:xfrm>
            <a:off x="640080" y="1463040"/>
            <a:ext cx="1005840" cy="27432"/>
          </a:xfrm>
          <a:prstGeom prst="rect">
            <a:avLst/>
          </a:prstGeom>
          <a:solidFill>
            <a:srgbClr val="3767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85800" y="2487168"/>
            <a:ext cx="749808" cy="603504"/>
          </a:xfrm>
          <a:prstGeom prst="roundRect">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2487168"/>
            <a:ext cx="640080" cy="603504"/>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82B3D"/>
                </a:solidFill>
                <a:latin typeface="Helvetica Neue"/>
              </a:rPr>
              <a:t>The</a:t>
            </a:r>
          </a:p>
        </p:txBody>
      </p:sp>
      <p:cxnSp>
        <p:nvCxnSpPr>
          <p:cNvPr id="8" name="Connector 7"/>
          <p:cNvCxnSpPr/>
          <p:nvPr/>
        </p:nvCxnSpPr>
        <p:spPr>
          <a:xfrm>
            <a:off x="1435607" y="2788920"/>
            <a:ext cx="256032" cy="0"/>
          </a:xfrm>
          <a:prstGeom prst="line">
            <a:avLst/>
          </a:prstGeom>
          <a:ln w="25400">
            <a:solidFill>
              <a:srgbClr val="37678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691640" y="2487168"/>
            <a:ext cx="749808" cy="603504"/>
          </a:xfrm>
          <a:prstGeom prst="roundRect">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46504" y="2487168"/>
            <a:ext cx="640080" cy="603504"/>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82B3D"/>
                </a:solidFill>
                <a:latin typeface="Helvetica Neue"/>
              </a:rPr>
              <a:t>cat</a:t>
            </a:r>
          </a:p>
        </p:txBody>
      </p:sp>
      <p:cxnSp>
        <p:nvCxnSpPr>
          <p:cNvPr id="11" name="Connector 10"/>
          <p:cNvCxnSpPr/>
          <p:nvPr/>
        </p:nvCxnSpPr>
        <p:spPr>
          <a:xfrm>
            <a:off x="2441448" y="2788920"/>
            <a:ext cx="256032" cy="0"/>
          </a:xfrm>
          <a:prstGeom prst="line">
            <a:avLst/>
          </a:prstGeom>
          <a:ln w="25400">
            <a:solidFill>
              <a:srgbClr val="37678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697480" y="2487168"/>
            <a:ext cx="749808" cy="603504"/>
          </a:xfrm>
          <a:prstGeom prst="roundRect">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52344" y="2487168"/>
            <a:ext cx="640080" cy="603504"/>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82B3D"/>
                </a:solidFill>
                <a:latin typeface="Helvetica Neue"/>
              </a:rPr>
              <a:t>sat</a:t>
            </a:r>
          </a:p>
        </p:txBody>
      </p:sp>
      <p:cxnSp>
        <p:nvCxnSpPr>
          <p:cNvPr id="14" name="Connector 13"/>
          <p:cNvCxnSpPr/>
          <p:nvPr/>
        </p:nvCxnSpPr>
        <p:spPr>
          <a:xfrm>
            <a:off x="3447288" y="2788920"/>
            <a:ext cx="256032" cy="0"/>
          </a:xfrm>
          <a:prstGeom prst="line">
            <a:avLst/>
          </a:prstGeom>
          <a:ln w="25400">
            <a:solidFill>
              <a:srgbClr val="37678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703320" y="2487168"/>
            <a:ext cx="749808" cy="603504"/>
          </a:xfrm>
          <a:prstGeom prst="roundRect">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58184" y="2487168"/>
            <a:ext cx="640080" cy="603504"/>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82B3D"/>
                </a:solidFill>
                <a:latin typeface="Helvetica Neue"/>
              </a:rPr>
              <a:t>on</a:t>
            </a:r>
          </a:p>
        </p:txBody>
      </p:sp>
      <p:cxnSp>
        <p:nvCxnSpPr>
          <p:cNvPr id="17" name="Connector 16"/>
          <p:cNvCxnSpPr/>
          <p:nvPr/>
        </p:nvCxnSpPr>
        <p:spPr>
          <a:xfrm>
            <a:off x="4453128" y="2788920"/>
            <a:ext cx="256032" cy="0"/>
          </a:xfrm>
          <a:prstGeom prst="line">
            <a:avLst/>
          </a:prstGeom>
          <a:ln w="25400">
            <a:solidFill>
              <a:srgbClr val="37678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709160" y="2487168"/>
            <a:ext cx="749808" cy="603504"/>
          </a:xfrm>
          <a:prstGeom prst="roundRect">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64024" y="2487168"/>
            <a:ext cx="640080" cy="603504"/>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82B3D"/>
                </a:solidFill>
                <a:latin typeface="Helvetica Neue"/>
              </a:rPr>
              <a:t>…</a:t>
            </a:r>
          </a:p>
        </p:txBody>
      </p:sp>
      <p:sp>
        <p:nvSpPr>
          <p:cNvPr id="20" name="TextBox 19"/>
          <p:cNvSpPr txBox="1"/>
          <p:nvPr/>
        </p:nvSpPr>
        <p:spPr>
          <a:xfrm>
            <a:off x="685800" y="2029968"/>
            <a:ext cx="4572000"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0" i="1">
                <a:solidFill>
                  <a:srgbClr val="635D51"/>
                </a:solidFill>
                <a:latin typeface="Helvetica Neue"/>
              </a:rPr>
              <a:t>hidden state passed left → right</a:t>
            </a:r>
          </a:p>
        </p:txBody>
      </p:sp>
      <p:cxnSp>
        <p:nvCxnSpPr>
          <p:cNvPr id="21" name="Connector 20"/>
          <p:cNvCxnSpPr/>
          <p:nvPr/>
        </p:nvCxnSpPr>
        <p:spPr>
          <a:xfrm>
            <a:off x="1051560" y="3090672"/>
            <a:ext cx="3017520" cy="0"/>
          </a:xfrm>
          <a:prstGeom prst="line">
            <a:avLst/>
          </a:prstGeom>
          <a:ln w="20320">
            <a:solidFill>
              <a:srgbClr val="E5484D"/>
            </a:solidFill>
            <a:prstDash val="sysDot"/>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68680" y="3236976"/>
            <a:ext cx="4023360"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3A4A55"/>
                </a:solidFill>
                <a:latin typeface="Helvetica Neue"/>
              </a:rPr>
              <a:t>long-range dependency travels </a:t>
            </a:r>
            <a:r>
              <a:rPr sz="1200" b="1" i="1">
                <a:solidFill>
                  <a:srgbClr val="BE2A2F"/>
                </a:solidFill>
                <a:latin typeface="Helvetica Neue"/>
              </a:rPr>
              <a:t>n</a:t>
            </a:r>
            <a:r>
              <a:rPr sz="1200" b="0" i="0">
                <a:solidFill>
                  <a:srgbClr val="3A4A55"/>
                </a:solidFill>
                <a:latin typeface="Helvetica Neue"/>
              </a:rPr>
              <a:t> steps</a:t>
            </a:r>
          </a:p>
        </p:txBody>
      </p:sp>
      <p:sp>
        <p:nvSpPr>
          <p:cNvPr id="23" name="Rounded Rectangle 22"/>
          <p:cNvSpPr/>
          <p:nvPr/>
        </p:nvSpPr>
        <p:spPr>
          <a:xfrm>
            <a:off x="5532120" y="2084831"/>
            <a:ext cx="3017520" cy="1024128"/>
          </a:xfrm>
          <a:prstGeom prst="roundRect">
            <a:avLst>
              <a:gd name="adj" fmla="val 8000"/>
            </a:avLst>
          </a:prstGeom>
          <a:solidFill>
            <a:srgbClr val="FFFDF9"/>
          </a:solidFill>
          <a:ln w="12700">
            <a:solidFill>
              <a:srgbClr val="C4BD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532120" y="2084831"/>
            <a:ext cx="73152" cy="1024128"/>
          </a:xfrm>
          <a:prstGeom prst="roundRect">
            <a:avLst>
              <a:gd name="adj" fmla="val 8000"/>
            </a:avLst>
          </a:prstGeom>
          <a:solidFill>
            <a:srgbClr val="3767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9864" y="2267712"/>
            <a:ext cx="2743200"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37678F"/>
                </a:solidFill>
                <a:latin typeface="Helvetica Neue"/>
              </a:rPr>
              <a:t>No parallelism</a:t>
            </a:r>
          </a:p>
        </p:txBody>
      </p:sp>
      <p:sp>
        <p:nvSpPr>
          <p:cNvPr id="26" name="TextBox 25"/>
          <p:cNvSpPr txBox="1"/>
          <p:nvPr/>
        </p:nvSpPr>
        <p:spPr>
          <a:xfrm>
            <a:off x="5769864" y="2633472"/>
            <a:ext cx="2697480" cy="457200"/>
          </a:xfrm>
          <a:prstGeom prst="rect">
            <a:avLst/>
          </a:prstGeom>
          <a:noFill/>
          <a:ln/>
        </p:spPr>
        <p:txBody>
          <a:bodyPr wrap="square" anchor="t" lIns="25400" rIns="25400" tIns="25400" bIns="25400">
            <a:spAutoFit/>
          </a:bodyPr>
          <a:lstStyle/>
          <a:p>
            <a:pPr algn="l">
              <a:lnSpc>
                <a:spcPct val="110000"/>
              </a:lnSpc>
              <a:spcBef>
                <a:spcPts val="0"/>
              </a:spcBef>
              <a:spcAft>
                <a:spcPts val="0"/>
              </a:spcAft>
            </a:pPr>
            <a:r>
              <a:rPr sz="1200" b="0" i="0">
                <a:solidFill>
                  <a:srgbClr val="3A4A55"/>
                </a:solidFill>
                <a:latin typeface="Helvetica Neue"/>
              </a:rPr>
              <a:t>Step t waits for step t−1 — the GPU sits idle across the sequence.</a:t>
            </a:r>
          </a:p>
        </p:txBody>
      </p:sp>
      <p:sp>
        <p:nvSpPr>
          <p:cNvPr id="27" name="Rounded Rectangle 26"/>
          <p:cNvSpPr/>
          <p:nvPr/>
        </p:nvSpPr>
        <p:spPr>
          <a:xfrm>
            <a:off x="5532120" y="3255263"/>
            <a:ext cx="3017520" cy="1024128"/>
          </a:xfrm>
          <a:prstGeom prst="roundRect">
            <a:avLst>
              <a:gd name="adj" fmla="val 8000"/>
            </a:avLst>
          </a:prstGeom>
          <a:solidFill>
            <a:srgbClr val="FFFDF9"/>
          </a:solidFill>
          <a:ln w="12700">
            <a:solidFill>
              <a:srgbClr val="C4BD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532120" y="3255263"/>
            <a:ext cx="73152" cy="1024128"/>
          </a:xfrm>
          <a:prstGeom prst="roundRect">
            <a:avLst>
              <a:gd name="adj" fmla="val 8000"/>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69864" y="3438144"/>
            <a:ext cx="2743200"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50" b="1" i="0">
                <a:solidFill>
                  <a:srgbClr val="BE2A2F"/>
                </a:solidFill>
                <a:latin typeface="Helvetica Neue"/>
              </a:rPr>
              <a:t>Fading signal</a:t>
            </a:r>
          </a:p>
        </p:txBody>
      </p:sp>
      <p:sp>
        <p:nvSpPr>
          <p:cNvPr id="30" name="TextBox 29"/>
          <p:cNvSpPr txBox="1"/>
          <p:nvPr/>
        </p:nvSpPr>
        <p:spPr>
          <a:xfrm>
            <a:off x="5769864" y="3803903"/>
            <a:ext cx="2697480" cy="457200"/>
          </a:xfrm>
          <a:prstGeom prst="rect">
            <a:avLst/>
          </a:prstGeom>
          <a:noFill/>
          <a:ln/>
        </p:spPr>
        <p:txBody>
          <a:bodyPr wrap="square" anchor="t" lIns="25400" rIns="25400" tIns="25400" bIns="25400">
            <a:spAutoFit/>
          </a:bodyPr>
          <a:lstStyle/>
          <a:p>
            <a:pPr algn="l">
              <a:lnSpc>
                <a:spcPct val="110000"/>
              </a:lnSpc>
              <a:spcBef>
                <a:spcPts val="0"/>
              </a:spcBef>
              <a:spcAft>
                <a:spcPts val="0"/>
              </a:spcAft>
            </a:pPr>
            <a:r>
              <a:rPr sz="1200" b="0" i="0">
                <a:solidFill>
                  <a:srgbClr val="3A4A55"/>
                </a:solidFill>
                <a:latin typeface="Helvetica Neue"/>
              </a:rPr>
              <a:t>Gradients weaken over long paths; distant words lose influence.</a:t>
            </a:r>
          </a:p>
        </p:txBody>
      </p:sp>
      <p:sp>
        <p:nvSpPr>
          <p:cNvPr id="57" name="Rounded Rectangle 56"/>
          <p:cNvSpPr/>
          <p:nvPr/>
        </p:nvSpPr>
        <p:spPr>
          <a:xfrm>
            <a:off x="640080" y="3977639"/>
            <a:ext cx="4617720" cy="722376"/>
          </a:xfrm>
          <a:prstGeom prst="roundRect">
            <a:avLst>
              <a:gd name="adj" fmla="val 8000"/>
            </a:avLst>
          </a:prstGeom>
          <a:solidFill>
            <a:srgbClr val="DF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40080" y="4035430"/>
            <a:ext cx="64008" cy="606795"/>
          </a:xfrm>
          <a:prstGeom prst="rect">
            <a:avLst/>
          </a:prstGeom>
          <a:solidFill>
            <a:srgbClr val="3767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59536" y="3977639"/>
            <a:ext cx="4215383"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37678F"/>
                </a:solidFill>
                <a:latin typeface="Helvetica Neue"/>
              </a:rPr>
              <a:t>PATH LENGTH  </a:t>
            </a:r>
            <a:r>
              <a:rPr sz="1250" b="0" i="0">
                <a:solidFill>
                  <a:srgbClr val="182B3D"/>
                </a:solidFill>
                <a:latin typeface="Helvetica Neue"/>
              </a:rPr>
              <a:t>Maximum path between two tokens is O(n) — the core weakness.</a:t>
            </a:r>
          </a:p>
        </p:txBody>
      </p:sp>
      <p:sp>
        <p:nvSpPr>
          <p:cNvPr id="60" name="TextBox 59"/>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35D51"/>
                </a:solidFill>
                <a:latin typeface="Helvetica Neue"/>
              </a:rPr>
              <a:t>Attention Is All You Need · Vaswani et al., NeurIPS 2017</a:t>
            </a:r>
          </a:p>
        </p:txBody>
      </p:sp>
      <p:sp>
        <p:nvSpPr>
          <p:cNvPr id="61" name="TextBox 60"/>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35D51"/>
                </a:solidFill>
                <a:latin typeface="Helvetica Neue"/>
              </a:rPr>
              <a:t>4</a:t>
            </a:r>
          </a:p>
        </p:txBody>
      </p:sp>
    </p:spTree>
  </p:cSld>
  <p:clrMapOvr>
    <a:masterClrMapping/>
  </p:clrMapOvr>
  <p:timing>
    <p:tnLst>
      <p:par>
        <p:cTn id="1" dur="indefinite" restart="never" nodeType="tmRoot">
          <p:childTnLst>
            <p:seq concurrent="1" nextAc="seek">
              <p:cTn id="2" dur="indefinite" nodeType="mainSeq">
                <p:childTnLst>
                  <p:par>
                    <p:cTn id="37" fill="hold">
                      <p:stCondLst>
                        <p:cond delay="indefinite"/>
                      </p:stCondLst>
                      <p:childTnLst>
                        <p:par>
                          <p:cTn id="38"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6"/>
                                        </p:tgtEl>
                                        <p:attrNameLst>
                                          <p:attrName>style.visibility</p:attrName>
                                        </p:attrNameLst>
                                      </p:cBhvr>
                                      <p:to>
                                        <p:strVal val="visible"/>
                                      </p:to>
                                    </p:set>
                                  </p:childTnLst>
                                </p:cTn>
                              </p:par>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2"/>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9"/>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3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5143500"/>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23444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spc="300">
                <a:solidFill>
                  <a:srgbClr val="F07872"/>
                </a:solidFill>
                <a:latin typeface="Menlo"/>
              </a:rPr>
              <a:t>THE CORE CLAIM</a:t>
            </a:r>
          </a:p>
        </p:txBody>
      </p:sp>
      <p:sp>
        <p:nvSpPr>
          <p:cNvPr id="5" name="TextBox 4"/>
          <p:cNvSpPr txBox="1"/>
          <p:nvPr/>
        </p:nvSpPr>
        <p:spPr>
          <a:xfrm>
            <a:off x="713232" y="1572768"/>
            <a:ext cx="7955279" cy="1737360"/>
          </a:xfrm>
          <a:prstGeom prst="rect">
            <a:avLst/>
          </a:prstGeom>
          <a:noFill/>
          <a:ln/>
        </p:spPr>
        <p:txBody>
          <a:bodyPr wrap="square" anchor="t" lIns="25400" rIns="25400" tIns="25400" bIns="25400">
            <a:spAutoFit/>
          </a:bodyPr>
          <a:lstStyle/>
          <a:p>
            <a:pPr algn="l">
              <a:lnSpc>
                <a:spcPct val="104000"/>
              </a:lnSpc>
              <a:spcBef>
                <a:spcPts val="0"/>
              </a:spcBef>
              <a:spcAft>
                <a:spcPts val="200"/>
              </a:spcAft>
            </a:pPr>
            <a:r>
              <a:rPr sz="3600" b="1" i="0">
                <a:solidFill>
                  <a:srgbClr val="FFFFFF"/>
                </a:solidFill>
                <a:latin typeface="Charter"/>
              </a:rPr>
              <a:t>Dispense with recurrence and</a:t>
            </a:r>
          </a:p>
          <a:p>
            <a:pPr algn="l">
              <a:lnSpc>
                <a:spcPct val="104000"/>
              </a:lnSpc>
              <a:spcBef>
                <a:spcPts val="0"/>
              </a:spcBef>
              <a:spcAft>
                <a:spcPts val="200"/>
              </a:spcAft>
            </a:pPr>
            <a:r>
              <a:rPr sz="3600" b="1" i="0">
                <a:solidFill>
                  <a:srgbClr val="FFFFFF"/>
                </a:solidFill>
                <a:latin typeface="Charter"/>
              </a:rPr>
              <a:t>convolution </a:t>
            </a:r>
            <a:r>
              <a:rPr sz="3600" b="1" i="0">
                <a:solidFill>
                  <a:srgbClr val="F07872"/>
                </a:solidFill>
                <a:latin typeface="Charter"/>
              </a:rPr>
              <a:t>entirely.</a:t>
            </a:r>
          </a:p>
        </p:txBody>
      </p:sp>
      <p:sp>
        <p:nvSpPr>
          <p:cNvPr id="6" name="TextBox 5"/>
          <p:cNvSpPr txBox="1"/>
          <p:nvPr/>
        </p:nvSpPr>
        <p:spPr>
          <a:xfrm>
            <a:off x="731520" y="3200400"/>
            <a:ext cx="7680960" cy="73152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700" b="0" i="0">
                <a:solidFill>
                  <a:srgbClr val="96A8BA"/>
                </a:solidFill>
                <a:latin typeface="Helvetica Neue"/>
              </a:rPr>
              <a:t>The Transformer draws global dependencies between input and output using </a:t>
            </a:r>
            <a:r>
              <a:rPr sz="1700" b="1" i="0">
                <a:solidFill>
                  <a:srgbClr val="F07872"/>
                </a:solidFill>
                <a:latin typeface="Helvetica Neue"/>
              </a:rPr>
              <a:t>attention</a:t>
            </a:r>
            <a:r>
              <a:rPr sz="1700" b="0" i="0">
                <a:solidFill>
                  <a:srgbClr val="96A8BA"/>
                </a:solidFill>
                <a:latin typeface="Helvetica Neue"/>
              </a:rPr>
              <a:t> — and nothing else.</a:t>
            </a:r>
          </a:p>
        </p:txBody>
      </p:sp>
      <p:sp>
        <p:nvSpPr>
          <p:cNvPr id="7" name="Rounded Rectangle 6"/>
          <p:cNvSpPr/>
          <p:nvPr/>
        </p:nvSpPr>
        <p:spPr>
          <a:xfrm>
            <a:off x="731520" y="4114800"/>
            <a:ext cx="1433779" cy="457200"/>
          </a:xfrm>
          <a:prstGeom prst="roundRect">
            <a:avLst>
              <a:gd name="adj" fmla="val 8000"/>
            </a:avLst>
          </a:prstGeom>
          <a:noFill/>
          <a:ln w="17780">
            <a:solidFill>
              <a:srgbClr val="0E8B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114800"/>
            <a:ext cx="1433779"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50" b="0" i="0">
                <a:solidFill>
                  <a:srgbClr val="FFFFFF"/>
                </a:solidFill>
                <a:latin typeface="Helvetica Neue"/>
              </a:rPr>
              <a:t>Fully parallel</a:t>
            </a:r>
          </a:p>
        </p:txBody>
      </p:sp>
      <p:sp>
        <p:nvSpPr>
          <p:cNvPr id="9" name="Rounded Rectangle 8"/>
          <p:cNvSpPr/>
          <p:nvPr/>
        </p:nvSpPr>
        <p:spPr>
          <a:xfrm>
            <a:off x="2421331" y="4114800"/>
            <a:ext cx="1938528" cy="457200"/>
          </a:xfrm>
          <a:prstGeom prst="roundRect">
            <a:avLst>
              <a:gd name="adj" fmla="val 8000"/>
            </a:avLst>
          </a:prstGeom>
          <a:noFill/>
          <a:ln w="17780">
            <a:solidFill>
              <a:srgbClr val="E548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21331" y="4114800"/>
            <a:ext cx="1938528"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50" b="0" i="0">
                <a:solidFill>
                  <a:srgbClr val="FFFFFF"/>
                </a:solidFill>
                <a:latin typeface="Helvetica Neue"/>
              </a:rPr>
              <a:t>Constant path length</a:t>
            </a:r>
          </a:p>
        </p:txBody>
      </p:sp>
      <p:sp>
        <p:nvSpPr>
          <p:cNvPr id="11" name="Rounded Rectangle 10"/>
          <p:cNvSpPr/>
          <p:nvPr/>
        </p:nvSpPr>
        <p:spPr>
          <a:xfrm>
            <a:off x="4615891" y="4114800"/>
            <a:ext cx="1770278" cy="457200"/>
          </a:xfrm>
          <a:prstGeom prst="roundRect">
            <a:avLst>
              <a:gd name="adj" fmla="val 8000"/>
            </a:avLst>
          </a:prstGeom>
          <a:no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5891" y="4114800"/>
            <a:ext cx="1770278"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50" b="0" i="0">
                <a:solidFill>
                  <a:srgbClr val="FFFFFF"/>
                </a:solidFill>
                <a:latin typeface="Helvetica Neue"/>
              </a:rPr>
              <a:t>More interpretable</a:t>
            </a:r>
          </a:p>
        </p:txBody>
      </p:sp>
      <p:sp>
        <p:nvSpPr>
          <p:cNvPr id="13" name="TextBox 12"/>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96A8BA"/>
                </a:solidFill>
                <a:latin typeface="Menlo"/>
              </a:rPr>
              <a:t>05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3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5143500"/>
          </a:xfrm>
          <a:prstGeom prst="rect">
            <a:avLst/>
          </a:prstGeom>
          <a:solidFill>
            <a:srgbClr val="3767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0" y="457200"/>
            <a:ext cx="3291840" cy="4206240"/>
          </a:xfrm>
          <a:prstGeom prst="rect">
            <a:avLst/>
          </a:prstGeom>
          <a:noFill/>
        </p:spPr>
        <p:txBody>
          <a:bodyPr wrap="square" anchor="ctr" lIns="25400" rIns="25400" tIns="25400" bIns="25400">
            <a:spAutoFit/>
          </a:bodyPr>
          <a:lstStyle/>
          <a:p>
            <a:pPr algn="r">
              <a:lnSpc>
                <a:spcPct val="90000"/>
              </a:lnSpc>
              <a:spcBef>
                <a:spcPts val="0"/>
              </a:spcBef>
              <a:spcAft>
                <a:spcPts val="0"/>
              </a:spcAft>
            </a:pPr>
            <a:r>
              <a:rPr sz="22000" b="1" i="0">
                <a:solidFill>
                  <a:srgbClr val="2D445D"/>
                </a:solidFill>
                <a:latin typeface="Charter"/>
              </a:rPr>
              <a:t>02</a:t>
            </a:r>
          </a:p>
        </p:txBody>
      </p:sp>
      <p:sp>
        <p:nvSpPr>
          <p:cNvPr id="5" name="TextBox 4"/>
          <p:cNvSpPr txBox="1"/>
          <p:nvPr/>
        </p:nvSpPr>
        <p:spPr>
          <a:xfrm>
            <a:off x="731520" y="1874519"/>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spc="300">
                <a:solidFill>
                  <a:srgbClr val="8CA8C4"/>
                </a:solidFill>
                <a:latin typeface="Menlo"/>
              </a:rPr>
              <a:t>SECTION 02</a:t>
            </a:r>
          </a:p>
        </p:txBody>
      </p:sp>
      <p:sp>
        <p:nvSpPr>
          <p:cNvPr id="6" name="TextBox 5"/>
          <p:cNvSpPr txBox="1"/>
          <p:nvPr/>
        </p:nvSpPr>
        <p:spPr>
          <a:xfrm>
            <a:off x="713232" y="2157984"/>
            <a:ext cx="53949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200" b="1" i="0">
                <a:solidFill>
                  <a:srgbClr val="FFFFFF"/>
                </a:solidFill>
                <a:latin typeface="Charter"/>
              </a:rPr>
              <a:t>The architecture</a:t>
            </a:r>
          </a:p>
        </p:txBody>
      </p:sp>
      <p:sp>
        <p:nvSpPr>
          <p:cNvPr id="7" name="Rectangle 6"/>
          <p:cNvSpPr/>
          <p:nvPr/>
        </p:nvSpPr>
        <p:spPr>
          <a:xfrm>
            <a:off x="749808" y="2962656"/>
            <a:ext cx="1005840" cy="29260"/>
          </a:xfrm>
          <a:prstGeom prst="rect">
            <a:avLst/>
          </a:prstGeom>
          <a:solidFill>
            <a:srgbClr val="8CA8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127248"/>
            <a:ext cx="4846320" cy="822960"/>
          </a:xfrm>
          <a:prstGeom prst="rect">
            <a:avLst/>
          </a:prstGeom>
          <a:noFill/>
          <a:ln/>
        </p:spPr>
        <p:txBody>
          <a:bodyPr wrap="square" anchor="t" lIns="25400" rIns="25400" tIns="25400" bIns="25400">
            <a:spAutoFit/>
          </a:bodyPr>
          <a:lstStyle/>
          <a:p>
            <a:pPr algn="l">
              <a:lnSpc>
                <a:spcPct val="116000"/>
              </a:lnSpc>
              <a:spcBef>
                <a:spcPts val="0"/>
              </a:spcBef>
              <a:spcAft>
                <a:spcPts val="600"/>
              </a:spcAft>
            </a:pPr>
            <a:r>
              <a:rPr sz="1600" b="0" i="1">
                <a:solidFill>
                  <a:srgbClr val="96A8BA"/>
                </a:solidFill>
                <a:latin typeface="Helvetica Neue"/>
              </a:rPr>
              <a:t>An encoder–decoder stack — six identical layers on each side.</a:t>
            </a:r>
          </a:p>
        </p:txBody>
      </p:sp>
      <p:cxnSp>
        <p:nvCxnSpPr>
          <p:cNvPr id="9" name="Connector 8"/>
          <p:cNvCxnSpPr/>
          <p:nvPr/>
        </p:nvCxnSpPr>
        <p:spPr>
          <a:xfrm flipH="1" flipV="1">
            <a:off x="5806440" y="4160520"/>
            <a:ext cx="1188720" cy="548640"/>
          </a:xfrm>
          <a:prstGeom prst="line">
            <a:avLst/>
          </a:prstGeom>
          <a:ln w="6350">
            <a:solidFill>
              <a:srgbClr val="223448"/>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flipV="1">
            <a:off x="6400800" y="4160520"/>
            <a:ext cx="594360" cy="548640"/>
          </a:xfrm>
          <a:prstGeom prst="line">
            <a:avLst/>
          </a:prstGeom>
          <a:ln w="6350">
            <a:solidFill>
              <a:srgbClr val="223448"/>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95160" y="4160520"/>
            <a:ext cx="0" cy="548640"/>
          </a:xfrm>
          <a:prstGeom prst="line">
            <a:avLst/>
          </a:prstGeom>
          <a:ln w="12801">
            <a:solidFill>
              <a:srgbClr val="37678F"/>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95160" y="4160520"/>
            <a:ext cx="594360" cy="548640"/>
          </a:xfrm>
          <a:prstGeom prst="line">
            <a:avLst/>
          </a:prstGeom>
          <a:ln w="6350">
            <a:solidFill>
              <a:srgbClr val="223448"/>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995160" y="4160520"/>
            <a:ext cx="1188719" cy="548640"/>
          </a:xfrm>
          <a:prstGeom prst="line">
            <a:avLst/>
          </a:prstGeom>
          <a:ln w="6350">
            <a:solidFill>
              <a:srgbClr val="223448"/>
            </a:solidFill>
          </a:ln>
          <a:effectLst/>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5742431" y="4096511"/>
            <a:ext cx="128016" cy="128016"/>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97295" y="4096511"/>
            <a:ext cx="18288" cy="128016"/>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16" name="Oval 15"/>
          <p:cNvSpPr/>
          <p:nvPr/>
        </p:nvSpPr>
        <p:spPr>
          <a:xfrm>
            <a:off x="6336792" y="4096511"/>
            <a:ext cx="128016" cy="128016"/>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5" y="4096511"/>
            <a:ext cx="18288" cy="128016"/>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18" name="Oval 17"/>
          <p:cNvSpPr/>
          <p:nvPr/>
        </p:nvSpPr>
        <p:spPr>
          <a:xfrm>
            <a:off x="6931152" y="4096511"/>
            <a:ext cx="128016" cy="128016"/>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86016" y="4096511"/>
            <a:ext cx="18288" cy="128016"/>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20" name="Oval 19"/>
          <p:cNvSpPr/>
          <p:nvPr/>
        </p:nvSpPr>
        <p:spPr>
          <a:xfrm>
            <a:off x="7525512" y="4096511"/>
            <a:ext cx="128016" cy="128016"/>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0376" y="4096511"/>
            <a:ext cx="18288" cy="128016"/>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22" name="Oval 21"/>
          <p:cNvSpPr/>
          <p:nvPr/>
        </p:nvSpPr>
        <p:spPr>
          <a:xfrm>
            <a:off x="8119871" y="4096511"/>
            <a:ext cx="128016" cy="128016"/>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74736" y="4096511"/>
            <a:ext cx="18288" cy="128016"/>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24" name="Oval 23"/>
          <p:cNvSpPr/>
          <p:nvPr/>
        </p:nvSpPr>
        <p:spPr>
          <a:xfrm>
            <a:off x="6931152" y="4645152"/>
            <a:ext cx="128016" cy="128016"/>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86016" y="4645152"/>
            <a:ext cx="18288" cy="128016"/>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26" name="TextBox 25"/>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96A8BA"/>
                </a:solidFill>
                <a:latin typeface="Menlo"/>
              </a:rPr>
              <a:t>06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220">
                <a:solidFill>
                  <a:srgbClr val="BE2A2F"/>
                </a:solidFill>
                <a:latin typeface="Menlo"/>
              </a:rPr>
              <a:t>THE ARCHITECTURE</a:t>
            </a:r>
          </a:p>
        </p:txBody>
      </p:sp>
      <p:sp>
        <p:nvSpPr>
          <p:cNvPr id="4" name="TextBox 3"/>
          <p:cNvSpPr txBox="1"/>
          <p:nvPr/>
        </p:nvSpPr>
        <p:spPr>
          <a:xfrm>
            <a:off x="621792" y="76809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800" b="1" i="0">
                <a:solidFill>
                  <a:srgbClr val="182B3D"/>
                </a:solidFill>
                <a:latin typeface="Charter"/>
              </a:rPr>
              <a:t>Two stacks of six layers</a:t>
            </a:r>
          </a:p>
        </p:txBody>
      </p:sp>
      <p:sp>
        <p:nvSpPr>
          <p:cNvPr id="5" name="Rectangle 4"/>
          <p:cNvSpPr/>
          <p:nvPr/>
        </p:nvSpPr>
        <p:spPr>
          <a:xfrm>
            <a:off x="640080" y="1463040"/>
            <a:ext cx="1005840" cy="27432"/>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60120" y="1591056"/>
            <a:ext cx="2788920" cy="2359152"/>
          </a:xfrm>
          <a:prstGeom prst="roundRect">
            <a:avLst>
              <a:gd name="adj" fmla="val 8000"/>
            </a:avLst>
          </a:prstGeom>
          <a:noFill/>
          <a:ln w="2032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64208"/>
            <a:ext cx="2788920" cy="329184"/>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400" b="1" i="0">
                <a:solidFill>
                  <a:srgbClr val="37678F"/>
                </a:solidFill>
                <a:latin typeface="Helvetica Neue"/>
              </a:rPr>
              <a:t>Encoder</a:t>
            </a:r>
            <a:r>
              <a:rPr sz="1200" b="0" i="0">
                <a:solidFill>
                  <a:srgbClr val="635D51"/>
                </a:solidFill>
                <a:latin typeface="Helvetica Neue"/>
              </a:rPr>
              <a:t>   × 6</a:t>
            </a:r>
          </a:p>
        </p:txBody>
      </p:sp>
      <p:sp>
        <p:nvSpPr>
          <p:cNvPr id="8" name="Rounded Rectangle 7"/>
          <p:cNvSpPr/>
          <p:nvPr/>
        </p:nvSpPr>
        <p:spPr>
          <a:xfrm>
            <a:off x="1143000" y="2487168"/>
            <a:ext cx="2423160" cy="420624"/>
          </a:xfrm>
          <a:prstGeom prst="roundRect">
            <a:avLst/>
          </a:prstGeom>
          <a:solidFill>
            <a:srgbClr val="FFFFFF"/>
          </a:solidFill>
          <a:ln w="17780">
            <a:solidFill>
              <a:srgbClr val="E548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97864" y="2487168"/>
            <a:ext cx="2313432" cy="420624"/>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82B3D"/>
                </a:solidFill>
                <a:latin typeface="Helvetica Neue"/>
              </a:rPr>
              <a:t>Multi-Head Self-Attention</a:t>
            </a:r>
          </a:p>
        </p:txBody>
      </p:sp>
      <p:sp>
        <p:nvSpPr>
          <p:cNvPr id="10" name="Rounded Rectangle 9"/>
          <p:cNvSpPr/>
          <p:nvPr/>
        </p:nvSpPr>
        <p:spPr>
          <a:xfrm>
            <a:off x="1143000" y="3090672"/>
            <a:ext cx="2423160" cy="420624"/>
          </a:xfrm>
          <a:prstGeom prst="roundRect">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97864" y="3090672"/>
            <a:ext cx="2313432" cy="420624"/>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82B3D"/>
                </a:solidFill>
                <a:latin typeface="Helvetica Neue"/>
              </a:rPr>
              <a:t>Feed-Forward</a:t>
            </a:r>
          </a:p>
        </p:txBody>
      </p:sp>
      <p:sp>
        <p:nvSpPr>
          <p:cNvPr id="12" name="Rounded Rectangle 11"/>
          <p:cNvSpPr/>
          <p:nvPr/>
        </p:nvSpPr>
        <p:spPr>
          <a:xfrm>
            <a:off x="1280160" y="4160520"/>
            <a:ext cx="2148839" cy="457200"/>
          </a:xfrm>
          <a:prstGeom prst="roundRect">
            <a:avLst>
              <a:gd name="adj" fmla="val 8000"/>
            </a:avLst>
          </a:prstGeom>
          <a:solidFill>
            <a:srgbClr val="DFE7EE"/>
          </a:solidFill>
          <a:ln w="1270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80160" y="4160520"/>
            <a:ext cx="2148839"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100" b="0" i="0">
                <a:solidFill>
                  <a:srgbClr val="182B3D"/>
                </a:solidFill>
                <a:latin typeface="Helvetica Neue"/>
              </a:rPr>
              <a:t>Input Embedding ⊕ Positional Encoding</a:t>
            </a:r>
          </a:p>
        </p:txBody>
      </p:sp>
      <p:cxnSp>
        <p:nvCxnSpPr>
          <p:cNvPr id="14" name="Connector 13"/>
          <p:cNvCxnSpPr/>
          <p:nvPr/>
        </p:nvCxnSpPr>
        <p:spPr>
          <a:xfrm flipV="1">
            <a:off x="2354580" y="3950208"/>
            <a:ext cx="0" cy="210312"/>
          </a:xfrm>
          <a:prstGeom prst="line">
            <a:avLst/>
          </a:prstGeom>
          <a:ln w="20320">
            <a:solidFill>
              <a:srgbClr val="37678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394960" y="1591056"/>
            <a:ext cx="2788920" cy="2359152"/>
          </a:xfrm>
          <a:prstGeom prst="roundRect">
            <a:avLst>
              <a:gd name="adj" fmla="val 8000"/>
            </a:avLst>
          </a:prstGeom>
          <a:noFill/>
          <a:ln w="20320">
            <a:solidFill>
              <a:srgbClr val="0E8B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94960" y="1664208"/>
            <a:ext cx="2788920" cy="329184"/>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400" b="1" i="0">
                <a:solidFill>
                  <a:srgbClr val="096970"/>
                </a:solidFill>
                <a:latin typeface="Helvetica Neue"/>
              </a:rPr>
              <a:t>Decoder</a:t>
            </a:r>
            <a:r>
              <a:rPr sz="1200" b="0" i="0">
                <a:solidFill>
                  <a:srgbClr val="635D51"/>
                </a:solidFill>
                <a:latin typeface="Helvetica Neue"/>
              </a:rPr>
              <a:t>   × 6</a:t>
            </a:r>
          </a:p>
        </p:txBody>
      </p:sp>
      <p:sp>
        <p:nvSpPr>
          <p:cNvPr id="17" name="Rounded Rectangle 16"/>
          <p:cNvSpPr/>
          <p:nvPr/>
        </p:nvSpPr>
        <p:spPr>
          <a:xfrm>
            <a:off x="5577840" y="2185416"/>
            <a:ext cx="2423160" cy="420624"/>
          </a:xfrm>
          <a:prstGeom prst="roundRect">
            <a:avLst/>
          </a:prstGeom>
          <a:solidFill>
            <a:srgbClr val="FFFFFF"/>
          </a:solidFill>
          <a:ln w="17780">
            <a:solidFill>
              <a:srgbClr val="E548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32704" y="2185416"/>
            <a:ext cx="2313432" cy="420624"/>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82B3D"/>
                </a:solidFill>
                <a:latin typeface="Helvetica Neue"/>
              </a:rPr>
              <a:t>Masked Self-Attention</a:t>
            </a:r>
          </a:p>
        </p:txBody>
      </p:sp>
      <p:sp>
        <p:nvSpPr>
          <p:cNvPr id="19" name="Rounded Rectangle 18"/>
          <p:cNvSpPr/>
          <p:nvPr/>
        </p:nvSpPr>
        <p:spPr>
          <a:xfrm>
            <a:off x="5577840" y="2788920"/>
            <a:ext cx="2423160" cy="420624"/>
          </a:xfrm>
          <a:prstGeom prst="roundRect">
            <a:avLst/>
          </a:prstGeom>
          <a:solidFill>
            <a:srgbClr val="FFFFFF"/>
          </a:solidFill>
          <a:ln w="17780">
            <a:solidFill>
              <a:srgbClr val="E548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32704" y="2788920"/>
            <a:ext cx="2313432" cy="420624"/>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82B3D"/>
                </a:solidFill>
                <a:latin typeface="Helvetica Neue"/>
              </a:rPr>
              <a:t>Encoder–Decoder Attention</a:t>
            </a:r>
          </a:p>
        </p:txBody>
      </p:sp>
      <p:sp>
        <p:nvSpPr>
          <p:cNvPr id="21" name="Rounded Rectangle 20"/>
          <p:cNvSpPr/>
          <p:nvPr/>
        </p:nvSpPr>
        <p:spPr>
          <a:xfrm>
            <a:off x="5577840" y="3392424"/>
            <a:ext cx="2423160" cy="420624"/>
          </a:xfrm>
          <a:prstGeom prst="roundRect">
            <a:avLst/>
          </a:prstGeom>
          <a:solidFill>
            <a:srgbClr val="FFFFFF"/>
          </a:solidFill>
          <a:ln w="17780">
            <a:solidFill>
              <a:srgbClr val="0E8B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32704" y="3392424"/>
            <a:ext cx="2313432" cy="420624"/>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182B3D"/>
                </a:solidFill>
                <a:latin typeface="Helvetica Neue"/>
              </a:rPr>
              <a:t>Feed-Forward</a:t>
            </a:r>
          </a:p>
        </p:txBody>
      </p:sp>
      <p:sp>
        <p:nvSpPr>
          <p:cNvPr id="23" name="Rounded Rectangle 22"/>
          <p:cNvSpPr/>
          <p:nvPr/>
        </p:nvSpPr>
        <p:spPr>
          <a:xfrm>
            <a:off x="5715000" y="4160520"/>
            <a:ext cx="2148839" cy="457200"/>
          </a:xfrm>
          <a:prstGeom prst="roundRect">
            <a:avLst>
              <a:gd name="adj" fmla="val 8000"/>
            </a:avLst>
          </a:prstGeom>
          <a:solidFill>
            <a:srgbClr val="D8ECEC"/>
          </a:solidFill>
          <a:ln w="12700">
            <a:solidFill>
              <a:srgbClr val="0E8B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15000" y="4160520"/>
            <a:ext cx="2148839"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100" b="0" i="0">
                <a:solidFill>
                  <a:srgbClr val="182B3D"/>
                </a:solidFill>
                <a:latin typeface="Helvetica Neue"/>
              </a:rPr>
              <a:t>Output Embedding ⊕ PE  (shifted right)</a:t>
            </a:r>
          </a:p>
        </p:txBody>
      </p:sp>
      <p:cxnSp>
        <p:nvCxnSpPr>
          <p:cNvPr id="25" name="Connector 24"/>
          <p:cNvCxnSpPr/>
          <p:nvPr/>
        </p:nvCxnSpPr>
        <p:spPr>
          <a:xfrm flipV="1">
            <a:off x="6789420" y="3950208"/>
            <a:ext cx="0" cy="210312"/>
          </a:xfrm>
          <a:prstGeom prst="line">
            <a:avLst/>
          </a:prstGeom>
          <a:ln w="20320">
            <a:solidFill>
              <a:srgbClr val="0E8B9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897880" y="932688"/>
            <a:ext cx="1783079" cy="402336"/>
          </a:xfrm>
          <a:prstGeom prst="roundRect">
            <a:avLst>
              <a:gd name="adj" fmla="val 8000"/>
            </a:avLst>
          </a:prstGeom>
          <a:solidFill>
            <a:srgbClr val="FFFDF9"/>
          </a:solidFill>
          <a:ln w="12700">
            <a:solidFill>
              <a:srgbClr val="3A4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97880" y="932688"/>
            <a:ext cx="1783079" cy="402336"/>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100" b="0" i="0">
                <a:solidFill>
                  <a:srgbClr val="182B3D"/>
                </a:solidFill>
                <a:latin typeface="Helvetica Neue"/>
              </a:rPr>
              <a:t>Linear → Softmax → output probs</a:t>
            </a:r>
          </a:p>
        </p:txBody>
      </p:sp>
      <p:cxnSp>
        <p:nvCxnSpPr>
          <p:cNvPr id="28" name="Connector 27"/>
          <p:cNvCxnSpPr/>
          <p:nvPr/>
        </p:nvCxnSpPr>
        <p:spPr>
          <a:xfrm flipV="1">
            <a:off x="6789420" y="1335024"/>
            <a:ext cx="0" cy="256032"/>
          </a:xfrm>
          <a:prstGeom prst="line">
            <a:avLst/>
          </a:prstGeom>
          <a:ln w="19050">
            <a:solidFill>
              <a:srgbClr val="3A4A55"/>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749039" y="2697480"/>
            <a:ext cx="1645921" cy="301752"/>
          </a:xfrm>
          <a:prstGeom prst="line">
            <a:avLst/>
          </a:prstGeom>
          <a:ln w="22860">
            <a:solidFill>
              <a:srgbClr val="E5484D"/>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840480" y="2702052"/>
            <a:ext cx="1463040" cy="27432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900" b="0" i="0">
                <a:solidFill>
                  <a:srgbClr val="E5484D"/>
                </a:solidFill>
                <a:latin typeface="Menlo"/>
              </a:rPr>
              <a:t>K, V</a:t>
            </a:r>
          </a:p>
        </p:txBody>
      </p:sp>
      <p:sp>
        <p:nvSpPr>
          <p:cNvPr id="59" name="TextBox 58"/>
          <p:cNvSpPr txBox="1"/>
          <p:nvPr/>
        </p:nvSpPr>
        <p:spPr>
          <a:xfrm>
            <a:off x="3794760" y="3310128"/>
            <a:ext cx="1572768" cy="822960"/>
          </a:xfrm>
          <a:prstGeom prst="rect">
            <a:avLst/>
          </a:prstGeom>
          <a:noFill/>
          <a:ln/>
        </p:spPr>
        <p:txBody>
          <a:bodyPr wrap="square" anchor="t" lIns="25400" rIns="25400" tIns="25400" bIns="25400">
            <a:spAutoFit/>
          </a:bodyPr>
          <a:lstStyle/>
          <a:p>
            <a:pPr algn="ctr">
              <a:lnSpc>
                <a:spcPct val="102000"/>
              </a:lnSpc>
              <a:spcBef>
                <a:spcPts val="0"/>
              </a:spcBef>
              <a:spcAft>
                <a:spcPts val="200"/>
              </a:spcAft>
            </a:pPr>
            <a:r>
              <a:rPr sz="1100" b="1" i="0">
                <a:solidFill>
                  <a:srgbClr val="E5484D"/>
                </a:solidFill>
                <a:latin typeface="Helvetica Neue"/>
              </a:rPr>
              <a:t>Each sub-layer:</a:t>
            </a:r>
          </a:p>
          <a:p>
            <a:pPr algn="ctr">
              <a:lnSpc>
                <a:spcPct val="102000"/>
              </a:lnSpc>
              <a:spcBef>
                <a:spcPts val="0"/>
              </a:spcBef>
              <a:spcAft>
                <a:spcPts val="200"/>
              </a:spcAft>
            </a:pPr>
            <a:r>
              <a:rPr sz="1100" b="0" i="0">
                <a:solidFill>
                  <a:srgbClr val="182B3D"/>
                </a:solidFill>
                <a:latin typeface="Helvetica Neue"/>
              </a:rPr>
              <a:t>residual +</a:t>
            </a:r>
          </a:p>
          <a:p>
            <a:pPr algn="ctr">
              <a:lnSpc>
                <a:spcPct val="102000"/>
              </a:lnSpc>
              <a:spcBef>
                <a:spcPts val="0"/>
              </a:spcBef>
              <a:spcAft>
                <a:spcPts val="200"/>
              </a:spcAft>
            </a:pPr>
            <a:r>
              <a:rPr sz="1100" b="0" i="0">
                <a:solidFill>
                  <a:srgbClr val="182B3D"/>
                </a:solidFill>
                <a:latin typeface="Helvetica Neue"/>
              </a:rPr>
              <a:t>LayerNorm</a:t>
            </a:r>
          </a:p>
          <a:p>
            <a:pPr algn="ctr">
              <a:lnSpc>
                <a:spcPct val="102000"/>
              </a:lnSpc>
              <a:spcBef>
                <a:spcPts val="0"/>
              </a:spcBef>
              <a:spcAft>
                <a:spcPts val="200"/>
              </a:spcAft>
            </a:pPr>
            <a:r>
              <a:rPr sz="1000" b="0" i="1">
                <a:solidFill>
                  <a:srgbClr val="635D51"/>
                </a:solidFill>
                <a:latin typeface="Helvetica Neue"/>
              </a:rPr>
              <a:t>(next slide)</a:t>
            </a:r>
          </a:p>
        </p:txBody>
      </p:sp>
      <p:sp>
        <p:nvSpPr>
          <p:cNvPr id="60" name="TextBox 59"/>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35D51"/>
                </a:solidFill>
                <a:latin typeface="Helvetica Neue"/>
              </a:rPr>
              <a:t>Attention Is All You Need · Vaswani et al., NeurIPS 2017</a:t>
            </a:r>
          </a:p>
        </p:txBody>
      </p:sp>
      <p:sp>
        <p:nvSpPr>
          <p:cNvPr id="61" name="TextBox 60"/>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35D51"/>
                </a:solidFill>
                <a:latin typeface="Helvetica Neue"/>
              </a:rPr>
              <a:t>7</a:t>
            </a:r>
          </a:p>
        </p:txBody>
      </p:sp>
    </p:spTree>
  </p:cSld>
  <p:clrMapOvr>
    <a:masterClrMapping/>
  </p:clrMapOvr>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6"/>
                                        </p:tgtEl>
                                        <p:attrNameLst>
                                          <p:attrName>style.visibility</p:attrName>
                                        </p:attrNameLst>
                                      </p:cBhvr>
                                      <p:to>
                                        <p:strVal val="visible"/>
                                      </p:to>
                                    </p:set>
                                  </p:childTnLst>
                                </p:cTn>
                              </p:par>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220">
                <a:solidFill>
                  <a:srgbClr val="BE2A2F"/>
                </a:solidFill>
                <a:latin typeface="Menlo"/>
              </a:rPr>
              <a:t>INSIDE ONE LAYER</a:t>
            </a:r>
          </a:p>
        </p:txBody>
      </p:sp>
      <p:sp>
        <p:nvSpPr>
          <p:cNvPr id="4" name="TextBox 3"/>
          <p:cNvSpPr txBox="1"/>
          <p:nvPr/>
        </p:nvSpPr>
        <p:spPr>
          <a:xfrm>
            <a:off x="621792" y="76809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800" b="1" i="0">
                <a:solidFill>
                  <a:srgbClr val="182B3D"/>
                </a:solidFill>
                <a:latin typeface="Charter"/>
              </a:rPr>
              <a:t>Residual connection, then LayerNorm</a:t>
            </a:r>
          </a:p>
        </p:txBody>
      </p:sp>
      <p:sp>
        <p:nvSpPr>
          <p:cNvPr id="5" name="Rectangle 4"/>
          <p:cNvSpPr/>
          <p:nvPr/>
        </p:nvSpPr>
        <p:spPr>
          <a:xfrm>
            <a:off x="640080" y="1463040"/>
            <a:ext cx="1005840" cy="27432"/>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83505" y="1645920"/>
            <a:ext cx="2286000" cy="457200"/>
          </a:xfrm>
          <a:prstGeom prst="roundRect">
            <a:avLst>
              <a:gd name="adj" fmla="val 8000"/>
            </a:avLst>
          </a:prstGeom>
          <a:solidFill>
            <a:srgbClr val="FFFDF9"/>
          </a:solidFill>
          <a:ln w="12700">
            <a:solidFill>
              <a:srgbClr val="3A4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83505" y="1645920"/>
            <a:ext cx="2286000"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300" b="1" i="0">
                <a:solidFill>
                  <a:srgbClr val="182B3D"/>
                </a:solidFill>
                <a:latin typeface="Helvetica Neue"/>
              </a:rPr>
              <a:t>LayerNorm</a:t>
            </a:r>
          </a:p>
        </p:txBody>
      </p:sp>
      <p:sp>
        <p:nvSpPr>
          <p:cNvPr id="8" name="Oval 7"/>
          <p:cNvSpPr/>
          <p:nvPr/>
        </p:nvSpPr>
        <p:spPr>
          <a:xfrm>
            <a:off x="2225337" y="2560320"/>
            <a:ext cx="402336" cy="402336"/>
          </a:xfrm>
          <a:prstGeom prst="ellipse">
            <a:avLst/>
          </a:prstGeom>
          <a:solidFill>
            <a:srgbClr val="FFFFFF"/>
          </a:solidFill>
          <a:ln w="17780">
            <a:solidFill>
              <a:srgbClr val="E548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280201" y="2560320"/>
            <a:ext cx="292608" cy="402336"/>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BE2A2F"/>
                </a:solidFill>
                <a:latin typeface="Helvetica Neue"/>
              </a:rPr>
              <a:t>+</a:t>
            </a:r>
          </a:p>
        </p:txBody>
      </p:sp>
      <p:sp>
        <p:nvSpPr>
          <p:cNvPr id="10" name="Rounded Rectangle 9"/>
          <p:cNvSpPr/>
          <p:nvPr/>
        </p:nvSpPr>
        <p:spPr>
          <a:xfrm>
            <a:off x="1283505" y="3273552"/>
            <a:ext cx="2286000" cy="502920"/>
          </a:xfrm>
          <a:prstGeom prst="roundRect">
            <a:avLst>
              <a:gd name="adj" fmla="val 8000"/>
            </a:avLst>
          </a:prstGeom>
          <a:solidFill>
            <a:srgbClr val="FAE3E0"/>
          </a:solidFill>
          <a:ln w="12700">
            <a:solidFill>
              <a:srgbClr val="E548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83505" y="3273552"/>
            <a:ext cx="2286000" cy="50292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300" b="1" i="0">
                <a:solidFill>
                  <a:srgbClr val="182B3D"/>
                </a:solidFill>
                <a:latin typeface="Helvetica Neue"/>
              </a:rPr>
              <a:t>Sub-layer</a:t>
            </a:r>
          </a:p>
        </p:txBody>
      </p:sp>
      <p:sp>
        <p:nvSpPr>
          <p:cNvPr id="12" name="TextBox 11"/>
          <p:cNvSpPr txBox="1"/>
          <p:nvPr/>
        </p:nvSpPr>
        <p:spPr>
          <a:xfrm>
            <a:off x="1283505" y="3803904"/>
            <a:ext cx="2286000" cy="274320"/>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050" b="0" i="1">
                <a:solidFill>
                  <a:srgbClr val="635D51"/>
                </a:solidFill>
                <a:latin typeface="Helvetica Neue"/>
              </a:rPr>
              <a:t>(self-attention  or  feed-forward)</a:t>
            </a:r>
          </a:p>
        </p:txBody>
      </p:sp>
      <p:sp>
        <p:nvSpPr>
          <p:cNvPr id="13" name="Rounded Rectangle 12"/>
          <p:cNvSpPr/>
          <p:nvPr/>
        </p:nvSpPr>
        <p:spPr>
          <a:xfrm>
            <a:off x="1283505" y="4343400"/>
            <a:ext cx="2286000" cy="402336"/>
          </a:xfrm>
          <a:prstGeom prst="roundRect">
            <a:avLst>
              <a:gd name="adj" fmla="val 8000"/>
            </a:avLst>
          </a:prstGeom>
          <a:solidFill>
            <a:srgbClr val="DFE7EE"/>
          </a:solidFill>
          <a:ln w="1270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3505" y="4343400"/>
            <a:ext cx="2286000" cy="402336"/>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00" b="0" i="0">
                <a:solidFill>
                  <a:srgbClr val="182B3D"/>
                </a:solidFill>
                <a:latin typeface="Helvetica Neue"/>
              </a:rPr>
              <a:t>input  x</a:t>
            </a:r>
          </a:p>
        </p:txBody>
      </p:sp>
      <p:cxnSp>
        <p:nvCxnSpPr>
          <p:cNvPr id="15" name="Connector 14"/>
          <p:cNvCxnSpPr/>
          <p:nvPr/>
        </p:nvCxnSpPr>
        <p:spPr>
          <a:xfrm flipV="1">
            <a:off x="2426505" y="3776472"/>
            <a:ext cx="0" cy="566928"/>
          </a:xfrm>
          <a:prstGeom prst="line">
            <a:avLst/>
          </a:prstGeom>
          <a:ln w="20320">
            <a:solidFill>
              <a:srgbClr val="37678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426505" y="2962656"/>
            <a:ext cx="0" cy="310896"/>
          </a:xfrm>
          <a:prstGeom prst="line">
            <a:avLst/>
          </a:prstGeom>
          <a:ln w="20320">
            <a:solidFill>
              <a:srgbClr val="E5484D"/>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426505" y="2103120"/>
            <a:ext cx="0" cy="457200"/>
          </a:xfrm>
          <a:prstGeom prst="line">
            <a:avLst/>
          </a:prstGeom>
          <a:ln w="20320">
            <a:solidFill>
              <a:srgbClr val="3A4A55"/>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569505" y="4544568"/>
            <a:ext cx="274320" cy="0"/>
          </a:xfrm>
          <a:prstGeom prst="line">
            <a:avLst/>
          </a:prstGeom>
          <a:ln w="19050">
            <a:solidFill>
              <a:srgbClr val="E5484D"/>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843825" y="2761488"/>
            <a:ext cx="0" cy="1783080"/>
          </a:xfrm>
          <a:prstGeom prst="line">
            <a:avLst/>
          </a:prstGeom>
          <a:ln w="19050">
            <a:solidFill>
              <a:srgbClr val="E5484D"/>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2627673" y="2761488"/>
            <a:ext cx="1216152" cy="0"/>
          </a:xfrm>
          <a:prstGeom prst="line">
            <a:avLst/>
          </a:prstGeom>
          <a:ln w="19050">
            <a:solidFill>
              <a:srgbClr val="E5484D"/>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993433" y="3447288"/>
            <a:ext cx="786384"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1050" b="1" i="1">
                <a:solidFill>
                  <a:srgbClr val="BE2A2F"/>
                </a:solidFill>
                <a:latin typeface="Helvetica Neue"/>
              </a:rPr>
              <a:t>residual</a:t>
            </a:r>
          </a:p>
        </p:txBody>
      </p:sp>
      <p:sp>
        <p:nvSpPr>
          <p:cNvPr id="22" name="Rounded Rectangle 21"/>
          <p:cNvSpPr/>
          <p:nvPr/>
        </p:nvSpPr>
        <p:spPr>
          <a:xfrm>
            <a:off x="4853010" y="1645920"/>
            <a:ext cx="3925229" cy="946403"/>
          </a:xfrm>
          <a:prstGeom prst="roundRect">
            <a:avLst>
              <a:gd name="adj" fmla="val 8000"/>
            </a:avLst>
          </a:prstGeom>
          <a:solidFill>
            <a:srgbClr val="F0E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853010" y="1721632"/>
            <a:ext cx="64008" cy="794979"/>
          </a:xfrm>
          <a:prstGeom prst="rect">
            <a:avLst/>
          </a:prstGeom>
          <a:solidFill>
            <a:srgbClr val="BE2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72466" y="1645920"/>
            <a:ext cx="3522893" cy="946403"/>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E2A2F"/>
                </a:solidFill>
                <a:latin typeface="Helvetica Neue"/>
              </a:rPr>
              <a:t>THE WRAPPER  </a:t>
            </a:r>
            <a:r>
              <a:rPr sz="1250" b="0" i="0">
                <a:solidFill>
                  <a:srgbClr val="182B3D"/>
                </a:solidFill>
                <a:latin typeface="Helvetica Neue"/>
              </a:rPr>
              <a:t>Output of each sub-layer is LayerNorm(x + Sublayer(x)) — the skip keeps gradients flowing and lets the stack go deep.</a:t>
            </a:r>
          </a:p>
        </p:txBody>
      </p:sp>
      <p:sp>
        <p:nvSpPr>
          <p:cNvPr id="25" name="TextBox 24"/>
          <p:cNvSpPr txBox="1"/>
          <p:nvPr/>
        </p:nvSpPr>
        <p:spPr>
          <a:xfrm>
            <a:off x="4853010" y="2807208"/>
            <a:ext cx="3925229"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350" b="1" i="0">
                <a:solidFill>
                  <a:srgbClr val="182B3D"/>
                </a:solidFill>
                <a:latin typeface="Helvetica Neue"/>
              </a:rPr>
              <a:t>The feed-forward sub-layer</a:t>
            </a:r>
          </a:p>
        </p:txBody>
      </p:sp>
      <p:sp>
        <p:nvSpPr>
          <p:cNvPr id="26" name="TextBox 25"/>
          <p:cNvSpPr txBox="1"/>
          <p:nvPr/>
        </p:nvSpPr>
        <p:spPr>
          <a:xfrm>
            <a:off x="4853010" y="3154680"/>
            <a:ext cx="3925229" cy="457200"/>
          </a:xfrm>
          <a:prstGeom prst="rect">
            <a:avLst/>
          </a:prstGeom>
          <a:noFill/>
          <a:ln/>
        </p:spPr>
        <p:txBody>
          <a:bodyPr wrap="square" anchor="ctr" lIns="18288" rIns="18288" tIns="18288" bIns="18288">
            <a:spAutoFit/>
          </a:bodyPr>
          <a:lstStyle/>
          <a:p>
            <a:pPr algn="l"/>
            <a:r>
              <a:rPr sz="1800" b="0" i="0">
                <a:solidFill>
                  <a:srgbClr val="182B3D"/>
                </a:solidFill>
                <a:latin typeface="STIX Two Math"/>
              </a:rPr>
              <a:t>F</a:t>
            </a:r>
            <a:r>
              <a:rPr sz="1800" b="0" i="0">
                <a:solidFill>
                  <a:srgbClr val="182B3D"/>
                </a:solidFill>
                <a:latin typeface="STIX Two Math"/>
              </a:rPr>
              <a:t>F</a:t>
            </a:r>
            <a:r>
              <a:rPr sz="1800" b="0" i="0">
                <a:solidFill>
                  <a:srgbClr val="182B3D"/>
                </a:solidFill>
                <a:latin typeface="STIX Two Math"/>
              </a:rPr>
              <a:t>N</a:t>
            </a:r>
            <a:r>
              <a:rPr sz="1800" b="0" i="0">
                <a:solidFill>
                  <a:srgbClr val="182B3D"/>
                </a:solidFill>
                <a:latin typeface="STIX Two Math"/>
              </a:rPr>
              <a:t>(</a:t>
            </a:r>
            <a:r>
              <a:rPr sz="1800" b="0" i="1">
                <a:solidFill>
                  <a:srgbClr val="182B3D"/>
                </a:solidFill>
                <a:latin typeface="STIX Two Math"/>
              </a:rPr>
              <a:t>x</a:t>
            </a:r>
            <a:r>
              <a:rPr sz="1800" b="0" i="0">
                <a:solidFill>
                  <a:srgbClr val="182B3D"/>
                </a:solidFill>
                <a:latin typeface="STIX Two Math"/>
              </a:rPr>
              <a:t>)</a:t>
            </a:r>
            <a:r>
              <a:rPr sz="1800" b="0" i="0">
                <a:solidFill>
                  <a:srgbClr val="182B3D"/>
                </a:solidFill>
                <a:latin typeface="STIX Two Math"/>
              </a:rPr>
              <a:t> </a:t>
            </a:r>
            <a:r>
              <a:rPr sz="1800" b="0" i="0">
                <a:solidFill>
                  <a:srgbClr val="182B3D"/>
                </a:solidFill>
                <a:latin typeface="STIX Two Math"/>
              </a:rPr>
              <a:t>=</a:t>
            </a:r>
            <a:r>
              <a:rPr sz="1800" b="0" i="0">
                <a:solidFill>
                  <a:srgbClr val="182B3D"/>
                </a:solidFill>
                <a:latin typeface="STIX Two Math"/>
              </a:rPr>
              <a:t> </a:t>
            </a:r>
            <a:r>
              <a:rPr sz="1800" b="0" i="0">
                <a:solidFill>
                  <a:srgbClr val="182B3D"/>
                </a:solidFill>
                <a:latin typeface="STIX Two Math"/>
              </a:rPr>
              <a:t>m</a:t>
            </a:r>
            <a:r>
              <a:rPr sz="1800" b="0" i="0">
                <a:solidFill>
                  <a:srgbClr val="182B3D"/>
                </a:solidFill>
                <a:latin typeface="STIX Two Math"/>
              </a:rPr>
              <a:t>a</a:t>
            </a:r>
            <a:r>
              <a:rPr sz="1800" b="0" i="0">
                <a:solidFill>
                  <a:srgbClr val="182B3D"/>
                </a:solidFill>
                <a:latin typeface="STIX Two Math"/>
              </a:rPr>
              <a:t>x</a:t>
            </a:r>
            <a:r>
              <a:rPr sz="1800" b="0" i="0">
                <a:solidFill>
                  <a:srgbClr val="182B3D"/>
                </a:solidFill>
                <a:latin typeface="STIX Two Math"/>
              </a:rPr>
              <a:t>(</a:t>
            </a:r>
            <a:r>
              <a:rPr sz="1800" b="0" i="0">
                <a:solidFill>
                  <a:srgbClr val="182B3D"/>
                </a:solidFill>
                <a:latin typeface="STIX Two Math"/>
              </a:rPr>
              <a:t>0</a:t>
            </a:r>
            <a:r>
              <a:rPr sz="1800" b="0" i="0">
                <a:solidFill>
                  <a:srgbClr val="182B3D"/>
                </a:solidFill>
                <a:latin typeface="STIX Two Math"/>
              </a:rPr>
              <a:t>,</a:t>
            </a:r>
            <a:r>
              <a:rPr sz="1800" b="0" i="0">
                <a:solidFill>
                  <a:srgbClr val="182B3D"/>
                </a:solidFill>
                <a:latin typeface="STIX Two Math"/>
              </a:rPr>
              <a:t> </a:t>
            </a:r>
            <a:r>
              <a:rPr sz="1800" b="0" i="0">
                <a:solidFill>
                  <a:srgbClr val="182B3D"/>
                </a:solidFill>
                <a:latin typeface="STIX Two Math"/>
              </a:rPr>
              <a:t> </a:t>
            </a:r>
            <a:r>
              <a:rPr sz="1800" b="0" i="1">
                <a:solidFill>
                  <a:srgbClr val="182B3D"/>
                </a:solidFill>
                <a:latin typeface="STIX Two Math"/>
              </a:rPr>
              <a:t>x</a:t>
            </a:r>
            <a:r>
              <a:rPr sz="1800" b="0" i="1">
                <a:solidFill>
                  <a:srgbClr val="182B3D"/>
                </a:solidFill>
                <a:latin typeface="STIX Two Math"/>
              </a:rPr>
              <a:t>W</a:t>
            </a:r>
            <a:r>
              <a:rPr sz="1116" b="0" i="0" baseline="-22000">
                <a:solidFill>
                  <a:srgbClr val="182B3D"/>
                </a:solidFill>
                <a:latin typeface="STIX Two Math"/>
              </a:rPr>
              <a:t>1</a:t>
            </a:r>
            <a:r>
              <a:rPr sz="1800" b="0" i="0">
                <a:solidFill>
                  <a:srgbClr val="182B3D"/>
                </a:solidFill>
                <a:latin typeface="STIX Two Math"/>
              </a:rPr>
              <a:t> </a:t>
            </a:r>
            <a:r>
              <a:rPr sz="1800" b="0" i="0">
                <a:solidFill>
                  <a:srgbClr val="182B3D"/>
                </a:solidFill>
                <a:latin typeface="STIX Two Math"/>
              </a:rPr>
              <a:t>+</a:t>
            </a:r>
            <a:r>
              <a:rPr sz="1800" b="0" i="0">
                <a:solidFill>
                  <a:srgbClr val="182B3D"/>
                </a:solidFill>
                <a:latin typeface="STIX Two Math"/>
              </a:rPr>
              <a:t> </a:t>
            </a:r>
            <a:r>
              <a:rPr sz="1800" b="0" i="1">
                <a:solidFill>
                  <a:srgbClr val="182B3D"/>
                </a:solidFill>
                <a:latin typeface="STIX Two Math"/>
              </a:rPr>
              <a:t>b</a:t>
            </a:r>
            <a:r>
              <a:rPr sz="1116" b="0" i="0" baseline="-22000">
                <a:solidFill>
                  <a:srgbClr val="182B3D"/>
                </a:solidFill>
                <a:latin typeface="STIX Two Math"/>
              </a:rPr>
              <a:t>1</a:t>
            </a:r>
            <a:r>
              <a:rPr sz="1800" b="0" i="0">
                <a:solidFill>
                  <a:srgbClr val="182B3D"/>
                </a:solidFill>
                <a:latin typeface="STIX Two Math"/>
              </a:rPr>
              <a:t>)</a:t>
            </a:r>
            <a:r>
              <a:rPr sz="1800" b="0" i="0">
                <a:solidFill>
                  <a:srgbClr val="182B3D"/>
                </a:solidFill>
                <a:latin typeface="STIX Two Math"/>
              </a:rPr>
              <a:t> </a:t>
            </a:r>
            <a:r>
              <a:rPr sz="1800" b="0" i="1">
                <a:solidFill>
                  <a:srgbClr val="182B3D"/>
                </a:solidFill>
                <a:latin typeface="STIX Two Math"/>
              </a:rPr>
              <a:t>W</a:t>
            </a:r>
            <a:r>
              <a:rPr sz="1116" b="0" i="0" baseline="-22000">
                <a:solidFill>
                  <a:srgbClr val="182B3D"/>
                </a:solidFill>
                <a:latin typeface="STIX Two Math"/>
              </a:rPr>
              <a:t>2</a:t>
            </a:r>
            <a:r>
              <a:rPr sz="1800" b="0" i="0">
                <a:solidFill>
                  <a:srgbClr val="182B3D"/>
                </a:solidFill>
                <a:latin typeface="STIX Two Math"/>
              </a:rPr>
              <a:t> </a:t>
            </a:r>
            <a:r>
              <a:rPr sz="1800" b="0" i="0">
                <a:solidFill>
                  <a:srgbClr val="182B3D"/>
                </a:solidFill>
                <a:latin typeface="STIX Two Math"/>
              </a:rPr>
              <a:t>+</a:t>
            </a:r>
            <a:r>
              <a:rPr sz="1800" b="0" i="0">
                <a:solidFill>
                  <a:srgbClr val="182B3D"/>
                </a:solidFill>
                <a:latin typeface="STIX Two Math"/>
              </a:rPr>
              <a:t> </a:t>
            </a:r>
            <a:r>
              <a:rPr sz="1800" b="0" i="1">
                <a:solidFill>
                  <a:srgbClr val="182B3D"/>
                </a:solidFill>
                <a:latin typeface="STIX Two Math"/>
              </a:rPr>
              <a:t>b</a:t>
            </a:r>
            <a:r>
              <a:rPr sz="1116" b="0" i="0" baseline="-22000">
                <a:solidFill>
                  <a:srgbClr val="182B3D"/>
                </a:solidFill>
                <a:latin typeface="STIX Two Math"/>
              </a:rPr>
              <a:t>2</a:t>
            </a:r>
          </a:p>
        </p:txBody>
      </p:sp>
      <p:sp>
        <p:nvSpPr>
          <p:cNvPr id="27" name="TextBox 26"/>
          <p:cNvSpPr txBox="1"/>
          <p:nvPr/>
        </p:nvSpPr>
        <p:spPr>
          <a:xfrm>
            <a:off x="4853010" y="3758183"/>
            <a:ext cx="3925229" cy="45720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0" i="0">
                <a:solidFill>
                  <a:srgbClr val="3A4A55"/>
                </a:solidFill>
                <a:latin typeface="Helvetica Neue"/>
              </a:rPr>
              <a:t>Two linear layers with a ReLU between; </a:t>
            </a:r>
          </a:p>
        </p:txBody>
      </p:sp>
      <p:sp>
        <p:nvSpPr>
          <p:cNvPr id="28" name="TextBox 27"/>
          <p:cNvSpPr txBox="1"/>
          <p:nvPr/>
        </p:nvSpPr>
        <p:spPr>
          <a:xfrm>
            <a:off x="4853010" y="4014216"/>
            <a:ext cx="3925229" cy="45720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300" b="0" i="1">
                <a:solidFill>
                  <a:srgbClr val="182B3D"/>
                </a:solidFill>
                <a:latin typeface="Helvetica Neue"/>
              </a:rPr>
              <a:t>d</a:t>
            </a:r>
            <a:r>
              <a:rPr sz="1000" b="0" i="0">
                <a:solidFill>
                  <a:srgbClr val="182B3D"/>
                </a:solidFill>
                <a:latin typeface="Helvetica Neue"/>
              </a:rPr>
              <a:t>model</a:t>
            </a:r>
            <a:r>
              <a:rPr sz="1300" b="0" i="0">
                <a:solidFill>
                  <a:srgbClr val="182B3D"/>
                </a:solidFill>
                <a:latin typeface="Helvetica Neue"/>
              </a:rPr>
              <a:t> = 512</a:t>
            </a:r>
            <a:r>
              <a:rPr sz="1300" b="0" i="0">
                <a:solidFill>
                  <a:srgbClr val="635D51"/>
                </a:solidFill>
                <a:latin typeface="Helvetica Neue"/>
              </a:rPr>
              <a:t>   →   </a:t>
            </a:r>
            <a:r>
              <a:rPr sz="1300" b="0" i="1">
                <a:solidFill>
                  <a:srgbClr val="182B3D"/>
                </a:solidFill>
                <a:latin typeface="Helvetica Neue"/>
              </a:rPr>
              <a:t>d</a:t>
            </a:r>
            <a:r>
              <a:rPr sz="1000" b="0" i="0">
                <a:solidFill>
                  <a:srgbClr val="182B3D"/>
                </a:solidFill>
                <a:latin typeface="Helvetica Neue"/>
              </a:rPr>
              <a:t>ff</a:t>
            </a:r>
            <a:r>
              <a:rPr sz="1300" b="0" i="0">
                <a:solidFill>
                  <a:srgbClr val="182B3D"/>
                </a:solidFill>
                <a:latin typeface="Helvetica Neue"/>
              </a:rPr>
              <a:t> = 2048   →   512.</a:t>
            </a:r>
          </a:p>
        </p:txBody>
      </p:sp>
      <p:sp>
        <p:nvSpPr>
          <p:cNvPr id="29" name="TextBox 28"/>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35D51"/>
                </a:solidFill>
                <a:latin typeface="Helvetica Neue"/>
              </a:rPr>
              <a:t>Attention Is All You Need · Vaswani et al., NeurIPS 2017</a:t>
            </a:r>
          </a:p>
        </p:txBody>
      </p:sp>
      <p:sp>
        <p:nvSpPr>
          <p:cNvPr id="30" name="TextBox 29"/>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35D51"/>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3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5143500"/>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0" y="457200"/>
            <a:ext cx="3291840" cy="4206240"/>
          </a:xfrm>
          <a:prstGeom prst="rect">
            <a:avLst/>
          </a:prstGeom>
          <a:noFill/>
        </p:spPr>
        <p:txBody>
          <a:bodyPr wrap="square" anchor="ctr" lIns="25400" rIns="25400" tIns="25400" bIns="25400">
            <a:spAutoFit/>
          </a:bodyPr>
          <a:lstStyle/>
          <a:p>
            <a:pPr algn="r">
              <a:lnSpc>
                <a:spcPct val="90000"/>
              </a:lnSpc>
              <a:spcBef>
                <a:spcPts val="0"/>
              </a:spcBef>
              <a:spcAft>
                <a:spcPts val="0"/>
              </a:spcAft>
            </a:pPr>
            <a:r>
              <a:rPr sz="22000" b="1" i="0">
                <a:solidFill>
                  <a:srgbClr val="2D445D"/>
                </a:solidFill>
                <a:latin typeface="Charter"/>
              </a:rPr>
              <a:t>03</a:t>
            </a:r>
          </a:p>
        </p:txBody>
      </p:sp>
      <p:sp>
        <p:nvSpPr>
          <p:cNvPr id="5" name="TextBox 4"/>
          <p:cNvSpPr txBox="1"/>
          <p:nvPr/>
        </p:nvSpPr>
        <p:spPr>
          <a:xfrm>
            <a:off x="731520" y="1874519"/>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1" i="0" spc="300">
                <a:solidFill>
                  <a:srgbClr val="F07872"/>
                </a:solidFill>
                <a:latin typeface="Menlo"/>
              </a:rPr>
              <a:t>SECTION 03</a:t>
            </a:r>
          </a:p>
        </p:txBody>
      </p:sp>
      <p:sp>
        <p:nvSpPr>
          <p:cNvPr id="6" name="TextBox 5"/>
          <p:cNvSpPr txBox="1"/>
          <p:nvPr/>
        </p:nvSpPr>
        <p:spPr>
          <a:xfrm>
            <a:off x="713232" y="2157984"/>
            <a:ext cx="53949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200" b="1" i="0">
                <a:solidFill>
                  <a:srgbClr val="FFFFFF"/>
                </a:solidFill>
                <a:latin typeface="Charter"/>
              </a:rPr>
              <a:t>The attention mechanism</a:t>
            </a:r>
          </a:p>
        </p:txBody>
      </p:sp>
      <p:sp>
        <p:nvSpPr>
          <p:cNvPr id="7" name="Rectangle 6"/>
          <p:cNvSpPr/>
          <p:nvPr/>
        </p:nvSpPr>
        <p:spPr>
          <a:xfrm>
            <a:off x="749808" y="2962656"/>
            <a:ext cx="1005840" cy="29260"/>
          </a:xfrm>
          <a:prstGeom prst="rect">
            <a:avLst/>
          </a:prstGeom>
          <a:solidFill>
            <a:srgbClr val="F07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127248"/>
            <a:ext cx="4846320" cy="822960"/>
          </a:xfrm>
          <a:prstGeom prst="rect">
            <a:avLst/>
          </a:prstGeom>
          <a:noFill/>
          <a:ln/>
        </p:spPr>
        <p:txBody>
          <a:bodyPr wrap="square" anchor="t" lIns="25400" rIns="25400" tIns="25400" bIns="25400">
            <a:spAutoFit/>
          </a:bodyPr>
          <a:lstStyle/>
          <a:p>
            <a:pPr algn="l">
              <a:lnSpc>
                <a:spcPct val="116000"/>
              </a:lnSpc>
              <a:spcBef>
                <a:spcPts val="0"/>
              </a:spcBef>
              <a:spcAft>
                <a:spcPts val="600"/>
              </a:spcAft>
            </a:pPr>
            <a:r>
              <a:rPr sz="1600" b="0" i="1">
                <a:solidFill>
                  <a:srgbClr val="96A8BA"/>
                </a:solidFill>
                <a:latin typeface="Helvetica Neue"/>
              </a:rPr>
              <a:t>Queries, keys and values — the operation the whole model is built from.</a:t>
            </a:r>
          </a:p>
        </p:txBody>
      </p:sp>
      <p:cxnSp>
        <p:nvCxnSpPr>
          <p:cNvPr id="9" name="Connector 8"/>
          <p:cNvCxnSpPr/>
          <p:nvPr/>
        </p:nvCxnSpPr>
        <p:spPr>
          <a:xfrm flipH="1" flipV="1">
            <a:off x="5806440" y="4160520"/>
            <a:ext cx="1188720" cy="548640"/>
          </a:xfrm>
          <a:prstGeom prst="line">
            <a:avLst/>
          </a:prstGeom>
          <a:ln w="6350">
            <a:solidFill>
              <a:srgbClr val="223448"/>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flipV="1">
            <a:off x="6400800" y="4160520"/>
            <a:ext cx="594360" cy="548640"/>
          </a:xfrm>
          <a:prstGeom prst="line">
            <a:avLst/>
          </a:prstGeom>
          <a:ln w="6350">
            <a:solidFill>
              <a:srgbClr val="223448"/>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95160" y="4160520"/>
            <a:ext cx="0" cy="548640"/>
          </a:xfrm>
          <a:prstGeom prst="line">
            <a:avLst/>
          </a:prstGeom>
          <a:ln w="12801">
            <a:solidFill>
              <a:srgbClr val="E5484D"/>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95160" y="4160520"/>
            <a:ext cx="594360" cy="548640"/>
          </a:xfrm>
          <a:prstGeom prst="line">
            <a:avLst/>
          </a:prstGeom>
          <a:ln w="6350">
            <a:solidFill>
              <a:srgbClr val="223448"/>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995160" y="4160520"/>
            <a:ext cx="1188719" cy="548640"/>
          </a:xfrm>
          <a:prstGeom prst="line">
            <a:avLst/>
          </a:prstGeom>
          <a:ln w="6350">
            <a:solidFill>
              <a:srgbClr val="223448"/>
            </a:solidFill>
          </a:ln>
          <a:effectLst/>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5742431" y="4096511"/>
            <a:ext cx="128016" cy="128016"/>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97295" y="4096511"/>
            <a:ext cx="18288" cy="128016"/>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16" name="Oval 15"/>
          <p:cNvSpPr/>
          <p:nvPr/>
        </p:nvSpPr>
        <p:spPr>
          <a:xfrm>
            <a:off x="6336792" y="4096511"/>
            <a:ext cx="128016" cy="128016"/>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5" y="4096511"/>
            <a:ext cx="18288" cy="128016"/>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18" name="Oval 17"/>
          <p:cNvSpPr/>
          <p:nvPr/>
        </p:nvSpPr>
        <p:spPr>
          <a:xfrm>
            <a:off x="6931152" y="4096511"/>
            <a:ext cx="128016" cy="128016"/>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86016" y="4096511"/>
            <a:ext cx="18288" cy="128016"/>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20" name="Oval 19"/>
          <p:cNvSpPr/>
          <p:nvPr/>
        </p:nvSpPr>
        <p:spPr>
          <a:xfrm>
            <a:off x="7525512" y="4096511"/>
            <a:ext cx="128016" cy="128016"/>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0376" y="4096511"/>
            <a:ext cx="18288" cy="128016"/>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22" name="Oval 21"/>
          <p:cNvSpPr/>
          <p:nvPr/>
        </p:nvSpPr>
        <p:spPr>
          <a:xfrm>
            <a:off x="8119871" y="4096511"/>
            <a:ext cx="128016" cy="128016"/>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74736" y="4096511"/>
            <a:ext cx="18288" cy="128016"/>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24" name="Oval 23"/>
          <p:cNvSpPr/>
          <p:nvPr/>
        </p:nvSpPr>
        <p:spPr>
          <a:xfrm>
            <a:off x="6931152" y="4645152"/>
            <a:ext cx="128016" cy="128016"/>
          </a:xfrm>
          <a:prstGeom prst="ellipse">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86016" y="4645152"/>
            <a:ext cx="18288" cy="128016"/>
          </a:xfrm>
          <a:prstGeom prst="rect">
            <a:avLst/>
          </a:prstGeom>
          <a:noFill/>
        </p:spPr>
        <p:txBody>
          <a:bodyPr wrap="square" anchor="ctr" lIns="25400" rIns="25400" tIns="25400" bIns="25400">
            <a:spAutoFit/>
          </a:bodyPr>
          <a:lstStyle/>
          <a:p>
            <a:pPr algn="ctr">
              <a:lnSpc>
                <a:spcPct val="96000"/>
              </a:lnSpc>
              <a:spcBef>
                <a:spcPts val="0"/>
              </a:spcBef>
              <a:spcAft>
                <a:spcPts val="100"/>
              </a:spcAft>
            </a:pPr>
            <a:r>
              <a:rPr sz="1300" b="1" i="0">
                <a:solidFill>
                  <a:srgbClr val="132435"/>
                </a:solidFill>
                <a:latin typeface="Helvetica Neue"/>
              </a:rPr>
              <a:t/>
            </a:r>
          </a:p>
        </p:txBody>
      </p:sp>
      <p:sp>
        <p:nvSpPr>
          <p:cNvPr id="26" name="TextBox 25"/>
          <p:cNvSpPr txBox="1"/>
          <p:nvPr/>
        </p:nvSpPr>
        <p:spPr>
          <a:xfrm>
            <a:off x="7680960" y="4759452"/>
            <a:ext cx="109728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96A8BA"/>
                </a:solidFill>
                <a:latin typeface="Menlo"/>
              </a:rPr>
              <a:t>09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220">
                <a:solidFill>
                  <a:srgbClr val="BE2A2F"/>
                </a:solidFill>
                <a:latin typeface="Menlo"/>
              </a:rPr>
              <a:t>SCALED DOT-PRODUCT ATTENTION</a:t>
            </a:r>
          </a:p>
        </p:txBody>
      </p:sp>
      <p:sp>
        <p:nvSpPr>
          <p:cNvPr id="4" name="TextBox 3"/>
          <p:cNvSpPr txBox="1"/>
          <p:nvPr/>
        </p:nvSpPr>
        <p:spPr>
          <a:xfrm>
            <a:off x="621792" y="76809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800" b="1" i="0">
                <a:solidFill>
                  <a:srgbClr val="182B3D"/>
                </a:solidFill>
                <a:latin typeface="Charter"/>
              </a:rPr>
              <a:t>A weighted lookup: match queries to keys</a:t>
            </a:r>
          </a:p>
        </p:txBody>
      </p:sp>
      <p:sp>
        <p:nvSpPr>
          <p:cNvPr id="5" name="Rectangle 4"/>
          <p:cNvSpPr/>
          <p:nvPr/>
        </p:nvSpPr>
        <p:spPr>
          <a:xfrm>
            <a:off x="640080" y="1463040"/>
            <a:ext cx="1005840" cy="27432"/>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517904"/>
            <a:ext cx="4617720" cy="822960"/>
          </a:xfrm>
          <a:prstGeom prst="roundRect">
            <a:avLst>
              <a:gd name="adj" fmla="val 8000"/>
            </a:avLst>
          </a:prstGeom>
          <a:solidFill>
            <a:srgbClr val="FFFDF9"/>
          </a:solidFill>
          <a:ln w="12700">
            <a:solidFill>
              <a:srgbClr val="C4BD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q_attention.png"/>
          <p:cNvPicPr>
            <a:picLocks noChangeAspect="1"/>
          </p:cNvPicPr>
          <p:nvPr/>
        </p:nvPicPr>
        <p:blipFill>
          <a:blip r:embed="rId2"/>
          <a:stretch>
            <a:fillRect/>
          </a:stretch>
        </p:blipFill>
        <p:spPr>
          <a:xfrm>
            <a:off x="914400" y="1700812"/>
            <a:ext cx="4069080" cy="457143"/>
          </a:xfrm>
          <a:prstGeom prst="rect">
            <a:avLst/>
          </a:prstGeom>
        </p:spPr>
      </p:pic>
      <p:sp>
        <p:nvSpPr>
          <p:cNvPr id="8" name="Rounded Rectangle 7"/>
          <p:cNvSpPr/>
          <p:nvPr/>
        </p:nvSpPr>
        <p:spPr>
          <a:xfrm>
            <a:off x="658368" y="2432304"/>
            <a:ext cx="384048" cy="384048"/>
          </a:xfrm>
          <a:prstGeom prst="roundRect">
            <a:avLst/>
          </a:prstGeom>
          <a:solidFill>
            <a:srgbClr val="FFFFFF"/>
          </a:solidFill>
          <a:ln w="17780">
            <a:solidFill>
              <a:srgbClr val="E548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432304"/>
            <a:ext cx="274320" cy="384048"/>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BE2A2F"/>
                </a:solidFill>
                <a:latin typeface="Helvetica Neue"/>
              </a:rPr>
              <a:t>Q</a:t>
            </a:r>
          </a:p>
        </p:txBody>
      </p:sp>
      <p:sp>
        <p:nvSpPr>
          <p:cNvPr id="10" name="TextBox 9"/>
          <p:cNvSpPr txBox="1"/>
          <p:nvPr/>
        </p:nvSpPr>
        <p:spPr>
          <a:xfrm>
            <a:off x="1152144" y="2450592"/>
            <a:ext cx="4023360" cy="365760"/>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250" b="0" i="0">
                <a:solidFill>
                  <a:srgbClr val="3A4A55"/>
                </a:solidFill>
                <a:latin typeface="Helvetica Neue"/>
              </a:rPr>
              <a:t>query — what this token is looking for</a:t>
            </a:r>
          </a:p>
        </p:txBody>
      </p:sp>
      <p:sp>
        <p:nvSpPr>
          <p:cNvPr id="11" name="Rounded Rectangle 10"/>
          <p:cNvSpPr/>
          <p:nvPr/>
        </p:nvSpPr>
        <p:spPr>
          <a:xfrm>
            <a:off x="658368" y="2852928"/>
            <a:ext cx="384048" cy="384048"/>
          </a:xfrm>
          <a:prstGeom prst="roundRect">
            <a:avLst/>
          </a:prstGeom>
          <a:solidFill>
            <a:srgbClr val="FFFFFF"/>
          </a:solidFill>
          <a:ln w="1778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852928"/>
            <a:ext cx="274320" cy="384048"/>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37678F"/>
                </a:solidFill>
                <a:latin typeface="Helvetica Neue"/>
              </a:rPr>
              <a:t>K</a:t>
            </a:r>
          </a:p>
        </p:txBody>
      </p:sp>
      <p:sp>
        <p:nvSpPr>
          <p:cNvPr id="13" name="TextBox 12"/>
          <p:cNvSpPr txBox="1"/>
          <p:nvPr/>
        </p:nvSpPr>
        <p:spPr>
          <a:xfrm>
            <a:off x="1152144" y="2871216"/>
            <a:ext cx="4023360" cy="365760"/>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250" b="0" i="0">
                <a:solidFill>
                  <a:srgbClr val="3A4A55"/>
                </a:solidFill>
                <a:latin typeface="Helvetica Neue"/>
              </a:rPr>
              <a:t>key — what each token offers</a:t>
            </a:r>
          </a:p>
        </p:txBody>
      </p:sp>
      <p:sp>
        <p:nvSpPr>
          <p:cNvPr id="14" name="Rounded Rectangle 13"/>
          <p:cNvSpPr/>
          <p:nvPr/>
        </p:nvSpPr>
        <p:spPr>
          <a:xfrm>
            <a:off x="658368" y="3273552"/>
            <a:ext cx="384048" cy="384048"/>
          </a:xfrm>
          <a:prstGeom prst="roundRect">
            <a:avLst/>
          </a:prstGeom>
          <a:solidFill>
            <a:srgbClr val="FFFFFF"/>
          </a:solidFill>
          <a:ln w="17780">
            <a:solidFill>
              <a:srgbClr val="0E8B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3273552"/>
            <a:ext cx="274320" cy="384048"/>
          </a:xfrm>
          <a:prstGeom prst="rect">
            <a:avLst/>
          </a:prstGeom>
          <a:noFill/>
          <a:ln/>
        </p:spPr>
        <p:txBody>
          <a:bodyPr wrap="square" anchor="ctr" lIns="25400" rIns="25400" tIns="25400" bIns="25400">
            <a:spAutoFit/>
          </a:bodyPr>
          <a:lstStyle/>
          <a:p>
            <a:pPr algn="ctr">
              <a:lnSpc>
                <a:spcPct val="96000"/>
              </a:lnSpc>
              <a:spcBef>
                <a:spcPts val="0"/>
              </a:spcBef>
              <a:spcAft>
                <a:spcPts val="100"/>
              </a:spcAft>
            </a:pPr>
            <a:r>
              <a:rPr sz="1300" b="1" i="0">
                <a:solidFill>
                  <a:srgbClr val="096970"/>
                </a:solidFill>
                <a:latin typeface="Helvetica Neue"/>
              </a:rPr>
              <a:t>V</a:t>
            </a:r>
          </a:p>
        </p:txBody>
      </p:sp>
      <p:sp>
        <p:nvSpPr>
          <p:cNvPr id="16" name="TextBox 15"/>
          <p:cNvSpPr txBox="1"/>
          <p:nvPr/>
        </p:nvSpPr>
        <p:spPr>
          <a:xfrm>
            <a:off x="1152144" y="3291840"/>
            <a:ext cx="4023360" cy="365760"/>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250" b="0" i="0">
                <a:solidFill>
                  <a:srgbClr val="3A4A55"/>
                </a:solidFill>
                <a:latin typeface="Helvetica Neue"/>
              </a:rPr>
              <a:t>value — the content actually returned</a:t>
            </a:r>
          </a:p>
        </p:txBody>
      </p:sp>
      <p:sp>
        <p:nvSpPr>
          <p:cNvPr id="17" name="Rounded Rectangle 16"/>
          <p:cNvSpPr/>
          <p:nvPr/>
        </p:nvSpPr>
        <p:spPr>
          <a:xfrm>
            <a:off x="5623560" y="1572768"/>
            <a:ext cx="2926080" cy="475488"/>
          </a:xfrm>
          <a:prstGeom prst="roundRect">
            <a:avLst>
              <a:gd name="adj" fmla="val 8000"/>
            </a:avLst>
          </a:prstGeom>
          <a:solidFill>
            <a:srgbClr val="FFFDF9"/>
          </a:solidFill>
          <a:ln w="1905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623560" y="1572768"/>
            <a:ext cx="73152" cy="475488"/>
          </a:xfrm>
          <a:prstGeom prst="roundRect">
            <a:avLst>
              <a:gd name="adj" fmla="val 8000"/>
            </a:avLst>
          </a:prstGeom>
          <a:solidFill>
            <a:srgbClr val="3767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79592" y="1572768"/>
            <a:ext cx="2560320" cy="475488"/>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300" b="0" i="0">
                <a:solidFill>
                  <a:srgbClr val="182B3D"/>
                </a:solidFill>
                <a:latin typeface="Helvetica Neue"/>
              </a:rPr>
              <a:t>MatMul  QKᵀ</a:t>
            </a:r>
          </a:p>
        </p:txBody>
      </p:sp>
      <p:cxnSp>
        <p:nvCxnSpPr>
          <p:cNvPr id="20" name="Connector 19"/>
          <p:cNvCxnSpPr/>
          <p:nvPr/>
        </p:nvCxnSpPr>
        <p:spPr>
          <a:xfrm>
            <a:off x="7086600" y="2048256"/>
            <a:ext cx="0" cy="146304"/>
          </a:xfrm>
          <a:prstGeom prst="line">
            <a:avLst/>
          </a:prstGeom>
          <a:ln w="16510">
            <a:solidFill>
              <a:srgbClr val="635D5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623560" y="2194560"/>
            <a:ext cx="2926080" cy="475488"/>
          </a:xfrm>
          <a:prstGeom prst="roundRect">
            <a:avLst>
              <a:gd name="adj" fmla="val 8000"/>
            </a:avLst>
          </a:prstGeom>
          <a:solidFill>
            <a:srgbClr val="FFFDF9"/>
          </a:solidFill>
          <a:ln w="19050">
            <a:solidFill>
              <a:srgbClr val="C897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623560" y="2194560"/>
            <a:ext cx="73152" cy="475488"/>
          </a:xfrm>
          <a:prstGeom prst="roundRect">
            <a:avLst>
              <a:gd name="adj" fmla="val 8000"/>
            </a:avLst>
          </a:prstGeom>
          <a:solidFill>
            <a:srgbClr val="C89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79592" y="2194560"/>
            <a:ext cx="2560320" cy="475488"/>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300" b="0" i="0">
                <a:solidFill>
                  <a:srgbClr val="182B3D"/>
                </a:solidFill>
                <a:latin typeface="Helvetica Neue"/>
              </a:rPr>
              <a:t>Scale  ÷ √dₖ</a:t>
            </a:r>
          </a:p>
        </p:txBody>
      </p:sp>
      <p:cxnSp>
        <p:nvCxnSpPr>
          <p:cNvPr id="24" name="Connector 23"/>
          <p:cNvCxnSpPr/>
          <p:nvPr/>
        </p:nvCxnSpPr>
        <p:spPr>
          <a:xfrm>
            <a:off x="7086600" y="2670048"/>
            <a:ext cx="0" cy="146304"/>
          </a:xfrm>
          <a:prstGeom prst="line">
            <a:avLst/>
          </a:prstGeom>
          <a:ln w="16510">
            <a:solidFill>
              <a:srgbClr val="635D5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623560" y="2816352"/>
            <a:ext cx="2926080" cy="475488"/>
          </a:xfrm>
          <a:prstGeom prst="roundRect">
            <a:avLst>
              <a:gd name="adj" fmla="val 8000"/>
            </a:avLst>
          </a:prstGeom>
          <a:solidFill>
            <a:srgbClr val="FFFDF9"/>
          </a:solidFill>
          <a:ln w="19050">
            <a:solidFill>
              <a:srgbClr val="635D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79592" y="2816352"/>
            <a:ext cx="2560320" cy="475488"/>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300" b="0" i="1">
                <a:solidFill>
                  <a:srgbClr val="635D51"/>
                </a:solidFill>
                <a:latin typeface="Helvetica Neue"/>
              </a:rPr>
              <a:t>Mask  (decoder, opt.)</a:t>
            </a:r>
          </a:p>
        </p:txBody>
      </p:sp>
      <p:cxnSp>
        <p:nvCxnSpPr>
          <p:cNvPr id="27" name="Connector 26"/>
          <p:cNvCxnSpPr/>
          <p:nvPr/>
        </p:nvCxnSpPr>
        <p:spPr>
          <a:xfrm>
            <a:off x="7086600" y="3291840"/>
            <a:ext cx="0" cy="146304"/>
          </a:xfrm>
          <a:prstGeom prst="line">
            <a:avLst/>
          </a:prstGeom>
          <a:ln w="16510">
            <a:solidFill>
              <a:srgbClr val="635D5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623560" y="3438144"/>
            <a:ext cx="2926080" cy="475488"/>
          </a:xfrm>
          <a:prstGeom prst="roundRect">
            <a:avLst>
              <a:gd name="adj" fmla="val 8000"/>
            </a:avLst>
          </a:prstGeom>
          <a:solidFill>
            <a:srgbClr val="FFFDF9"/>
          </a:solidFill>
          <a:ln w="19050">
            <a:solidFill>
              <a:srgbClr val="E548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623560" y="3438144"/>
            <a:ext cx="73152" cy="475488"/>
          </a:xfrm>
          <a:prstGeom prst="roundRect">
            <a:avLst>
              <a:gd name="adj" fmla="val 8000"/>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79592" y="3438144"/>
            <a:ext cx="2560320" cy="475488"/>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300" b="0" i="0">
                <a:solidFill>
                  <a:srgbClr val="182B3D"/>
                </a:solidFill>
                <a:latin typeface="Helvetica Neue"/>
              </a:rPr>
              <a:t>SoftMax</a:t>
            </a:r>
          </a:p>
        </p:txBody>
      </p:sp>
      <p:cxnSp>
        <p:nvCxnSpPr>
          <p:cNvPr id="31" name="Connector 30"/>
          <p:cNvCxnSpPr/>
          <p:nvPr/>
        </p:nvCxnSpPr>
        <p:spPr>
          <a:xfrm>
            <a:off x="7086600" y="3913631"/>
            <a:ext cx="0" cy="146304"/>
          </a:xfrm>
          <a:prstGeom prst="line">
            <a:avLst/>
          </a:prstGeom>
          <a:ln w="16510">
            <a:solidFill>
              <a:srgbClr val="635D5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623560" y="4059936"/>
            <a:ext cx="2926080" cy="475488"/>
          </a:xfrm>
          <a:prstGeom prst="roundRect">
            <a:avLst>
              <a:gd name="adj" fmla="val 8000"/>
            </a:avLst>
          </a:prstGeom>
          <a:solidFill>
            <a:srgbClr val="FFFDF9"/>
          </a:solidFill>
          <a:ln w="19050">
            <a:solidFill>
              <a:srgbClr val="0E8B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623560" y="4059936"/>
            <a:ext cx="73152" cy="475488"/>
          </a:xfrm>
          <a:prstGeom prst="roundRect">
            <a:avLst>
              <a:gd name="adj" fmla="val 8000"/>
            </a:avLst>
          </a:prstGeom>
          <a:solidFill>
            <a:srgbClr val="0E8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879592" y="4059936"/>
            <a:ext cx="2560320" cy="475488"/>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300" b="0" i="0">
                <a:solidFill>
                  <a:srgbClr val="182B3D"/>
                </a:solidFill>
                <a:latin typeface="Helvetica Neue"/>
              </a:rPr>
              <a:t>MatMul  · V</a:t>
            </a:r>
          </a:p>
        </p:txBody>
      </p:sp>
      <p:sp>
        <p:nvSpPr>
          <p:cNvPr id="67" name="Rounded Rectangle 66"/>
          <p:cNvSpPr/>
          <p:nvPr/>
        </p:nvSpPr>
        <p:spPr>
          <a:xfrm>
            <a:off x="640080" y="4041648"/>
            <a:ext cx="4617720" cy="722376"/>
          </a:xfrm>
          <a:prstGeom prst="roundRect">
            <a:avLst>
              <a:gd name="adj" fmla="val 8000"/>
            </a:avLst>
          </a:prstGeom>
          <a:solidFill>
            <a:srgbClr val="FA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40080" y="4099438"/>
            <a:ext cx="64008" cy="606795"/>
          </a:xfrm>
          <a:prstGeom prst="rect">
            <a:avLst/>
          </a:prstGeom>
          <a:solidFill>
            <a:srgbClr val="BE2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59536" y="4041648"/>
            <a:ext cx="4215383"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E2A2F"/>
                </a:solidFill>
                <a:latin typeface="Helvetica Neue"/>
              </a:rPr>
              <a:t>WHY  √dₖ  </a:t>
            </a:r>
            <a:r>
              <a:rPr sz="1250" b="0" i="0">
                <a:solidFill>
                  <a:srgbClr val="182B3D"/>
                </a:solidFill>
                <a:latin typeface="Helvetica Neue"/>
              </a:rPr>
              <a:t>Large dot products push softmax into tiny-gradient regions; scaling keeps it stable.</a:t>
            </a:r>
          </a:p>
        </p:txBody>
      </p:sp>
      <p:sp>
        <p:nvSpPr>
          <p:cNvPr id="70" name="TextBox 69"/>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35D51"/>
                </a:solidFill>
                <a:latin typeface="Helvetica Neue"/>
              </a:rPr>
              <a:t>Attention Is All You Need · Vaswani et al., NeurIPS 2017</a:t>
            </a:r>
          </a:p>
        </p:txBody>
      </p:sp>
      <p:sp>
        <p:nvSpPr>
          <p:cNvPr id="71" name="TextBox 70"/>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35D51"/>
                </a:solidFill>
                <a:latin typeface="Helvetica Neue"/>
              </a:rPr>
              <a:t>10</a:t>
            </a:r>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6"/>
                                        </p:tgtEl>
                                        <p:attrNameLst>
                                          <p:attrName>style.visibility</p:attrName>
                                        </p:attrNameLst>
                                      </p:cBhvr>
                                      <p:to>
                                        <p:strVal val="visible"/>
                                      </p:to>
                                    </p:set>
                                  </p:childTnLst>
                                </p:cTn>
                              </p:par>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220">
                <a:solidFill>
                  <a:srgbClr val="BE2A2F"/>
                </a:solidFill>
                <a:latin typeface="Menlo"/>
              </a:rPr>
              <a:t>MULTI-HEAD ATTENTION</a:t>
            </a:r>
          </a:p>
        </p:txBody>
      </p:sp>
      <p:sp>
        <p:nvSpPr>
          <p:cNvPr id="4" name="TextBox 3"/>
          <p:cNvSpPr txBox="1"/>
          <p:nvPr/>
        </p:nvSpPr>
        <p:spPr>
          <a:xfrm>
            <a:off x="621792" y="76809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800" b="1" i="0">
                <a:solidFill>
                  <a:srgbClr val="182B3D"/>
                </a:solidFill>
                <a:latin typeface="Charter"/>
              </a:rPr>
              <a:t>Eight parallel views instead of one</a:t>
            </a:r>
          </a:p>
        </p:txBody>
      </p:sp>
      <p:sp>
        <p:nvSpPr>
          <p:cNvPr id="5" name="Rectangle 4"/>
          <p:cNvSpPr/>
          <p:nvPr/>
        </p:nvSpPr>
        <p:spPr>
          <a:xfrm>
            <a:off x="640080" y="1463040"/>
            <a:ext cx="1005840" cy="27432"/>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26464"/>
            <a:ext cx="7955279" cy="457200"/>
          </a:xfrm>
          <a:prstGeom prst="rect">
            <a:avLst/>
          </a:prstGeom>
          <a:noFill/>
          <a:ln/>
        </p:spPr>
        <p:txBody>
          <a:bodyPr wrap="square" anchor="ctr" lIns="18288" rIns="18288" tIns="18288" bIns="18288">
            <a:spAutoFit/>
          </a:bodyPr>
          <a:lstStyle/>
          <a:p>
            <a:pPr algn="l"/>
            <a:r>
              <a:rPr sz="1800" b="0" i="0">
                <a:solidFill>
                  <a:srgbClr val="182B3D"/>
                </a:solidFill>
                <a:latin typeface="STIX Two Math"/>
              </a:rPr>
              <a:t>M</a:t>
            </a:r>
            <a:r>
              <a:rPr sz="1800" b="0" i="0">
                <a:solidFill>
                  <a:srgbClr val="182B3D"/>
                </a:solidFill>
                <a:latin typeface="STIX Two Math"/>
              </a:rPr>
              <a:t>u</a:t>
            </a:r>
            <a:r>
              <a:rPr sz="1800" b="0" i="0">
                <a:solidFill>
                  <a:srgbClr val="182B3D"/>
                </a:solidFill>
                <a:latin typeface="STIX Two Math"/>
              </a:rPr>
              <a:t>l</a:t>
            </a:r>
            <a:r>
              <a:rPr sz="1800" b="0" i="0">
                <a:solidFill>
                  <a:srgbClr val="182B3D"/>
                </a:solidFill>
                <a:latin typeface="STIX Two Math"/>
              </a:rPr>
              <a:t>t</a:t>
            </a:r>
            <a:r>
              <a:rPr sz="1800" b="0" i="0">
                <a:solidFill>
                  <a:srgbClr val="182B3D"/>
                </a:solidFill>
                <a:latin typeface="STIX Two Math"/>
              </a:rPr>
              <a:t>i</a:t>
            </a:r>
            <a:r>
              <a:rPr sz="1800" b="0" i="0">
                <a:solidFill>
                  <a:srgbClr val="182B3D"/>
                </a:solidFill>
                <a:latin typeface="STIX Two Math"/>
              </a:rPr>
              <a:t>H</a:t>
            </a:r>
            <a:r>
              <a:rPr sz="1800" b="0" i="0">
                <a:solidFill>
                  <a:srgbClr val="182B3D"/>
                </a:solidFill>
                <a:latin typeface="STIX Two Math"/>
              </a:rPr>
              <a:t>e</a:t>
            </a:r>
            <a:r>
              <a:rPr sz="1800" b="0" i="0">
                <a:solidFill>
                  <a:srgbClr val="182B3D"/>
                </a:solidFill>
                <a:latin typeface="STIX Two Math"/>
              </a:rPr>
              <a:t>a</a:t>
            </a:r>
            <a:r>
              <a:rPr sz="1800" b="0" i="0">
                <a:solidFill>
                  <a:srgbClr val="182B3D"/>
                </a:solidFill>
                <a:latin typeface="STIX Two Math"/>
              </a:rPr>
              <a:t>d</a:t>
            </a:r>
            <a:r>
              <a:rPr sz="1800" b="0" i="0">
                <a:solidFill>
                  <a:srgbClr val="182B3D"/>
                </a:solidFill>
                <a:latin typeface="STIX Two Math"/>
              </a:rPr>
              <a:t>(</a:t>
            </a:r>
            <a:r>
              <a:rPr sz="1800" b="0" i="1">
                <a:solidFill>
                  <a:srgbClr val="182B3D"/>
                </a:solidFill>
                <a:latin typeface="STIX Two Math"/>
              </a:rPr>
              <a:t>Q</a:t>
            </a:r>
            <a:r>
              <a:rPr sz="1800" b="0" i="0">
                <a:solidFill>
                  <a:srgbClr val="182B3D"/>
                </a:solidFill>
                <a:latin typeface="STIX Two Math"/>
              </a:rPr>
              <a:t>,</a:t>
            </a:r>
            <a:r>
              <a:rPr sz="1800" b="0" i="1">
                <a:solidFill>
                  <a:srgbClr val="182B3D"/>
                </a:solidFill>
                <a:latin typeface="STIX Two Math"/>
              </a:rPr>
              <a:t>K</a:t>
            </a:r>
            <a:r>
              <a:rPr sz="1800" b="0" i="0">
                <a:solidFill>
                  <a:srgbClr val="182B3D"/>
                </a:solidFill>
                <a:latin typeface="STIX Two Math"/>
              </a:rPr>
              <a:t>,</a:t>
            </a:r>
            <a:r>
              <a:rPr sz="1800" b="0" i="1">
                <a:solidFill>
                  <a:srgbClr val="182B3D"/>
                </a:solidFill>
                <a:latin typeface="STIX Two Math"/>
              </a:rPr>
              <a:t>V</a:t>
            </a:r>
            <a:r>
              <a:rPr sz="1800" b="0" i="0">
                <a:solidFill>
                  <a:srgbClr val="182B3D"/>
                </a:solidFill>
                <a:latin typeface="STIX Two Math"/>
              </a:rPr>
              <a:t>)</a:t>
            </a:r>
            <a:r>
              <a:rPr sz="1800" b="0" i="0">
                <a:solidFill>
                  <a:srgbClr val="182B3D"/>
                </a:solidFill>
                <a:latin typeface="STIX Two Math"/>
              </a:rPr>
              <a:t> </a:t>
            </a:r>
            <a:r>
              <a:rPr sz="1800" b="0" i="0">
                <a:solidFill>
                  <a:srgbClr val="182B3D"/>
                </a:solidFill>
                <a:latin typeface="STIX Two Math"/>
              </a:rPr>
              <a:t>=</a:t>
            </a:r>
            <a:r>
              <a:rPr sz="1800" b="0" i="0">
                <a:solidFill>
                  <a:srgbClr val="182B3D"/>
                </a:solidFill>
                <a:latin typeface="STIX Two Math"/>
              </a:rPr>
              <a:t> </a:t>
            </a:r>
            <a:r>
              <a:rPr sz="1800" b="0" i="0">
                <a:solidFill>
                  <a:srgbClr val="182B3D"/>
                </a:solidFill>
                <a:latin typeface="STIX Two Math"/>
              </a:rPr>
              <a:t>C</a:t>
            </a:r>
            <a:r>
              <a:rPr sz="1800" b="0" i="0">
                <a:solidFill>
                  <a:srgbClr val="182B3D"/>
                </a:solidFill>
                <a:latin typeface="STIX Two Math"/>
              </a:rPr>
              <a:t>o</a:t>
            </a:r>
            <a:r>
              <a:rPr sz="1800" b="0" i="0">
                <a:solidFill>
                  <a:srgbClr val="182B3D"/>
                </a:solidFill>
                <a:latin typeface="STIX Two Math"/>
              </a:rPr>
              <a:t>n</a:t>
            </a:r>
            <a:r>
              <a:rPr sz="1800" b="0" i="0">
                <a:solidFill>
                  <a:srgbClr val="182B3D"/>
                </a:solidFill>
                <a:latin typeface="STIX Two Math"/>
              </a:rPr>
              <a:t>c</a:t>
            </a:r>
            <a:r>
              <a:rPr sz="1800" b="0" i="0">
                <a:solidFill>
                  <a:srgbClr val="182B3D"/>
                </a:solidFill>
                <a:latin typeface="STIX Two Math"/>
              </a:rPr>
              <a:t>a</a:t>
            </a:r>
            <a:r>
              <a:rPr sz="1800" b="0" i="0">
                <a:solidFill>
                  <a:srgbClr val="182B3D"/>
                </a:solidFill>
                <a:latin typeface="STIX Two Math"/>
              </a:rPr>
              <a:t>t</a:t>
            </a:r>
            <a:r>
              <a:rPr sz="1800" b="0" i="0">
                <a:solidFill>
                  <a:srgbClr val="182B3D"/>
                </a:solidFill>
                <a:latin typeface="STIX Two Math"/>
              </a:rPr>
              <a:t>(</a:t>
            </a:r>
            <a:r>
              <a:rPr sz="1800" b="0" i="0">
                <a:solidFill>
                  <a:srgbClr val="182B3D"/>
                </a:solidFill>
                <a:latin typeface="STIX Two Math"/>
              </a:rPr>
              <a:t>h</a:t>
            </a:r>
            <a:r>
              <a:rPr sz="1800" b="0" i="0">
                <a:solidFill>
                  <a:srgbClr val="182B3D"/>
                </a:solidFill>
                <a:latin typeface="STIX Two Math"/>
              </a:rPr>
              <a:t>e</a:t>
            </a:r>
            <a:r>
              <a:rPr sz="1800" b="0" i="0">
                <a:solidFill>
                  <a:srgbClr val="182B3D"/>
                </a:solidFill>
                <a:latin typeface="STIX Two Math"/>
              </a:rPr>
              <a:t>a</a:t>
            </a:r>
            <a:r>
              <a:rPr sz="1800" b="0" i="0">
                <a:solidFill>
                  <a:srgbClr val="182B3D"/>
                </a:solidFill>
                <a:latin typeface="STIX Two Math"/>
              </a:rPr>
              <a:t>d</a:t>
            </a:r>
            <a:r>
              <a:rPr sz="1116" b="0" i="0" baseline="-22000">
                <a:solidFill>
                  <a:srgbClr val="182B3D"/>
                </a:solidFill>
                <a:latin typeface="STIX Two Math"/>
              </a:rPr>
              <a:t>1</a:t>
            </a:r>
            <a:r>
              <a:rPr sz="1800" b="0" i="0">
                <a:solidFill>
                  <a:srgbClr val="182B3D"/>
                </a:solidFill>
                <a:latin typeface="STIX Two Math"/>
              </a:rPr>
              <a:t>,</a:t>
            </a:r>
            <a:r>
              <a:rPr sz="1800" b="0" i="0">
                <a:solidFill>
                  <a:srgbClr val="182B3D"/>
                </a:solidFill>
                <a:latin typeface="STIX Two Math"/>
              </a:rPr>
              <a:t>…</a:t>
            </a:r>
            <a:r>
              <a:rPr sz="1800" b="0" i="0">
                <a:solidFill>
                  <a:srgbClr val="182B3D"/>
                </a:solidFill>
                <a:latin typeface="STIX Two Math"/>
              </a:rPr>
              <a:t>,</a:t>
            </a:r>
            <a:r>
              <a:rPr sz="1800" b="0" i="0">
                <a:solidFill>
                  <a:srgbClr val="182B3D"/>
                </a:solidFill>
                <a:latin typeface="STIX Two Math"/>
              </a:rPr>
              <a:t>h</a:t>
            </a:r>
            <a:r>
              <a:rPr sz="1800" b="0" i="0">
                <a:solidFill>
                  <a:srgbClr val="182B3D"/>
                </a:solidFill>
                <a:latin typeface="STIX Two Math"/>
              </a:rPr>
              <a:t>e</a:t>
            </a:r>
            <a:r>
              <a:rPr sz="1800" b="0" i="0">
                <a:solidFill>
                  <a:srgbClr val="182B3D"/>
                </a:solidFill>
                <a:latin typeface="STIX Two Math"/>
              </a:rPr>
              <a:t>a</a:t>
            </a:r>
            <a:r>
              <a:rPr sz="1800" b="0" i="0">
                <a:solidFill>
                  <a:srgbClr val="182B3D"/>
                </a:solidFill>
                <a:latin typeface="STIX Two Math"/>
              </a:rPr>
              <a:t>d</a:t>
            </a:r>
            <a:r>
              <a:rPr sz="1116" b="0" i="1" baseline="-22000">
                <a:solidFill>
                  <a:srgbClr val="182B3D"/>
                </a:solidFill>
                <a:latin typeface="STIX Two Math"/>
              </a:rPr>
              <a:t>h</a:t>
            </a:r>
            <a:r>
              <a:rPr sz="1800" b="0" i="0">
                <a:solidFill>
                  <a:srgbClr val="182B3D"/>
                </a:solidFill>
                <a:latin typeface="STIX Two Math"/>
              </a:rPr>
              <a:t>)</a:t>
            </a:r>
            <a:r>
              <a:rPr sz="1800" b="0" i="0">
                <a:solidFill>
                  <a:srgbClr val="182B3D"/>
                </a:solidFill>
                <a:latin typeface="STIX Two Math"/>
              </a:rPr>
              <a:t> </a:t>
            </a:r>
            <a:r>
              <a:rPr sz="1800" b="0" i="1">
                <a:solidFill>
                  <a:srgbClr val="182B3D"/>
                </a:solidFill>
                <a:latin typeface="STIX Two Math"/>
              </a:rPr>
              <a:t>W</a:t>
            </a:r>
            <a:r>
              <a:rPr sz="1116" b="0" i="1" baseline="30000">
                <a:solidFill>
                  <a:srgbClr val="182B3D"/>
                </a:solidFill>
                <a:latin typeface="STIX Two Math"/>
              </a:rPr>
              <a:t>O</a:t>
            </a:r>
          </a:p>
        </p:txBody>
      </p:sp>
      <p:sp>
        <p:nvSpPr>
          <p:cNvPr id="7" name="TextBox 6"/>
          <p:cNvSpPr txBox="1"/>
          <p:nvPr/>
        </p:nvSpPr>
        <p:spPr>
          <a:xfrm>
            <a:off x="640080" y="1975104"/>
            <a:ext cx="7955279" cy="402336"/>
          </a:xfrm>
          <a:prstGeom prst="rect">
            <a:avLst/>
          </a:prstGeom>
          <a:noFill/>
          <a:ln/>
        </p:spPr>
        <p:txBody>
          <a:bodyPr wrap="square" anchor="ctr" lIns="18288" rIns="18288" tIns="18288" bIns="18288">
            <a:spAutoFit/>
          </a:bodyPr>
          <a:lstStyle/>
          <a:p>
            <a:pPr algn="l"/>
            <a:r>
              <a:rPr sz="1600" b="0" i="0">
                <a:solidFill>
                  <a:srgbClr val="3A4A55"/>
                </a:solidFill>
                <a:latin typeface="STIX Two Math"/>
              </a:rPr>
              <a:t>h</a:t>
            </a:r>
            <a:r>
              <a:rPr sz="1600" b="0" i="0">
                <a:solidFill>
                  <a:srgbClr val="3A4A55"/>
                </a:solidFill>
                <a:latin typeface="STIX Two Math"/>
              </a:rPr>
              <a:t>e</a:t>
            </a:r>
            <a:r>
              <a:rPr sz="1600" b="0" i="0">
                <a:solidFill>
                  <a:srgbClr val="3A4A55"/>
                </a:solidFill>
                <a:latin typeface="STIX Two Math"/>
              </a:rPr>
              <a:t>a</a:t>
            </a:r>
            <a:r>
              <a:rPr sz="1600" b="0" i="0">
                <a:solidFill>
                  <a:srgbClr val="3A4A55"/>
                </a:solidFill>
                <a:latin typeface="STIX Two Math"/>
              </a:rPr>
              <a:t>d</a:t>
            </a:r>
            <a:r>
              <a:rPr sz="992" b="0" i="1" baseline="-22000">
                <a:solidFill>
                  <a:srgbClr val="3A4A55"/>
                </a:solidFill>
                <a:latin typeface="STIX Two Math"/>
              </a:rPr>
              <a:t>i</a:t>
            </a:r>
            <a:r>
              <a:rPr sz="1600" b="0" i="0">
                <a:solidFill>
                  <a:srgbClr val="3A4A55"/>
                </a:solidFill>
                <a:latin typeface="STIX Two Math"/>
              </a:rPr>
              <a:t> </a:t>
            </a:r>
            <a:r>
              <a:rPr sz="1600" b="0" i="0">
                <a:solidFill>
                  <a:srgbClr val="3A4A55"/>
                </a:solidFill>
                <a:latin typeface="STIX Two Math"/>
              </a:rPr>
              <a:t>=</a:t>
            </a:r>
            <a:r>
              <a:rPr sz="1600" b="0" i="0">
                <a:solidFill>
                  <a:srgbClr val="3A4A55"/>
                </a:solidFill>
                <a:latin typeface="STIX Two Math"/>
              </a:rPr>
              <a:t> </a:t>
            </a:r>
            <a:r>
              <a:rPr sz="1600" b="0" i="0">
                <a:solidFill>
                  <a:srgbClr val="3A4A55"/>
                </a:solidFill>
                <a:latin typeface="STIX Two Math"/>
              </a:rPr>
              <a:t>A</a:t>
            </a:r>
            <a:r>
              <a:rPr sz="1600" b="0" i="0">
                <a:solidFill>
                  <a:srgbClr val="3A4A55"/>
                </a:solidFill>
                <a:latin typeface="STIX Two Math"/>
              </a:rPr>
              <a:t>t</a:t>
            </a:r>
            <a:r>
              <a:rPr sz="1600" b="0" i="0">
                <a:solidFill>
                  <a:srgbClr val="3A4A55"/>
                </a:solidFill>
                <a:latin typeface="STIX Two Math"/>
              </a:rPr>
              <a:t>t</a:t>
            </a:r>
            <a:r>
              <a:rPr sz="1600" b="0" i="0">
                <a:solidFill>
                  <a:srgbClr val="3A4A55"/>
                </a:solidFill>
                <a:latin typeface="STIX Two Math"/>
              </a:rPr>
              <a:t>e</a:t>
            </a:r>
            <a:r>
              <a:rPr sz="1600" b="0" i="0">
                <a:solidFill>
                  <a:srgbClr val="3A4A55"/>
                </a:solidFill>
                <a:latin typeface="STIX Two Math"/>
              </a:rPr>
              <a:t>n</a:t>
            </a:r>
            <a:r>
              <a:rPr sz="1600" b="0" i="0">
                <a:solidFill>
                  <a:srgbClr val="3A4A55"/>
                </a:solidFill>
                <a:latin typeface="STIX Two Math"/>
              </a:rPr>
              <a:t>t</a:t>
            </a:r>
            <a:r>
              <a:rPr sz="1600" b="0" i="0">
                <a:solidFill>
                  <a:srgbClr val="3A4A55"/>
                </a:solidFill>
                <a:latin typeface="STIX Two Math"/>
              </a:rPr>
              <a:t>i</a:t>
            </a:r>
            <a:r>
              <a:rPr sz="1600" b="0" i="0">
                <a:solidFill>
                  <a:srgbClr val="3A4A55"/>
                </a:solidFill>
                <a:latin typeface="STIX Two Math"/>
              </a:rPr>
              <a:t>o</a:t>
            </a:r>
            <a:r>
              <a:rPr sz="1600" b="0" i="0">
                <a:solidFill>
                  <a:srgbClr val="3A4A55"/>
                </a:solidFill>
                <a:latin typeface="STIX Two Math"/>
              </a:rPr>
              <a:t>n</a:t>
            </a:r>
            <a:r>
              <a:rPr sz="1600" b="0" i="0">
                <a:solidFill>
                  <a:srgbClr val="3A4A55"/>
                </a:solidFill>
                <a:latin typeface="STIX Two Math"/>
              </a:rPr>
              <a:t>(</a:t>
            </a:r>
            <a:r>
              <a:rPr sz="1600" b="0" i="1">
                <a:solidFill>
                  <a:srgbClr val="3A4A55"/>
                </a:solidFill>
                <a:latin typeface="STIX Two Math"/>
              </a:rPr>
              <a:t>Q</a:t>
            </a:r>
            <a:r>
              <a:rPr sz="1600" b="0" i="1">
                <a:solidFill>
                  <a:srgbClr val="3A4A55"/>
                </a:solidFill>
                <a:latin typeface="STIX Two Math"/>
              </a:rPr>
              <a:t>W</a:t>
            </a:r>
            <a:r>
              <a:rPr sz="992" b="0" i="1" baseline="-22000">
                <a:solidFill>
                  <a:srgbClr val="3A4A55"/>
                </a:solidFill>
                <a:latin typeface="STIX Two Math"/>
              </a:rPr>
              <a:t>i</a:t>
            </a:r>
            <a:r>
              <a:rPr sz="992" b="0" i="1" baseline="30000">
                <a:solidFill>
                  <a:srgbClr val="3A4A55"/>
                </a:solidFill>
                <a:latin typeface="STIX Two Math"/>
              </a:rPr>
              <a:t>Q</a:t>
            </a:r>
            <a:r>
              <a:rPr sz="1600" b="0" i="0">
                <a:solidFill>
                  <a:srgbClr val="3A4A55"/>
                </a:solidFill>
                <a:latin typeface="STIX Two Math"/>
              </a:rPr>
              <a:t>,</a:t>
            </a:r>
            <a:r>
              <a:rPr sz="1600" b="0" i="0">
                <a:solidFill>
                  <a:srgbClr val="3A4A55"/>
                </a:solidFill>
                <a:latin typeface="STIX Two Math"/>
              </a:rPr>
              <a:t> </a:t>
            </a:r>
            <a:r>
              <a:rPr sz="1600" b="0" i="0">
                <a:solidFill>
                  <a:srgbClr val="3A4A55"/>
                </a:solidFill>
                <a:latin typeface="STIX Two Math"/>
              </a:rPr>
              <a:t> </a:t>
            </a:r>
            <a:r>
              <a:rPr sz="1600" b="0" i="1">
                <a:solidFill>
                  <a:srgbClr val="3A4A55"/>
                </a:solidFill>
                <a:latin typeface="STIX Two Math"/>
              </a:rPr>
              <a:t>K</a:t>
            </a:r>
            <a:r>
              <a:rPr sz="1600" b="0" i="1">
                <a:solidFill>
                  <a:srgbClr val="3A4A55"/>
                </a:solidFill>
                <a:latin typeface="STIX Two Math"/>
              </a:rPr>
              <a:t>W</a:t>
            </a:r>
            <a:r>
              <a:rPr sz="992" b="0" i="1" baseline="-22000">
                <a:solidFill>
                  <a:srgbClr val="3A4A55"/>
                </a:solidFill>
                <a:latin typeface="STIX Two Math"/>
              </a:rPr>
              <a:t>i</a:t>
            </a:r>
            <a:r>
              <a:rPr sz="992" b="0" i="1" baseline="30000">
                <a:solidFill>
                  <a:srgbClr val="3A4A55"/>
                </a:solidFill>
                <a:latin typeface="STIX Two Math"/>
              </a:rPr>
              <a:t>K</a:t>
            </a:r>
            <a:r>
              <a:rPr sz="1600" b="0" i="0">
                <a:solidFill>
                  <a:srgbClr val="3A4A55"/>
                </a:solidFill>
                <a:latin typeface="STIX Two Math"/>
              </a:rPr>
              <a:t>,</a:t>
            </a:r>
            <a:r>
              <a:rPr sz="1600" b="0" i="0">
                <a:solidFill>
                  <a:srgbClr val="3A4A55"/>
                </a:solidFill>
                <a:latin typeface="STIX Two Math"/>
              </a:rPr>
              <a:t> </a:t>
            </a:r>
            <a:r>
              <a:rPr sz="1600" b="0" i="0">
                <a:solidFill>
                  <a:srgbClr val="3A4A55"/>
                </a:solidFill>
                <a:latin typeface="STIX Two Math"/>
              </a:rPr>
              <a:t> </a:t>
            </a:r>
            <a:r>
              <a:rPr sz="1600" b="0" i="1">
                <a:solidFill>
                  <a:srgbClr val="3A4A55"/>
                </a:solidFill>
                <a:latin typeface="STIX Two Math"/>
              </a:rPr>
              <a:t>V</a:t>
            </a:r>
            <a:r>
              <a:rPr sz="1600" b="0" i="1">
                <a:solidFill>
                  <a:srgbClr val="3A4A55"/>
                </a:solidFill>
                <a:latin typeface="STIX Two Math"/>
              </a:rPr>
              <a:t>W</a:t>
            </a:r>
            <a:r>
              <a:rPr sz="992" b="0" i="1" baseline="-22000">
                <a:solidFill>
                  <a:srgbClr val="3A4A55"/>
                </a:solidFill>
                <a:latin typeface="STIX Two Math"/>
              </a:rPr>
              <a:t>i</a:t>
            </a:r>
            <a:r>
              <a:rPr sz="992" b="0" i="1" baseline="30000">
                <a:solidFill>
                  <a:srgbClr val="3A4A55"/>
                </a:solidFill>
                <a:latin typeface="STIX Two Math"/>
              </a:rPr>
              <a:t>V</a:t>
            </a:r>
            <a:r>
              <a:rPr sz="1600" b="0" i="0">
                <a:solidFill>
                  <a:srgbClr val="3A4A55"/>
                </a:solidFill>
                <a:latin typeface="STIX Two Math"/>
              </a:rPr>
              <a:t>)</a:t>
            </a:r>
          </a:p>
        </p:txBody>
      </p:sp>
      <p:sp>
        <p:nvSpPr>
          <p:cNvPr id="8" name="TextBox 7"/>
          <p:cNvSpPr txBox="1"/>
          <p:nvPr/>
        </p:nvSpPr>
        <p:spPr>
          <a:xfrm>
            <a:off x="1737360" y="2359152"/>
            <a:ext cx="4041648" cy="237744"/>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050" b="0" i="1">
                <a:solidFill>
                  <a:srgbClr val="635D51"/>
                </a:solidFill>
                <a:latin typeface="Helvetica Neue"/>
              </a:rPr>
              <a:t>linear projection into h subspaces</a:t>
            </a:r>
          </a:p>
        </p:txBody>
      </p:sp>
      <p:sp>
        <p:nvSpPr>
          <p:cNvPr id="9" name="Rounded Rectangle 8"/>
          <p:cNvSpPr/>
          <p:nvPr/>
        </p:nvSpPr>
        <p:spPr>
          <a:xfrm>
            <a:off x="640080" y="2651760"/>
            <a:ext cx="914400" cy="548640"/>
          </a:xfrm>
          <a:prstGeom prst="roundRect">
            <a:avLst>
              <a:gd name="adj" fmla="val 8000"/>
            </a:avLst>
          </a:prstGeom>
          <a:solidFill>
            <a:srgbClr val="DFE7EE"/>
          </a:solidFill>
          <a:ln w="1270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651760"/>
            <a:ext cx="914400" cy="54864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250" b="0" i="0">
                <a:solidFill>
                  <a:srgbClr val="182B3D"/>
                </a:solidFill>
                <a:latin typeface="Helvetica Neue"/>
              </a:rPr>
              <a:t>Q,K,V</a:t>
            </a:r>
          </a:p>
        </p:txBody>
      </p:sp>
      <p:cxnSp>
        <p:nvCxnSpPr>
          <p:cNvPr id="11" name="Connector 10"/>
          <p:cNvCxnSpPr/>
          <p:nvPr/>
        </p:nvCxnSpPr>
        <p:spPr>
          <a:xfrm>
            <a:off x="1554480" y="2926080"/>
            <a:ext cx="182880" cy="0"/>
          </a:xfrm>
          <a:prstGeom prst="line">
            <a:avLst/>
          </a:prstGeom>
          <a:ln w="16510">
            <a:solidFill>
              <a:srgbClr val="635D5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737360" y="2651760"/>
            <a:ext cx="896112" cy="548640"/>
          </a:xfrm>
          <a:prstGeom prst="roundRect">
            <a:avLst>
              <a:gd name="adj" fmla="val 8000"/>
            </a:avLst>
          </a:prstGeom>
          <a:solidFill>
            <a:srgbClr val="FAE3E0"/>
          </a:solidFill>
          <a:ln w="12700">
            <a:solidFill>
              <a:srgbClr val="E548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37360" y="2651760"/>
            <a:ext cx="896112" cy="54864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150" b="0" i="0">
                <a:solidFill>
                  <a:srgbClr val="182B3D"/>
                </a:solidFill>
                <a:latin typeface="Helvetica Neue"/>
              </a:rPr>
              <a:t>head 1</a:t>
            </a:r>
          </a:p>
        </p:txBody>
      </p:sp>
      <p:sp>
        <p:nvSpPr>
          <p:cNvPr id="14" name="Rounded Rectangle 13"/>
          <p:cNvSpPr/>
          <p:nvPr/>
        </p:nvSpPr>
        <p:spPr>
          <a:xfrm>
            <a:off x="2788920" y="2651760"/>
            <a:ext cx="896112" cy="548640"/>
          </a:xfrm>
          <a:prstGeom prst="roundRect">
            <a:avLst>
              <a:gd name="adj" fmla="val 8000"/>
            </a:avLst>
          </a:prstGeom>
          <a:solidFill>
            <a:srgbClr val="FAE3E0"/>
          </a:solidFill>
          <a:ln w="12700">
            <a:solidFill>
              <a:srgbClr val="E548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88920" y="2651760"/>
            <a:ext cx="896112" cy="54864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150" b="0" i="0">
                <a:solidFill>
                  <a:srgbClr val="182B3D"/>
                </a:solidFill>
                <a:latin typeface="Helvetica Neue"/>
              </a:rPr>
              <a:t>head 2</a:t>
            </a:r>
          </a:p>
        </p:txBody>
      </p:sp>
      <p:sp>
        <p:nvSpPr>
          <p:cNvPr id="16" name="Rounded Rectangle 15"/>
          <p:cNvSpPr/>
          <p:nvPr/>
        </p:nvSpPr>
        <p:spPr>
          <a:xfrm>
            <a:off x="3840480" y="2651760"/>
            <a:ext cx="896112" cy="548640"/>
          </a:xfrm>
          <a:prstGeom prst="roundRect">
            <a:avLst>
              <a:gd name="adj" fmla="val 8000"/>
            </a:avLst>
          </a:prstGeom>
          <a:solidFill>
            <a:srgbClr val="FAE3E0"/>
          </a:solidFill>
          <a:ln w="12700">
            <a:solidFill>
              <a:srgbClr val="E548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40480" y="2651760"/>
            <a:ext cx="896112" cy="54864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150" b="0" i="0">
                <a:solidFill>
                  <a:srgbClr val="182B3D"/>
                </a:solidFill>
                <a:latin typeface="Helvetica Neue"/>
              </a:rPr>
              <a:t>head 3</a:t>
            </a:r>
          </a:p>
        </p:txBody>
      </p:sp>
      <p:sp>
        <p:nvSpPr>
          <p:cNvPr id="18" name="Rounded Rectangle 17"/>
          <p:cNvSpPr/>
          <p:nvPr/>
        </p:nvSpPr>
        <p:spPr>
          <a:xfrm>
            <a:off x="4892040" y="2651760"/>
            <a:ext cx="896112" cy="548640"/>
          </a:xfrm>
          <a:prstGeom prst="roundRect">
            <a:avLst>
              <a:gd name="adj" fmla="val 8000"/>
            </a:avLst>
          </a:prstGeom>
          <a:solidFill>
            <a:srgbClr val="FAE3E0"/>
          </a:solidFill>
          <a:ln w="12700">
            <a:solidFill>
              <a:srgbClr val="E548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92040" y="2651760"/>
            <a:ext cx="896112" cy="54864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150" b="0" i="0">
                <a:solidFill>
                  <a:srgbClr val="182B3D"/>
                </a:solidFill>
                <a:latin typeface="Helvetica Neue"/>
              </a:rPr>
              <a:t>head 4</a:t>
            </a:r>
          </a:p>
        </p:txBody>
      </p:sp>
      <p:sp>
        <p:nvSpPr>
          <p:cNvPr id="20" name="TextBox 19"/>
          <p:cNvSpPr txBox="1"/>
          <p:nvPr/>
        </p:nvSpPr>
        <p:spPr>
          <a:xfrm>
            <a:off x="5870448" y="2651760"/>
            <a:ext cx="365760" cy="54864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800" b="0" i="0">
                <a:solidFill>
                  <a:srgbClr val="635D51"/>
                </a:solidFill>
                <a:latin typeface="Helvetica Neue"/>
              </a:rPr>
              <a:t>…</a:t>
            </a:r>
          </a:p>
        </p:txBody>
      </p:sp>
      <p:sp>
        <p:nvSpPr>
          <p:cNvPr id="21" name="TextBox 20"/>
          <p:cNvSpPr txBox="1"/>
          <p:nvPr/>
        </p:nvSpPr>
        <p:spPr>
          <a:xfrm>
            <a:off x="6355080" y="2596896"/>
            <a:ext cx="2331720" cy="640080"/>
          </a:xfrm>
          <a:prstGeom prst="rect">
            <a:avLst/>
          </a:prstGeom>
          <a:noFill/>
          <a:ln/>
        </p:spPr>
        <p:txBody>
          <a:bodyPr wrap="square" anchor="ctr" lIns="25400" rIns="25400" tIns="25400" bIns="25400">
            <a:spAutoFit/>
          </a:bodyPr>
          <a:lstStyle/>
          <a:p>
            <a:pPr algn="l">
              <a:lnSpc>
                <a:spcPct val="100000"/>
              </a:lnSpc>
              <a:spcBef>
                <a:spcPts val="0"/>
              </a:spcBef>
              <a:spcAft>
                <a:spcPts val="200"/>
              </a:spcAft>
            </a:pPr>
            <a:r>
              <a:rPr sz="1300" b="1" i="0">
                <a:solidFill>
                  <a:srgbClr val="BE2A2F"/>
                </a:solidFill>
                <a:latin typeface="Helvetica Neue"/>
              </a:rPr>
              <a:t>h = 8 heads</a:t>
            </a:r>
          </a:p>
          <a:p>
            <a:pPr algn="l">
              <a:lnSpc>
                <a:spcPct val="100000"/>
              </a:lnSpc>
              <a:spcBef>
                <a:spcPts val="0"/>
              </a:spcBef>
              <a:spcAft>
                <a:spcPts val="200"/>
              </a:spcAft>
            </a:pPr>
            <a:r>
              <a:rPr sz="1150" b="0" i="0">
                <a:solidFill>
                  <a:srgbClr val="3A4A55"/>
                </a:solidFill>
                <a:latin typeface="Helvetica Neue"/>
              </a:rPr>
              <a:t>64 dims per head</a:t>
            </a:r>
          </a:p>
        </p:txBody>
      </p:sp>
      <p:sp>
        <p:nvSpPr>
          <p:cNvPr id="22" name="Rounded Rectangle 21"/>
          <p:cNvSpPr/>
          <p:nvPr/>
        </p:nvSpPr>
        <p:spPr>
          <a:xfrm>
            <a:off x="1737360" y="3493008"/>
            <a:ext cx="4050791" cy="457200"/>
          </a:xfrm>
          <a:prstGeom prst="roundRect">
            <a:avLst>
              <a:gd name="adj" fmla="val 8000"/>
            </a:avLst>
          </a:prstGeom>
          <a:solidFill>
            <a:srgbClr val="FFFDF9"/>
          </a:solidFill>
          <a:ln w="12700">
            <a:solidFill>
              <a:srgbClr val="3A4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3493008"/>
            <a:ext cx="4050791" cy="457200"/>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300" b="0" i="0">
                <a:solidFill>
                  <a:srgbClr val="182B3D"/>
                </a:solidFill>
                <a:latin typeface="Helvetica Neue"/>
              </a:rPr>
              <a:t>Concat  →  </a:t>
            </a:r>
            <a:r>
              <a:rPr sz="1300" b="1" i="1">
                <a:solidFill>
                  <a:srgbClr val="182B3D"/>
                </a:solidFill>
                <a:latin typeface="Helvetica Neue"/>
              </a:rPr>
              <a:t>W</a:t>
            </a:r>
            <a:r>
              <a:rPr sz="900" b="1" i="0">
                <a:solidFill>
                  <a:srgbClr val="182B3D"/>
                </a:solidFill>
                <a:latin typeface="Helvetica Neue"/>
              </a:rPr>
              <a:t>O</a:t>
            </a:r>
          </a:p>
        </p:txBody>
      </p:sp>
      <p:cxnSp>
        <p:nvCxnSpPr>
          <p:cNvPr id="24" name="Connector 23"/>
          <p:cNvCxnSpPr/>
          <p:nvPr/>
        </p:nvCxnSpPr>
        <p:spPr>
          <a:xfrm>
            <a:off x="2185415" y="3200400"/>
            <a:ext cx="0" cy="292608"/>
          </a:xfrm>
          <a:prstGeom prst="line">
            <a:avLst/>
          </a:prstGeom>
          <a:ln w="13970">
            <a:solidFill>
              <a:srgbClr val="635D5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236976" y="3200400"/>
            <a:ext cx="0" cy="292608"/>
          </a:xfrm>
          <a:prstGeom prst="line">
            <a:avLst/>
          </a:prstGeom>
          <a:ln w="13970">
            <a:solidFill>
              <a:srgbClr val="635D5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288536" y="3200400"/>
            <a:ext cx="0" cy="292608"/>
          </a:xfrm>
          <a:prstGeom prst="line">
            <a:avLst/>
          </a:prstGeom>
          <a:ln w="13970">
            <a:solidFill>
              <a:srgbClr val="635D5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340096" y="3200400"/>
            <a:ext cx="0" cy="292608"/>
          </a:xfrm>
          <a:prstGeom prst="line">
            <a:avLst/>
          </a:prstGeom>
          <a:ln w="13970">
            <a:solidFill>
              <a:srgbClr val="635D5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640080" y="4096512"/>
            <a:ext cx="7955279" cy="722376"/>
          </a:xfrm>
          <a:prstGeom prst="roundRect">
            <a:avLst>
              <a:gd name="adj" fmla="val 8000"/>
            </a:avLst>
          </a:prstGeom>
          <a:solidFill>
            <a:srgbClr val="FAE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080" y="4154302"/>
            <a:ext cx="64008" cy="606795"/>
          </a:xfrm>
          <a:prstGeom prst="rect">
            <a:avLst/>
          </a:prstGeom>
          <a:solidFill>
            <a:srgbClr val="BE2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59536" y="4096512"/>
            <a:ext cx="755294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E2A2F"/>
                </a:solidFill>
                <a:latin typeface="Helvetica Neue"/>
              </a:rPr>
              <a:t>WHY MULTIPLE HEADS  </a:t>
            </a:r>
            <a:r>
              <a:rPr sz="1250" b="0" i="0">
                <a:solidFill>
                  <a:srgbClr val="182B3D"/>
                </a:solidFill>
                <a:latin typeface="Helvetica Neue"/>
              </a:rPr>
              <a:t>Heads can specialise — some appear to track syntactic or coreference-like patterns — which a single attention would blur together.</a:t>
            </a:r>
          </a:p>
        </p:txBody>
      </p:sp>
      <p:sp>
        <p:nvSpPr>
          <p:cNvPr id="50" name="TextBox 49"/>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35D51"/>
                </a:solidFill>
                <a:latin typeface="Helvetica Neue"/>
              </a:rPr>
              <a:t>Attention Is All You Need · Vaswani et al., NeurIPS 2017</a:t>
            </a:r>
          </a:p>
        </p:txBody>
      </p:sp>
      <p:sp>
        <p:nvSpPr>
          <p:cNvPr id="51" name="TextBox 50"/>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35D51"/>
                </a:solidFill>
                <a:latin typeface="Helvetica Neue"/>
              </a:rPr>
              <a:t>11</a:t>
            </a:r>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childTnLst>
                                </p:cTn>
                              </p:par>
                              <p:par>
                                <p:cTn id="5" presetID="1"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220">
                <a:solidFill>
                  <a:srgbClr val="926826"/>
                </a:solidFill>
                <a:latin typeface="Menlo"/>
              </a:rPr>
              <a:t>POSITIONAL ENCODING</a:t>
            </a:r>
          </a:p>
        </p:txBody>
      </p:sp>
      <p:sp>
        <p:nvSpPr>
          <p:cNvPr id="4" name="TextBox 3"/>
          <p:cNvSpPr txBox="1"/>
          <p:nvPr/>
        </p:nvSpPr>
        <p:spPr>
          <a:xfrm>
            <a:off x="621792" y="76809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800" b="1" i="0">
                <a:solidFill>
                  <a:srgbClr val="182B3D"/>
                </a:solidFill>
                <a:latin typeface="Charter"/>
              </a:rPr>
              <a:t>Attention has no sense of order — so add one</a:t>
            </a:r>
          </a:p>
        </p:txBody>
      </p:sp>
      <p:sp>
        <p:nvSpPr>
          <p:cNvPr id="5" name="Rectangle 4"/>
          <p:cNvSpPr/>
          <p:nvPr/>
        </p:nvSpPr>
        <p:spPr>
          <a:xfrm>
            <a:off x="640080" y="1463040"/>
            <a:ext cx="1005840" cy="27432"/>
          </a:xfrm>
          <a:prstGeom prst="rect">
            <a:avLst/>
          </a:prstGeom>
          <a:solidFill>
            <a:srgbClr val="C89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536192"/>
            <a:ext cx="3468413" cy="731520"/>
          </a:xfrm>
          <a:prstGeom prst="rect">
            <a:avLst/>
          </a:prstGeom>
          <a:noFill/>
          <a:ln/>
        </p:spPr>
        <p:txBody>
          <a:bodyPr wrap="square" anchor="t" lIns="25400" rIns="25400" tIns="25400" bIns="25400">
            <a:spAutoFit/>
          </a:bodyPr>
          <a:lstStyle/>
          <a:p>
            <a:pPr algn="l">
              <a:lnSpc>
                <a:spcPct val="112000"/>
              </a:lnSpc>
              <a:spcBef>
                <a:spcPts val="0"/>
              </a:spcBef>
              <a:spcAft>
                <a:spcPts val="0"/>
              </a:spcAft>
            </a:pPr>
            <a:r>
              <a:rPr sz="1300" b="0" i="0">
                <a:solidFill>
                  <a:srgbClr val="3A4A55"/>
                </a:solidFill>
                <a:latin typeface="Helvetica Neue"/>
              </a:rPr>
              <a:t>Attention is </a:t>
            </a:r>
            <a:r>
              <a:rPr sz="1300" b="1" i="0">
                <a:solidFill>
                  <a:srgbClr val="182B3D"/>
                </a:solidFill>
                <a:latin typeface="Helvetica Neue"/>
              </a:rPr>
              <a:t>permutation-invariant</a:t>
            </a:r>
            <a:r>
              <a:rPr sz="1300" b="0" i="0">
                <a:solidFill>
                  <a:srgbClr val="3A4A55"/>
                </a:solidFill>
                <a:latin typeface="Helvetica Neue"/>
              </a:rPr>
              <a:t> — shuffle the tokens and the output is unchanged. So a fixed sinusoid is added to each embedding:</a:t>
            </a:r>
          </a:p>
        </p:txBody>
      </p:sp>
      <p:sp>
        <p:nvSpPr>
          <p:cNvPr id="7" name="Rounded Rectangle 6"/>
          <p:cNvSpPr/>
          <p:nvPr/>
        </p:nvSpPr>
        <p:spPr>
          <a:xfrm>
            <a:off x="365760" y="2249424"/>
            <a:ext cx="3468413" cy="987552"/>
          </a:xfrm>
          <a:prstGeom prst="roundRect">
            <a:avLst>
              <a:gd name="adj" fmla="val 8000"/>
            </a:avLst>
          </a:prstGeom>
          <a:solidFill>
            <a:srgbClr val="FFFDF9"/>
          </a:solidFill>
          <a:ln w="12700">
            <a:solidFill>
              <a:srgbClr val="C4BD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q_pe.png"/>
          <p:cNvPicPr>
            <a:picLocks noChangeAspect="1"/>
          </p:cNvPicPr>
          <p:nvPr/>
        </p:nvPicPr>
        <p:blipFill>
          <a:blip r:embed="rId2"/>
          <a:stretch>
            <a:fillRect/>
          </a:stretch>
        </p:blipFill>
        <p:spPr>
          <a:xfrm>
            <a:off x="566928" y="2446055"/>
            <a:ext cx="3066077" cy="594289"/>
          </a:xfrm>
          <a:prstGeom prst="rect">
            <a:avLst/>
          </a:prstGeom>
        </p:spPr>
      </p:pic>
      <p:sp>
        <p:nvSpPr>
          <p:cNvPr id="9" name="Rectangle 8"/>
          <p:cNvSpPr/>
          <p:nvPr/>
        </p:nvSpPr>
        <p:spPr>
          <a:xfrm>
            <a:off x="365760" y="3447288"/>
            <a:ext cx="82296" cy="82296"/>
          </a:xfrm>
          <a:prstGeom prst="rect">
            <a:avLst/>
          </a:prstGeom>
          <a:solidFill>
            <a:srgbClr val="C89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3364992"/>
            <a:ext cx="3267245"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1" i="0">
                <a:solidFill>
                  <a:srgbClr val="132435"/>
                </a:solidFill>
                <a:latin typeface="Helvetica Neue"/>
              </a:rPr>
              <a:t>Each dimension </a:t>
            </a:r>
            <a:r>
              <a:rPr sz="1150" b="0" i="0">
                <a:solidFill>
                  <a:srgbClr val="3A4A55"/>
                </a:solidFill>
                <a:latin typeface="Helvetica Neue"/>
              </a:rPr>
              <a:t> — a sine/cosine of a different wavelength</a:t>
            </a:r>
          </a:p>
        </p:txBody>
      </p:sp>
      <p:sp>
        <p:nvSpPr>
          <p:cNvPr id="11" name="Rectangle 10"/>
          <p:cNvSpPr/>
          <p:nvPr/>
        </p:nvSpPr>
        <p:spPr>
          <a:xfrm>
            <a:off x="365760" y="3939032"/>
            <a:ext cx="82296" cy="82296"/>
          </a:xfrm>
          <a:prstGeom prst="rect">
            <a:avLst/>
          </a:prstGeom>
          <a:solidFill>
            <a:srgbClr val="C89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856736"/>
            <a:ext cx="3267245"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1" i="0">
                <a:solidFill>
                  <a:srgbClr val="132435"/>
                </a:solidFill>
                <a:latin typeface="Helvetica Neue"/>
              </a:rPr>
              <a:t>Relative offsets </a:t>
            </a:r>
            <a:r>
              <a:rPr sz="1150" b="0" i="0">
                <a:solidFill>
                  <a:srgbClr val="3A4A55"/>
                </a:solidFill>
                <a:latin typeface="Helvetica Neue"/>
              </a:rPr>
              <a:t> — become linear relationships</a:t>
            </a:r>
          </a:p>
        </p:txBody>
      </p:sp>
      <p:sp>
        <p:nvSpPr>
          <p:cNvPr id="13" name="Rounded Rectangle 12"/>
          <p:cNvSpPr/>
          <p:nvPr/>
        </p:nvSpPr>
        <p:spPr>
          <a:xfrm>
            <a:off x="4199933" y="1536192"/>
            <a:ext cx="4578306" cy="2331720"/>
          </a:xfrm>
          <a:prstGeom prst="roundRect">
            <a:avLst>
              <a:gd name="adj" fmla="val 8000"/>
            </a:avLst>
          </a:prstGeom>
          <a:solidFill>
            <a:srgbClr val="FFFDF9"/>
          </a:solidFill>
          <a:ln w="12700">
            <a:solidFill>
              <a:srgbClr val="C4BD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e_curves.png"/>
          <p:cNvPicPr>
            <a:picLocks noChangeAspect="1"/>
          </p:cNvPicPr>
          <p:nvPr/>
        </p:nvPicPr>
        <p:blipFill>
          <a:blip r:embed="rId3"/>
          <a:stretch>
            <a:fillRect/>
          </a:stretch>
        </p:blipFill>
        <p:spPr>
          <a:xfrm>
            <a:off x="4346237" y="1738806"/>
            <a:ext cx="4285698" cy="1761898"/>
          </a:xfrm>
          <a:prstGeom prst="rect">
            <a:avLst/>
          </a:prstGeom>
        </p:spPr>
      </p:pic>
      <p:pic>
        <p:nvPicPr>
          <p:cNvPr id="15" name="Picture 14" descr="Four positional-encoding dimensions plotted vs position; wavelength lengthens from short (dim 2) to long (dim 28)." title="Four positional-encoding dimensions plotted vs position; wavelength lengthens from short (dim 2) to long (dim 28)."/>
          <p:cNvPicPr>
            <a:picLocks noChangeAspect="1"/>
          </p:cNvPicPr>
          <p:nvPr/>
        </p:nvPicPr>
        <p:blipFill>
          <a:blip r:embed="rId3"/>
          <a:stretch>
            <a:fillRect/>
          </a:stretch>
        </p:blipFill>
        <p:spPr>
          <a:xfrm>
            <a:off x="4346237" y="1738806"/>
            <a:ext cx="4285698" cy="1761898"/>
          </a:xfrm>
          <a:prstGeom prst="rect">
            <a:avLst/>
          </a:prstGeom>
        </p:spPr>
      </p:pic>
      <p:sp>
        <p:nvSpPr>
          <p:cNvPr id="16" name="TextBox 15"/>
          <p:cNvSpPr txBox="1"/>
          <p:nvPr/>
        </p:nvSpPr>
        <p:spPr>
          <a:xfrm>
            <a:off x="4346237" y="3584448"/>
            <a:ext cx="4285698" cy="274320"/>
          </a:xfrm>
          <a:prstGeom prst="rect">
            <a:avLst/>
          </a:prstGeom>
          <a:noFill/>
          <a:ln/>
        </p:spPr>
        <p:txBody>
          <a:bodyPr wrap="square" anchor="t" lIns="25400" rIns="25400" tIns="25400" bIns="25400">
            <a:spAutoFit/>
          </a:bodyPr>
          <a:lstStyle/>
          <a:p>
            <a:pPr algn="ctr">
              <a:lnSpc>
                <a:spcPct val="100000"/>
              </a:lnSpc>
              <a:spcBef>
                <a:spcPts val="0"/>
              </a:spcBef>
              <a:spcAft>
                <a:spcPts val="0"/>
              </a:spcAft>
            </a:pPr>
            <a:r>
              <a:rPr sz="1050" b="0" i="1">
                <a:solidFill>
                  <a:srgbClr val="635D51"/>
                </a:solidFill>
                <a:latin typeface="Helvetica Neue"/>
              </a:rPr>
              <a:t>Real PE(pos, i) computed from the paper's formula, first 64 dims.</a:t>
            </a:r>
          </a:p>
        </p:txBody>
      </p:sp>
      <p:sp>
        <p:nvSpPr>
          <p:cNvPr id="17" name="TextBox 16"/>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35D51"/>
                </a:solidFill>
                <a:latin typeface="Helvetica Neue"/>
              </a:rPr>
              <a:t>Attention Is All You Need · Vaswani et al., NeurIPS 2017</a:t>
            </a:r>
          </a:p>
        </p:txBody>
      </p:sp>
      <p:sp>
        <p:nvSpPr>
          <p:cNvPr id="18" name="TextBox 17"/>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35D51"/>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220">
                <a:solidFill>
                  <a:srgbClr val="BE2A2F"/>
                </a:solidFill>
                <a:latin typeface="Menlo"/>
              </a:rPr>
              <a:t>WHY ATTENTION WINS</a:t>
            </a:r>
          </a:p>
        </p:txBody>
      </p:sp>
      <p:sp>
        <p:nvSpPr>
          <p:cNvPr id="4" name="TextBox 3"/>
          <p:cNvSpPr txBox="1"/>
          <p:nvPr/>
        </p:nvSpPr>
        <p:spPr>
          <a:xfrm>
            <a:off x="621792" y="76809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800" b="1" i="0">
                <a:solidFill>
                  <a:srgbClr val="182B3D"/>
                </a:solidFill>
                <a:latin typeface="Charter"/>
              </a:rPr>
              <a:t>Constant path length, and it parallelises</a:t>
            </a:r>
          </a:p>
        </p:txBody>
      </p:sp>
      <p:sp>
        <p:nvSpPr>
          <p:cNvPr id="5" name="Rectangle 4"/>
          <p:cNvSpPr/>
          <p:nvPr/>
        </p:nvSpPr>
        <p:spPr>
          <a:xfrm>
            <a:off x="640080" y="1463040"/>
            <a:ext cx="1005840" cy="27432"/>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40080" y="1572768"/>
          <a:ext cx="7955280" cy="1536192"/>
        </p:xfrm>
        <a:graphic>
          <a:graphicData uri="http://schemas.openxmlformats.org/drawingml/2006/table">
            <a:tbl>
              <a:tblPr firstRow="0" bandRow="0">
                <a:tableStyleId>{2D5ABB26-0587-4C30-8999-92F81FD0307C}</a:tableStyleId>
              </a:tblPr>
              <a:tblGrid>
                <a:gridCol w="2011680"/>
                <a:gridCol w="2286000"/>
                <a:gridCol w="1828800"/>
                <a:gridCol w="1828800"/>
              </a:tblGrid>
              <a:tr h="384048">
                <a:tc>
                  <a:txBody>
                    <a:bodyPr/>
                    <a:lstStyle/>
                    <a:p>
                      <a:pPr algn="l"/>
                      <a:r>
                        <a:rPr sz="1250" b="1" i="0">
                          <a:solidFill>
                            <a:srgbClr val="182B3D"/>
                          </a:solidFill>
                          <a:latin typeface="Helvetica Neue"/>
                        </a:rPr>
                        <a:t>Layer type</a:t>
                      </a:r>
                    </a:p>
                  </a:txBody>
                  <a:tcPr marL="88900" marR="88900" marT="25400" marB="25400" anchor="ctr">
                    <a:lnT w="17780" cap="flat" cmpd="sng" algn="ctr">
                      <a:solidFill>
                        <a:srgbClr val="182B3D"/>
                      </a:solidFill>
                    </a:lnT>
                    <a:lnB w="10160" cap="flat" cmpd="sng" algn="ctr">
                      <a:solidFill>
                        <a:srgbClr val="C4BDAF"/>
                      </a:solidFill>
                    </a:lnB>
                    <a:noFill/>
                  </a:tcPr>
                </a:tc>
                <a:tc>
                  <a:txBody>
                    <a:bodyPr/>
                    <a:lstStyle/>
                    <a:p>
                      <a:pPr algn="l"/>
                      <a:r>
                        <a:rPr sz="1250" b="1" i="0">
                          <a:solidFill>
                            <a:srgbClr val="182B3D"/>
                          </a:solidFill>
                          <a:latin typeface="Helvetica Neue"/>
                        </a:rPr>
                        <a:t>Complexity / layer</a:t>
                      </a:r>
                    </a:p>
                  </a:txBody>
                  <a:tcPr marL="88900" marR="88900" marT="25400" marB="25400" anchor="ctr">
                    <a:lnT w="17780" cap="flat" cmpd="sng" algn="ctr">
                      <a:solidFill>
                        <a:srgbClr val="182B3D"/>
                      </a:solidFill>
                    </a:lnT>
                    <a:lnB w="10160" cap="flat" cmpd="sng" algn="ctr">
                      <a:solidFill>
                        <a:srgbClr val="C4BDAF"/>
                      </a:solidFill>
                    </a:lnB>
                    <a:noFill/>
                  </a:tcPr>
                </a:tc>
                <a:tc>
                  <a:txBody>
                    <a:bodyPr/>
                    <a:lstStyle/>
                    <a:p>
                      <a:pPr algn="l"/>
                      <a:r>
                        <a:rPr sz="1250" b="1" i="0">
                          <a:solidFill>
                            <a:srgbClr val="182B3D"/>
                          </a:solidFill>
                          <a:latin typeface="Helvetica Neue"/>
                        </a:rPr>
                        <a:t>Sequential ops</a:t>
                      </a:r>
                    </a:p>
                  </a:txBody>
                  <a:tcPr marL="88900" marR="88900" marT="25400" marB="25400" anchor="ctr">
                    <a:lnT w="17780" cap="flat" cmpd="sng" algn="ctr">
                      <a:solidFill>
                        <a:srgbClr val="182B3D"/>
                      </a:solidFill>
                    </a:lnT>
                    <a:lnB w="10160" cap="flat" cmpd="sng" algn="ctr">
                      <a:solidFill>
                        <a:srgbClr val="C4BDAF"/>
                      </a:solidFill>
                    </a:lnB>
                    <a:noFill/>
                  </a:tcPr>
                </a:tc>
                <a:tc>
                  <a:txBody>
                    <a:bodyPr/>
                    <a:lstStyle/>
                    <a:p>
                      <a:pPr algn="l"/>
                      <a:r>
                        <a:rPr sz="1250" b="1" i="0">
                          <a:solidFill>
                            <a:srgbClr val="182B3D"/>
                          </a:solidFill>
                          <a:latin typeface="Helvetica Neue"/>
                        </a:rPr>
                        <a:t>Max path length</a:t>
                      </a:r>
                    </a:p>
                  </a:txBody>
                  <a:tcPr marL="88900" marR="88900" marT="25400" marB="25400" anchor="ctr">
                    <a:lnT w="17780" cap="flat" cmpd="sng" algn="ctr">
                      <a:solidFill>
                        <a:srgbClr val="182B3D"/>
                      </a:solidFill>
                    </a:lnT>
                    <a:lnB w="10160" cap="flat" cmpd="sng" algn="ctr">
                      <a:solidFill>
                        <a:srgbClr val="C4BDAF"/>
                      </a:solidFill>
                    </a:lnB>
                    <a:noFill/>
                  </a:tcPr>
                </a:tc>
              </a:tr>
              <a:tr h="384048">
                <a:tc>
                  <a:txBody>
                    <a:bodyPr/>
                    <a:lstStyle/>
                    <a:p>
                      <a:pPr algn="l"/>
                      <a:r>
                        <a:rPr sz="1250" b="0" i="0">
                          <a:solidFill>
                            <a:srgbClr val="3A4A55"/>
                          </a:solidFill>
                          <a:latin typeface="Helvetica Neue"/>
                        </a:rPr>
                        <a:t>Recurrent</a:t>
                      </a:r>
                    </a:p>
                  </a:txBody>
                  <a:tcPr marL="88900" marR="88900" marT="25400" marB="25400" anchor="ctr">
                    <a:noFill/>
                  </a:tcPr>
                </a:tc>
                <a:tc>
                  <a:txBody>
                    <a:bodyPr/>
                    <a:lstStyle/>
                    <a:p>
                      <a:pPr algn="l"/>
                      <a:r>
                        <a:rPr sz="1250" b="0" i="0">
                          <a:solidFill>
                            <a:srgbClr val="3A4A55"/>
                          </a:solidFill>
                          <a:latin typeface="Helvetica Neue"/>
                        </a:rPr>
                        <a:t>O(n · d²)</a:t>
                      </a:r>
                    </a:p>
                  </a:txBody>
                  <a:tcPr marL="88900" marR="88900" marT="25400" marB="25400" anchor="ctr">
                    <a:noFill/>
                  </a:tcPr>
                </a:tc>
                <a:tc>
                  <a:txBody>
                    <a:bodyPr/>
                    <a:lstStyle/>
                    <a:p>
                      <a:pPr algn="l"/>
                      <a:r>
                        <a:rPr sz="1250" b="0" i="0">
                          <a:solidFill>
                            <a:srgbClr val="3A4A55"/>
                          </a:solidFill>
                          <a:latin typeface="Helvetica Neue"/>
                        </a:rPr>
                        <a:t>O(n)</a:t>
                      </a:r>
                    </a:p>
                  </a:txBody>
                  <a:tcPr marL="88900" marR="88900" marT="25400" marB="25400" anchor="ctr">
                    <a:noFill/>
                  </a:tcPr>
                </a:tc>
                <a:tc>
                  <a:txBody>
                    <a:bodyPr/>
                    <a:lstStyle/>
                    <a:p>
                      <a:pPr algn="l"/>
                      <a:r>
                        <a:rPr sz="1250" b="0" i="0">
                          <a:solidFill>
                            <a:srgbClr val="3A4A55"/>
                          </a:solidFill>
                          <a:latin typeface="Helvetica Neue"/>
                        </a:rPr>
                        <a:t>O(n)</a:t>
                      </a:r>
                    </a:p>
                  </a:txBody>
                  <a:tcPr marL="88900" marR="88900" marT="25400" marB="25400" anchor="ctr">
                    <a:noFill/>
                  </a:tcPr>
                </a:tc>
              </a:tr>
              <a:tr h="384048">
                <a:tc>
                  <a:txBody>
                    <a:bodyPr/>
                    <a:lstStyle/>
                    <a:p>
                      <a:pPr algn="l"/>
                      <a:r>
                        <a:rPr sz="1250" b="0" i="0">
                          <a:solidFill>
                            <a:srgbClr val="3A4A55"/>
                          </a:solidFill>
                          <a:latin typeface="Helvetica Neue"/>
                        </a:rPr>
                        <a:t>Convolutional</a:t>
                      </a:r>
                    </a:p>
                  </a:txBody>
                  <a:tcPr marL="88900" marR="88900" marT="25400" marB="25400" anchor="ctr">
                    <a:noFill/>
                  </a:tcPr>
                </a:tc>
                <a:tc>
                  <a:txBody>
                    <a:bodyPr/>
                    <a:lstStyle/>
                    <a:p>
                      <a:pPr algn="l"/>
                      <a:r>
                        <a:rPr sz="1250" b="0" i="0">
                          <a:solidFill>
                            <a:srgbClr val="3A4A55"/>
                          </a:solidFill>
                          <a:latin typeface="Helvetica Neue"/>
                        </a:rPr>
                        <a:t>O(k · n · d²)</a:t>
                      </a:r>
                    </a:p>
                  </a:txBody>
                  <a:tcPr marL="88900" marR="88900" marT="25400" marB="25400" anchor="ctr">
                    <a:noFill/>
                  </a:tcPr>
                </a:tc>
                <a:tc>
                  <a:txBody>
                    <a:bodyPr/>
                    <a:lstStyle/>
                    <a:p>
                      <a:pPr algn="l"/>
                      <a:r>
                        <a:rPr sz="1250" b="0" i="0">
                          <a:solidFill>
                            <a:srgbClr val="3A4A55"/>
                          </a:solidFill>
                          <a:latin typeface="Helvetica Neue"/>
                        </a:rPr>
                        <a:t>O(1)</a:t>
                      </a:r>
                    </a:p>
                  </a:txBody>
                  <a:tcPr marL="88900" marR="88900" marT="25400" marB="25400" anchor="ctr">
                    <a:noFill/>
                  </a:tcPr>
                </a:tc>
                <a:tc>
                  <a:txBody>
                    <a:bodyPr/>
                    <a:lstStyle/>
                    <a:p>
                      <a:pPr algn="l"/>
                      <a:r>
                        <a:rPr sz="1250" b="0" i="0">
                          <a:solidFill>
                            <a:srgbClr val="3A4A55"/>
                          </a:solidFill>
                          <a:latin typeface="Helvetica Neue"/>
                        </a:rPr>
                        <a:t>O(logₖ n)</a:t>
                      </a:r>
                    </a:p>
                  </a:txBody>
                  <a:tcPr marL="88900" marR="88900" marT="25400" marB="25400" anchor="ctr">
                    <a:noFill/>
                  </a:tcPr>
                </a:tc>
              </a:tr>
              <a:tr h="384048">
                <a:tc>
                  <a:txBody>
                    <a:bodyPr/>
                    <a:lstStyle/>
                    <a:p>
                      <a:pPr algn="l"/>
                      <a:r>
                        <a:rPr sz="1250" b="0" i="0">
                          <a:solidFill>
                            <a:srgbClr val="3A4A55"/>
                          </a:solidFill>
                          <a:latin typeface="Helvetica Neue"/>
                        </a:rPr>
                        <a:t>Self-Attention</a:t>
                      </a:r>
                    </a:p>
                  </a:txBody>
                  <a:tcPr marL="88900" marR="88900" marT="25400" marB="25400" anchor="ctr">
                    <a:lnB w="17780" cap="flat" cmpd="sng" algn="ctr">
                      <a:solidFill>
                        <a:srgbClr val="182B3D"/>
                      </a:solidFill>
                    </a:lnB>
                    <a:noFill/>
                  </a:tcPr>
                </a:tc>
                <a:tc>
                  <a:txBody>
                    <a:bodyPr/>
                    <a:lstStyle/>
                    <a:p>
                      <a:pPr algn="l"/>
                      <a:r>
                        <a:rPr sz="1250" b="0" i="0">
                          <a:solidFill>
                            <a:srgbClr val="3A4A55"/>
                          </a:solidFill>
                          <a:latin typeface="Helvetica Neue"/>
                        </a:rPr>
                        <a:t>O(n² · d)</a:t>
                      </a:r>
                    </a:p>
                  </a:txBody>
                  <a:tcPr marL="88900" marR="88900" marT="25400" marB="25400" anchor="ctr">
                    <a:lnB w="17780" cap="flat" cmpd="sng" algn="ctr">
                      <a:solidFill>
                        <a:srgbClr val="182B3D"/>
                      </a:solidFill>
                    </a:lnB>
                    <a:noFill/>
                  </a:tcPr>
                </a:tc>
                <a:tc>
                  <a:txBody>
                    <a:bodyPr/>
                    <a:lstStyle/>
                    <a:p>
                      <a:pPr algn="l"/>
                      <a:r>
                        <a:rPr sz="1250" b="0" i="0">
                          <a:solidFill>
                            <a:srgbClr val="3A4A55"/>
                          </a:solidFill>
                          <a:latin typeface="Helvetica Neue"/>
                        </a:rPr>
                        <a:t>O(1)</a:t>
                      </a:r>
                    </a:p>
                  </a:txBody>
                  <a:tcPr marL="88900" marR="88900" marT="25400" marB="25400" anchor="ctr">
                    <a:lnB w="17780" cap="flat" cmpd="sng" algn="ctr">
                      <a:solidFill>
                        <a:srgbClr val="182B3D"/>
                      </a:solidFill>
                    </a:lnB>
                    <a:noFill/>
                  </a:tcPr>
                </a:tc>
                <a:tc>
                  <a:txBody>
                    <a:bodyPr/>
                    <a:lstStyle/>
                    <a:p>
                      <a:pPr algn="l"/>
                      <a:r>
                        <a:rPr sz="1250" b="0" i="0">
                          <a:solidFill>
                            <a:srgbClr val="3A4A55"/>
                          </a:solidFill>
                          <a:latin typeface="Helvetica Neue"/>
                        </a:rPr>
                        <a:t>O(1)</a:t>
                      </a:r>
                    </a:p>
                  </a:txBody>
                  <a:tcPr marL="88900" marR="88900" marT="25400" marB="25400" anchor="ctr">
                    <a:lnB w="17780" cap="flat" cmpd="sng" algn="ctr">
                      <a:solidFill>
                        <a:srgbClr val="182B3D"/>
                      </a:solidFill>
                    </a:lnB>
                    <a:noFill/>
                  </a:tcPr>
                </a:tc>
              </a:tr>
            </a:tbl>
          </a:graphicData>
        </a:graphic>
      </p:graphicFrame>
      <p:sp>
        <p:nvSpPr>
          <p:cNvPr id="7" name="TextBox 6"/>
          <p:cNvSpPr txBox="1"/>
          <p:nvPr/>
        </p:nvSpPr>
        <p:spPr>
          <a:xfrm>
            <a:off x="640080" y="3310128"/>
            <a:ext cx="7955279"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0" i="1">
                <a:solidFill>
                  <a:srgbClr val="182B3D"/>
                </a:solidFill>
                <a:latin typeface="Helvetica Neue"/>
              </a:rPr>
              <a:t>n</a:t>
            </a:r>
            <a:r>
              <a:rPr sz="1100" b="0" i="0">
                <a:solidFill>
                  <a:srgbClr val="635D51"/>
                </a:solidFill>
                <a:latin typeface="Helvetica Neue"/>
              </a:rPr>
              <a:t> = sequence length,  </a:t>
            </a:r>
            <a:r>
              <a:rPr sz="1100" b="0" i="1">
                <a:solidFill>
                  <a:srgbClr val="182B3D"/>
                </a:solidFill>
                <a:latin typeface="Helvetica Neue"/>
              </a:rPr>
              <a:t>d</a:t>
            </a:r>
            <a:r>
              <a:rPr sz="1100" b="0" i="0">
                <a:solidFill>
                  <a:srgbClr val="635D51"/>
                </a:solidFill>
                <a:latin typeface="Helvetica Neue"/>
              </a:rPr>
              <a:t> = representation dim,  </a:t>
            </a:r>
            <a:r>
              <a:rPr sz="1100" b="0" i="1">
                <a:solidFill>
                  <a:srgbClr val="182B3D"/>
                </a:solidFill>
                <a:latin typeface="Helvetica Neue"/>
              </a:rPr>
              <a:t>k</a:t>
            </a:r>
            <a:r>
              <a:rPr sz="1100" b="0" i="0">
                <a:solidFill>
                  <a:srgbClr val="635D51"/>
                </a:solidFill>
                <a:latin typeface="Helvetica Neue"/>
              </a:rPr>
              <a:t> = kernel width</a:t>
            </a:r>
          </a:p>
        </p:txBody>
      </p:sp>
      <p:sp>
        <p:nvSpPr>
          <p:cNvPr id="8" name="Rounded Rectangle 7"/>
          <p:cNvSpPr/>
          <p:nvPr/>
        </p:nvSpPr>
        <p:spPr>
          <a:xfrm>
            <a:off x="365760" y="3703320"/>
            <a:ext cx="2560319" cy="914400"/>
          </a:xfrm>
          <a:prstGeom prst="roundRect">
            <a:avLst>
              <a:gd name="adj" fmla="val 8000"/>
            </a:avLst>
          </a:prstGeom>
          <a:solidFill>
            <a:srgbClr val="FFFDF9"/>
          </a:solidFill>
          <a:ln w="12700">
            <a:solidFill>
              <a:srgbClr val="C4BD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arallel" title="Parallel"/>
          <p:cNvPicPr>
            <a:picLocks noChangeAspect="1"/>
          </p:cNvPicPr>
          <p:nvPr/>
        </p:nvPicPr>
        <p:blipFill>
          <a:blip r:embed="rId2"/>
          <a:stretch>
            <a:fillRect/>
          </a:stretch>
        </p:blipFill>
        <p:spPr>
          <a:xfrm>
            <a:off x="566928" y="3886200"/>
            <a:ext cx="310896" cy="310896"/>
          </a:xfrm>
          <a:prstGeom prst="rect">
            <a:avLst/>
          </a:prstGeom>
        </p:spPr>
      </p:pic>
      <p:sp>
        <p:nvSpPr>
          <p:cNvPr id="10" name="TextBox 9"/>
          <p:cNvSpPr txBox="1"/>
          <p:nvPr/>
        </p:nvSpPr>
        <p:spPr>
          <a:xfrm>
            <a:off x="987552" y="3849624"/>
            <a:ext cx="1783079"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00" b="1" i="0">
                <a:solidFill>
                  <a:srgbClr val="BE2A2F"/>
                </a:solidFill>
                <a:latin typeface="Helvetica Neue"/>
              </a:rPr>
              <a:t>Parallel</a:t>
            </a:r>
          </a:p>
        </p:txBody>
      </p:sp>
      <p:sp>
        <p:nvSpPr>
          <p:cNvPr id="11" name="TextBox 10"/>
          <p:cNvSpPr txBox="1"/>
          <p:nvPr/>
        </p:nvSpPr>
        <p:spPr>
          <a:xfrm>
            <a:off x="585216" y="4215383"/>
            <a:ext cx="2148839" cy="365760"/>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100" b="0" i="0">
                <a:solidFill>
                  <a:srgbClr val="3A4A55"/>
                </a:solidFill>
                <a:latin typeface="Helvetica Neue"/>
              </a:rPr>
              <a:t>O(1) sequential ops — the whole layer at once.</a:t>
            </a:r>
          </a:p>
        </p:txBody>
      </p:sp>
      <p:sp>
        <p:nvSpPr>
          <p:cNvPr id="12" name="Rounded Rectangle 11"/>
          <p:cNvSpPr/>
          <p:nvPr/>
        </p:nvSpPr>
        <p:spPr>
          <a:xfrm>
            <a:off x="3291839" y="3703320"/>
            <a:ext cx="2560319" cy="914400"/>
          </a:xfrm>
          <a:prstGeom prst="roundRect">
            <a:avLst>
              <a:gd name="adj" fmla="val 8000"/>
            </a:avLst>
          </a:prstGeom>
          <a:solidFill>
            <a:srgbClr val="FFFDF9"/>
          </a:solidFill>
          <a:ln w="12700">
            <a:solidFill>
              <a:srgbClr val="C4BD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hort paths" title="Short paths"/>
          <p:cNvPicPr>
            <a:picLocks noChangeAspect="1"/>
          </p:cNvPicPr>
          <p:nvPr/>
        </p:nvPicPr>
        <p:blipFill>
          <a:blip r:embed="rId3"/>
          <a:stretch>
            <a:fillRect/>
          </a:stretch>
        </p:blipFill>
        <p:spPr>
          <a:xfrm>
            <a:off x="3493007" y="3886200"/>
            <a:ext cx="310896" cy="310896"/>
          </a:xfrm>
          <a:prstGeom prst="rect">
            <a:avLst/>
          </a:prstGeom>
        </p:spPr>
      </p:pic>
      <p:sp>
        <p:nvSpPr>
          <p:cNvPr id="14" name="TextBox 13"/>
          <p:cNvSpPr txBox="1"/>
          <p:nvPr/>
        </p:nvSpPr>
        <p:spPr>
          <a:xfrm>
            <a:off x="3913631" y="3849624"/>
            <a:ext cx="1783079"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00" b="1" i="0">
                <a:solidFill>
                  <a:srgbClr val="096970"/>
                </a:solidFill>
                <a:latin typeface="Helvetica Neue"/>
              </a:rPr>
              <a:t>Short paths</a:t>
            </a:r>
          </a:p>
        </p:txBody>
      </p:sp>
      <p:sp>
        <p:nvSpPr>
          <p:cNvPr id="15" name="TextBox 14"/>
          <p:cNvSpPr txBox="1"/>
          <p:nvPr/>
        </p:nvSpPr>
        <p:spPr>
          <a:xfrm>
            <a:off x="3511295" y="4215383"/>
            <a:ext cx="2148839" cy="365760"/>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100" b="0" i="0">
                <a:solidFill>
                  <a:srgbClr val="3A4A55"/>
                </a:solidFill>
                <a:latin typeface="Helvetica Neue"/>
              </a:rPr>
              <a:t>Any two tokens, one hop — O(1) apart.</a:t>
            </a:r>
          </a:p>
        </p:txBody>
      </p:sp>
      <p:sp>
        <p:nvSpPr>
          <p:cNvPr id="16" name="Rounded Rectangle 15"/>
          <p:cNvSpPr/>
          <p:nvPr/>
        </p:nvSpPr>
        <p:spPr>
          <a:xfrm>
            <a:off x="6217919" y="3703320"/>
            <a:ext cx="2560319" cy="914400"/>
          </a:xfrm>
          <a:prstGeom prst="roundRect">
            <a:avLst>
              <a:gd name="adj" fmla="val 8000"/>
            </a:avLst>
          </a:prstGeom>
          <a:solidFill>
            <a:srgbClr val="FFFDF9"/>
          </a:solidFill>
          <a:ln w="12700">
            <a:solidFill>
              <a:srgbClr val="C4BD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nspectable" title="Inspectable"/>
          <p:cNvPicPr>
            <a:picLocks noChangeAspect="1"/>
          </p:cNvPicPr>
          <p:nvPr/>
        </p:nvPicPr>
        <p:blipFill>
          <a:blip r:embed="rId4"/>
          <a:stretch>
            <a:fillRect/>
          </a:stretch>
        </p:blipFill>
        <p:spPr>
          <a:xfrm>
            <a:off x="6419087" y="3886200"/>
            <a:ext cx="310896" cy="310896"/>
          </a:xfrm>
          <a:prstGeom prst="rect">
            <a:avLst/>
          </a:prstGeom>
        </p:spPr>
      </p:pic>
      <p:sp>
        <p:nvSpPr>
          <p:cNvPr id="18" name="TextBox 17"/>
          <p:cNvSpPr txBox="1"/>
          <p:nvPr/>
        </p:nvSpPr>
        <p:spPr>
          <a:xfrm>
            <a:off x="6839711" y="3849624"/>
            <a:ext cx="1783079"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00" b="1" i="0">
                <a:solidFill>
                  <a:srgbClr val="37678F"/>
                </a:solidFill>
                <a:latin typeface="Helvetica Neue"/>
              </a:rPr>
              <a:t>Inspectable</a:t>
            </a:r>
          </a:p>
        </p:txBody>
      </p:sp>
      <p:sp>
        <p:nvSpPr>
          <p:cNvPr id="19" name="TextBox 18"/>
          <p:cNvSpPr txBox="1"/>
          <p:nvPr/>
        </p:nvSpPr>
        <p:spPr>
          <a:xfrm>
            <a:off x="6437375" y="4215383"/>
            <a:ext cx="2148839" cy="365760"/>
          </a:xfrm>
          <a:prstGeom prst="rect">
            <a:avLst/>
          </a:prstGeom>
          <a:noFill/>
          <a:ln/>
        </p:spPr>
        <p:txBody>
          <a:bodyPr wrap="square" anchor="t" lIns="25400" rIns="25400" tIns="25400" bIns="25400">
            <a:spAutoFit/>
          </a:bodyPr>
          <a:lstStyle/>
          <a:p>
            <a:pPr algn="l">
              <a:lnSpc>
                <a:spcPct val="108000"/>
              </a:lnSpc>
              <a:spcBef>
                <a:spcPts val="0"/>
              </a:spcBef>
              <a:spcAft>
                <a:spcPts val="0"/>
              </a:spcAft>
            </a:pPr>
            <a:r>
              <a:rPr sz="1100" b="0" i="0">
                <a:solidFill>
                  <a:srgbClr val="3A4A55"/>
                </a:solidFill>
                <a:latin typeface="Helvetica Neue"/>
              </a:rPr>
              <a:t>Attention weights show what the model looked at.</a:t>
            </a:r>
          </a:p>
        </p:txBody>
      </p:sp>
      <p:sp>
        <p:nvSpPr>
          <p:cNvPr id="20" name="TextBox 19"/>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35D51"/>
                </a:solidFill>
                <a:latin typeface="Helvetica Neue"/>
              </a:rPr>
              <a:t>Attention Is All You Need · Vaswani et al., NeurIPS 2017</a:t>
            </a:r>
          </a:p>
        </p:txBody>
      </p:sp>
      <p:sp>
        <p:nvSpPr>
          <p:cNvPr id="21" name="TextBox 20"/>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35D51"/>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220">
                <a:solidFill>
                  <a:srgbClr val="BE2A2F"/>
                </a:solidFill>
                <a:latin typeface="Menlo"/>
              </a:rPr>
              <a:t>RESULTS</a:t>
            </a:r>
          </a:p>
        </p:txBody>
      </p:sp>
      <p:sp>
        <p:nvSpPr>
          <p:cNvPr id="4" name="TextBox 3"/>
          <p:cNvSpPr txBox="1"/>
          <p:nvPr/>
        </p:nvSpPr>
        <p:spPr>
          <a:xfrm>
            <a:off x="621792" y="76809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800" b="1" i="0">
                <a:solidFill>
                  <a:srgbClr val="182B3D"/>
                </a:solidFill>
                <a:latin typeface="Charter"/>
              </a:rPr>
              <a:t>New state of the art — for a fraction of the cost</a:t>
            </a:r>
          </a:p>
        </p:txBody>
      </p:sp>
      <p:sp>
        <p:nvSpPr>
          <p:cNvPr id="5" name="Rectangle 4"/>
          <p:cNvSpPr/>
          <p:nvPr/>
        </p:nvSpPr>
        <p:spPr>
          <a:xfrm>
            <a:off x="640080" y="1463040"/>
            <a:ext cx="1005840" cy="27432"/>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572768"/>
            <a:ext cx="2331720" cy="1755648"/>
          </a:xfrm>
          <a:prstGeom prst="roundRect">
            <a:avLst>
              <a:gd name="adj" fmla="val 8000"/>
            </a:avLst>
          </a:prstGeom>
          <a:solidFill>
            <a:srgbClr val="FFFDF9"/>
          </a:solidFill>
          <a:ln w="12700">
            <a:solidFill>
              <a:srgbClr val="C4BD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572768"/>
            <a:ext cx="2331720" cy="82296"/>
          </a:xfrm>
          <a:prstGeom prst="roundRect">
            <a:avLst>
              <a:gd name="adj" fmla="val 8000"/>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810512"/>
            <a:ext cx="192024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4600" b="1" i="0">
                <a:solidFill>
                  <a:srgbClr val="E5484D"/>
                </a:solidFill>
                <a:latin typeface="Helvetica Neue"/>
              </a:rPr>
              <a:t>28.4</a:t>
            </a:r>
          </a:p>
        </p:txBody>
      </p:sp>
      <p:sp>
        <p:nvSpPr>
          <p:cNvPr id="9" name="TextBox 8"/>
          <p:cNvSpPr txBox="1"/>
          <p:nvPr/>
        </p:nvSpPr>
        <p:spPr>
          <a:xfrm>
            <a:off x="886968" y="2596896"/>
            <a:ext cx="19659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635D51"/>
                </a:solidFill>
                <a:latin typeface="Helvetica Neue"/>
              </a:rPr>
              <a:t>BLEU</a:t>
            </a:r>
          </a:p>
        </p:txBody>
      </p:sp>
      <p:sp>
        <p:nvSpPr>
          <p:cNvPr id="10" name="TextBox 9"/>
          <p:cNvSpPr txBox="1"/>
          <p:nvPr/>
        </p:nvSpPr>
        <p:spPr>
          <a:xfrm>
            <a:off x="859536" y="2852928"/>
            <a:ext cx="1965960"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182B3D"/>
                </a:solidFill>
                <a:latin typeface="Helvetica Neue"/>
              </a:rPr>
              <a:t>WMT'14 English→German</a:t>
            </a:r>
          </a:p>
        </p:txBody>
      </p:sp>
      <p:sp>
        <p:nvSpPr>
          <p:cNvPr id="11" name="TextBox 10"/>
          <p:cNvSpPr txBox="1"/>
          <p:nvPr/>
        </p:nvSpPr>
        <p:spPr>
          <a:xfrm>
            <a:off x="859536" y="3108960"/>
            <a:ext cx="1965960"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1">
                <a:solidFill>
                  <a:srgbClr val="3A4A55"/>
                </a:solidFill>
                <a:latin typeface="Helvetica Neue"/>
              </a:rPr>
              <a:t>+2.0 BLEU vs previous best</a:t>
            </a:r>
          </a:p>
        </p:txBody>
      </p:sp>
      <p:sp>
        <p:nvSpPr>
          <p:cNvPr id="12" name="Rounded Rectangle 11"/>
          <p:cNvSpPr/>
          <p:nvPr/>
        </p:nvSpPr>
        <p:spPr>
          <a:xfrm>
            <a:off x="3246120" y="1572768"/>
            <a:ext cx="2331720" cy="1755648"/>
          </a:xfrm>
          <a:prstGeom prst="roundRect">
            <a:avLst>
              <a:gd name="adj" fmla="val 8000"/>
            </a:avLst>
          </a:prstGeom>
          <a:solidFill>
            <a:srgbClr val="FFFDF9"/>
          </a:solidFill>
          <a:ln w="12700">
            <a:solidFill>
              <a:srgbClr val="C4BD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246120" y="1572768"/>
            <a:ext cx="2331720" cy="82296"/>
          </a:xfrm>
          <a:prstGeom prst="roundRect">
            <a:avLst>
              <a:gd name="adj" fmla="val 8000"/>
            </a:avLst>
          </a:prstGeom>
          <a:solidFill>
            <a:srgbClr val="0E8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65576" y="1810512"/>
            <a:ext cx="192024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4600" b="1" i="0">
                <a:solidFill>
                  <a:srgbClr val="0E8B93"/>
                </a:solidFill>
                <a:latin typeface="Helvetica Neue"/>
              </a:rPr>
              <a:t>41.8</a:t>
            </a:r>
          </a:p>
        </p:txBody>
      </p:sp>
      <p:sp>
        <p:nvSpPr>
          <p:cNvPr id="15" name="TextBox 14"/>
          <p:cNvSpPr txBox="1"/>
          <p:nvPr/>
        </p:nvSpPr>
        <p:spPr>
          <a:xfrm>
            <a:off x="3493008" y="2596896"/>
            <a:ext cx="19659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00" b="0" i="0">
                <a:solidFill>
                  <a:srgbClr val="635D51"/>
                </a:solidFill>
                <a:latin typeface="Helvetica Neue"/>
              </a:rPr>
              <a:t>BLEU</a:t>
            </a:r>
          </a:p>
        </p:txBody>
      </p:sp>
      <p:sp>
        <p:nvSpPr>
          <p:cNvPr id="16" name="TextBox 15"/>
          <p:cNvSpPr txBox="1"/>
          <p:nvPr/>
        </p:nvSpPr>
        <p:spPr>
          <a:xfrm>
            <a:off x="3465576" y="2852928"/>
            <a:ext cx="1965960"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50" b="1" i="0">
                <a:solidFill>
                  <a:srgbClr val="182B3D"/>
                </a:solidFill>
                <a:latin typeface="Helvetica Neue"/>
              </a:rPr>
              <a:t>WMT'14 English→French</a:t>
            </a:r>
          </a:p>
        </p:txBody>
      </p:sp>
      <p:sp>
        <p:nvSpPr>
          <p:cNvPr id="17" name="TextBox 16"/>
          <p:cNvSpPr txBox="1"/>
          <p:nvPr/>
        </p:nvSpPr>
        <p:spPr>
          <a:xfrm>
            <a:off x="3465576" y="3108960"/>
            <a:ext cx="1965960"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1">
                <a:solidFill>
                  <a:srgbClr val="3A4A55"/>
                </a:solidFill>
                <a:latin typeface="Helvetica Neue"/>
              </a:rPr>
              <a:t>new single-model record</a:t>
            </a:r>
          </a:p>
        </p:txBody>
      </p:sp>
      <p:graphicFrame>
        <p:nvGraphicFramePr>
          <p:cNvPr id="18" name="Table 17"/>
          <p:cNvGraphicFramePr>
            <a:graphicFrameLocks noGrp="1"/>
          </p:cNvGraphicFramePr>
          <p:nvPr/>
        </p:nvGraphicFramePr>
        <p:xfrm>
          <a:off x="5806440" y="1572768"/>
          <a:ext cx="2788920" cy="1682496"/>
        </p:xfrm>
        <a:graphic>
          <a:graphicData uri="http://schemas.openxmlformats.org/drawingml/2006/table">
            <a:tbl>
              <a:tblPr firstRow="0" bandRow="0">
                <a:tableStyleId>{2D5ABB26-0587-4C30-8999-92F81FD0307C}</a:tableStyleId>
              </a:tblPr>
              <a:tblGrid>
                <a:gridCol w="1600200"/>
                <a:gridCol w="594360"/>
                <a:gridCol w="594360"/>
              </a:tblGrid>
              <a:tr h="420624">
                <a:tc>
                  <a:txBody>
                    <a:bodyPr/>
                    <a:lstStyle/>
                    <a:p>
                      <a:pPr algn="l"/>
                      <a:r>
                        <a:rPr sz="1150" b="1" i="0">
                          <a:solidFill>
                            <a:srgbClr val="182B3D"/>
                          </a:solidFill>
                          <a:latin typeface="Helvetica Neue"/>
                        </a:rPr>
                        <a:t>Model</a:t>
                      </a:r>
                    </a:p>
                  </a:txBody>
                  <a:tcPr marL="88900" marR="88900" marT="25400" marB="25400" anchor="ctr">
                    <a:lnT w="17780" cap="flat" cmpd="sng" algn="ctr">
                      <a:solidFill>
                        <a:srgbClr val="182B3D"/>
                      </a:solidFill>
                    </a:lnT>
                    <a:lnB w="10160" cap="flat" cmpd="sng" algn="ctr">
                      <a:solidFill>
                        <a:srgbClr val="C4BDAF"/>
                      </a:solidFill>
                    </a:lnB>
                    <a:noFill/>
                  </a:tcPr>
                </a:tc>
                <a:tc>
                  <a:txBody>
                    <a:bodyPr/>
                    <a:lstStyle/>
                    <a:p>
                      <a:pPr algn="l"/>
                      <a:r>
                        <a:rPr sz="1150" b="1" i="0">
                          <a:solidFill>
                            <a:srgbClr val="182B3D"/>
                          </a:solidFill>
                          <a:latin typeface="Helvetica Neue"/>
                        </a:rPr>
                        <a:t>DE</a:t>
                      </a:r>
                    </a:p>
                  </a:txBody>
                  <a:tcPr marL="88900" marR="88900" marT="25400" marB="25400" anchor="ctr">
                    <a:lnT w="17780" cap="flat" cmpd="sng" algn="ctr">
                      <a:solidFill>
                        <a:srgbClr val="182B3D"/>
                      </a:solidFill>
                    </a:lnT>
                    <a:lnB w="10160" cap="flat" cmpd="sng" algn="ctr">
                      <a:solidFill>
                        <a:srgbClr val="C4BDAF"/>
                      </a:solidFill>
                    </a:lnB>
                    <a:noFill/>
                  </a:tcPr>
                </a:tc>
                <a:tc>
                  <a:txBody>
                    <a:bodyPr/>
                    <a:lstStyle/>
                    <a:p>
                      <a:pPr algn="l"/>
                      <a:r>
                        <a:rPr sz="1150" b="1" i="0">
                          <a:solidFill>
                            <a:srgbClr val="182B3D"/>
                          </a:solidFill>
                          <a:latin typeface="Helvetica Neue"/>
                        </a:rPr>
                        <a:t>FR</a:t>
                      </a:r>
                    </a:p>
                  </a:txBody>
                  <a:tcPr marL="88900" marR="88900" marT="25400" marB="25400" anchor="ctr">
                    <a:lnT w="17780" cap="flat" cmpd="sng" algn="ctr">
                      <a:solidFill>
                        <a:srgbClr val="182B3D"/>
                      </a:solidFill>
                    </a:lnT>
                    <a:lnB w="10160" cap="flat" cmpd="sng" algn="ctr">
                      <a:solidFill>
                        <a:srgbClr val="C4BDAF"/>
                      </a:solidFill>
                    </a:lnB>
                    <a:noFill/>
                  </a:tcPr>
                </a:tc>
              </a:tr>
              <a:tr h="420624">
                <a:tc>
                  <a:txBody>
                    <a:bodyPr/>
                    <a:lstStyle/>
                    <a:p>
                      <a:pPr algn="l"/>
                      <a:r>
                        <a:rPr sz="1150" b="0" i="0">
                          <a:solidFill>
                            <a:srgbClr val="3A4A55"/>
                          </a:solidFill>
                          <a:latin typeface="Helvetica Neue"/>
                        </a:rPr>
                        <a:t>ConvS2S (ens.)</a:t>
                      </a:r>
                    </a:p>
                  </a:txBody>
                  <a:tcPr marL="88900" marR="88900" marT="25400" marB="25400" anchor="ctr">
                    <a:noFill/>
                  </a:tcPr>
                </a:tc>
                <a:tc>
                  <a:txBody>
                    <a:bodyPr/>
                    <a:lstStyle/>
                    <a:p>
                      <a:pPr algn="l"/>
                      <a:r>
                        <a:rPr sz="1150" b="0" i="0">
                          <a:solidFill>
                            <a:srgbClr val="3A4A55"/>
                          </a:solidFill>
                          <a:latin typeface="Helvetica Neue"/>
                        </a:rPr>
                        <a:t>26.4</a:t>
                      </a:r>
                    </a:p>
                  </a:txBody>
                  <a:tcPr marL="88900" marR="88900" marT="25400" marB="25400" anchor="ctr">
                    <a:noFill/>
                  </a:tcPr>
                </a:tc>
                <a:tc>
                  <a:txBody>
                    <a:bodyPr/>
                    <a:lstStyle/>
                    <a:p>
                      <a:pPr algn="l"/>
                      <a:r>
                        <a:rPr sz="1150" b="0" i="0">
                          <a:solidFill>
                            <a:srgbClr val="3A4A55"/>
                          </a:solidFill>
                          <a:latin typeface="Helvetica Neue"/>
                        </a:rPr>
                        <a:t>41.3</a:t>
                      </a:r>
                    </a:p>
                  </a:txBody>
                  <a:tcPr marL="88900" marR="88900" marT="25400" marB="25400" anchor="ctr">
                    <a:noFill/>
                  </a:tcPr>
                </a:tc>
              </a:tr>
              <a:tr h="420624">
                <a:tc>
                  <a:txBody>
                    <a:bodyPr/>
                    <a:lstStyle/>
                    <a:p>
                      <a:pPr algn="l"/>
                      <a:r>
                        <a:rPr sz="1150" b="0" i="0">
                          <a:solidFill>
                            <a:srgbClr val="3A4A55"/>
                          </a:solidFill>
                          <a:latin typeface="Helvetica Neue"/>
                        </a:rPr>
                        <a:t>GNMT+RL (ens.)</a:t>
                      </a:r>
                    </a:p>
                  </a:txBody>
                  <a:tcPr marL="88900" marR="88900" marT="25400" marB="25400" anchor="ctr">
                    <a:noFill/>
                  </a:tcPr>
                </a:tc>
                <a:tc>
                  <a:txBody>
                    <a:bodyPr/>
                    <a:lstStyle/>
                    <a:p>
                      <a:pPr algn="l"/>
                      <a:r>
                        <a:rPr sz="1150" b="0" i="0">
                          <a:solidFill>
                            <a:srgbClr val="3A4A55"/>
                          </a:solidFill>
                          <a:latin typeface="Helvetica Neue"/>
                        </a:rPr>
                        <a:t>26.3</a:t>
                      </a:r>
                    </a:p>
                  </a:txBody>
                  <a:tcPr marL="88900" marR="88900" marT="25400" marB="25400" anchor="ctr">
                    <a:noFill/>
                  </a:tcPr>
                </a:tc>
                <a:tc>
                  <a:txBody>
                    <a:bodyPr/>
                    <a:lstStyle/>
                    <a:p>
                      <a:pPr algn="l"/>
                      <a:r>
                        <a:rPr sz="1150" b="0" i="0">
                          <a:solidFill>
                            <a:srgbClr val="3A4A55"/>
                          </a:solidFill>
                          <a:latin typeface="Helvetica Neue"/>
                        </a:rPr>
                        <a:t>41.2</a:t>
                      </a:r>
                    </a:p>
                  </a:txBody>
                  <a:tcPr marL="88900" marR="88900" marT="25400" marB="25400" anchor="ctr">
                    <a:noFill/>
                  </a:tcPr>
                </a:tc>
              </a:tr>
              <a:tr h="420624">
                <a:tc>
                  <a:txBody>
                    <a:bodyPr/>
                    <a:lstStyle/>
                    <a:p>
                      <a:pPr algn="l"/>
                      <a:r>
                        <a:rPr sz="1150" b="0" i="0">
                          <a:solidFill>
                            <a:srgbClr val="3A4A55"/>
                          </a:solidFill>
                          <a:latin typeface="Helvetica Neue"/>
                        </a:rPr>
                        <a:t>Transformer (big)</a:t>
                      </a:r>
                    </a:p>
                  </a:txBody>
                  <a:tcPr marL="88900" marR="88900" marT="25400" marB="25400" anchor="ctr">
                    <a:lnB w="17780" cap="flat" cmpd="sng" algn="ctr">
                      <a:solidFill>
                        <a:srgbClr val="182B3D"/>
                      </a:solidFill>
                    </a:lnB>
                    <a:noFill/>
                  </a:tcPr>
                </a:tc>
                <a:tc>
                  <a:txBody>
                    <a:bodyPr/>
                    <a:lstStyle/>
                    <a:p>
                      <a:pPr algn="l"/>
                      <a:r>
                        <a:rPr sz="1150" b="0" i="0">
                          <a:solidFill>
                            <a:srgbClr val="3A4A55"/>
                          </a:solidFill>
                          <a:latin typeface="Helvetica Neue"/>
                        </a:rPr>
                        <a:t>28.4</a:t>
                      </a:r>
                    </a:p>
                  </a:txBody>
                  <a:tcPr marL="88900" marR="88900" marT="25400" marB="25400" anchor="ctr">
                    <a:lnB w="17780" cap="flat" cmpd="sng" algn="ctr">
                      <a:solidFill>
                        <a:srgbClr val="182B3D"/>
                      </a:solidFill>
                    </a:lnB>
                    <a:noFill/>
                  </a:tcPr>
                </a:tc>
                <a:tc>
                  <a:txBody>
                    <a:bodyPr/>
                    <a:lstStyle/>
                    <a:p>
                      <a:pPr algn="l"/>
                      <a:r>
                        <a:rPr sz="1150" b="0" i="0">
                          <a:solidFill>
                            <a:srgbClr val="3A4A55"/>
                          </a:solidFill>
                          <a:latin typeface="Helvetica Neue"/>
                        </a:rPr>
                        <a:t>41.8</a:t>
                      </a:r>
                    </a:p>
                  </a:txBody>
                  <a:tcPr marL="88900" marR="88900" marT="25400" marB="25400" anchor="ctr">
                    <a:lnB w="17780" cap="flat" cmpd="sng" algn="ctr">
                      <a:solidFill>
                        <a:srgbClr val="182B3D"/>
                      </a:solidFill>
                    </a:lnB>
                    <a:noFill/>
                  </a:tcPr>
                </a:tc>
              </a:tr>
            </a:tbl>
          </a:graphicData>
        </a:graphic>
      </p:graphicFrame>
      <p:sp>
        <p:nvSpPr>
          <p:cNvPr id="19" name="TextBox 18"/>
          <p:cNvSpPr txBox="1"/>
          <p:nvPr/>
        </p:nvSpPr>
        <p:spPr>
          <a:xfrm>
            <a:off x="5806440" y="3310128"/>
            <a:ext cx="2788920" cy="237744"/>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0" i="1">
                <a:solidFill>
                  <a:srgbClr val="635D51"/>
                </a:solidFill>
                <a:latin typeface="Helvetica Neue"/>
              </a:rPr>
              <a:t>BLEU on WMT'14 test sets</a:t>
            </a:r>
          </a:p>
        </p:txBody>
      </p:sp>
      <p:sp>
        <p:nvSpPr>
          <p:cNvPr id="20" name="Rounded Rectangle 19"/>
          <p:cNvSpPr/>
          <p:nvPr/>
        </p:nvSpPr>
        <p:spPr>
          <a:xfrm>
            <a:off x="640080" y="3767328"/>
            <a:ext cx="7955279" cy="603504"/>
          </a:xfrm>
          <a:prstGeom prst="roundRect">
            <a:avLst>
              <a:gd name="adj" fmla="val 8000"/>
            </a:avLst>
          </a:prstGeom>
          <a:solidFill>
            <a:srgbClr val="F0E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3858768"/>
            <a:ext cx="54864" cy="420624"/>
          </a:xfrm>
          <a:prstGeom prst="rect">
            <a:avLst/>
          </a:prstGeom>
          <a:solidFill>
            <a:srgbClr val="BE2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767328"/>
            <a:ext cx="7498079" cy="603504"/>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100" b="1" i="0">
                <a:solidFill>
                  <a:srgbClr val="BE2A2F"/>
                </a:solidFill>
                <a:latin typeface="Helvetica Neue"/>
              </a:rPr>
              <a:t>TRAINING COST   </a:t>
            </a:r>
            <a:r>
              <a:rPr sz="1350" b="0" i="0">
                <a:solidFill>
                  <a:srgbClr val="182B3D"/>
                </a:solidFill>
                <a:latin typeface="Helvetica Neue"/>
              </a:rPr>
              <a:t>Trained in 3.5 days on 8 NVIDIA P100 GPUs — well under a quarter of the compute of the previous best models.</a:t>
            </a:r>
          </a:p>
        </p:txBody>
      </p:sp>
      <p:sp>
        <p:nvSpPr>
          <p:cNvPr id="23" name="TextBox 22"/>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35D51"/>
                </a:solidFill>
                <a:latin typeface="Helvetica Neue"/>
              </a:rPr>
              <a:t>Attention Is All You Need · Vaswani et al., NeurIPS 2017</a:t>
            </a:r>
          </a:p>
        </p:txBody>
      </p:sp>
      <p:sp>
        <p:nvSpPr>
          <p:cNvPr id="24" name="TextBox 23"/>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35D51"/>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66928"/>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spc="220">
                <a:solidFill>
                  <a:srgbClr val="BE2A2F"/>
                </a:solidFill>
                <a:latin typeface="Menlo"/>
              </a:rPr>
              <a:t>LIMITATIONS &amp; LEGACY</a:t>
            </a:r>
          </a:p>
        </p:txBody>
      </p:sp>
      <p:sp>
        <p:nvSpPr>
          <p:cNvPr id="4" name="TextBox 3"/>
          <p:cNvSpPr txBox="1"/>
          <p:nvPr/>
        </p:nvSpPr>
        <p:spPr>
          <a:xfrm>
            <a:off x="621792" y="76809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800" b="1" i="0">
                <a:solidFill>
                  <a:srgbClr val="182B3D"/>
                </a:solidFill>
                <a:latin typeface="Charter"/>
              </a:rPr>
              <a:t>The catch — and what was built on top</a:t>
            </a:r>
          </a:p>
        </p:txBody>
      </p:sp>
      <p:sp>
        <p:nvSpPr>
          <p:cNvPr id="5" name="Rectangle 4"/>
          <p:cNvSpPr/>
          <p:nvPr/>
        </p:nvSpPr>
        <p:spPr>
          <a:xfrm>
            <a:off x="640080" y="1463040"/>
            <a:ext cx="1005840" cy="27432"/>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600200"/>
            <a:ext cx="4023359"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00" b="1" i="0">
                <a:solidFill>
                  <a:srgbClr val="37678F"/>
                </a:solidFill>
                <a:latin typeface="Helvetica Neue"/>
              </a:rPr>
              <a:t>The limitation</a:t>
            </a:r>
          </a:p>
        </p:txBody>
      </p:sp>
      <p:sp>
        <p:nvSpPr>
          <p:cNvPr id="7" name="Rectangle 6"/>
          <p:cNvSpPr/>
          <p:nvPr/>
        </p:nvSpPr>
        <p:spPr>
          <a:xfrm>
            <a:off x="365760" y="2048255"/>
            <a:ext cx="82296" cy="82296"/>
          </a:xfrm>
          <a:prstGeom prst="rect">
            <a:avLst/>
          </a:prstGeom>
          <a:solidFill>
            <a:srgbClr val="3767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965960"/>
            <a:ext cx="3822191"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200" b="1" i="0">
                <a:solidFill>
                  <a:srgbClr val="132435"/>
                </a:solidFill>
                <a:latin typeface="Helvetica Neue"/>
              </a:rPr>
              <a:t>Quadratic cost — </a:t>
            </a:r>
            <a:r>
              <a:rPr sz="1200" b="0" i="0">
                <a:solidFill>
                  <a:srgbClr val="3A4A55"/>
                </a:solidFill>
                <a:latin typeface="Helvetica Neue"/>
              </a:rPr>
              <a:t>O(n²) in sequence length; long inputs get expensive</a:t>
            </a:r>
          </a:p>
        </p:txBody>
      </p:sp>
      <p:sp>
        <p:nvSpPr>
          <p:cNvPr id="9" name="Rectangle 8"/>
          <p:cNvSpPr/>
          <p:nvPr/>
        </p:nvSpPr>
        <p:spPr>
          <a:xfrm>
            <a:off x="365760" y="2663952"/>
            <a:ext cx="82296" cy="82296"/>
          </a:xfrm>
          <a:prstGeom prst="rect">
            <a:avLst/>
          </a:prstGeom>
          <a:solidFill>
            <a:srgbClr val="3767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581656"/>
            <a:ext cx="3822191"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200" b="1" i="0">
                <a:solidFill>
                  <a:srgbClr val="132435"/>
                </a:solidFill>
                <a:latin typeface="Helvetica Neue"/>
              </a:rPr>
              <a:t>Fixed context — </a:t>
            </a:r>
            <a:r>
              <a:rPr sz="1200" b="0" i="0">
                <a:solidFill>
                  <a:srgbClr val="3A4A55"/>
                </a:solidFill>
                <a:latin typeface="Helvetica Neue"/>
              </a:rPr>
              <a:t>every token attends to every other; the window is bounded</a:t>
            </a:r>
          </a:p>
        </p:txBody>
      </p:sp>
      <p:sp>
        <p:nvSpPr>
          <p:cNvPr id="11" name="Rectangle 10"/>
          <p:cNvSpPr/>
          <p:nvPr/>
        </p:nvSpPr>
        <p:spPr>
          <a:xfrm>
            <a:off x="365760" y="3279648"/>
            <a:ext cx="82296" cy="82296"/>
          </a:xfrm>
          <a:prstGeom prst="rect">
            <a:avLst/>
          </a:prstGeom>
          <a:solidFill>
            <a:srgbClr val="3767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197352"/>
            <a:ext cx="3822191"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200" b="1" i="0">
                <a:solidFill>
                  <a:srgbClr val="132435"/>
                </a:solidFill>
                <a:latin typeface="Helvetica Neue"/>
              </a:rPr>
              <a:t>Hand-designed positions — </a:t>
            </a:r>
            <a:r>
              <a:rPr sz="1200" b="0" i="0">
                <a:solidFill>
                  <a:srgbClr val="3A4A55"/>
                </a:solidFill>
                <a:latin typeface="Helvetica Neue"/>
              </a:rPr>
              <a:t>learned embeddings did about as well; sinusoids aid length extrapolation</a:t>
            </a:r>
          </a:p>
        </p:txBody>
      </p:sp>
      <p:sp>
        <p:nvSpPr>
          <p:cNvPr id="13" name="Rounded Rectangle 12"/>
          <p:cNvSpPr/>
          <p:nvPr/>
        </p:nvSpPr>
        <p:spPr>
          <a:xfrm>
            <a:off x="365760" y="4087368"/>
            <a:ext cx="4023359" cy="548640"/>
          </a:xfrm>
          <a:prstGeom prst="roundRect">
            <a:avLst>
              <a:gd name="adj" fmla="val 8000"/>
            </a:avLst>
          </a:prstGeom>
          <a:solidFill>
            <a:srgbClr val="DFE7EE"/>
          </a:solidFill>
          <a:ln w="12700">
            <a:solidFill>
              <a:srgbClr val="3767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4087368"/>
            <a:ext cx="3621023" cy="548640"/>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100" b="0" i="1">
                <a:solidFill>
                  <a:srgbClr val="182B3D"/>
                </a:solidFill>
                <a:latin typeface="Helvetica Neue"/>
              </a:rPr>
              <a:t>The paper itself suggests restricting attention to a local neighbourhood for very long sequences.</a:t>
            </a:r>
          </a:p>
        </p:txBody>
      </p:sp>
      <p:sp>
        <p:nvSpPr>
          <p:cNvPr id="15" name="TextBox 14"/>
          <p:cNvSpPr txBox="1"/>
          <p:nvPr/>
        </p:nvSpPr>
        <p:spPr>
          <a:xfrm>
            <a:off x="4754880" y="1600200"/>
            <a:ext cx="4023359"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500" b="1" i="0">
                <a:solidFill>
                  <a:srgbClr val="BE2A2F"/>
                </a:solidFill>
                <a:latin typeface="Helvetica Neue"/>
              </a:rPr>
              <a:t>What came next</a:t>
            </a:r>
            <a:r>
              <a:rPr sz="1200" b="0" i="1">
                <a:solidFill>
                  <a:srgbClr val="3A4A55"/>
                </a:solidFill>
                <a:latin typeface="Helvetica Neue"/>
              </a:rPr>
              <a:t> — built on this</a:t>
            </a:r>
          </a:p>
        </p:txBody>
      </p:sp>
      <p:sp>
        <p:nvSpPr>
          <p:cNvPr id="16" name="Rounded Rectangle 15"/>
          <p:cNvSpPr/>
          <p:nvPr/>
        </p:nvSpPr>
        <p:spPr>
          <a:xfrm>
            <a:off x="4754880" y="2057400"/>
            <a:ext cx="4023359" cy="512064"/>
          </a:xfrm>
          <a:prstGeom prst="roundRect">
            <a:avLst>
              <a:gd name="adj" fmla="val 8000"/>
            </a:avLst>
          </a:prstGeom>
          <a:solidFill>
            <a:srgbClr val="FFFDF9"/>
          </a:solidFill>
          <a:ln w="12700">
            <a:solidFill>
              <a:srgbClr val="C4BD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754880" y="2057400"/>
            <a:ext cx="73152" cy="512064"/>
          </a:xfrm>
          <a:prstGeom prst="roundRect">
            <a:avLst>
              <a:gd name="adj" fmla="val 8000"/>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74336" y="2057400"/>
            <a:ext cx="1234440" cy="512064"/>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300" b="1" i="0">
                <a:solidFill>
                  <a:srgbClr val="182B3D"/>
                </a:solidFill>
                <a:latin typeface="Helvetica Neue"/>
              </a:rPr>
              <a:t>BERT</a:t>
            </a:r>
          </a:p>
        </p:txBody>
      </p:sp>
      <p:sp>
        <p:nvSpPr>
          <p:cNvPr id="19" name="TextBox 18"/>
          <p:cNvSpPr txBox="1"/>
          <p:nvPr/>
        </p:nvSpPr>
        <p:spPr>
          <a:xfrm>
            <a:off x="6217920" y="2057400"/>
            <a:ext cx="2377439" cy="512064"/>
          </a:xfrm>
          <a:prstGeom prst="rect">
            <a:avLst/>
          </a:prstGeom>
          <a:noFill/>
          <a:ln/>
        </p:spPr>
        <p:txBody>
          <a:bodyPr wrap="square" anchor="ctr" lIns="25400" rIns="25400" tIns="25400" bIns="25400">
            <a:spAutoFit/>
          </a:bodyPr>
          <a:lstStyle/>
          <a:p>
            <a:pPr algn="l">
              <a:lnSpc>
                <a:spcPct val="105000"/>
              </a:lnSpc>
              <a:spcBef>
                <a:spcPts val="0"/>
              </a:spcBef>
              <a:spcAft>
                <a:spcPts val="0"/>
              </a:spcAft>
            </a:pPr>
            <a:r>
              <a:rPr sz="1050" b="0" i="0">
                <a:solidFill>
                  <a:srgbClr val="3A4A55"/>
                </a:solidFill>
                <a:latin typeface="Helvetica Neue"/>
              </a:rPr>
              <a:t>encoder-only, bidirectional pre-training</a:t>
            </a:r>
          </a:p>
        </p:txBody>
      </p:sp>
      <p:sp>
        <p:nvSpPr>
          <p:cNvPr id="20" name="Rounded Rectangle 19"/>
          <p:cNvSpPr/>
          <p:nvPr/>
        </p:nvSpPr>
        <p:spPr>
          <a:xfrm>
            <a:off x="4754880" y="2734056"/>
            <a:ext cx="4023359" cy="512064"/>
          </a:xfrm>
          <a:prstGeom prst="roundRect">
            <a:avLst>
              <a:gd name="adj" fmla="val 8000"/>
            </a:avLst>
          </a:prstGeom>
          <a:solidFill>
            <a:srgbClr val="FFFDF9"/>
          </a:solidFill>
          <a:ln w="12700">
            <a:solidFill>
              <a:srgbClr val="C4BD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754880" y="2734056"/>
            <a:ext cx="73152" cy="512064"/>
          </a:xfrm>
          <a:prstGeom prst="roundRect">
            <a:avLst>
              <a:gd name="adj" fmla="val 8000"/>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74336" y="2734056"/>
            <a:ext cx="1234440" cy="512064"/>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300" b="1" i="0">
                <a:solidFill>
                  <a:srgbClr val="182B3D"/>
                </a:solidFill>
                <a:latin typeface="Helvetica Neue"/>
              </a:rPr>
              <a:t>GPT</a:t>
            </a:r>
          </a:p>
        </p:txBody>
      </p:sp>
      <p:sp>
        <p:nvSpPr>
          <p:cNvPr id="23" name="TextBox 22"/>
          <p:cNvSpPr txBox="1"/>
          <p:nvPr/>
        </p:nvSpPr>
        <p:spPr>
          <a:xfrm>
            <a:off x="6217920" y="2734056"/>
            <a:ext cx="2377439" cy="512064"/>
          </a:xfrm>
          <a:prstGeom prst="rect">
            <a:avLst/>
          </a:prstGeom>
          <a:noFill/>
          <a:ln/>
        </p:spPr>
        <p:txBody>
          <a:bodyPr wrap="square" anchor="ctr" lIns="25400" rIns="25400" tIns="25400" bIns="25400">
            <a:spAutoFit/>
          </a:bodyPr>
          <a:lstStyle/>
          <a:p>
            <a:pPr algn="l">
              <a:lnSpc>
                <a:spcPct val="105000"/>
              </a:lnSpc>
              <a:spcBef>
                <a:spcPts val="0"/>
              </a:spcBef>
              <a:spcAft>
                <a:spcPts val="0"/>
              </a:spcAft>
            </a:pPr>
            <a:r>
              <a:rPr sz="1050" b="0" i="0">
                <a:solidFill>
                  <a:srgbClr val="3A4A55"/>
                </a:solidFill>
                <a:latin typeface="Helvetica Neue"/>
              </a:rPr>
              <a:t>decoder-only autoregressive LMs</a:t>
            </a:r>
          </a:p>
        </p:txBody>
      </p:sp>
      <p:sp>
        <p:nvSpPr>
          <p:cNvPr id="24" name="Rounded Rectangle 23"/>
          <p:cNvSpPr/>
          <p:nvPr/>
        </p:nvSpPr>
        <p:spPr>
          <a:xfrm>
            <a:off x="4754880" y="3410712"/>
            <a:ext cx="4023359" cy="512064"/>
          </a:xfrm>
          <a:prstGeom prst="roundRect">
            <a:avLst>
              <a:gd name="adj" fmla="val 8000"/>
            </a:avLst>
          </a:prstGeom>
          <a:solidFill>
            <a:srgbClr val="FFFDF9"/>
          </a:solidFill>
          <a:ln w="12700">
            <a:solidFill>
              <a:srgbClr val="C4BD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754880" y="3410712"/>
            <a:ext cx="73152" cy="512064"/>
          </a:xfrm>
          <a:prstGeom prst="roundRect">
            <a:avLst>
              <a:gd name="adj" fmla="val 8000"/>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74336" y="3410712"/>
            <a:ext cx="1234440" cy="512064"/>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300" b="1" i="0">
                <a:solidFill>
                  <a:srgbClr val="182B3D"/>
                </a:solidFill>
                <a:latin typeface="Helvetica Neue"/>
              </a:rPr>
              <a:t>ViT</a:t>
            </a:r>
          </a:p>
        </p:txBody>
      </p:sp>
      <p:sp>
        <p:nvSpPr>
          <p:cNvPr id="27" name="TextBox 26"/>
          <p:cNvSpPr txBox="1"/>
          <p:nvPr/>
        </p:nvSpPr>
        <p:spPr>
          <a:xfrm>
            <a:off x="6217920" y="3410712"/>
            <a:ext cx="2377439" cy="512064"/>
          </a:xfrm>
          <a:prstGeom prst="rect">
            <a:avLst/>
          </a:prstGeom>
          <a:noFill/>
          <a:ln/>
        </p:spPr>
        <p:txBody>
          <a:bodyPr wrap="square" anchor="ctr" lIns="25400" rIns="25400" tIns="25400" bIns="25400">
            <a:spAutoFit/>
          </a:bodyPr>
          <a:lstStyle/>
          <a:p>
            <a:pPr algn="l">
              <a:lnSpc>
                <a:spcPct val="105000"/>
              </a:lnSpc>
              <a:spcBef>
                <a:spcPts val="0"/>
              </a:spcBef>
              <a:spcAft>
                <a:spcPts val="0"/>
              </a:spcAft>
            </a:pPr>
            <a:r>
              <a:rPr sz="1050" b="0" i="0">
                <a:solidFill>
                  <a:srgbClr val="3A4A55"/>
                </a:solidFill>
                <a:latin typeface="Helvetica Neue"/>
              </a:rPr>
              <a:t>the same encoder on image patches</a:t>
            </a:r>
          </a:p>
        </p:txBody>
      </p:sp>
      <p:sp>
        <p:nvSpPr>
          <p:cNvPr id="28" name="Rounded Rectangle 27"/>
          <p:cNvSpPr/>
          <p:nvPr/>
        </p:nvSpPr>
        <p:spPr>
          <a:xfrm>
            <a:off x="4754880" y="4087368"/>
            <a:ext cx="4023359" cy="512064"/>
          </a:xfrm>
          <a:prstGeom prst="roundRect">
            <a:avLst>
              <a:gd name="adj" fmla="val 8000"/>
            </a:avLst>
          </a:prstGeom>
          <a:solidFill>
            <a:srgbClr val="FFFDF9"/>
          </a:solidFill>
          <a:ln w="12700">
            <a:solidFill>
              <a:srgbClr val="C4BD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754880" y="4087368"/>
            <a:ext cx="73152" cy="512064"/>
          </a:xfrm>
          <a:prstGeom prst="roundRect">
            <a:avLst>
              <a:gd name="adj" fmla="val 8000"/>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974336" y="4087368"/>
            <a:ext cx="1234440" cy="512064"/>
          </a:xfrm>
          <a:prstGeom prst="rect">
            <a:avLst/>
          </a:prstGeom>
          <a:noFill/>
          <a:ln/>
        </p:spPr>
        <p:txBody>
          <a:bodyPr wrap="square" anchor="ctr" lIns="25400" rIns="25400" tIns="25400" bIns="25400">
            <a:spAutoFit/>
          </a:bodyPr>
          <a:lstStyle/>
          <a:p>
            <a:pPr algn="l">
              <a:lnSpc>
                <a:spcPct val="100000"/>
              </a:lnSpc>
              <a:spcBef>
                <a:spcPts val="0"/>
              </a:spcBef>
              <a:spcAft>
                <a:spcPts val="0"/>
              </a:spcAft>
            </a:pPr>
            <a:r>
              <a:rPr sz="1300" b="1" i="0">
                <a:solidFill>
                  <a:srgbClr val="182B3D"/>
                </a:solidFill>
                <a:latin typeface="Helvetica Neue"/>
              </a:rPr>
              <a:t>Efficient</a:t>
            </a:r>
          </a:p>
        </p:txBody>
      </p:sp>
      <p:sp>
        <p:nvSpPr>
          <p:cNvPr id="31" name="TextBox 30"/>
          <p:cNvSpPr txBox="1"/>
          <p:nvPr/>
        </p:nvSpPr>
        <p:spPr>
          <a:xfrm>
            <a:off x="6217920" y="4087368"/>
            <a:ext cx="2377439" cy="512064"/>
          </a:xfrm>
          <a:prstGeom prst="rect">
            <a:avLst/>
          </a:prstGeom>
          <a:noFill/>
          <a:ln/>
        </p:spPr>
        <p:txBody>
          <a:bodyPr wrap="square" anchor="ctr" lIns="25400" rIns="25400" tIns="25400" bIns="25400">
            <a:spAutoFit/>
          </a:bodyPr>
          <a:lstStyle/>
          <a:p>
            <a:pPr algn="l">
              <a:lnSpc>
                <a:spcPct val="105000"/>
              </a:lnSpc>
              <a:spcBef>
                <a:spcPts val="0"/>
              </a:spcBef>
              <a:spcAft>
                <a:spcPts val="0"/>
              </a:spcAft>
            </a:pPr>
            <a:r>
              <a:rPr sz="1050" b="0" i="0">
                <a:solidFill>
                  <a:srgbClr val="3A4A55"/>
                </a:solidFill>
                <a:latin typeface="Helvetica Neue"/>
              </a:rPr>
              <a:t>sparse / linear variants cut the O(n²) cost</a:t>
            </a:r>
          </a:p>
        </p:txBody>
      </p:sp>
      <p:sp>
        <p:nvSpPr>
          <p:cNvPr id="32" name="TextBox 31"/>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35D51"/>
                </a:solidFill>
                <a:latin typeface="Helvetica Neue"/>
              </a:rPr>
              <a:t>Attention Is All You Need · Vaswani et al., NeurIPS 2017</a:t>
            </a:r>
          </a:p>
        </p:txBody>
      </p:sp>
      <p:sp>
        <p:nvSpPr>
          <p:cNvPr id="33" name="TextBox 32"/>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35D51"/>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324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5143500"/>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58368"/>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1" i="0" spc="300">
                <a:solidFill>
                  <a:srgbClr val="F07872"/>
                </a:solidFill>
                <a:latin typeface="Menlo"/>
              </a:rPr>
              <a:t>TAKEAWAYS</a:t>
            </a:r>
          </a:p>
        </p:txBody>
      </p:sp>
      <p:sp>
        <p:nvSpPr>
          <p:cNvPr id="5" name="TextBox 4"/>
          <p:cNvSpPr txBox="1"/>
          <p:nvPr/>
        </p:nvSpPr>
        <p:spPr>
          <a:xfrm>
            <a:off x="713232" y="896112"/>
            <a:ext cx="786384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FFFFFF"/>
                </a:solidFill>
                <a:latin typeface="Charter"/>
              </a:rPr>
              <a:t>Attention is all you need</a:t>
            </a:r>
          </a:p>
        </p:txBody>
      </p:sp>
      <p:sp>
        <p:nvSpPr>
          <p:cNvPr id="6" name="Rectangle 5"/>
          <p:cNvSpPr/>
          <p:nvPr/>
        </p:nvSpPr>
        <p:spPr>
          <a:xfrm>
            <a:off x="749808" y="1572768"/>
            <a:ext cx="1005840" cy="29260"/>
          </a:xfrm>
          <a:prstGeom prst="rect">
            <a:avLst/>
          </a:prstGeom>
          <a:solidFill>
            <a:srgbClr val="E548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847088"/>
            <a:ext cx="566928" cy="566928"/>
          </a:xfrm>
          <a:prstGeom prst="roundRect">
            <a:avLst>
              <a:gd name="adj" fmla="val 24000"/>
            </a:avLst>
          </a:prstGeom>
          <a:solidFill>
            <a:srgbClr val="203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ttention replaces recurrence" title="Attention replaces recurrence"/>
          <p:cNvPicPr>
            <a:picLocks noChangeAspect="1"/>
          </p:cNvPicPr>
          <p:nvPr/>
        </p:nvPicPr>
        <p:blipFill>
          <a:blip r:embed="rId2"/>
          <a:stretch>
            <a:fillRect/>
          </a:stretch>
        </p:blipFill>
        <p:spPr>
          <a:xfrm>
            <a:off x="878921" y="1994489"/>
            <a:ext cx="272125" cy="272125"/>
          </a:xfrm>
          <a:prstGeom prst="rect">
            <a:avLst/>
          </a:prstGeom>
        </p:spPr>
      </p:pic>
      <p:sp>
        <p:nvSpPr>
          <p:cNvPr id="9" name="TextBox 8"/>
          <p:cNvSpPr txBox="1"/>
          <p:nvPr/>
        </p:nvSpPr>
        <p:spPr>
          <a:xfrm>
            <a:off x="1481328" y="1865376"/>
            <a:ext cx="6949440"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700" b="1" i="0">
                <a:solidFill>
                  <a:srgbClr val="FFFFFF"/>
                </a:solidFill>
                <a:latin typeface="Helvetica Neue"/>
              </a:rPr>
              <a:t>Attention replaces recurrence</a:t>
            </a:r>
          </a:p>
        </p:txBody>
      </p:sp>
      <p:sp>
        <p:nvSpPr>
          <p:cNvPr id="10" name="TextBox 9"/>
          <p:cNvSpPr txBox="1"/>
          <p:nvPr/>
        </p:nvSpPr>
        <p:spPr>
          <a:xfrm>
            <a:off x="1481328" y="2176272"/>
            <a:ext cx="6949440"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0" i="0">
                <a:solidFill>
                  <a:srgbClr val="96A8BA"/>
                </a:solidFill>
                <a:latin typeface="Helvetica Neue"/>
              </a:rPr>
              <a:t>Global dependencies in one layer — no sequential chain.</a:t>
            </a:r>
          </a:p>
        </p:txBody>
      </p:sp>
      <p:sp>
        <p:nvSpPr>
          <p:cNvPr id="11" name="Rounded Rectangle 10"/>
          <p:cNvSpPr/>
          <p:nvPr/>
        </p:nvSpPr>
        <p:spPr>
          <a:xfrm>
            <a:off x="731520" y="2615184"/>
            <a:ext cx="566928" cy="566928"/>
          </a:xfrm>
          <a:prstGeom prst="roundRect">
            <a:avLst>
              <a:gd name="adj" fmla="val 24000"/>
            </a:avLst>
          </a:prstGeom>
          <a:solidFill>
            <a:srgbClr val="203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arallel and short-path" title="Parallel and short-path"/>
          <p:cNvPicPr>
            <a:picLocks noChangeAspect="1"/>
          </p:cNvPicPr>
          <p:nvPr/>
        </p:nvPicPr>
        <p:blipFill>
          <a:blip r:embed="rId3"/>
          <a:stretch>
            <a:fillRect/>
          </a:stretch>
        </p:blipFill>
        <p:spPr>
          <a:xfrm>
            <a:off x="878921" y="2762585"/>
            <a:ext cx="272125" cy="272125"/>
          </a:xfrm>
          <a:prstGeom prst="rect">
            <a:avLst/>
          </a:prstGeom>
        </p:spPr>
      </p:pic>
      <p:sp>
        <p:nvSpPr>
          <p:cNvPr id="13" name="TextBox 12"/>
          <p:cNvSpPr txBox="1"/>
          <p:nvPr/>
        </p:nvSpPr>
        <p:spPr>
          <a:xfrm>
            <a:off x="1481328" y="2633472"/>
            <a:ext cx="6949440"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700" b="1" i="0">
                <a:solidFill>
                  <a:srgbClr val="FFFFFF"/>
                </a:solidFill>
                <a:latin typeface="Helvetica Neue"/>
              </a:rPr>
              <a:t>Parallel and short-path</a:t>
            </a:r>
          </a:p>
        </p:txBody>
      </p:sp>
      <p:sp>
        <p:nvSpPr>
          <p:cNvPr id="14" name="TextBox 13"/>
          <p:cNvSpPr txBox="1"/>
          <p:nvPr/>
        </p:nvSpPr>
        <p:spPr>
          <a:xfrm>
            <a:off x="1481328" y="2944368"/>
            <a:ext cx="6949440"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0" i="0">
                <a:solidFill>
                  <a:srgbClr val="96A8BA"/>
                </a:solidFill>
                <a:latin typeface="Helvetica Neue"/>
              </a:rPr>
              <a:t>Trains far faster; any two tokens are O(1) apart.</a:t>
            </a:r>
          </a:p>
        </p:txBody>
      </p:sp>
      <p:sp>
        <p:nvSpPr>
          <p:cNvPr id="15" name="Rounded Rectangle 14"/>
          <p:cNvSpPr/>
          <p:nvPr/>
        </p:nvSpPr>
        <p:spPr>
          <a:xfrm>
            <a:off x="731520" y="3383279"/>
            <a:ext cx="566928" cy="566928"/>
          </a:xfrm>
          <a:prstGeom prst="roundRect">
            <a:avLst>
              <a:gd name="adj" fmla="val 24000"/>
            </a:avLst>
          </a:prstGeom>
          <a:solidFill>
            <a:srgbClr val="203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he backbone of modern AI" title="The backbone of modern AI"/>
          <p:cNvPicPr>
            <a:picLocks noChangeAspect="1"/>
          </p:cNvPicPr>
          <p:nvPr/>
        </p:nvPicPr>
        <p:blipFill>
          <a:blip r:embed="rId4"/>
          <a:stretch>
            <a:fillRect/>
          </a:stretch>
        </p:blipFill>
        <p:spPr>
          <a:xfrm>
            <a:off x="878921" y="3530681"/>
            <a:ext cx="272125" cy="272125"/>
          </a:xfrm>
          <a:prstGeom prst="rect">
            <a:avLst/>
          </a:prstGeom>
        </p:spPr>
      </p:pic>
      <p:sp>
        <p:nvSpPr>
          <p:cNvPr id="17" name="TextBox 16"/>
          <p:cNvSpPr txBox="1"/>
          <p:nvPr/>
        </p:nvSpPr>
        <p:spPr>
          <a:xfrm>
            <a:off x="1481328" y="3401568"/>
            <a:ext cx="6949440" cy="3657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700" b="1" i="0">
                <a:solidFill>
                  <a:srgbClr val="FFFFFF"/>
                </a:solidFill>
                <a:latin typeface="Helvetica Neue"/>
              </a:rPr>
              <a:t>The backbone of modern AI</a:t>
            </a:r>
          </a:p>
        </p:txBody>
      </p:sp>
      <p:sp>
        <p:nvSpPr>
          <p:cNvPr id="18" name="TextBox 17"/>
          <p:cNvSpPr txBox="1"/>
          <p:nvPr/>
        </p:nvSpPr>
        <p:spPr>
          <a:xfrm>
            <a:off x="1481328" y="3712463"/>
            <a:ext cx="6949440"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250" b="0" i="0">
                <a:solidFill>
                  <a:srgbClr val="96A8BA"/>
                </a:solidFill>
                <a:latin typeface="Helvetica Neue"/>
              </a:rPr>
              <a:t>The same architecture now powers today's language models.</a:t>
            </a:r>
          </a:p>
        </p:txBody>
      </p:sp>
      <p:sp>
        <p:nvSpPr>
          <p:cNvPr id="19" name="Rectangle 18"/>
          <p:cNvSpPr/>
          <p:nvPr/>
        </p:nvSpPr>
        <p:spPr>
          <a:xfrm>
            <a:off x="749808" y="4261104"/>
            <a:ext cx="7680960" cy="12801"/>
          </a:xfrm>
          <a:prstGeom prst="rect">
            <a:avLst/>
          </a:prstGeom>
          <a:solidFill>
            <a:srgbClr val="3A4E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352544"/>
            <a:ext cx="7863840" cy="310896"/>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0" i="0">
                <a:solidFill>
                  <a:srgbClr val="96A8BA"/>
                </a:solidFill>
                <a:latin typeface="Helvetica Neue"/>
              </a:rPr>
              <a:t>Vaswani et al. (2017), “Attention Is All You Need.” NeurIPS · arXiv:1706.03762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