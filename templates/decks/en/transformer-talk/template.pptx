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Unscaled</c:v>
                </c:pt>
              </c:strCache>
            </c:strRef>
          </c:tx>
          <c:spPr>
            <a:solidFill>
              <a:srgbClr val="16656B"/>
            </a:solidFill>
            <a:ln w="31750">
              <a:solidFill>
                <a:srgbClr val="16656B"/>
              </a:solidFill>
            </a:ln>
          </c:spPr>
          <c:cat>
            <c:strRef>
              <c:f>Sheet1!$A$2:$A$9</c:f>
              <c:strCache>
                <c:ptCount val="8"/>
                <c:pt idx="0">
                  <c:v>Key 1</c:v>
                </c:pt>
                <c:pt idx="1">
                  <c:v>Key 2</c:v>
                </c:pt>
                <c:pt idx="2">
                  <c:v>Key 3</c:v>
                </c:pt>
                <c:pt idx="3">
                  <c:v>Key 4</c:v>
                </c:pt>
                <c:pt idx="4">
                  <c:v>Key 5</c:v>
                </c:pt>
                <c:pt idx="5">
                  <c:v>Key 6</c:v>
                </c:pt>
                <c:pt idx="6">
                  <c:v>Key 7</c:v>
                </c:pt>
                <c:pt idx="7">
                  <c:v>Key 8</c:v>
                </c:pt>
              </c:strCache>
            </c:strRef>
          </c:cat>
          <c:val>
            <c:numRef>
              <c:f>Sheet1!$B$2:$B$9</c:f>
              <c:numCache>
                <c:formatCode>General</c:formatCode>
                <c:ptCount val="8"/>
                <c:pt idx="0">
                  <c:v>0.0297</c:v>
                </c:pt>
                <c:pt idx="1">
                  <c:v>0.0504</c:v>
                </c:pt>
                <c:pt idx="2">
                  <c:v>0.0023</c:v>
                </c:pt>
                <c:pt idx="3">
                  <c:v>0.0007</c:v>
                </c:pt>
                <c:pt idx="4">
                  <c:v>0.0</c:v>
                </c:pt>
                <c:pt idx="5">
                  <c:v>0.008</c:v>
                </c:pt>
                <c:pt idx="6">
                  <c:v>0.0425</c:v>
                </c:pt>
                <c:pt idx="7">
                  <c:v>0.8664</c:v>
                </c:pt>
              </c:numCache>
            </c:numRef>
          </c:val>
        </c:ser>
        <c:ser>
          <c:idx val="1"/>
          <c:order val="1"/>
          <c:tx>
            <c:strRef>
              <c:f>Sheet1!$C$1</c:f>
              <c:strCache>
                <c:ptCount val="1"/>
                <c:pt idx="0">
                  <c:v>÷ √dₖ</c:v>
                </c:pt>
              </c:strCache>
            </c:strRef>
          </c:tx>
          <c:spPr>
            <a:solidFill>
              <a:srgbClr val="B84020"/>
            </a:solidFill>
            <a:ln w="31750">
              <a:solidFill>
                <a:srgbClr val="B84020"/>
              </a:solidFill>
            </a:ln>
          </c:spPr>
          <c:cat>
            <c:strRef>
              <c:f>Sheet1!$A$2:$A$9</c:f>
              <c:strCache>
                <c:ptCount val="8"/>
                <c:pt idx="0">
                  <c:v>Key 1</c:v>
                </c:pt>
                <c:pt idx="1">
                  <c:v>Key 2</c:v>
                </c:pt>
                <c:pt idx="2">
                  <c:v>Key 3</c:v>
                </c:pt>
                <c:pt idx="3">
                  <c:v>Key 4</c:v>
                </c:pt>
                <c:pt idx="4">
                  <c:v>Key 5</c:v>
                </c:pt>
                <c:pt idx="5">
                  <c:v>Key 6</c:v>
                </c:pt>
                <c:pt idx="6">
                  <c:v>Key 7</c:v>
                </c:pt>
                <c:pt idx="7">
                  <c:v>Key 8</c:v>
                </c:pt>
              </c:strCache>
            </c:strRef>
          </c:cat>
          <c:val>
            <c:numRef>
              <c:f>Sheet1!$C$2:$C$9</c:f>
              <c:numCache>
                <c:formatCode>General</c:formatCode>
                <c:ptCount val="8"/>
                <c:pt idx="0">
                  <c:v>0.1429</c:v>
                </c:pt>
                <c:pt idx="1">
                  <c:v>0.1527</c:v>
                </c:pt>
                <c:pt idx="2">
                  <c:v>0.1038</c:v>
                </c:pt>
                <c:pt idx="3">
                  <c:v>0.089</c:v>
                </c:pt>
                <c:pt idx="4">
                  <c:v>0.0229</c:v>
                </c:pt>
                <c:pt idx="5">
                  <c:v>0.1214</c:v>
                </c:pt>
                <c:pt idx="6">
                  <c:v>0.1495</c:v>
                </c:pt>
                <c:pt idx="7">
                  <c:v>0.2179</c:v>
                </c:pt>
              </c:numCache>
            </c:numRef>
          </c:val>
        </c:ser>
        <c:axId val="-2068027336"/>
        <c:axId val="-2113994440"/>
      </c:barChart>
      <c:catAx>
        <c:axId val="-2068027336"/>
        <c:scaling>
          <c:orientation val="minMax"/>
        </c:scaling>
        <c:delete val="0"/>
        <c:axPos val="b"/>
        <c:majorTickMark val="out"/>
        <c:minorTickMark val="none"/>
        <c:tickLblPos val="nextTo"/>
        <c:spPr>
          <a:ln>
            <a:solidFill>
              <a:srgbClr val="E7E9F0"/>
            </a:solidFill>
          </a:ln>
        </c:spPr>
        <c:txPr>
          <a:bodyPr/>
          <a:lstStyle/>
          <a:p>
            <a:pPr>
              <a:defRPr sz="1000">
                <a:solidFill>
                  <a:srgbClr val="222A37"/>
                </a:solidFill>
                <a:latin typeface="Hiragino Sans GB"/>
              </a:defRPr>
            </a:pPr>
          </a:p>
        </c:txPr>
        <c:crossAx val="-2113994440"/>
        <c:crosses val="autoZero"/>
        <c:auto val="1"/>
        <c:lblAlgn val="ctr"/>
        <c:lblOffset val="100"/>
        <c:noMultiLvlLbl val="0"/>
      </c:catAx>
      <c:valAx>
        <c:axId val="-2113994440"/>
        <c:scaling>
          <c:min val="0.0"/>
        </c:scaling>
        <c:delete val="0"/>
        <c:axPos val="l"/>
        <c:majorGridlines>
          <c:spPr>
            <a:ln w="6350">
              <a:solidFill>
                <a:srgbClr val="E7E9F0"/>
              </a:solidFill>
            </a:ln>
          </c:spPr>
        </c:majorGridlines>
        <c:numFmt formatCode="0.00" sourceLinked="0"/>
        <c:majorTickMark val="out"/>
        <c:minorTickMark val="none"/>
        <c:tickLblPos val="nextTo"/>
        <c:spPr>
          <a:ln>
            <a:solidFill>
              <a:srgbClr val="E7E9F0"/>
            </a:solidFill>
          </a:ln>
        </c:spPr>
        <c:txPr>
          <a:bodyPr/>
          <a:lstStyle/>
          <a:p>
            <a:pPr>
              <a:defRPr sz="1000">
                <a:solidFill>
                  <a:srgbClr val="222A37"/>
                </a:solidFill>
                <a:latin typeface="Hiragino Sans GB"/>
              </a:defRPr>
            </a:pPr>
          </a:p>
        </c:txPr>
        <c:crossAx val="-2068027336"/>
        <c:crosses val="autoZero"/>
      </c:valAx>
    </c:plotArea>
    <c:legend>
      <c:legendPos val="t"/>
      <c:overlay val="0"/>
      <c:txPr>
        <a:bodyPr/>
        <a:lstStyle/>
        <a:p>
          <a:pPr>
            <a:defRPr>
              <a:solidFill>
                <a:srgbClr val="222A37"/>
              </a:solidFill>
              <a:latin typeface="Hiragino Sans GB"/>
            </a:defRPr>
          </a:pPr>
        </a:p>
      </c:txPr>
    </c:legend>
    <c:dispBlanksAs val="gap"/>
  </c:chart>
  <c:txPr>
    <a:bodyPr/>
    <a:lstStyle/>
    <a:p>
      <a:pPr>
        <a:defRPr sz="1100">
          <a:solidFill>
            <a:srgbClr val="222A37"/>
          </a:solidFill>
          <a:latin typeface="Hiragino Sans GB"/>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BLEU</c:v>
                </c:pt>
              </c:strCache>
            </c:strRef>
          </c:tx>
          <c:spPr>
            <a:solidFill>
              <a:srgbClr val="B84020"/>
            </a:solidFill>
            <a:ln w="31750">
              <a:solidFill>
                <a:srgbClr val="B84020"/>
              </a:solidFill>
            </a:ln>
          </c:spPr>
          <c:dPt>
            <c:idx val="0"/>
            <c:spPr>
              <a:solidFill>
                <a:srgbClr val="B8BECC"/>
              </a:solidFill>
            </c:spPr>
          </c:dPt>
          <c:dPt>
            <c:idx val="1"/>
            <c:spPr>
              <a:solidFill>
                <a:srgbClr val="B8BECC"/>
              </a:solidFill>
            </c:spPr>
          </c:dPt>
          <c:dPt>
            <c:idx val="2"/>
            <c:spPr>
              <a:solidFill>
                <a:srgbClr val="B8BECC"/>
              </a:solidFill>
            </c:spPr>
          </c:dPt>
          <c:dPt>
            <c:idx val="3"/>
            <c:spPr>
              <a:solidFill>
                <a:srgbClr val="B8BECC"/>
              </a:solidFill>
            </c:spPr>
          </c:dPt>
          <c:dPt>
            <c:idx val="4"/>
            <c:spPr>
              <a:solidFill>
                <a:srgbClr val="B84020"/>
              </a:solidFill>
            </c:spPr>
          </c:dPt>
          <c:cat>
            <c:strRef>
              <c:f>Sheet1!$A$2:$A$6</c:f>
              <c:strCache>
                <c:ptCount val="5"/>
                <c:pt idx="0">
                  <c:v>ByteNet</c:v>
                </c:pt>
                <c:pt idx="1">
                  <c:v>GNMT+RL</c:v>
                </c:pt>
                <c:pt idx="2">
                  <c:v>ConvS2S</c:v>
                </c:pt>
                <c:pt idx="3">
                  <c:v>Ours (base)</c:v>
                </c:pt>
                <c:pt idx="4">
                  <c:v>Ours (big)</c:v>
                </c:pt>
              </c:strCache>
            </c:strRef>
          </c:cat>
          <c:val>
            <c:numRef>
              <c:f>Sheet1!$B$2:$B$6</c:f>
              <c:numCache>
                <c:formatCode>General</c:formatCode>
                <c:ptCount val="5"/>
                <c:pt idx="0">
                  <c:v>23.75</c:v>
                </c:pt>
                <c:pt idx="1">
                  <c:v>24.6</c:v>
                </c:pt>
                <c:pt idx="2">
                  <c:v>25.16</c:v>
                </c:pt>
                <c:pt idx="3">
                  <c:v>27.3</c:v>
                </c:pt>
                <c:pt idx="4">
                  <c:v>28.4</c:v>
                </c:pt>
              </c:numCache>
            </c:numRef>
          </c:val>
        </c:ser>
        <c:axId val="-2068027336"/>
        <c:axId val="-2113994440"/>
      </c:barChart>
      <c:catAx>
        <c:axId val="-2068027336"/>
        <c:scaling>
          <c:orientation val="minMax"/>
        </c:scaling>
        <c:delete val="0"/>
        <c:axPos val="b"/>
        <c:majorTickMark val="out"/>
        <c:minorTickMark val="none"/>
        <c:tickLblPos val="nextTo"/>
        <c:spPr>
          <a:ln>
            <a:solidFill>
              <a:srgbClr val="E7E9F0"/>
            </a:solidFill>
          </a:ln>
        </c:spPr>
        <c:txPr>
          <a:bodyPr/>
          <a:lstStyle/>
          <a:p>
            <a:pPr>
              <a:defRPr sz="1000">
                <a:solidFill>
                  <a:srgbClr val="222A37"/>
                </a:solidFill>
                <a:latin typeface="Hiragino Sans GB"/>
              </a:defRPr>
            </a:pPr>
          </a:p>
        </c:txPr>
        <c:crossAx val="-2113994440"/>
        <c:crosses val="autoZero"/>
        <c:auto val="1"/>
        <c:lblAlgn val="ctr"/>
        <c:lblOffset val="100"/>
        <c:noMultiLvlLbl val="0"/>
      </c:catAx>
      <c:valAx>
        <c:axId val="-2113994440"/>
        <c:scaling>
          <c:min val="0.0"/>
        </c:scaling>
        <c:delete val="0"/>
        <c:axPos val="l"/>
        <c:majorGridlines>
          <c:spPr>
            <a:ln w="6350">
              <a:solidFill>
                <a:srgbClr val="E7E9F0"/>
              </a:solidFill>
            </a:ln>
          </c:spPr>
        </c:majorGridlines>
        <c:numFmt formatCode="0.0" sourceLinked="0"/>
        <c:majorTickMark val="out"/>
        <c:minorTickMark val="none"/>
        <c:tickLblPos val="nextTo"/>
        <c:spPr>
          <a:ln>
            <a:solidFill>
              <a:srgbClr val="E7E9F0"/>
            </a:solidFill>
          </a:ln>
        </c:spPr>
        <c:txPr>
          <a:bodyPr/>
          <a:lstStyle/>
          <a:p>
            <a:pPr>
              <a:defRPr sz="1000">
                <a:solidFill>
                  <a:srgbClr val="222A37"/>
                </a:solidFill>
                <a:latin typeface="Hiragino Sans GB"/>
              </a:defRPr>
            </a:pPr>
          </a:p>
        </c:txPr>
        <c:crossAx val="-2068027336"/>
        <c:crosses val="autoZero"/>
      </c:valAx>
    </c:plotArea>
    <c:dispBlanksAs val="gap"/>
  </c:chart>
  <c:txPr>
    <a:bodyPr/>
    <a:lstStyle/>
    <a:p>
      <a:pPr>
        <a:defRPr sz="1100">
          <a:solidFill>
            <a:srgbClr val="222A37"/>
          </a:solidFill>
          <a:latin typeface="Hiragino Sans GB"/>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open: this is the 2017 paper that introduced the Transformer — the common ancestor of every large model today. In about fifteen minutes we'll read it closely: the problem it set out to solve, its central claim, the model architecture, the math of attention and positional encoding, then the results and its impact.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this, sequence modeling was dominated by RNNs and LSTMs: the hidden state is passed forward one step at a time, and step t has to wait for step t−1. That creates two hard problems. First, computation is sequential in time and can't be fully parallelized. Second, between two distant words the gradient has to cross O(n) steps, so long-range dependencies are hard to learn. Convolutions parallelize, but covering long distances still takes many stacked layers.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paper's central claim is a single sentence: use no recurrence and no convolution — rely on attention alone to model the dependencies between any two positions in a sequence. That buys three things: every position can be computed in parallel; the path length between any two positions is a constant O(1); and training is faster and the results are better.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1 in the paper puts the three layer types side by side. Look at the two middle columns: self-attention's sequential ops are O(1) and its max path length is O(1) too; for a recurrent layer both are O(n). In other words, as the sequence grows, an RNN's sequential cost and long-range path grow linearly, while self-attention's stay flat. The price is a per-layer cost of O(n²·d), which gets expensive for very long sequences — and that's exactly what later work optimizes.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thing is a classic encoder–decoder. On the left, the encoder is a stack of 6 identical layers, each with two sublayers: multi-head self-attention and a feed-forward network. On the right, the decoder is also 6 layers, but each has three sublayers — it adds a masked self-attention (so it can't peek at the future) and an encoder–decoder attention (the dashed link, which receives the encoder's output). Every sublayer is wrapped in a residual connection plus LayerNorm. At the bottom, inputs are embedded and positional encodings added; at the top, a linear layer plus Softmax produces token probabilities.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Scaled dot-product attention is four steps. First, take the dot product of the query Q with every key K to score relevance. Then divide by the square root of d_k to scale, which stabilizes the gradients. Next, Softmax normalizes those scores into a set of weights. Finally, use those weights to take a weighted sum of the values V, giving the output. In one line: use similarity as the weights, and take a weighted average of the content.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divide by the square root of d_k specifically? Because Q·K is a sum of d_k products, so its variance is proportional to d_k. At d_k = 64 the dot products are already large, and Softmax saturates — the teal bars on the right give about 0.87 of the weight to a single key, the rest near zero, and the gradient near zero too, so nothing learns. Dividing by the square root of d_k pulls the variance back to about 1, the distribution flattens (orange), and the gradients stay healthy. The chart is computed from real random vectors.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Rather than one big 512-dim attention, split it into 8 heads, each doing attention independently in a 64-dim subspace, then concatenate and pass through a linear layer. The payoff is that different heads can attend to different kinds of relations — one tracks syntax, another coreference. Since 8×64 = 512, the total compute is about the same as a single full-width head.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Attention treats its input as orderless — shuffle the words and the result is unchanged — so we have to tell it position explicitly. The authors use sine and cosine functions at different frequencies to build an encoding vector for each position, one per dimension, and add it straight onto the word embeddings. The chart on the right is the actual computed matrix: low dimensions oscillate quickly with position, high ones change slowly, so every position has a unique fingerprint. This form also makes relative position easy to express and extrapolates to longer sequences.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configurations. Base uses d_model = 512, 8 heads, 6+6 layers, and 65 million parameters. Big doubles the dimension, the head count, and the feed-forward width, for 213 million parameters. Both train on 8 P100s: base for about 12 hours and 100k steps, big for about 3.5 days and 300k steps. The optimizer is Adam, with 0.1 dropout and label smoothing.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results, look at machine translation. On WMT 2014 English–German, Transformer big scores 28.4 BLEU — about 3.2 points above the best single model shown, ConvS2S at 25.16; the paper's own phrasing is that it beats the previous best, ensembles included, by more than 2 BLEU. Even base at 27.3 beats every system compared. On English–French, big reaches 41.8 BLEU, a new best for a single model. Note the y-axis starts at zero, so the bar lengths reflect the numbers honestly.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Efficiency is the other underrated contribution. With no recurrence, the whole sequence goes through in a single forward pass, so GPU utilization is high. On English–French, big reaches a new SOTA with under a quarter of the previous best model's training compute; base beats strong baselines in just 100k steps and 12 hours. More accurate and cheaper at once — that's the key to how quickly it was adopted.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Being fair about the limits: self-attention is O(n²), so memory and compute grow quadratically on long sequences — this is the very starting point for later efficient-attention research. The positional encoding is hand-designed and doesn't extrapolate perfectly, and the edge on small data is thin. But the legacy is enormous: BERT and GPT are built almost entirely on it, its parallel, scalable nature directly enabled the large-scale training that followed, and its influence long ago spread past NLP into vision, speech, and nearly every field.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lines to close. One: attention only. Two: scaled dot-product attention is the core formula. Three: multi-head attends to different relations, and positional encoding adds order back. Four: parallel with short paths, so training is fast and stable. Five: it's the bedrock of every large model since.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The core is a single line: attention changed everything. Questions and discussion welcome.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chart" Target="../charts/char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5486400" y="777240"/>
            <a:ext cx="1554480" cy="914400"/>
          </a:xfrm>
          <a:prstGeom prst="line">
            <a:avLst/>
          </a:prstGeom>
          <a:ln w="11430">
            <a:solidFill>
              <a:srgbClr val="E7CCC0"/>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6004560" y="777240"/>
            <a:ext cx="1036320" cy="914400"/>
          </a:xfrm>
          <a:prstGeom prst="line">
            <a:avLst/>
          </a:prstGeom>
          <a:ln w="11430">
            <a:solidFill>
              <a:srgbClr val="E7CCC0"/>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522720" y="777240"/>
            <a:ext cx="518160" cy="914400"/>
          </a:xfrm>
          <a:prstGeom prst="line">
            <a:avLst/>
          </a:prstGeom>
          <a:ln w="11430">
            <a:solidFill>
              <a:srgbClr val="E7CCC0"/>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7040880" y="777240"/>
            <a:ext cx="0" cy="914400"/>
          </a:xfrm>
          <a:prstGeom prst="line">
            <a:avLst/>
          </a:prstGeom>
          <a:ln w="11430">
            <a:solidFill>
              <a:srgbClr val="E7CCC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7040880" y="777240"/>
            <a:ext cx="518159" cy="914400"/>
          </a:xfrm>
          <a:prstGeom prst="line">
            <a:avLst/>
          </a:prstGeom>
          <a:ln w="11430">
            <a:solidFill>
              <a:srgbClr val="E7CCC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7040880" y="777240"/>
            <a:ext cx="1036319" cy="914400"/>
          </a:xfrm>
          <a:prstGeom prst="line">
            <a:avLst/>
          </a:prstGeom>
          <a:ln w="11430">
            <a:solidFill>
              <a:srgbClr val="E7CCC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7040880" y="777240"/>
            <a:ext cx="1554480" cy="914400"/>
          </a:xfrm>
          <a:prstGeom prst="line">
            <a:avLst/>
          </a:prstGeom>
          <a:ln w="11430">
            <a:solidFill>
              <a:srgbClr val="E7CCC0"/>
            </a:solidFill>
          </a:ln>
          <a:effectLst/>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5447538" y="738378"/>
            <a:ext cx="77724" cy="77724"/>
          </a:xfrm>
          <a:prstGeom prst="ellipse">
            <a:avLst/>
          </a:prstGeom>
          <a:solidFill>
            <a:srgbClr val="C4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965697" y="738378"/>
            <a:ext cx="77724" cy="77724"/>
          </a:xfrm>
          <a:prstGeom prst="ellipse">
            <a:avLst/>
          </a:prstGeom>
          <a:solidFill>
            <a:srgbClr val="C4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83857" y="738378"/>
            <a:ext cx="77724" cy="77724"/>
          </a:xfrm>
          <a:prstGeom prst="ellipse">
            <a:avLst/>
          </a:prstGeom>
          <a:solidFill>
            <a:srgbClr val="C4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002018" y="738378"/>
            <a:ext cx="77724" cy="77724"/>
          </a:xfrm>
          <a:prstGeom prst="ellipse">
            <a:avLst/>
          </a:prstGeom>
          <a:solidFill>
            <a:srgbClr val="C4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520177" y="738378"/>
            <a:ext cx="77724" cy="77724"/>
          </a:xfrm>
          <a:prstGeom prst="ellipse">
            <a:avLst/>
          </a:prstGeom>
          <a:solidFill>
            <a:srgbClr val="C4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38337" y="738378"/>
            <a:ext cx="77724" cy="77724"/>
          </a:xfrm>
          <a:prstGeom prst="ellipse">
            <a:avLst/>
          </a:prstGeom>
          <a:solidFill>
            <a:srgbClr val="C4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556498" y="738378"/>
            <a:ext cx="77724" cy="77724"/>
          </a:xfrm>
          <a:prstGeom prst="ellipse">
            <a:avLst/>
          </a:prstGeom>
          <a:solidFill>
            <a:srgbClr val="C4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992691" y="1643451"/>
            <a:ext cx="96377" cy="96377"/>
          </a:xfrm>
          <a:prstGeom prst="ellipse">
            <a:avLst/>
          </a:prstGeom>
          <a:solidFill>
            <a:srgbClr val="CD7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1417319"/>
            <a:ext cx="548640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100" b="1" i="0" spc="150">
                <a:solidFill>
                  <a:srgbClr val="B84020"/>
                </a:solidFill>
                <a:latin typeface="Menlo"/>
                <a:ea typeface="Hiragino Sans GB"/>
              </a:rPr>
              <a:t>PAPER DEEP-DIVE · READING GROUP</a:t>
            </a:r>
          </a:p>
        </p:txBody>
      </p:sp>
      <p:sp>
        <p:nvSpPr>
          <p:cNvPr id="19" name="TextBox 18"/>
          <p:cNvSpPr txBox="1"/>
          <p:nvPr/>
        </p:nvSpPr>
        <p:spPr>
          <a:xfrm>
            <a:off x="640080" y="1874519"/>
            <a:ext cx="7863840" cy="1280160"/>
          </a:xfrm>
          <a:prstGeom prst="rect">
            <a:avLst/>
          </a:prstGeom>
          <a:noFill/>
          <a:ln/>
        </p:spPr>
        <p:txBody>
          <a:bodyPr wrap="square" anchor="t" lIns="25400" rIns="25400" tIns="25400" bIns="25400">
            <a:spAutoFit/>
          </a:bodyPr>
          <a:lstStyle/>
          <a:p>
            <a:pPr algn="l">
              <a:lnSpc>
                <a:spcPct val="100000"/>
              </a:lnSpc>
              <a:spcBef>
                <a:spcPts val="0"/>
              </a:spcBef>
              <a:spcAft>
                <a:spcPts val="200"/>
              </a:spcAft>
            </a:pPr>
            <a:r>
              <a:rPr sz="4600" b="1" i="0">
                <a:solidFill>
                  <a:srgbClr val="1C1D22"/>
                </a:solidFill>
                <a:latin typeface="Helvetica Neue"/>
                <a:ea typeface="Hiragino Sans GB"/>
              </a:rPr>
              <a:t>Attention Is All You Need</a:t>
            </a:r>
          </a:p>
        </p:txBody>
      </p:sp>
      <p:sp>
        <p:nvSpPr>
          <p:cNvPr id="20" name="TextBox 19"/>
          <p:cNvSpPr txBox="1"/>
          <p:nvPr/>
        </p:nvSpPr>
        <p:spPr>
          <a:xfrm>
            <a:off x="640080" y="3429000"/>
            <a:ext cx="7863840" cy="45720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600" b="0" i="0">
                <a:solidFill>
                  <a:srgbClr val="1C1D22"/>
                </a:solidFill>
                <a:latin typeface="Helvetica Neue"/>
                <a:ea typeface="Hiragino Sans GB"/>
              </a:rPr>
              <a:t>Transformer: the founding work that rewrote sequence modeling with attention</a:t>
            </a:r>
          </a:p>
        </p:txBody>
      </p:sp>
      <p:sp>
        <p:nvSpPr>
          <p:cNvPr id="21" name="TextBox 20"/>
          <p:cNvSpPr txBox="1"/>
          <p:nvPr/>
        </p:nvSpPr>
        <p:spPr>
          <a:xfrm>
            <a:off x="658368" y="4503420"/>
            <a:ext cx="548640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100" b="1" i="0" spc="150">
                <a:solidFill>
                  <a:srgbClr val="6F6656"/>
                </a:solidFill>
                <a:latin typeface="Menlo"/>
                <a:ea typeface="Hiragino Sans GB"/>
              </a:rPr>
              <a:t>VASWANI ET AL. · NEURIPS 2017 · ARXIV:1706.03762</a:t>
            </a:r>
          </a:p>
        </p:txBody>
      </p:sp>
      <p:sp>
        <p:nvSpPr>
          <p:cNvPr id="22" name="TextBox 21"/>
          <p:cNvSpPr txBox="1"/>
          <p:nvPr/>
        </p:nvSpPr>
        <p:spPr>
          <a:xfrm>
            <a:off x="658368" y="4210812"/>
            <a:ext cx="7315200" cy="274320"/>
          </a:xfrm>
          <a:prstGeom prst="rect">
            <a:avLst/>
          </a:prstGeom>
          <a:noFill/>
          <a:ln/>
        </p:spPr>
        <p:txBody>
          <a:bodyPr wrap="square" anchor="t" lIns="25400" rIns="25400" tIns="25400" bIns="25400">
            <a:spAutoFit/>
          </a:bodyPr>
          <a:lstStyle/>
          <a:p>
            <a:pPr algn="l">
              <a:lnSpc>
                <a:spcPct val="112000"/>
              </a:lnSpc>
              <a:spcBef>
                <a:spcPts val="0"/>
              </a:spcBef>
              <a:spcAft>
                <a:spcPts val="0"/>
              </a:spcAft>
            </a:pPr>
            <a:r>
              <a:rPr sz="1150" b="0" i="0">
                <a:solidFill>
                  <a:srgbClr val="5A5E68"/>
                </a:solidFill>
                <a:latin typeface="Helvetica Neue"/>
                <a:ea typeface="Hiragino Sans GB"/>
              </a:rPr>
              <a:t>Google Brain · Google Research · University of Toronto　—　8 authors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8010144"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200" b="1" i="0">
                <a:solidFill>
                  <a:srgbClr val="B84020"/>
                </a:solidFill>
                <a:latin typeface="Helvetica Neue"/>
                <a:ea typeface="Hiragino Sans GB"/>
              </a:rPr>
              <a:t>BACKGROUND · THE PROBLEM</a:t>
            </a:r>
          </a:p>
        </p:txBody>
      </p:sp>
      <p:sp>
        <p:nvSpPr>
          <p:cNvPr id="4" name="TextBox 3"/>
          <p:cNvSpPr txBox="1"/>
          <p:nvPr/>
        </p:nvSpPr>
        <p:spPr>
          <a:xfrm>
            <a:off x="566928" y="713232"/>
            <a:ext cx="8010144" cy="7315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2400" b="1" i="0">
                <a:solidFill>
                  <a:srgbClr val="1C1D22"/>
                </a:solidFill>
                <a:latin typeface="Helvetica Neue"/>
                <a:ea typeface="Songti SC"/>
              </a:rPr>
              <a:t>Recurrence and convolution: one shared bottleneck</a:t>
            </a:r>
          </a:p>
        </p:txBody>
      </p:sp>
      <p:sp>
        <p:nvSpPr>
          <p:cNvPr id="5" name="TextBox 4"/>
          <p:cNvSpPr txBox="1"/>
          <p:nvPr/>
        </p:nvSpPr>
        <p:spPr>
          <a:xfrm>
            <a:off x="7680960" y="4759452"/>
            <a:ext cx="1097280" cy="274320"/>
          </a:xfrm>
          <a:prstGeom prst="rect">
            <a:avLst/>
          </a:prstGeom>
          <a:noFill/>
          <a:ln/>
        </p:spPr>
        <p:txBody>
          <a:bodyPr wrap="square" anchor="t" lIns="25400" rIns="25400" tIns="25400" bIns="25400">
            <a:spAutoFit/>
          </a:bodyPr>
          <a:lstStyle/>
          <a:p>
            <a:pPr algn="r">
              <a:lnSpc>
                <a:spcPct val="100000"/>
              </a:lnSpc>
              <a:spcBef>
                <a:spcPts val="0"/>
              </a:spcBef>
              <a:spcAft>
                <a:spcPts val="0"/>
              </a:spcAft>
            </a:pPr>
            <a:r>
              <a:rPr sz="900" b="1" i="0">
                <a:solidFill>
                  <a:srgbClr val="6F6656"/>
                </a:solidFill>
                <a:latin typeface="Menlo"/>
                <a:ea typeface="Hiragino Sans GB"/>
              </a:rPr>
              <a:t>02 / 15</a:t>
            </a:r>
          </a:p>
        </p:txBody>
      </p:sp>
      <p:sp>
        <p:nvSpPr>
          <p:cNvPr id="6" name="TextBox 5"/>
          <p:cNvSpPr txBox="1"/>
          <p:nvPr/>
        </p:nvSpPr>
        <p:spPr>
          <a:xfrm>
            <a:off x="566928" y="4777740"/>
            <a:ext cx="548640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800" b="0" i="0">
                <a:solidFill>
                  <a:srgbClr val="6F6656"/>
                </a:solidFill>
                <a:latin typeface="Menlo"/>
                <a:ea typeface="Hiragino Sans GB"/>
              </a:rPr>
              <a:t>ATTENTION IS ALL YOU NEED · PAPER DEEP-DIVE</a:t>
            </a:r>
          </a:p>
        </p:txBody>
      </p:sp>
      <p:sp>
        <p:nvSpPr>
          <p:cNvPr id="7" name="Rounded Rectangle 6"/>
          <p:cNvSpPr/>
          <p:nvPr/>
        </p:nvSpPr>
        <p:spPr>
          <a:xfrm>
            <a:off x="868680" y="1786127"/>
            <a:ext cx="1207008" cy="548640"/>
          </a:xfrm>
          <a:prstGeom prst="roundRect">
            <a:avLst/>
          </a:prstGeom>
          <a:solidFill>
            <a:srgbClr val="FFFFFF"/>
          </a:solidFill>
          <a:ln w="17780">
            <a:solidFill>
              <a:srgbClr val="166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23544" y="1786127"/>
            <a:ext cx="1097280" cy="548640"/>
          </a:xfrm>
          <a:prstGeom prst="rect">
            <a:avLst/>
          </a:prstGeom>
          <a:noFill/>
          <a:ln/>
        </p:spPr>
        <p:txBody>
          <a:bodyPr wrap="square" anchor="ctr" lIns="25400" rIns="25400" tIns="25400" bIns="25400">
            <a:spAutoFit/>
          </a:bodyPr>
          <a:lstStyle/>
          <a:p>
            <a:pPr algn="ctr">
              <a:lnSpc>
                <a:spcPct val="96000"/>
              </a:lnSpc>
              <a:spcBef>
                <a:spcPts val="0"/>
              </a:spcBef>
              <a:spcAft>
                <a:spcPts val="100"/>
              </a:spcAft>
            </a:pPr>
            <a:r>
              <a:rPr sz="1300" b="1" i="0">
                <a:solidFill>
                  <a:srgbClr val="1C1D22"/>
                </a:solidFill>
                <a:latin typeface="Helvetica Neue"/>
                <a:ea typeface="Hiragino Sans GB"/>
              </a:rPr>
              <a:t>h1</a:t>
            </a:r>
          </a:p>
          <a:p>
            <a:pPr algn="ctr">
              <a:lnSpc>
                <a:spcPct val="96000"/>
              </a:lnSpc>
              <a:spcBef>
                <a:spcPts val="0"/>
              </a:spcBef>
              <a:spcAft>
                <a:spcPts val="100"/>
              </a:spcAft>
            </a:pPr>
            <a:r>
              <a:rPr sz="950" b="0" i="0">
                <a:solidFill>
                  <a:srgbClr val="6F6656"/>
                </a:solidFill>
                <a:latin typeface="Menlo"/>
                <a:ea typeface="Hiragino Sans GB"/>
              </a:rPr>
              <a:t>hidden</a:t>
            </a:r>
          </a:p>
        </p:txBody>
      </p:sp>
      <p:sp>
        <p:nvSpPr>
          <p:cNvPr id="9" name="Rounded Rectangle 8"/>
          <p:cNvSpPr/>
          <p:nvPr/>
        </p:nvSpPr>
        <p:spPr>
          <a:xfrm>
            <a:off x="2459736" y="1786127"/>
            <a:ext cx="1207008" cy="548640"/>
          </a:xfrm>
          <a:prstGeom prst="roundRect">
            <a:avLst/>
          </a:prstGeom>
          <a:solidFill>
            <a:srgbClr val="FFFFFF"/>
          </a:solidFill>
          <a:ln w="17780">
            <a:solidFill>
              <a:srgbClr val="166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4600" y="1786127"/>
            <a:ext cx="1097280" cy="548640"/>
          </a:xfrm>
          <a:prstGeom prst="rect">
            <a:avLst/>
          </a:prstGeom>
          <a:noFill/>
          <a:ln/>
        </p:spPr>
        <p:txBody>
          <a:bodyPr wrap="square" anchor="ctr" lIns="25400" rIns="25400" tIns="25400" bIns="25400">
            <a:spAutoFit/>
          </a:bodyPr>
          <a:lstStyle/>
          <a:p>
            <a:pPr algn="ctr">
              <a:lnSpc>
                <a:spcPct val="96000"/>
              </a:lnSpc>
              <a:spcBef>
                <a:spcPts val="0"/>
              </a:spcBef>
              <a:spcAft>
                <a:spcPts val="100"/>
              </a:spcAft>
            </a:pPr>
            <a:r>
              <a:rPr sz="1300" b="1" i="0">
                <a:solidFill>
                  <a:srgbClr val="1C1D22"/>
                </a:solidFill>
                <a:latin typeface="Helvetica Neue"/>
                <a:ea typeface="Hiragino Sans GB"/>
              </a:rPr>
              <a:t>h2</a:t>
            </a:r>
          </a:p>
          <a:p>
            <a:pPr algn="ctr">
              <a:lnSpc>
                <a:spcPct val="96000"/>
              </a:lnSpc>
              <a:spcBef>
                <a:spcPts val="0"/>
              </a:spcBef>
              <a:spcAft>
                <a:spcPts val="100"/>
              </a:spcAft>
            </a:pPr>
            <a:r>
              <a:rPr sz="950" b="0" i="0">
                <a:solidFill>
                  <a:srgbClr val="6F6656"/>
                </a:solidFill>
                <a:latin typeface="Menlo"/>
                <a:ea typeface="Hiragino Sans GB"/>
              </a:rPr>
              <a:t>hidden</a:t>
            </a:r>
          </a:p>
        </p:txBody>
      </p:sp>
      <p:cxnSp>
        <p:nvCxnSpPr>
          <p:cNvPr id="11" name="Connector 10"/>
          <p:cNvCxnSpPr/>
          <p:nvPr/>
        </p:nvCxnSpPr>
        <p:spPr>
          <a:xfrm>
            <a:off x="2075688" y="2060447"/>
            <a:ext cx="384048" cy="0"/>
          </a:xfrm>
          <a:prstGeom prst="line">
            <a:avLst/>
          </a:prstGeom>
          <a:ln w="20320">
            <a:solidFill>
              <a:srgbClr val="16656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050791" y="1786127"/>
            <a:ext cx="1207008" cy="548640"/>
          </a:xfrm>
          <a:prstGeom prst="roundRect">
            <a:avLst/>
          </a:prstGeom>
          <a:solidFill>
            <a:srgbClr val="FFFFFF"/>
          </a:solidFill>
          <a:ln w="17780">
            <a:solidFill>
              <a:srgbClr val="166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05655" y="1786127"/>
            <a:ext cx="1097280" cy="548640"/>
          </a:xfrm>
          <a:prstGeom prst="rect">
            <a:avLst/>
          </a:prstGeom>
          <a:noFill/>
          <a:ln/>
        </p:spPr>
        <p:txBody>
          <a:bodyPr wrap="square" anchor="ctr" lIns="25400" rIns="25400" tIns="25400" bIns="25400">
            <a:spAutoFit/>
          </a:bodyPr>
          <a:lstStyle/>
          <a:p>
            <a:pPr algn="ctr">
              <a:lnSpc>
                <a:spcPct val="96000"/>
              </a:lnSpc>
              <a:spcBef>
                <a:spcPts val="0"/>
              </a:spcBef>
              <a:spcAft>
                <a:spcPts val="100"/>
              </a:spcAft>
            </a:pPr>
            <a:r>
              <a:rPr sz="1300" b="1" i="0">
                <a:solidFill>
                  <a:srgbClr val="1C1D22"/>
                </a:solidFill>
                <a:latin typeface="Helvetica Neue"/>
                <a:ea typeface="Hiragino Sans GB"/>
              </a:rPr>
              <a:t>h3</a:t>
            </a:r>
          </a:p>
          <a:p>
            <a:pPr algn="ctr">
              <a:lnSpc>
                <a:spcPct val="96000"/>
              </a:lnSpc>
              <a:spcBef>
                <a:spcPts val="0"/>
              </a:spcBef>
              <a:spcAft>
                <a:spcPts val="100"/>
              </a:spcAft>
            </a:pPr>
            <a:r>
              <a:rPr sz="950" b="0" i="0">
                <a:solidFill>
                  <a:srgbClr val="6F6656"/>
                </a:solidFill>
                <a:latin typeface="Menlo"/>
                <a:ea typeface="Hiragino Sans GB"/>
              </a:rPr>
              <a:t>hidden</a:t>
            </a:r>
          </a:p>
        </p:txBody>
      </p:sp>
      <p:cxnSp>
        <p:nvCxnSpPr>
          <p:cNvPr id="14" name="Connector 13"/>
          <p:cNvCxnSpPr/>
          <p:nvPr/>
        </p:nvCxnSpPr>
        <p:spPr>
          <a:xfrm>
            <a:off x="3666744" y="2060447"/>
            <a:ext cx="384047" cy="0"/>
          </a:xfrm>
          <a:prstGeom prst="line">
            <a:avLst/>
          </a:prstGeom>
          <a:ln w="20320">
            <a:solidFill>
              <a:srgbClr val="16656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641848" y="1786127"/>
            <a:ext cx="1207008" cy="548640"/>
          </a:xfrm>
          <a:prstGeom prst="roundRect">
            <a:avLst/>
          </a:prstGeom>
          <a:solidFill>
            <a:srgbClr val="FFFFFF"/>
          </a:solidFill>
          <a:ln w="17780">
            <a:solidFill>
              <a:srgbClr val="166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96712" y="1786127"/>
            <a:ext cx="1097280" cy="548640"/>
          </a:xfrm>
          <a:prstGeom prst="rect">
            <a:avLst/>
          </a:prstGeom>
          <a:noFill/>
          <a:ln/>
        </p:spPr>
        <p:txBody>
          <a:bodyPr wrap="square" anchor="ctr" lIns="25400" rIns="25400" tIns="25400" bIns="25400">
            <a:spAutoFit/>
          </a:bodyPr>
          <a:lstStyle/>
          <a:p>
            <a:pPr algn="ctr">
              <a:lnSpc>
                <a:spcPct val="96000"/>
              </a:lnSpc>
              <a:spcBef>
                <a:spcPts val="0"/>
              </a:spcBef>
              <a:spcAft>
                <a:spcPts val="100"/>
              </a:spcAft>
            </a:pPr>
            <a:r>
              <a:rPr sz="1300" b="1" i="0">
                <a:solidFill>
                  <a:srgbClr val="1C1D22"/>
                </a:solidFill>
                <a:latin typeface="Helvetica Neue"/>
                <a:ea typeface="Hiragino Sans GB"/>
              </a:rPr>
              <a:t>h4</a:t>
            </a:r>
          </a:p>
          <a:p>
            <a:pPr algn="ctr">
              <a:lnSpc>
                <a:spcPct val="96000"/>
              </a:lnSpc>
              <a:spcBef>
                <a:spcPts val="0"/>
              </a:spcBef>
              <a:spcAft>
                <a:spcPts val="100"/>
              </a:spcAft>
            </a:pPr>
            <a:r>
              <a:rPr sz="950" b="0" i="0">
                <a:solidFill>
                  <a:srgbClr val="6F6656"/>
                </a:solidFill>
                <a:latin typeface="Menlo"/>
                <a:ea typeface="Hiragino Sans GB"/>
              </a:rPr>
              <a:t>hidden</a:t>
            </a:r>
          </a:p>
        </p:txBody>
      </p:sp>
      <p:cxnSp>
        <p:nvCxnSpPr>
          <p:cNvPr id="17" name="Connector 16"/>
          <p:cNvCxnSpPr/>
          <p:nvPr/>
        </p:nvCxnSpPr>
        <p:spPr>
          <a:xfrm>
            <a:off x="5257800" y="2060447"/>
            <a:ext cx="384048" cy="0"/>
          </a:xfrm>
          <a:prstGeom prst="line">
            <a:avLst/>
          </a:prstGeom>
          <a:ln w="20320">
            <a:solidFill>
              <a:srgbClr val="16656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232904" y="1786127"/>
            <a:ext cx="1207008" cy="548640"/>
          </a:xfrm>
          <a:prstGeom prst="roundRect">
            <a:avLst/>
          </a:prstGeom>
          <a:solidFill>
            <a:srgbClr val="FFFFFF"/>
          </a:solidFill>
          <a:ln w="17780">
            <a:solidFill>
              <a:srgbClr val="166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87768" y="1786127"/>
            <a:ext cx="1097280" cy="548640"/>
          </a:xfrm>
          <a:prstGeom prst="rect">
            <a:avLst/>
          </a:prstGeom>
          <a:noFill/>
          <a:ln/>
        </p:spPr>
        <p:txBody>
          <a:bodyPr wrap="square" anchor="ctr" lIns="25400" rIns="25400" tIns="25400" bIns="25400">
            <a:spAutoFit/>
          </a:bodyPr>
          <a:lstStyle/>
          <a:p>
            <a:pPr algn="ctr">
              <a:lnSpc>
                <a:spcPct val="96000"/>
              </a:lnSpc>
              <a:spcBef>
                <a:spcPts val="0"/>
              </a:spcBef>
              <a:spcAft>
                <a:spcPts val="100"/>
              </a:spcAft>
            </a:pPr>
            <a:r>
              <a:rPr sz="1300" b="1" i="0">
                <a:solidFill>
                  <a:srgbClr val="1C1D22"/>
                </a:solidFill>
                <a:latin typeface="Helvetica Neue"/>
                <a:ea typeface="Hiragino Sans GB"/>
              </a:rPr>
              <a:t>h5</a:t>
            </a:r>
          </a:p>
          <a:p>
            <a:pPr algn="ctr">
              <a:lnSpc>
                <a:spcPct val="96000"/>
              </a:lnSpc>
              <a:spcBef>
                <a:spcPts val="0"/>
              </a:spcBef>
              <a:spcAft>
                <a:spcPts val="100"/>
              </a:spcAft>
            </a:pPr>
            <a:r>
              <a:rPr sz="950" b="0" i="0">
                <a:solidFill>
                  <a:srgbClr val="6F6656"/>
                </a:solidFill>
                <a:latin typeface="Menlo"/>
                <a:ea typeface="Hiragino Sans GB"/>
              </a:rPr>
              <a:t>hidden</a:t>
            </a:r>
          </a:p>
        </p:txBody>
      </p:sp>
      <p:cxnSp>
        <p:nvCxnSpPr>
          <p:cNvPr id="20" name="Connector 19"/>
          <p:cNvCxnSpPr/>
          <p:nvPr/>
        </p:nvCxnSpPr>
        <p:spPr>
          <a:xfrm>
            <a:off x="6848856" y="2060447"/>
            <a:ext cx="384048" cy="0"/>
          </a:xfrm>
          <a:prstGeom prst="line">
            <a:avLst/>
          </a:prstGeom>
          <a:ln w="20320">
            <a:solidFill>
              <a:srgbClr val="16656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1472184" y="1475231"/>
            <a:ext cx="0" cy="310896"/>
          </a:xfrm>
          <a:prstGeom prst="line">
            <a:avLst/>
          </a:prstGeom>
          <a:ln w="19050">
            <a:solidFill>
              <a:srgbClr val="B84020"/>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472184" y="1475231"/>
            <a:ext cx="6364224" cy="0"/>
          </a:xfrm>
          <a:prstGeom prst="line">
            <a:avLst/>
          </a:prstGeom>
          <a:ln w="19050">
            <a:solidFill>
              <a:srgbClr val="B84020"/>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836408" y="1475231"/>
            <a:ext cx="0" cy="310896"/>
          </a:xfrm>
          <a:prstGeom prst="line">
            <a:avLst/>
          </a:prstGeom>
          <a:ln w="19050">
            <a:solidFill>
              <a:srgbClr val="B84020"/>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472184" y="1182623"/>
            <a:ext cx="6364224" cy="237744"/>
          </a:xfrm>
          <a:prstGeom prst="rect">
            <a:avLst/>
          </a:prstGeom>
          <a:noFill/>
          <a:ln/>
        </p:spPr>
        <p:txBody>
          <a:bodyPr wrap="square" anchor="t" lIns="25400" rIns="25400" tIns="25400" bIns="25400">
            <a:spAutoFit/>
          </a:bodyPr>
          <a:lstStyle/>
          <a:p>
            <a:pPr algn="ctr">
              <a:lnSpc>
                <a:spcPct val="100000"/>
              </a:lnSpc>
              <a:spcBef>
                <a:spcPts val="0"/>
              </a:spcBef>
              <a:spcAft>
                <a:spcPts val="0"/>
              </a:spcAft>
            </a:pPr>
            <a:r>
              <a:rPr sz="1100" b="1" i="0">
                <a:solidFill>
                  <a:srgbClr val="B84020"/>
                </a:solidFill>
                <a:latin typeface="Helvetica Neue"/>
                <a:ea typeface="Hiragino Sans GB"/>
              </a:rPr>
              <a:t>Long-range dependency: any two steps are O(n) apart</a:t>
            </a:r>
          </a:p>
        </p:txBody>
      </p:sp>
      <p:sp>
        <p:nvSpPr>
          <p:cNvPr id="25" name="TextBox 24"/>
          <p:cNvSpPr txBox="1"/>
          <p:nvPr/>
        </p:nvSpPr>
        <p:spPr>
          <a:xfrm>
            <a:off x="868680" y="2444496"/>
            <a:ext cx="7955279" cy="274320"/>
          </a:xfrm>
          <a:prstGeom prst="rect">
            <a:avLst/>
          </a:prstGeom>
          <a:noFill/>
          <a:ln/>
        </p:spPr>
        <p:txBody>
          <a:bodyPr wrap="square" anchor="t" lIns="25400" rIns="25400" tIns="25400" bIns="25400">
            <a:spAutoFit/>
          </a:bodyPr>
          <a:lstStyle/>
          <a:p>
            <a:pPr algn="ctr">
              <a:lnSpc>
                <a:spcPct val="100000"/>
              </a:lnSpc>
              <a:spcBef>
                <a:spcPts val="0"/>
              </a:spcBef>
              <a:spcAft>
                <a:spcPts val="0"/>
              </a:spcAft>
            </a:pPr>
            <a:r>
              <a:rPr sz="1200" b="0" i="0">
                <a:solidFill>
                  <a:srgbClr val="5A5E68"/>
                </a:solidFill>
                <a:latin typeface="Helvetica Neue"/>
                <a:ea typeface="Hiragino Sans GB"/>
              </a:rPr>
              <a:t>Every step waits on the one before it — inherently sequential in time</a:t>
            </a:r>
          </a:p>
        </p:txBody>
      </p:sp>
      <p:sp>
        <p:nvSpPr>
          <p:cNvPr id="26" name="Rounded Rectangle 25"/>
          <p:cNvSpPr/>
          <p:nvPr/>
        </p:nvSpPr>
        <p:spPr>
          <a:xfrm>
            <a:off x="566928" y="2773680"/>
            <a:ext cx="2426208" cy="1546860"/>
          </a:xfrm>
          <a:prstGeom prst="roundRect">
            <a:avLst>
              <a:gd name="adj" fmla="val 5911"/>
            </a:avLst>
          </a:prstGeom>
          <a:solidFill>
            <a:srgbClr val="FBFAF6"/>
          </a:solidFill>
          <a:ln w="12700">
            <a:solidFill>
              <a:srgbClr val="D9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86384" y="2956560"/>
            <a:ext cx="493776" cy="493776"/>
          </a:xfrm>
          <a:prstGeom prst="roundRect">
            <a:avLst>
              <a:gd name="adj" fmla="val 24000"/>
            </a:avLst>
          </a:prstGeom>
          <a:solidFill>
            <a:srgbClr val="D5DD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c_clock-bolt.png"/>
          <p:cNvPicPr>
            <a:picLocks noChangeAspect="1"/>
          </p:cNvPicPr>
          <p:nvPr/>
        </p:nvPicPr>
        <p:blipFill>
          <a:blip r:embed="rId2"/>
          <a:stretch>
            <a:fillRect/>
          </a:stretch>
        </p:blipFill>
        <p:spPr>
          <a:xfrm>
            <a:off x="914765" y="3084941"/>
            <a:ext cx="237012" cy="237012"/>
          </a:xfrm>
          <a:prstGeom prst="rect">
            <a:avLst/>
          </a:prstGeom>
        </p:spPr>
      </p:pic>
      <p:sp>
        <p:nvSpPr>
          <p:cNvPr id="29" name="TextBox 28"/>
          <p:cNvSpPr txBox="1"/>
          <p:nvPr/>
        </p:nvSpPr>
        <p:spPr>
          <a:xfrm>
            <a:off x="786384" y="3523487"/>
            <a:ext cx="1987296" cy="310896"/>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550" b="1" i="0">
                <a:solidFill>
                  <a:srgbClr val="1C1D22"/>
                </a:solidFill>
                <a:latin typeface="Helvetica Neue"/>
                <a:ea typeface="Hiragino Sans GB"/>
              </a:rPr>
              <a:t>No parallelism</a:t>
            </a:r>
          </a:p>
        </p:txBody>
      </p:sp>
      <p:sp>
        <p:nvSpPr>
          <p:cNvPr id="30" name="TextBox 29"/>
          <p:cNvSpPr txBox="1"/>
          <p:nvPr/>
        </p:nvSpPr>
        <p:spPr>
          <a:xfrm>
            <a:off x="786384" y="3834384"/>
            <a:ext cx="1987296" cy="413004"/>
          </a:xfrm>
          <a:prstGeom prst="rect">
            <a:avLst/>
          </a:prstGeom>
          <a:noFill/>
          <a:ln/>
        </p:spPr>
        <p:txBody>
          <a:bodyPr wrap="square" anchor="t" lIns="25400" rIns="25400" tIns="25400" bIns="25400">
            <a:spAutoFit/>
          </a:bodyPr>
          <a:lstStyle/>
          <a:p>
            <a:pPr algn="l">
              <a:lnSpc>
                <a:spcPct val="112000"/>
              </a:lnSpc>
              <a:spcBef>
                <a:spcPts val="0"/>
              </a:spcBef>
              <a:spcAft>
                <a:spcPts val="0"/>
              </a:spcAft>
            </a:pPr>
            <a:r>
              <a:rPr sz="1100" b="0" i="0">
                <a:solidFill>
                  <a:srgbClr val="5A5E68"/>
                </a:solidFill>
                <a:latin typeface="Helvetica Neue"/>
                <a:ea typeface="Hiragino Sans GB"/>
              </a:rPr>
              <a:t>Length n sets the step count;</a:t>
            </a:r>
          </a:p>
          <a:p>
            <a:pPr algn="l">
              <a:lnSpc>
                <a:spcPct val="112000"/>
              </a:lnSpc>
              <a:spcBef>
                <a:spcPts val="0"/>
              </a:spcBef>
              <a:spcAft>
                <a:spcPts val="0"/>
              </a:spcAft>
            </a:pPr>
            <a:r>
              <a:rPr sz="1100" b="0" i="0">
                <a:solidFill>
                  <a:srgbClr val="5A5E68"/>
                </a:solidFill>
                <a:latin typeface="Helvetica Neue"/>
                <a:ea typeface="Hiragino Sans GB"/>
              </a:rPr>
              <a:t>GPUs sit idle, training is slow</a:t>
            </a:r>
          </a:p>
        </p:txBody>
      </p:sp>
      <p:sp>
        <p:nvSpPr>
          <p:cNvPr id="31" name="Rounded Rectangle 30"/>
          <p:cNvSpPr/>
          <p:nvPr/>
        </p:nvSpPr>
        <p:spPr>
          <a:xfrm>
            <a:off x="3358896" y="2773680"/>
            <a:ext cx="2426208" cy="1546860"/>
          </a:xfrm>
          <a:prstGeom prst="roundRect">
            <a:avLst>
              <a:gd name="adj" fmla="val 5911"/>
            </a:avLst>
          </a:prstGeom>
          <a:solidFill>
            <a:srgbClr val="FBFAF6"/>
          </a:solidFill>
          <a:ln w="12700">
            <a:solidFill>
              <a:srgbClr val="D9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3578352" y="2956560"/>
            <a:ext cx="493776" cy="493776"/>
          </a:xfrm>
          <a:prstGeom prst="roundRect">
            <a:avLst>
              <a:gd name="adj" fmla="val 24000"/>
            </a:avLst>
          </a:prstGeom>
          <a:solidFill>
            <a:srgbClr val="ECD8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ic_route.png"/>
          <p:cNvPicPr>
            <a:picLocks noChangeAspect="1"/>
          </p:cNvPicPr>
          <p:nvPr/>
        </p:nvPicPr>
        <p:blipFill>
          <a:blip r:embed="rId3"/>
          <a:stretch>
            <a:fillRect/>
          </a:stretch>
        </p:blipFill>
        <p:spPr>
          <a:xfrm>
            <a:off x="3706733" y="3084941"/>
            <a:ext cx="237012" cy="237012"/>
          </a:xfrm>
          <a:prstGeom prst="rect">
            <a:avLst/>
          </a:prstGeom>
        </p:spPr>
      </p:pic>
      <p:sp>
        <p:nvSpPr>
          <p:cNvPr id="34" name="TextBox 33"/>
          <p:cNvSpPr txBox="1"/>
          <p:nvPr/>
        </p:nvSpPr>
        <p:spPr>
          <a:xfrm>
            <a:off x="3578352" y="3523487"/>
            <a:ext cx="1987296" cy="310896"/>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550" b="1" i="0">
                <a:solidFill>
                  <a:srgbClr val="1C1D22"/>
                </a:solidFill>
                <a:latin typeface="Helvetica Neue"/>
                <a:ea typeface="Hiragino Sans GB"/>
              </a:rPr>
              <a:t>Long range is hard</a:t>
            </a:r>
          </a:p>
        </p:txBody>
      </p:sp>
      <p:sp>
        <p:nvSpPr>
          <p:cNvPr id="35" name="TextBox 34"/>
          <p:cNvSpPr txBox="1"/>
          <p:nvPr/>
        </p:nvSpPr>
        <p:spPr>
          <a:xfrm>
            <a:off x="3578352" y="3834384"/>
            <a:ext cx="1987296" cy="413004"/>
          </a:xfrm>
          <a:prstGeom prst="rect">
            <a:avLst/>
          </a:prstGeom>
          <a:noFill/>
          <a:ln/>
        </p:spPr>
        <p:txBody>
          <a:bodyPr wrap="square" anchor="t" lIns="25400" rIns="25400" tIns="25400" bIns="25400">
            <a:spAutoFit/>
          </a:bodyPr>
          <a:lstStyle/>
          <a:p>
            <a:pPr algn="l">
              <a:lnSpc>
                <a:spcPct val="112000"/>
              </a:lnSpc>
              <a:spcBef>
                <a:spcPts val="0"/>
              </a:spcBef>
              <a:spcAft>
                <a:spcPts val="0"/>
              </a:spcAft>
            </a:pPr>
            <a:r>
              <a:rPr sz="1100" b="0" i="0">
                <a:solidFill>
                  <a:srgbClr val="5A5E68"/>
                </a:solidFill>
                <a:latin typeface="Helvetica Neue"/>
                <a:ea typeface="Hiragino Sans GB"/>
              </a:rPr>
              <a:t>Farther-apart words mean</a:t>
            </a:r>
          </a:p>
          <a:p>
            <a:pPr algn="l">
              <a:lnSpc>
                <a:spcPct val="112000"/>
              </a:lnSpc>
              <a:spcBef>
                <a:spcPts val="0"/>
              </a:spcBef>
              <a:spcAft>
                <a:spcPts val="0"/>
              </a:spcAft>
            </a:pPr>
            <a:r>
              <a:rPr sz="1100" b="0" i="0">
                <a:solidFill>
                  <a:srgbClr val="5A5E68"/>
                </a:solidFill>
                <a:latin typeface="Helvetica Neue"/>
                <a:ea typeface="Hiragino Sans GB"/>
              </a:rPr>
              <a:t>more steps, a weaker signal</a:t>
            </a:r>
          </a:p>
        </p:txBody>
      </p:sp>
      <p:sp>
        <p:nvSpPr>
          <p:cNvPr id="36" name="Rounded Rectangle 35"/>
          <p:cNvSpPr/>
          <p:nvPr/>
        </p:nvSpPr>
        <p:spPr>
          <a:xfrm>
            <a:off x="6150864" y="2773680"/>
            <a:ext cx="2426208" cy="1546860"/>
          </a:xfrm>
          <a:prstGeom prst="roundRect">
            <a:avLst>
              <a:gd name="adj" fmla="val 5911"/>
            </a:avLst>
          </a:prstGeom>
          <a:solidFill>
            <a:srgbClr val="FBFAF6"/>
          </a:solidFill>
          <a:ln w="12700">
            <a:solidFill>
              <a:srgbClr val="D9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70320" y="2956560"/>
            <a:ext cx="493776" cy="493776"/>
          </a:xfrm>
          <a:prstGeom prst="roundRect">
            <a:avLst>
              <a:gd name="adj" fmla="val 24000"/>
            </a:avLst>
          </a:prstGeom>
          <a:solidFill>
            <a:srgbClr val="D8D8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c_windmill.png"/>
          <p:cNvPicPr>
            <a:picLocks noChangeAspect="1"/>
          </p:cNvPicPr>
          <p:nvPr/>
        </p:nvPicPr>
        <p:blipFill>
          <a:blip r:embed="rId4"/>
          <a:stretch>
            <a:fillRect/>
          </a:stretch>
        </p:blipFill>
        <p:spPr>
          <a:xfrm>
            <a:off x="6498701" y="3084941"/>
            <a:ext cx="237012" cy="237012"/>
          </a:xfrm>
          <a:prstGeom prst="rect">
            <a:avLst/>
          </a:prstGeom>
        </p:spPr>
      </p:pic>
      <p:sp>
        <p:nvSpPr>
          <p:cNvPr id="39" name="TextBox 38"/>
          <p:cNvSpPr txBox="1"/>
          <p:nvPr/>
        </p:nvSpPr>
        <p:spPr>
          <a:xfrm>
            <a:off x="6370320" y="3523487"/>
            <a:ext cx="1987296" cy="310896"/>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550" b="1" i="0">
                <a:solidFill>
                  <a:srgbClr val="1C1D22"/>
                </a:solidFill>
                <a:latin typeface="Helvetica Neue"/>
                <a:ea typeface="Hiragino Sans GB"/>
              </a:rPr>
              <a:t>Convolution's limit</a:t>
            </a:r>
          </a:p>
        </p:txBody>
      </p:sp>
      <p:sp>
        <p:nvSpPr>
          <p:cNvPr id="40" name="TextBox 39"/>
          <p:cNvSpPr txBox="1"/>
          <p:nvPr/>
        </p:nvSpPr>
        <p:spPr>
          <a:xfrm>
            <a:off x="6370320" y="3834384"/>
            <a:ext cx="1987296" cy="413004"/>
          </a:xfrm>
          <a:prstGeom prst="rect">
            <a:avLst/>
          </a:prstGeom>
          <a:noFill/>
          <a:ln/>
        </p:spPr>
        <p:txBody>
          <a:bodyPr wrap="square" anchor="t" lIns="25400" rIns="25400" tIns="25400" bIns="25400">
            <a:spAutoFit/>
          </a:bodyPr>
          <a:lstStyle/>
          <a:p>
            <a:pPr algn="l">
              <a:lnSpc>
                <a:spcPct val="112000"/>
              </a:lnSpc>
              <a:spcBef>
                <a:spcPts val="0"/>
              </a:spcBef>
              <a:spcAft>
                <a:spcPts val="0"/>
              </a:spcAft>
            </a:pPr>
            <a:r>
              <a:rPr sz="1100" b="0" i="0">
                <a:solidFill>
                  <a:srgbClr val="5A5E68"/>
                </a:solidFill>
                <a:latin typeface="Helvetica Neue"/>
                <a:ea typeface="Hiragino Sans GB"/>
              </a:rPr>
              <a:t>Parallel, but needs</a:t>
            </a:r>
          </a:p>
          <a:p>
            <a:pPr algn="l">
              <a:lnSpc>
                <a:spcPct val="112000"/>
              </a:lnSpc>
              <a:spcBef>
                <a:spcPts val="0"/>
              </a:spcBef>
              <a:spcAft>
                <a:spcPts val="0"/>
              </a:spcAft>
            </a:pPr>
            <a:r>
              <a:rPr sz="1100" b="0" i="0">
                <a:solidFill>
                  <a:srgbClr val="5A5E68"/>
                </a:solidFill>
                <a:latin typeface="Helvetica Neue"/>
                <a:ea typeface="Hiragino Sans GB"/>
              </a:rPr>
              <a:t>many layers to reach far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0" y="4759452"/>
            <a:ext cx="1097280" cy="274320"/>
          </a:xfrm>
          <a:prstGeom prst="rect">
            <a:avLst/>
          </a:prstGeom>
          <a:noFill/>
          <a:ln/>
        </p:spPr>
        <p:txBody>
          <a:bodyPr wrap="square" anchor="t" lIns="25400" rIns="25400" tIns="25400" bIns="25400">
            <a:spAutoFit/>
          </a:bodyPr>
          <a:lstStyle/>
          <a:p>
            <a:pPr algn="r">
              <a:lnSpc>
                <a:spcPct val="100000"/>
              </a:lnSpc>
              <a:spcBef>
                <a:spcPts val="0"/>
              </a:spcBef>
              <a:spcAft>
                <a:spcPts val="0"/>
              </a:spcAft>
            </a:pPr>
            <a:r>
              <a:rPr sz="900" b="1" i="0">
                <a:solidFill>
                  <a:srgbClr val="6F6656"/>
                </a:solidFill>
                <a:latin typeface="Menlo"/>
                <a:ea typeface="Hiragino Sans GB"/>
              </a:rPr>
              <a:t>03 / 15</a:t>
            </a:r>
          </a:p>
        </p:txBody>
      </p:sp>
      <p:cxnSp>
        <p:nvCxnSpPr>
          <p:cNvPr id="4" name="Connector 3"/>
          <p:cNvCxnSpPr/>
          <p:nvPr/>
        </p:nvCxnSpPr>
        <p:spPr>
          <a:xfrm>
            <a:off x="5943600" y="566928"/>
            <a:ext cx="1371600" cy="804672"/>
          </a:xfrm>
          <a:prstGeom prst="line">
            <a:avLst/>
          </a:prstGeom>
          <a:ln w="11430">
            <a:solidFill>
              <a:srgbClr val="E7CCC0"/>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400800" y="566928"/>
            <a:ext cx="914400" cy="804672"/>
          </a:xfrm>
          <a:prstGeom prst="line">
            <a:avLst/>
          </a:prstGeom>
          <a:ln w="11430">
            <a:solidFill>
              <a:srgbClr val="E7CCC0"/>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858000" y="566928"/>
            <a:ext cx="457200" cy="804672"/>
          </a:xfrm>
          <a:prstGeom prst="line">
            <a:avLst/>
          </a:prstGeom>
          <a:ln w="11430">
            <a:solidFill>
              <a:srgbClr val="E7CCC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7315200" y="566928"/>
            <a:ext cx="0" cy="804672"/>
          </a:xfrm>
          <a:prstGeom prst="line">
            <a:avLst/>
          </a:prstGeom>
          <a:ln w="11430">
            <a:solidFill>
              <a:srgbClr val="E7CCC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7315200" y="566928"/>
            <a:ext cx="457200" cy="804672"/>
          </a:xfrm>
          <a:prstGeom prst="line">
            <a:avLst/>
          </a:prstGeom>
          <a:ln w="11430">
            <a:solidFill>
              <a:srgbClr val="E7CCC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7315200" y="566928"/>
            <a:ext cx="914400" cy="804672"/>
          </a:xfrm>
          <a:prstGeom prst="line">
            <a:avLst/>
          </a:prstGeom>
          <a:ln w="11430">
            <a:solidFill>
              <a:srgbClr val="E7CCC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566928"/>
            <a:ext cx="1371600" cy="804672"/>
          </a:xfrm>
          <a:prstGeom prst="line">
            <a:avLst/>
          </a:prstGeom>
          <a:ln w="11430">
            <a:solidFill>
              <a:srgbClr val="E7CCC0"/>
            </a:solidFill>
          </a:ln>
          <a:effectLst/>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5904738" y="528066"/>
            <a:ext cx="77724" cy="77724"/>
          </a:xfrm>
          <a:prstGeom prst="ellipse">
            <a:avLst/>
          </a:prstGeom>
          <a:solidFill>
            <a:srgbClr val="C4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361938" y="528066"/>
            <a:ext cx="77724" cy="77724"/>
          </a:xfrm>
          <a:prstGeom prst="ellipse">
            <a:avLst/>
          </a:prstGeom>
          <a:solidFill>
            <a:srgbClr val="C4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19138" y="528066"/>
            <a:ext cx="77724" cy="77724"/>
          </a:xfrm>
          <a:prstGeom prst="ellipse">
            <a:avLst/>
          </a:prstGeom>
          <a:solidFill>
            <a:srgbClr val="C4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276338" y="528066"/>
            <a:ext cx="77724" cy="77724"/>
          </a:xfrm>
          <a:prstGeom prst="ellipse">
            <a:avLst/>
          </a:prstGeom>
          <a:solidFill>
            <a:srgbClr val="C4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733538" y="528066"/>
            <a:ext cx="77724" cy="77724"/>
          </a:xfrm>
          <a:prstGeom prst="ellipse">
            <a:avLst/>
          </a:prstGeom>
          <a:solidFill>
            <a:srgbClr val="C4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190738" y="528066"/>
            <a:ext cx="77724" cy="77724"/>
          </a:xfrm>
          <a:prstGeom prst="ellipse">
            <a:avLst/>
          </a:prstGeom>
          <a:solidFill>
            <a:srgbClr val="C4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647938" y="528066"/>
            <a:ext cx="77724" cy="77724"/>
          </a:xfrm>
          <a:prstGeom prst="ellipse">
            <a:avLst/>
          </a:prstGeom>
          <a:solidFill>
            <a:srgbClr val="C4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267011" y="1323411"/>
            <a:ext cx="96377" cy="96377"/>
          </a:xfrm>
          <a:prstGeom prst="ellipse">
            <a:avLst/>
          </a:prstGeom>
          <a:solidFill>
            <a:srgbClr val="D087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640080"/>
            <a:ext cx="548640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100" b="1" i="0" spc="150">
                <a:solidFill>
                  <a:srgbClr val="6F6656"/>
                </a:solidFill>
                <a:latin typeface="Menlo"/>
                <a:ea typeface="Hiragino Sans GB"/>
              </a:rPr>
              <a:t>THE CLAIM</a:t>
            </a:r>
          </a:p>
        </p:txBody>
      </p:sp>
      <p:sp>
        <p:nvSpPr>
          <p:cNvPr id="20" name="TextBox 19"/>
          <p:cNvSpPr txBox="1"/>
          <p:nvPr/>
        </p:nvSpPr>
        <p:spPr>
          <a:xfrm>
            <a:off x="640080" y="1170432"/>
            <a:ext cx="7955279" cy="1554480"/>
          </a:xfrm>
          <a:prstGeom prst="rect">
            <a:avLst/>
          </a:prstGeom>
          <a:noFill/>
          <a:ln/>
        </p:spPr>
        <p:txBody>
          <a:bodyPr wrap="square" anchor="t" lIns="25400" rIns="25400" tIns="25400" bIns="25400">
            <a:spAutoFit/>
          </a:bodyPr>
          <a:lstStyle/>
          <a:p>
            <a:pPr algn="l">
              <a:lnSpc>
                <a:spcPct val="106000"/>
              </a:lnSpc>
              <a:spcBef>
                <a:spcPts val="0"/>
              </a:spcBef>
              <a:spcAft>
                <a:spcPts val="400"/>
              </a:spcAft>
            </a:pPr>
            <a:r>
              <a:rPr sz="3200" b="1" i="0">
                <a:solidFill>
                  <a:srgbClr val="1C1D22"/>
                </a:solidFill>
                <a:latin typeface="Songti SC"/>
                <a:ea typeface="Hiragino Sans GB"/>
              </a:rPr>
              <a:t>Drop recurrence and convolution.</a:t>
            </a:r>
          </a:p>
          <a:p>
            <a:pPr algn="l">
              <a:lnSpc>
                <a:spcPct val="106000"/>
              </a:lnSpc>
              <a:spcBef>
                <a:spcPts val="0"/>
              </a:spcBef>
              <a:spcAft>
                <a:spcPts val="400"/>
              </a:spcAft>
            </a:pPr>
            <a:r>
              <a:rPr sz="3200" b="1" i="0">
                <a:solidFill>
                  <a:srgbClr val="B84020"/>
                </a:solidFill>
                <a:latin typeface="Songti SC"/>
                <a:ea typeface="Hiragino Sans GB"/>
              </a:rPr>
              <a:t>Attention</a:t>
            </a:r>
            <a:r>
              <a:rPr sz="3200" b="1" i="0">
                <a:solidFill>
                  <a:srgbClr val="1C1D22"/>
                </a:solidFill>
                <a:latin typeface="Songti SC"/>
                <a:ea typeface="Hiragino Sans GB"/>
              </a:rPr>
              <a:t> alone is enough.</a:t>
            </a:r>
          </a:p>
        </p:txBody>
      </p:sp>
      <p:sp>
        <p:nvSpPr>
          <p:cNvPr id="21" name="Rectangle 20"/>
          <p:cNvSpPr/>
          <p:nvPr/>
        </p:nvSpPr>
        <p:spPr>
          <a:xfrm>
            <a:off x="658368" y="2761488"/>
            <a:ext cx="1188720" cy="54864"/>
          </a:xfrm>
          <a:prstGeom prst="rect">
            <a:avLst/>
          </a:prstGeom>
          <a:solidFill>
            <a:srgbClr val="B84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2962656"/>
            <a:ext cx="7772400" cy="45720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350" b="0" i="1">
                <a:solidFill>
                  <a:srgbClr val="5A5E68"/>
                </a:solidFill>
                <a:latin typeface="Helvetica Neue"/>
                <a:ea typeface="Hiragino Sans GB"/>
              </a:rPr>
              <a:t>“The Transformer … relies entirely on </a:t>
            </a:r>
            <a:r>
              <a:rPr sz="1350" b="1" i="1">
                <a:solidFill>
                  <a:srgbClr val="B84020"/>
                </a:solidFill>
                <a:latin typeface="Helvetica Neue"/>
                <a:ea typeface="Hiragino Sans GB"/>
              </a:rPr>
              <a:t>self-attention</a:t>
            </a:r>
            <a:r>
              <a:rPr sz="1350" b="0" i="1">
                <a:solidFill>
                  <a:srgbClr val="5A5E68"/>
                </a:solidFill>
                <a:latin typeface="Helvetica Neue"/>
                <a:ea typeface="Hiragino Sans GB"/>
              </a:rPr>
              <a:t> to compute representations of its input and output.”</a:t>
            </a:r>
          </a:p>
        </p:txBody>
      </p:sp>
      <p:sp>
        <p:nvSpPr>
          <p:cNvPr id="23" name="Rounded Rectangle 22"/>
          <p:cNvSpPr/>
          <p:nvPr/>
        </p:nvSpPr>
        <p:spPr>
          <a:xfrm>
            <a:off x="658368" y="3584448"/>
            <a:ext cx="2389632" cy="992124"/>
          </a:xfrm>
          <a:prstGeom prst="roundRect">
            <a:avLst>
              <a:gd name="adj" fmla="val 9216"/>
            </a:avLst>
          </a:prstGeom>
          <a:solidFill>
            <a:srgbClr val="FBFAF6"/>
          </a:solidFill>
          <a:ln w="12700">
            <a:solidFill>
              <a:srgbClr val="D9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58368" y="3712463"/>
            <a:ext cx="64008" cy="736092"/>
          </a:xfrm>
          <a:prstGeom prst="rect">
            <a:avLst/>
          </a:prstGeom>
          <a:solidFill>
            <a:srgbClr val="B84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 y="3584448"/>
            <a:ext cx="2005584" cy="992124"/>
          </a:xfrm>
          <a:prstGeom prst="rect">
            <a:avLst/>
          </a:prstGeom>
          <a:noFill/>
          <a:ln/>
        </p:spPr>
        <p:txBody>
          <a:bodyPr wrap="square" anchor="ctr" lIns="25400" rIns="25400" tIns="25400" bIns="25400">
            <a:spAutoFit/>
          </a:bodyPr>
          <a:lstStyle/>
          <a:p>
            <a:pPr algn="l">
              <a:lnSpc>
                <a:spcPct val="105000"/>
              </a:lnSpc>
              <a:spcBef>
                <a:spcPts val="0"/>
              </a:spcBef>
              <a:spcAft>
                <a:spcPts val="400"/>
              </a:spcAft>
            </a:pPr>
            <a:r>
              <a:rPr sz="1500" b="1" i="0">
                <a:solidFill>
                  <a:srgbClr val="1C1D22"/>
                </a:solidFill>
                <a:latin typeface="Helvetica Neue"/>
                <a:ea typeface="Hiragino Sans GB"/>
              </a:rPr>
              <a:t>Fully parallel</a:t>
            </a:r>
          </a:p>
          <a:p>
            <a:pPr algn="l">
              <a:lnSpc>
                <a:spcPct val="105000"/>
              </a:lnSpc>
              <a:spcBef>
                <a:spcPts val="0"/>
              </a:spcBef>
              <a:spcAft>
                <a:spcPts val="400"/>
              </a:spcAft>
            </a:pPr>
            <a:r>
              <a:rPr sz="1100" b="0" i="0">
                <a:solidFill>
                  <a:srgbClr val="5A5E68"/>
                </a:solidFill>
                <a:latin typeface="Helvetica Neue"/>
                <a:ea typeface="Hiragino Sans GB"/>
              </a:rPr>
              <a:t>All positions computed at once</a:t>
            </a:r>
          </a:p>
        </p:txBody>
      </p:sp>
      <p:sp>
        <p:nvSpPr>
          <p:cNvPr id="26" name="Rounded Rectangle 25"/>
          <p:cNvSpPr/>
          <p:nvPr/>
        </p:nvSpPr>
        <p:spPr>
          <a:xfrm>
            <a:off x="3377184" y="3584448"/>
            <a:ext cx="2389632" cy="992124"/>
          </a:xfrm>
          <a:prstGeom prst="roundRect">
            <a:avLst>
              <a:gd name="adj" fmla="val 9216"/>
            </a:avLst>
          </a:prstGeom>
          <a:solidFill>
            <a:srgbClr val="FBFAF6"/>
          </a:solidFill>
          <a:ln w="12700">
            <a:solidFill>
              <a:srgbClr val="D9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377184" y="3712463"/>
            <a:ext cx="64008" cy="736092"/>
          </a:xfrm>
          <a:prstGeom prst="rect">
            <a:avLst/>
          </a:prstGeom>
          <a:solidFill>
            <a:srgbClr val="166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14928" y="3584448"/>
            <a:ext cx="2005584" cy="992124"/>
          </a:xfrm>
          <a:prstGeom prst="rect">
            <a:avLst/>
          </a:prstGeom>
          <a:noFill/>
          <a:ln/>
        </p:spPr>
        <p:txBody>
          <a:bodyPr wrap="square" anchor="ctr" lIns="25400" rIns="25400" tIns="25400" bIns="25400">
            <a:spAutoFit/>
          </a:bodyPr>
          <a:lstStyle/>
          <a:p>
            <a:pPr algn="l">
              <a:lnSpc>
                <a:spcPct val="105000"/>
              </a:lnSpc>
              <a:spcBef>
                <a:spcPts val="0"/>
              </a:spcBef>
              <a:spcAft>
                <a:spcPts val="400"/>
              </a:spcAft>
            </a:pPr>
            <a:r>
              <a:rPr sz="1500" b="1" i="0">
                <a:solidFill>
                  <a:srgbClr val="1C1D22"/>
                </a:solidFill>
                <a:latin typeface="Helvetica Neue"/>
                <a:ea typeface="Hiragino Sans GB"/>
              </a:rPr>
              <a:t>Path length O(1)</a:t>
            </a:r>
          </a:p>
          <a:p>
            <a:pPr algn="l">
              <a:lnSpc>
                <a:spcPct val="105000"/>
              </a:lnSpc>
              <a:spcBef>
                <a:spcPts val="0"/>
              </a:spcBef>
              <a:spcAft>
                <a:spcPts val="400"/>
              </a:spcAft>
            </a:pPr>
            <a:r>
              <a:rPr sz="1100" b="0" i="0">
                <a:solidFill>
                  <a:srgbClr val="5A5E68"/>
                </a:solidFill>
                <a:latin typeface="Helvetica Neue"/>
                <a:ea typeface="Hiragino Sans GB"/>
              </a:rPr>
              <a:t>Any two positions, one hop</a:t>
            </a:r>
          </a:p>
        </p:txBody>
      </p:sp>
      <p:sp>
        <p:nvSpPr>
          <p:cNvPr id="29" name="Rounded Rectangle 28"/>
          <p:cNvSpPr/>
          <p:nvPr/>
        </p:nvSpPr>
        <p:spPr>
          <a:xfrm>
            <a:off x="6096000" y="3584448"/>
            <a:ext cx="2389632" cy="992124"/>
          </a:xfrm>
          <a:prstGeom prst="roundRect">
            <a:avLst>
              <a:gd name="adj" fmla="val 9216"/>
            </a:avLst>
          </a:prstGeom>
          <a:solidFill>
            <a:srgbClr val="FBFAF6"/>
          </a:solidFill>
          <a:ln w="12700">
            <a:solidFill>
              <a:srgbClr val="D9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96000" y="3712463"/>
            <a:ext cx="64008" cy="736092"/>
          </a:xfrm>
          <a:prstGeom prst="rect">
            <a:avLst/>
          </a:prstGeom>
          <a:solidFill>
            <a:srgbClr val="2A3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33744" y="3584448"/>
            <a:ext cx="2005584" cy="992124"/>
          </a:xfrm>
          <a:prstGeom prst="rect">
            <a:avLst/>
          </a:prstGeom>
          <a:noFill/>
          <a:ln/>
        </p:spPr>
        <p:txBody>
          <a:bodyPr wrap="square" anchor="ctr" lIns="25400" rIns="25400" tIns="25400" bIns="25400">
            <a:spAutoFit/>
          </a:bodyPr>
          <a:lstStyle/>
          <a:p>
            <a:pPr algn="l">
              <a:lnSpc>
                <a:spcPct val="105000"/>
              </a:lnSpc>
              <a:spcBef>
                <a:spcPts val="0"/>
              </a:spcBef>
              <a:spcAft>
                <a:spcPts val="400"/>
              </a:spcAft>
            </a:pPr>
            <a:r>
              <a:rPr sz="1500" b="1" i="0">
                <a:solidFill>
                  <a:srgbClr val="1C1D22"/>
                </a:solidFill>
                <a:latin typeface="Helvetica Neue"/>
                <a:ea typeface="Hiragino Sans GB"/>
              </a:rPr>
              <a:t>Faster to train</a:t>
            </a:r>
          </a:p>
          <a:p>
            <a:pPr algn="l">
              <a:lnSpc>
                <a:spcPct val="105000"/>
              </a:lnSpc>
              <a:spcBef>
                <a:spcPts val="0"/>
              </a:spcBef>
              <a:spcAft>
                <a:spcPts val="400"/>
              </a:spcAft>
            </a:pPr>
            <a:r>
              <a:rPr sz="1100" b="0" i="0">
                <a:solidFill>
                  <a:srgbClr val="5A5E68"/>
                </a:solidFill>
                <a:latin typeface="Helvetica Neue"/>
                <a:ea typeface="Hiragino Sans GB"/>
              </a:rPr>
              <a:t>As good or better, for less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8010144"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200" b="1" i="0">
                <a:solidFill>
                  <a:srgbClr val="B84020"/>
                </a:solidFill>
                <a:latin typeface="Helvetica Neue"/>
                <a:ea typeface="Hiragino Sans GB"/>
              </a:rPr>
              <a:t>EVIDENCE · TABLE 1</a:t>
            </a:r>
          </a:p>
        </p:txBody>
      </p:sp>
      <p:sp>
        <p:nvSpPr>
          <p:cNvPr id="4" name="TextBox 3"/>
          <p:cNvSpPr txBox="1"/>
          <p:nvPr/>
        </p:nvSpPr>
        <p:spPr>
          <a:xfrm>
            <a:off x="566928" y="713232"/>
            <a:ext cx="8010144" cy="7315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2400" b="1" i="0">
                <a:solidFill>
                  <a:srgbClr val="1C1D22"/>
                </a:solidFill>
                <a:latin typeface="Helvetica Neue"/>
                <a:ea typeface="Songti SC"/>
              </a:rPr>
              <a:t>Why attention parallelizes better</a:t>
            </a:r>
          </a:p>
        </p:txBody>
      </p:sp>
      <p:sp>
        <p:nvSpPr>
          <p:cNvPr id="5" name="TextBox 4"/>
          <p:cNvSpPr txBox="1"/>
          <p:nvPr/>
        </p:nvSpPr>
        <p:spPr>
          <a:xfrm>
            <a:off x="7680960" y="4759452"/>
            <a:ext cx="1097280" cy="274320"/>
          </a:xfrm>
          <a:prstGeom prst="rect">
            <a:avLst/>
          </a:prstGeom>
          <a:noFill/>
          <a:ln/>
        </p:spPr>
        <p:txBody>
          <a:bodyPr wrap="square" anchor="t" lIns="25400" rIns="25400" tIns="25400" bIns="25400">
            <a:spAutoFit/>
          </a:bodyPr>
          <a:lstStyle/>
          <a:p>
            <a:pPr algn="r">
              <a:lnSpc>
                <a:spcPct val="100000"/>
              </a:lnSpc>
              <a:spcBef>
                <a:spcPts val="0"/>
              </a:spcBef>
              <a:spcAft>
                <a:spcPts val="0"/>
              </a:spcAft>
            </a:pPr>
            <a:r>
              <a:rPr sz="900" b="1" i="0">
                <a:solidFill>
                  <a:srgbClr val="6F6656"/>
                </a:solidFill>
                <a:latin typeface="Menlo"/>
                <a:ea typeface="Hiragino Sans GB"/>
              </a:rPr>
              <a:t>04 / 15</a:t>
            </a:r>
          </a:p>
        </p:txBody>
      </p:sp>
      <p:sp>
        <p:nvSpPr>
          <p:cNvPr id="6" name="TextBox 5"/>
          <p:cNvSpPr txBox="1"/>
          <p:nvPr/>
        </p:nvSpPr>
        <p:spPr>
          <a:xfrm>
            <a:off x="566928" y="4777740"/>
            <a:ext cx="548640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800" b="0" i="0">
                <a:solidFill>
                  <a:srgbClr val="6F6656"/>
                </a:solidFill>
                <a:latin typeface="Menlo"/>
                <a:ea typeface="Hiragino Sans GB"/>
              </a:rPr>
              <a:t>ATTENTION IS ALL YOU NEED · PAPER DEEP-DIVE</a:t>
            </a:r>
          </a:p>
        </p:txBody>
      </p:sp>
      <p:graphicFrame>
        <p:nvGraphicFramePr>
          <p:cNvPr id="7" name="Table 6"/>
          <p:cNvGraphicFramePr>
            <a:graphicFrameLocks noGrp="1"/>
          </p:cNvGraphicFramePr>
          <p:nvPr/>
        </p:nvGraphicFramePr>
        <p:xfrm>
          <a:off x="566928" y="1374647"/>
          <a:ext cx="4726678" cy="2267712"/>
        </p:xfrm>
        <a:graphic>
          <a:graphicData uri="http://schemas.openxmlformats.org/drawingml/2006/table">
            <a:tbl>
              <a:tblPr firstRow="0" bandRow="0">
                <a:tableStyleId>{2D5ABB26-0587-4C30-8999-92F81FD0307C}</a:tableStyleId>
              </a:tblPr>
              <a:tblGrid>
                <a:gridCol w="1512537"/>
                <a:gridCol w="992602"/>
                <a:gridCol w="898069"/>
                <a:gridCol w="1323470"/>
              </a:tblGrid>
              <a:tr h="566928">
                <a:tc>
                  <a:txBody>
                    <a:bodyPr/>
                    <a:lstStyle/>
                    <a:p>
                      <a:pPr algn="l"/>
                      <a:r>
                        <a:rPr sz="1200" b="1" i="0">
                          <a:solidFill>
                            <a:srgbClr val="1C1D22"/>
                          </a:solidFill>
                          <a:latin typeface="Helvetica Neue"/>
                          <a:ea typeface="Hiragino Sans GB"/>
                        </a:rPr>
                        <a:t>Layer type</a:t>
                      </a:r>
                    </a:p>
                  </a:txBody>
                  <a:tcPr marL="88900" marR="88900" marT="25400" marB="25400" anchor="ctr">
                    <a:lnT w="17780" cap="flat" cmpd="sng" algn="ctr">
                      <a:solidFill>
                        <a:srgbClr val="1C1D22"/>
                      </a:solidFill>
                    </a:lnT>
                    <a:lnB w="10160" cap="flat" cmpd="sng" algn="ctr">
                      <a:solidFill>
                        <a:srgbClr val="6F6656"/>
                      </a:solidFill>
                    </a:lnB>
                    <a:noFill/>
                  </a:tcPr>
                </a:tc>
                <a:tc>
                  <a:txBody>
                    <a:bodyPr/>
                    <a:lstStyle/>
                    <a:p>
                      <a:pPr algn="r"/>
                      <a:r>
                        <a:rPr sz="1200" b="1" i="0">
                          <a:solidFill>
                            <a:srgbClr val="1C1D22"/>
                          </a:solidFill>
                          <a:latin typeface="Helvetica Neue"/>
                          <a:ea typeface="Hiragino Sans GB"/>
                        </a:rPr>
                        <a:t>Per-layer cost</a:t>
                      </a:r>
                    </a:p>
                  </a:txBody>
                  <a:tcPr marL="88900" marR="88900" marT="25400" marB="25400" anchor="ctr">
                    <a:lnT w="17780" cap="flat" cmpd="sng" algn="ctr">
                      <a:solidFill>
                        <a:srgbClr val="1C1D22"/>
                      </a:solidFill>
                    </a:lnT>
                    <a:lnB w="10160" cap="flat" cmpd="sng" algn="ctr">
                      <a:solidFill>
                        <a:srgbClr val="6F6656"/>
                      </a:solidFill>
                    </a:lnB>
                    <a:noFill/>
                  </a:tcPr>
                </a:tc>
                <a:tc>
                  <a:txBody>
                    <a:bodyPr/>
                    <a:lstStyle/>
                    <a:p>
                      <a:pPr algn="r"/>
                      <a:r>
                        <a:rPr sz="1200" b="1" i="0">
                          <a:solidFill>
                            <a:srgbClr val="1C1D22"/>
                          </a:solidFill>
                          <a:latin typeface="Helvetica Neue"/>
                          <a:ea typeface="Hiragino Sans GB"/>
                        </a:rPr>
                        <a:t>Seq. ops</a:t>
                      </a:r>
                    </a:p>
                  </a:txBody>
                  <a:tcPr marL="88900" marR="88900" marT="25400" marB="25400" anchor="ctr">
                    <a:lnT w="17780" cap="flat" cmpd="sng" algn="ctr">
                      <a:solidFill>
                        <a:srgbClr val="1C1D22"/>
                      </a:solidFill>
                    </a:lnT>
                    <a:lnB w="10160" cap="flat" cmpd="sng" algn="ctr">
                      <a:solidFill>
                        <a:srgbClr val="6F6656"/>
                      </a:solidFill>
                    </a:lnB>
                    <a:noFill/>
                  </a:tcPr>
                </a:tc>
                <a:tc>
                  <a:txBody>
                    <a:bodyPr/>
                    <a:lstStyle/>
                    <a:p>
                      <a:pPr algn="r"/>
                      <a:r>
                        <a:rPr sz="1200" b="1" i="0">
                          <a:solidFill>
                            <a:srgbClr val="1C1D22"/>
                          </a:solidFill>
                          <a:latin typeface="Helvetica Neue"/>
                          <a:ea typeface="Hiragino Sans GB"/>
                        </a:rPr>
                        <a:t>Max path length</a:t>
                      </a:r>
                    </a:p>
                  </a:txBody>
                  <a:tcPr marL="88900" marR="88900" marT="25400" marB="25400" anchor="ctr">
                    <a:lnT w="17780" cap="flat" cmpd="sng" algn="ctr">
                      <a:solidFill>
                        <a:srgbClr val="1C1D22"/>
                      </a:solidFill>
                    </a:lnT>
                    <a:lnB w="10160" cap="flat" cmpd="sng" algn="ctr">
                      <a:solidFill>
                        <a:srgbClr val="6F6656"/>
                      </a:solidFill>
                    </a:lnB>
                    <a:noFill/>
                  </a:tcPr>
                </a:tc>
              </a:tr>
              <a:tr h="566928">
                <a:tc>
                  <a:txBody>
                    <a:bodyPr/>
                    <a:lstStyle/>
                    <a:p>
                      <a:pPr algn="l"/>
                      <a:r>
                        <a:rPr sz="1200" b="1" i="0">
                          <a:solidFill>
                            <a:srgbClr val="B84020"/>
                          </a:solidFill>
                          <a:latin typeface="Helvetica Neue"/>
                          <a:ea typeface="Hiragino Sans GB"/>
                        </a:rPr>
                        <a:t>Self-Attention</a:t>
                      </a:r>
                    </a:p>
                  </a:txBody>
                  <a:tcPr marL="88900" marR="88900" marT="25400" marB="25400" anchor="ctr">
                    <a:solidFill>
                      <a:srgbClr val="ECD8CD"/>
                    </a:solidFill>
                  </a:tcPr>
                </a:tc>
                <a:tc>
                  <a:txBody>
                    <a:bodyPr/>
                    <a:lstStyle/>
                    <a:p>
                      <a:pPr algn="r"/>
                      <a:r>
                        <a:rPr sz="1200" b="1" i="0">
                          <a:solidFill>
                            <a:srgbClr val="B84020"/>
                          </a:solidFill>
                          <a:latin typeface="Helvetica Neue"/>
                          <a:ea typeface="Hiragino Sans GB"/>
                        </a:rPr>
                        <a:t>O(n²·d)</a:t>
                      </a:r>
                    </a:p>
                  </a:txBody>
                  <a:tcPr marL="88900" marR="88900" marT="25400" marB="25400" anchor="ctr">
                    <a:solidFill>
                      <a:srgbClr val="ECD8CD"/>
                    </a:solidFill>
                  </a:tcPr>
                </a:tc>
                <a:tc>
                  <a:txBody>
                    <a:bodyPr/>
                    <a:lstStyle/>
                    <a:p>
                      <a:pPr algn="r"/>
                      <a:r>
                        <a:rPr sz="1200" b="1" i="0">
                          <a:solidFill>
                            <a:srgbClr val="B84020"/>
                          </a:solidFill>
                          <a:latin typeface="Helvetica Neue"/>
                          <a:ea typeface="Hiragino Sans GB"/>
                        </a:rPr>
                        <a:t>O(1)</a:t>
                      </a:r>
                    </a:p>
                  </a:txBody>
                  <a:tcPr marL="88900" marR="88900" marT="25400" marB="25400" anchor="ctr">
                    <a:solidFill>
                      <a:srgbClr val="ECD8CD"/>
                    </a:solidFill>
                  </a:tcPr>
                </a:tc>
                <a:tc>
                  <a:txBody>
                    <a:bodyPr/>
                    <a:lstStyle/>
                    <a:p>
                      <a:pPr algn="r"/>
                      <a:r>
                        <a:rPr sz="1200" b="1" i="0">
                          <a:solidFill>
                            <a:srgbClr val="B84020"/>
                          </a:solidFill>
                          <a:latin typeface="Helvetica Neue"/>
                          <a:ea typeface="Hiragino Sans GB"/>
                        </a:rPr>
                        <a:t>O(1)</a:t>
                      </a:r>
                    </a:p>
                  </a:txBody>
                  <a:tcPr marL="88900" marR="88900" marT="25400" marB="25400" anchor="ctr">
                    <a:solidFill>
                      <a:srgbClr val="ECD8CD"/>
                    </a:solidFill>
                  </a:tcPr>
                </a:tc>
              </a:tr>
              <a:tr h="566928">
                <a:tc>
                  <a:txBody>
                    <a:bodyPr/>
                    <a:lstStyle/>
                    <a:p>
                      <a:pPr algn="l"/>
                      <a:r>
                        <a:rPr sz="1200" b="0" i="0">
                          <a:solidFill>
                            <a:srgbClr val="5A5E68"/>
                          </a:solidFill>
                          <a:latin typeface="Helvetica Neue"/>
                          <a:ea typeface="Hiragino Sans GB"/>
                        </a:rPr>
                        <a:t>Recurrent</a:t>
                      </a:r>
                    </a:p>
                  </a:txBody>
                  <a:tcPr marL="88900" marR="88900" marT="25400" marB="25400" anchor="ctr">
                    <a:noFill/>
                  </a:tcPr>
                </a:tc>
                <a:tc>
                  <a:txBody>
                    <a:bodyPr/>
                    <a:lstStyle/>
                    <a:p>
                      <a:pPr algn="r"/>
                      <a:r>
                        <a:rPr sz="1200" b="0" i="0">
                          <a:solidFill>
                            <a:srgbClr val="5A5E68"/>
                          </a:solidFill>
                          <a:latin typeface="Helvetica Neue"/>
                          <a:ea typeface="Hiragino Sans GB"/>
                        </a:rPr>
                        <a:t>O(n·d²)</a:t>
                      </a:r>
                    </a:p>
                  </a:txBody>
                  <a:tcPr marL="88900" marR="88900" marT="25400" marB="25400" anchor="ctr">
                    <a:noFill/>
                  </a:tcPr>
                </a:tc>
                <a:tc>
                  <a:txBody>
                    <a:bodyPr/>
                    <a:lstStyle/>
                    <a:p>
                      <a:pPr algn="r"/>
                      <a:r>
                        <a:rPr sz="1200" b="0" i="0">
                          <a:solidFill>
                            <a:srgbClr val="5A5E68"/>
                          </a:solidFill>
                          <a:latin typeface="Helvetica Neue"/>
                          <a:ea typeface="Hiragino Sans GB"/>
                        </a:rPr>
                        <a:t>O(n)</a:t>
                      </a:r>
                    </a:p>
                  </a:txBody>
                  <a:tcPr marL="88900" marR="88900" marT="25400" marB="25400" anchor="ctr">
                    <a:noFill/>
                  </a:tcPr>
                </a:tc>
                <a:tc>
                  <a:txBody>
                    <a:bodyPr/>
                    <a:lstStyle/>
                    <a:p>
                      <a:pPr algn="r"/>
                      <a:r>
                        <a:rPr sz="1200" b="0" i="0">
                          <a:solidFill>
                            <a:srgbClr val="5A5E68"/>
                          </a:solidFill>
                          <a:latin typeface="Helvetica Neue"/>
                          <a:ea typeface="Hiragino Sans GB"/>
                        </a:rPr>
                        <a:t>O(n)</a:t>
                      </a:r>
                    </a:p>
                  </a:txBody>
                  <a:tcPr marL="88900" marR="88900" marT="25400" marB="25400" anchor="ctr">
                    <a:noFill/>
                  </a:tcPr>
                </a:tc>
              </a:tr>
              <a:tr h="566928">
                <a:tc>
                  <a:txBody>
                    <a:bodyPr/>
                    <a:lstStyle/>
                    <a:p>
                      <a:pPr algn="l"/>
                      <a:r>
                        <a:rPr sz="1200" b="0" i="0">
                          <a:solidFill>
                            <a:srgbClr val="5A5E68"/>
                          </a:solidFill>
                          <a:latin typeface="Helvetica Neue"/>
                          <a:ea typeface="Hiragino Sans GB"/>
                        </a:rPr>
                        <a:t>Convolutional</a:t>
                      </a:r>
                    </a:p>
                  </a:txBody>
                  <a:tcPr marL="88900" marR="88900" marT="25400" marB="25400" anchor="ctr">
                    <a:lnB w="17780" cap="flat" cmpd="sng" algn="ctr">
                      <a:solidFill>
                        <a:srgbClr val="1C1D22"/>
                      </a:solidFill>
                    </a:lnB>
                    <a:noFill/>
                  </a:tcPr>
                </a:tc>
                <a:tc>
                  <a:txBody>
                    <a:bodyPr/>
                    <a:lstStyle/>
                    <a:p>
                      <a:pPr algn="r"/>
                      <a:r>
                        <a:rPr sz="1200" b="0" i="0">
                          <a:solidFill>
                            <a:srgbClr val="5A5E68"/>
                          </a:solidFill>
                          <a:latin typeface="Helvetica Neue"/>
                          <a:ea typeface="Hiragino Sans GB"/>
                        </a:rPr>
                        <a:t>O(k·n·d²)</a:t>
                      </a:r>
                    </a:p>
                  </a:txBody>
                  <a:tcPr marL="88900" marR="88900" marT="25400" marB="25400" anchor="ctr">
                    <a:lnB w="17780" cap="flat" cmpd="sng" algn="ctr">
                      <a:solidFill>
                        <a:srgbClr val="1C1D22"/>
                      </a:solidFill>
                    </a:lnB>
                    <a:noFill/>
                  </a:tcPr>
                </a:tc>
                <a:tc>
                  <a:txBody>
                    <a:bodyPr/>
                    <a:lstStyle/>
                    <a:p>
                      <a:pPr algn="r"/>
                      <a:r>
                        <a:rPr sz="1200" b="0" i="0">
                          <a:solidFill>
                            <a:srgbClr val="5A5E68"/>
                          </a:solidFill>
                          <a:latin typeface="Helvetica Neue"/>
                          <a:ea typeface="Hiragino Sans GB"/>
                        </a:rPr>
                        <a:t>O(1)</a:t>
                      </a:r>
                    </a:p>
                  </a:txBody>
                  <a:tcPr marL="88900" marR="88900" marT="25400" marB="25400" anchor="ctr">
                    <a:lnB w="17780" cap="flat" cmpd="sng" algn="ctr">
                      <a:solidFill>
                        <a:srgbClr val="1C1D22"/>
                      </a:solidFill>
                    </a:lnB>
                    <a:noFill/>
                  </a:tcPr>
                </a:tc>
                <a:tc>
                  <a:txBody>
                    <a:bodyPr/>
                    <a:lstStyle/>
                    <a:p>
                      <a:pPr algn="r"/>
                      <a:r>
                        <a:rPr sz="1200" b="0" i="0">
                          <a:solidFill>
                            <a:srgbClr val="5A5E68"/>
                          </a:solidFill>
                          <a:latin typeface="Helvetica Neue"/>
                          <a:ea typeface="Hiragino Sans GB"/>
                        </a:rPr>
                        <a:t>O(logₖ n)</a:t>
                      </a:r>
                    </a:p>
                  </a:txBody>
                  <a:tcPr marL="88900" marR="88900" marT="25400" marB="25400" anchor="ctr">
                    <a:lnB w="17780" cap="flat" cmpd="sng" algn="ctr">
                      <a:solidFill>
                        <a:srgbClr val="1C1D22"/>
                      </a:solidFill>
                    </a:lnB>
                    <a:noFill/>
                  </a:tcPr>
                </a:tc>
              </a:tr>
            </a:tbl>
          </a:graphicData>
        </a:graphic>
      </p:graphicFrame>
      <p:sp>
        <p:nvSpPr>
          <p:cNvPr id="8" name="TextBox 7"/>
          <p:cNvSpPr txBox="1"/>
          <p:nvPr/>
        </p:nvSpPr>
        <p:spPr>
          <a:xfrm>
            <a:off x="566928" y="3788664"/>
            <a:ext cx="4726680" cy="365760"/>
          </a:xfrm>
          <a:prstGeom prst="rect">
            <a:avLst/>
          </a:prstGeom>
          <a:noFill/>
          <a:ln/>
        </p:spPr>
        <p:txBody>
          <a:bodyPr wrap="square" anchor="t" lIns="25400" rIns="25400" tIns="25400" bIns="25400">
            <a:spAutoFit/>
          </a:bodyPr>
          <a:lstStyle/>
          <a:p>
            <a:pPr algn="l">
              <a:lnSpc>
                <a:spcPct val="112000"/>
              </a:lnSpc>
              <a:spcBef>
                <a:spcPts val="0"/>
              </a:spcBef>
              <a:spcAft>
                <a:spcPts val="0"/>
              </a:spcAft>
            </a:pPr>
            <a:r>
              <a:rPr sz="1000" b="0" i="0">
                <a:solidFill>
                  <a:srgbClr val="6F6656"/>
                </a:solidFill>
                <a:latin typeface="Helvetica Neue"/>
                <a:ea typeface="Hiragino Sans GB"/>
              </a:rPr>
              <a:t>n = sequence length　d = representation dim　k = kernel width　(orange row = self-attention)</a:t>
            </a:r>
          </a:p>
        </p:txBody>
      </p:sp>
      <p:sp>
        <p:nvSpPr>
          <p:cNvPr id="9" name="TextBox 8"/>
          <p:cNvSpPr txBox="1"/>
          <p:nvPr/>
        </p:nvSpPr>
        <p:spPr>
          <a:xfrm>
            <a:off x="5659368" y="1557527"/>
            <a:ext cx="2917703"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100" b="1" i="0">
                <a:solidFill>
                  <a:srgbClr val="B84020"/>
                </a:solidFill>
                <a:latin typeface="Helvetica Neue"/>
                <a:ea typeface="Hiragino Sans GB"/>
              </a:rPr>
              <a:t>THE KEY DIFFERENCE</a:t>
            </a:r>
          </a:p>
        </p:txBody>
      </p:sp>
      <p:sp>
        <p:nvSpPr>
          <p:cNvPr id="10" name="TextBox 9"/>
          <p:cNvSpPr txBox="1"/>
          <p:nvPr/>
        </p:nvSpPr>
        <p:spPr>
          <a:xfrm>
            <a:off x="5659368" y="1868423"/>
            <a:ext cx="2917703" cy="82296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3400" b="1" i="0">
                <a:solidFill>
                  <a:srgbClr val="1C1D22"/>
                </a:solidFill>
                <a:latin typeface="Helvetica Neue"/>
                <a:ea typeface="Hiragino Sans GB"/>
              </a:rPr>
              <a:t>O(1)</a:t>
            </a:r>
          </a:p>
        </p:txBody>
      </p:sp>
      <p:sp>
        <p:nvSpPr>
          <p:cNvPr id="11" name="TextBox 10"/>
          <p:cNvSpPr txBox="1"/>
          <p:nvPr/>
        </p:nvSpPr>
        <p:spPr>
          <a:xfrm>
            <a:off x="5659368" y="2746247"/>
            <a:ext cx="2917703" cy="1828800"/>
          </a:xfrm>
          <a:prstGeom prst="rect">
            <a:avLst/>
          </a:prstGeom>
          <a:noFill/>
          <a:ln/>
        </p:spPr>
        <p:txBody>
          <a:bodyPr wrap="square" anchor="t" lIns="25400" rIns="25400" tIns="25400" bIns="25400">
            <a:spAutoFit/>
          </a:bodyPr>
          <a:lstStyle/>
          <a:p>
            <a:pPr algn="l">
              <a:lnSpc>
                <a:spcPct val="120000"/>
              </a:lnSpc>
              <a:spcBef>
                <a:spcPts val="0"/>
              </a:spcBef>
              <a:spcAft>
                <a:spcPts val="0"/>
              </a:spcAft>
            </a:pPr>
            <a:r>
              <a:rPr sz="1400" b="0" i="0">
                <a:solidFill>
                  <a:srgbClr val="5A5E68"/>
                </a:solidFill>
                <a:latin typeface="Helvetica Neue"/>
                <a:ea typeface="Hiragino Sans GB"/>
              </a:rPr>
              <a:t>Self-attention's sequential ops are constant — independent of sequence length, so it parallelizes for free; a recurrent layer is O(n), so doubling the length doubles the sequential steps.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8010144"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200" b="1" i="0">
                <a:solidFill>
                  <a:srgbClr val="B84020"/>
                </a:solidFill>
                <a:latin typeface="Helvetica Neue"/>
                <a:ea typeface="Hiragino Sans GB"/>
              </a:rPr>
              <a:t>ARCHITECTURE · THE MODEL</a:t>
            </a:r>
          </a:p>
        </p:txBody>
      </p:sp>
      <p:sp>
        <p:nvSpPr>
          <p:cNvPr id="4" name="TextBox 3"/>
          <p:cNvSpPr txBox="1"/>
          <p:nvPr/>
        </p:nvSpPr>
        <p:spPr>
          <a:xfrm>
            <a:off x="566928" y="713232"/>
            <a:ext cx="8010144" cy="7315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2400" b="1" i="0">
                <a:solidFill>
                  <a:srgbClr val="1C1D22"/>
                </a:solidFill>
                <a:latin typeface="Helvetica Neue"/>
                <a:ea typeface="Songti SC"/>
              </a:rPr>
              <a:t>Encoder–decoder: each a stack of 6 identical layers</a:t>
            </a:r>
          </a:p>
        </p:txBody>
      </p:sp>
      <p:sp>
        <p:nvSpPr>
          <p:cNvPr id="5" name="TextBox 4"/>
          <p:cNvSpPr txBox="1"/>
          <p:nvPr/>
        </p:nvSpPr>
        <p:spPr>
          <a:xfrm>
            <a:off x="7680960" y="4759452"/>
            <a:ext cx="1097280" cy="274320"/>
          </a:xfrm>
          <a:prstGeom prst="rect">
            <a:avLst/>
          </a:prstGeom>
          <a:noFill/>
          <a:ln/>
        </p:spPr>
        <p:txBody>
          <a:bodyPr wrap="square" anchor="t" lIns="25400" rIns="25400" tIns="25400" bIns="25400">
            <a:spAutoFit/>
          </a:bodyPr>
          <a:lstStyle/>
          <a:p>
            <a:pPr algn="r">
              <a:lnSpc>
                <a:spcPct val="100000"/>
              </a:lnSpc>
              <a:spcBef>
                <a:spcPts val="0"/>
              </a:spcBef>
              <a:spcAft>
                <a:spcPts val="0"/>
              </a:spcAft>
            </a:pPr>
            <a:r>
              <a:rPr sz="900" b="1" i="0">
                <a:solidFill>
                  <a:srgbClr val="6F6656"/>
                </a:solidFill>
                <a:latin typeface="Menlo"/>
                <a:ea typeface="Hiragino Sans GB"/>
              </a:rPr>
              <a:t>05 / 15</a:t>
            </a:r>
          </a:p>
        </p:txBody>
      </p:sp>
      <p:sp>
        <p:nvSpPr>
          <p:cNvPr id="6" name="TextBox 5"/>
          <p:cNvSpPr txBox="1"/>
          <p:nvPr/>
        </p:nvSpPr>
        <p:spPr>
          <a:xfrm>
            <a:off x="566928" y="4777740"/>
            <a:ext cx="548640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800" b="0" i="0">
                <a:solidFill>
                  <a:srgbClr val="6F6656"/>
                </a:solidFill>
                <a:latin typeface="Menlo"/>
                <a:ea typeface="Hiragino Sans GB"/>
              </a:rPr>
              <a:t>ATTENTION IS ALL YOU NEED · PAPER DEEP-DIVE</a:t>
            </a:r>
          </a:p>
        </p:txBody>
      </p:sp>
      <p:sp>
        <p:nvSpPr>
          <p:cNvPr id="7" name="TextBox 6"/>
          <p:cNvSpPr txBox="1"/>
          <p:nvPr/>
        </p:nvSpPr>
        <p:spPr>
          <a:xfrm>
            <a:off x="886968" y="1188720"/>
            <a:ext cx="3163824" cy="274320"/>
          </a:xfrm>
          <a:prstGeom prst="rect">
            <a:avLst/>
          </a:prstGeom>
          <a:noFill/>
          <a:ln/>
        </p:spPr>
        <p:txBody>
          <a:bodyPr wrap="square" anchor="t" lIns="25400" rIns="25400" tIns="25400" bIns="25400">
            <a:spAutoFit/>
          </a:bodyPr>
          <a:lstStyle/>
          <a:p>
            <a:pPr algn="ctr">
              <a:lnSpc>
                <a:spcPct val="100000"/>
              </a:lnSpc>
              <a:spcBef>
                <a:spcPts val="0"/>
              </a:spcBef>
              <a:spcAft>
                <a:spcPts val="0"/>
              </a:spcAft>
            </a:pPr>
            <a:r>
              <a:rPr sz="1050" b="1" i="0">
                <a:solidFill>
                  <a:srgbClr val="2A3F57"/>
                </a:solidFill>
                <a:latin typeface="Helvetica Neue"/>
                <a:ea typeface="Hiragino Sans GB"/>
              </a:rPr>
              <a:t>Each sublayer wrapped in residual + LayerNorm</a:t>
            </a:r>
          </a:p>
        </p:txBody>
      </p:sp>
      <p:sp>
        <p:nvSpPr>
          <p:cNvPr id="8" name="TextBox 7"/>
          <p:cNvSpPr txBox="1"/>
          <p:nvPr/>
        </p:nvSpPr>
        <p:spPr>
          <a:xfrm>
            <a:off x="5093208" y="1188720"/>
            <a:ext cx="3163824" cy="274320"/>
          </a:xfrm>
          <a:prstGeom prst="rect">
            <a:avLst/>
          </a:prstGeom>
          <a:noFill/>
          <a:ln/>
        </p:spPr>
        <p:txBody>
          <a:bodyPr wrap="square" anchor="t" lIns="25400" rIns="25400" tIns="25400" bIns="25400">
            <a:spAutoFit/>
          </a:bodyPr>
          <a:lstStyle/>
          <a:p>
            <a:pPr algn="ctr">
              <a:lnSpc>
                <a:spcPct val="100000"/>
              </a:lnSpc>
              <a:spcBef>
                <a:spcPts val="0"/>
              </a:spcBef>
              <a:spcAft>
                <a:spcPts val="0"/>
              </a:spcAft>
            </a:pPr>
            <a:r>
              <a:rPr sz="1050" b="1" i="0">
                <a:solidFill>
                  <a:srgbClr val="1C1D22"/>
                </a:solidFill>
                <a:latin typeface="Helvetica Neue"/>
                <a:ea typeface="Hiragino Sans GB"/>
              </a:rPr>
              <a:t>↑  Linear · Softmax · output probabilities</a:t>
            </a:r>
          </a:p>
        </p:txBody>
      </p:sp>
      <p:sp>
        <p:nvSpPr>
          <p:cNvPr id="9" name="Rounded Rectangle 8"/>
          <p:cNvSpPr/>
          <p:nvPr/>
        </p:nvSpPr>
        <p:spPr>
          <a:xfrm>
            <a:off x="886968" y="1572768"/>
            <a:ext cx="3163824" cy="2304288"/>
          </a:xfrm>
          <a:prstGeom prst="roundRect">
            <a:avLst>
              <a:gd name="adj" fmla="val 3174"/>
            </a:avLst>
          </a:prstGeom>
          <a:solidFill>
            <a:srgbClr val="E4E7E0"/>
          </a:solidFill>
          <a:ln w="15240">
            <a:solidFill>
              <a:srgbClr val="90B2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93208" y="1572768"/>
            <a:ext cx="3163824" cy="2304288"/>
          </a:xfrm>
          <a:prstGeom prst="roundRect">
            <a:avLst>
              <a:gd name="adj" fmla="val 3174"/>
            </a:avLst>
          </a:prstGeom>
          <a:solidFill>
            <a:srgbClr val="F0E5DB"/>
          </a:solidFill>
          <a:ln w="15240">
            <a:solidFill>
              <a:srgbClr val="D9A1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1627632"/>
            <a:ext cx="2194560" cy="256032"/>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150" b="1" i="0">
                <a:solidFill>
                  <a:srgbClr val="16656B"/>
                </a:solidFill>
                <a:latin typeface="Helvetica Neue"/>
                <a:ea typeface="Hiragino Sans GB"/>
              </a:rPr>
              <a:t>Encoder</a:t>
            </a:r>
          </a:p>
        </p:txBody>
      </p:sp>
      <p:sp>
        <p:nvSpPr>
          <p:cNvPr id="12" name="Rounded Rectangle 11"/>
          <p:cNvSpPr/>
          <p:nvPr/>
        </p:nvSpPr>
        <p:spPr>
          <a:xfrm>
            <a:off x="3282696" y="1627632"/>
            <a:ext cx="603504" cy="256032"/>
          </a:xfrm>
          <a:prstGeom prst="roundRect">
            <a:avLst>
              <a:gd name="adj" fmla="val 17857"/>
            </a:avLst>
          </a:prstGeom>
          <a:solidFill>
            <a:srgbClr val="166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82696" y="1618488"/>
            <a:ext cx="603504" cy="256032"/>
          </a:xfrm>
          <a:prstGeom prst="rect">
            <a:avLst/>
          </a:prstGeom>
          <a:noFill/>
          <a:ln/>
        </p:spPr>
        <p:txBody>
          <a:bodyPr wrap="square" anchor="ctr" lIns="25400" rIns="25400" tIns="25400" bIns="25400">
            <a:spAutoFit/>
          </a:bodyPr>
          <a:lstStyle/>
          <a:p>
            <a:pPr algn="ctr">
              <a:lnSpc>
                <a:spcPct val="100000"/>
              </a:lnSpc>
              <a:spcBef>
                <a:spcPts val="0"/>
              </a:spcBef>
              <a:spcAft>
                <a:spcPts val="0"/>
              </a:spcAft>
            </a:pPr>
            <a:r>
              <a:rPr sz="1100" b="1" i="0">
                <a:solidFill>
                  <a:srgbClr val="FFFFFF"/>
                </a:solidFill>
                <a:latin typeface="Helvetica Neue"/>
                <a:ea typeface="Hiragino Sans GB"/>
              </a:rPr>
              <a:t>× 6</a:t>
            </a:r>
          </a:p>
        </p:txBody>
      </p:sp>
      <p:sp>
        <p:nvSpPr>
          <p:cNvPr id="14" name="TextBox 13"/>
          <p:cNvSpPr txBox="1"/>
          <p:nvPr/>
        </p:nvSpPr>
        <p:spPr>
          <a:xfrm>
            <a:off x="5257800" y="1627632"/>
            <a:ext cx="2194560" cy="256032"/>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150" b="1" i="0">
                <a:solidFill>
                  <a:srgbClr val="B84020"/>
                </a:solidFill>
                <a:latin typeface="Helvetica Neue"/>
                <a:ea typeface="Hiragino Sans GB"/>
              </a:rPr>
              <a:t>Decoder</a:t>
            </a:r>
          </a:p>
        </p:txBody>
      </p:sp>
      <p:sp>
        <p:nvSpPr>
          <p:cNvPr id="15" name="Rounded Rectangle 14"/>
          <p:cNvSpPr/>
          <p:nvPr/>
        </p:nvSpPr>
        <p:spPr>
          <a:xfrm>
            <a:off x="7488936" y="1627632"/>
            <a:ext cx="603504" cy="256032"/>
          </a:xfrm>
          <a:prstGeom prst="roundRect">
            <a:avLst>
              <a:gd name="adj" fmla="val 17857"/>
            </a:avLst>
          </a:prstGeom>
          <a:solidFill>
            <a:srgbClr val="B84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88936" y="1618488"/>
            <a:ext cx="603504" cy="256032"/>
          </a:xfrm>
          <a:prstGeom prst="rect">
            <a:avLst/>
          </a:prstGeom>
          <a:noFill/>
          <a:ln/>
        </p:spPr>
        <p:txBody>
          <a:bodyPr wrap="square" anchor="ctr" lIns="25400" rIns="25400" tIns="25400" bIns="25400">
            <a:spAutoFit/>
          </a:bodyPr>
          <a:lstStyle/>
          <a:p>
            <a:pPr algn="ctr">
              <a:lnSpc>
                <a:spcPct val="100000"/>
              </a:lnSpc>
              <a:spcBef>
                <a:spcPts val="0"/>
              </a:spcBef>
              <a:spcAft>
                <a:spcPts val="0"/>
              </a:spcAft>
            </a:pPr>
            <a:r>
              <a:rPr sz="1100" b="1" i="0">
                <a:solidFill>
                  <a:srgbClr val="FFFFFF"/>
                </a:solidFill>
                <a:latin typeface="Helvetica Neue"/>
                <a:ea typeface="Hiragino Sans GB"/>
              </a:rPr>
              <a:t>× 6</a:t>
            </a:r>
          </a:p>
        </p:txBody>
      </p:sp>
      <p:sp>
        <p:nvSpPr>
          <p:cNvPr id="17" name="Rounded Rectangle 16"/>
          <p:cNvSpPr/>
          <p:nvPr/>
        </p:nvSpPr>
        <p:spPr>
          <a:xfrm>
            <a:off x="1051560" y="2322576"/>
            <a:ext cx="2834640" cy="457200"/>
          </a:xfrm>
          <a:prstGeom prst="roundRect">
            <a:avLst>
              <a:gd name="adj" fmla="val 16000"/>
            </a:avLst>
          </a:prstGeom>
          <a:solidFill>
            <a:srgbClr val="B84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24712" y="2322576"/>
            <a:ext cx="2688336" cy="457200"/>
          </a:xfrm>
          <a:prstGeom prst="rect">
            <a:avLst/>
          </a:prstGeom>
          <a:noFill/>
          <a:ln/>
        </p:spPr>
        <p:txBody>
          <a:bodyPr wrap="square" anchor="ctr" lIns="25400" rIns="25400" tIns="25400" bIns="25400">
            <a:spAutoFit/>
          </a:bodyPr>
          <a:lstStyle/>
          <a:p>
            <a:pPr algn="ctr">
              <a:lnSpc>
                <a:spcPct val="100000"/>
              </a:lnSpc>
              <a:spcBef>
                <a:spcPts val="0"/>
              </a:spcBef>
              <a:spcAft>
                <a:spcPts val="0"/>
              </a:spcAft>
            </a:pPr>
            <a:r>
              <a:rPr sz="1250" b="1" i="0">
                <a:solidFill>
                  <a:srgbClr val="FFFFFF"/>
                </a:solidFill>
                <a:latin typeface="Helvetica Neue"/>
                <a:ea typeface="Hiragino Sans GB"/>
              </a:rPr>
              <a:t>Multi-Head Self-Attention</a:t>
            </a:r>
          </a:p>
        </p:txBody>
      </p:sp>
      <p:sp>
        <p:nvSpPr>
          <p:cNvPr id="19" name="Rounded Rectangle 18"/>
          <p:cNvSpPr/>
          <p:nvPr/>
        </p:nvSpPr>
        <p:spPr>
          <a:xfrm>
            <a:off x="1051560" y="2962656"/>
            <a:ext cx="2834640" cy="457200"/>
          </a:xfrm>
          <a:prstGeom prst="roundRect">
            <a:avLst>
              <a:gd name="adj" fmla="val 16000"/>
            </a:avLst>
          </a:prstGeom>
          <a:solidFill>
            <a:srgbClr val="2A3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24712" y="2962656"/>
            <a:ext cx="2688336" cy="457200"/>
          </a:xfrm>
          <a:prstGeom prst="rect">
            <a:avLst/>
          </a:prstGeom>
          <a:noFill/>
          <a:ln/>
        </p:spPr>
        <p:txBody>
          <a:bodyPr wrap="square" anchor="ctr" lIns="25400" rIns="25400" tIns="25400" bIns="25400">
            <a:spAutoFit/>
          </a:bodyPr>
          <a:lstStyle/>
          <a:p>
            <a:pPr algn="ctr">
              <a:lnSpc>
                <a:spcPct val="100000"/>
              </a:lnSpc>
              <a:spcBef>
                <a:spcPts val="0"/>
              </a:spcBef>
              <a:spcAft>
                <a:spcPts val="0"/>
              </a:spcAft>
            </a:pPr>
            <a:r>
              <a:rPr sz="1250" b="1" i="0">
                <a:solidFill>
                  <a:srgbClr val="FFFFFF"/>
                </a:solidFill>
                <a:latin typeface="Helvetica Neue"/>
                <a:ea typeface="Hiragino Sans GB"/>
              </a:rPr>
              <a:t>Feed-Forward (FFN)</a:t>
            </a:r>
          </a:p>
        </p:txBody>
      </p:sp>
      <p:sp>
        <p:nvSpPr>
          <p:cNvPr id="21" name="Rounded Rectangle 20"/>
          <p:cNvSpPr/>
          <p:nvPr/>
        </p:nvSpPr>
        <p:spPr>
          <a:xfrm>
            <a:off x="5257800" y="1975104"/>
            <a:ext cx="2834640" cy="457200"/>
          </a:xfrm>
          <a:prstGeom prst="roundRect">
            <a:avLst>
              <a:gd name="adj" fmla="val 16000"/>
            </a:avLst>
          </a:prstGeom>
          <a:solidFill>
            <a:srgbClr val="B84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30952" y="1975104"/>
            <a:ext cx="2688336" cy="457200"/>
          </a:xfrm>
          <a:prstGeom prst="rect">
            <a:avLst/>
          </a:prstGeom>
          <a:noFill/>
          <a:ln/>
        </p:spPr>
        <p:txBody>
          <a:bodyPr wrap="square" anchor="ctr" lIns="25400" rIns="25400" tIns="25400" bIns="25400">
            <a:spAutoFit/>
          </a:bodyPr>
          <a:lstStyle/>
          <a:p>
            <a:pPr algn="ctr">
              <a:lnSpc>
                <a:spcPct val="100000"/>
              </a:lnSpc>
              <a:spcBef>
                <a:spcPts val="0"/>
              </a:spcBef>
              <a:spcAft>
                <a:spcPts val="0"/>
              </a:spcAft>
            </a:pPr>
            <a:r>
              <a:rPr sz="1250" b="1" i="0">
                <a:solidFill>
                  <a:srgbClr val="FFFFFF"/>
                </a:solidFill>
                <a:latin typeface="Helvetica Neue"/>
                <a:ea typeface="Hiragino Sans GB"/>
              </a:rPr>
              <a:t>Masked Multi-Head Attention</a:t>
            </a:r>
          </a:p>
        </p:txBody>
      </p:sp>
      <p:sp>
        <p:nvSpPr>
          <p:cNvPr id="23" name="Rounded Rectangle 22"/>
          <p:cNvSpPr/>
          <p:nvPr/>
        </p:nvSpPr>
        <p:spPr>
          <a:xfrm>
            <a:off x="5257800" y="2615184"/>
            <a:ext cx="2834640" cy="457200"/>
          </a:xfrm>
          <a:prstGeom prst="roundRect">
            <a:avLst>
              <a:gd name="adj" fmla="val 16000"/>
            </a:avLst>
          </a:prstGeom>
          <a:solidFill>
            <a:srgbClr val="B84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30952" y="2615184"/>
            <a:ext cx="2688336" cy="457200"/>
          </a:xfrm>
          <a:prstGeom prst="rect">
            <a:avLst/>
          </a:prstGeom>
          <a:noFill/>
          <a:ln/>
        </p:spPr>
        <p:txBody>
          <a:bodyPr wrap="square" anchor="ctr" lIns="25400" rIns="25400" tIns="25400" bIns="25400">
            <a:spAutoFit/>
          </a:bodyPr>
          <a:lstStyle/>
          <a:p>
            <a:pPr algn="ctr">
              <a:lnSpc>
                <a:spcPct val="100000"/>
              </a:lnSpc>
              <a:spcBef>
                <a:spcPts val="0"/>
              </a:spcBef>
              <a:spcAft>
                <a:spcPts val="0"/>
              </a:spcAft>
            </a:pPr>
            <a:r>
              <a:rPr sz="1250" b="1" i="0">
                <a:solidFill>
                  <a:srgbClr val="FFFFFF"/>
                </a:solidFill>
                <a:latin typeface="Helvetica Neue"/>
                <a:ea typeface="Hiragino Sans GB"/>
              </a:rPr>
              <a:t>Encoder–Decoder Attention</a:t>
            </a:r>
          </a:p>
        </p:txBody>
      </p:sp>
      <p:sp>
        <p:nvSpPr>
          <p:cNvPr id="25" name="Rounded Rectangle 24"/>
          <p:cNvSpPr/>
          <p:nvPr/>
        </p:nvSpPr>
        <p:spPr>
          <a:xfrm>
            <a:off x="5257800" y="3255264"/>
            <a:ext cx="2834640" cy="457200"/>
          </a:xfrm>
          <a:prstGeom prst="roundRect">
            <a:avLst>
              <a:gd name="adj" fmla="val 16000"/>
            </a:avLst>
          </a:prstGeom>
          <a:solidFill>
            <a:srgbClr val="2A3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30952" y="3255264"/>
            <a:ext cx="2688336" cy="457200"/>
          </a:xfrm>
          <a:prstGeom prst="rect">
            <a:avLst/>
          </a:prstGeom>
          <a:noFill/>
          <a:ln/>
        </p:spPr>
        <p:txBody>
          <a:bodyPr wrap="square" anchor="ctr" lIns="25400" rIns="25400" tIns="25400" bIns="25400">
            <a:spAutoFit/>
          </a:bodyPr>
          <a:lstStyle/>
          <a:p>
            <a:pPr algn="ctr">
              <a:lnSpc>
                <a:spcPct val="100000"/>
              </a:lnSpc>
              <a:spcBef>
                <a:spcPts val="0"/>
              </a:spcBef>
              <a:spcAft>
                <a:spcPts val="0"/>
              </a:spcAft>
            </a:pPr>
            <a:r>
              <a:rPr sz="1250" b="1" i="0">
                <a:solidFill>
                  <a:srgbClr val="FFFFFF"/>
                </a:solidFill>
                <a:latin typeface="Helvetica Neue"/>
                <a:ea typeface="Hiragino Sans GB"/>
              </a:rPr>
              <a:t>Feed-Forward (FFN)</a:t>
            </a:r>
          </a:p>
        </p:txBody>
      </p:sp>
      <p:cxnSp>
        <p:nvCxnSpPr>
          <p:cNvPr id="27" name="Connector 26"/>
          <p:cNvCxnSpPr/>
          <p:nvPr/>
        </p:nvCxnSpPr>
        <p:spPr>
          <a:xfrm flipV="1">
            <a:off x="3886200" y="2843784"/>
            <a:ext cx="1371600" cy="347472"/>
          </a:xfrm>
          <a:prstGeom prst="line">
            <a:avLst/>
          </a:prstGeom>
          <a:ln w="19050">
            <a:solidFill>
              <a:srgbClr val="16656B"/>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886968" y="4023360"/>
            <a:ext cx="3163824" cy="384048"/>
          </a:xfrm>
          <a:prstGeom prst="roundRect">
            <a:avLst>
              <a:gd name="adj" fmla="val 19047"/>
            </a:avLst>
          </a:prstGeom>
          <a:solidFill>
            <a:srgbClr val="FBFAF6"/>
          </a:solidFill>
          <a:ln w="12700">
            <a:solidFill>
              <a:srgbClr val="D9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41831" y="4023360"/>
            <a:ext cx="3054096" cy="384048"/>
          </a:xfrm>
          <a:prstGeom prst="rect">
            <a:avLst/>
          </a:prstGeom>
          <a:noFill/>
          <a:ln/>
        </p:spPr>
        <p:txBody>
          <a:bodyPr wrap="square" anchor="ctr" lIns="25400" rIns="25400" tIns="25400" bIns="25400">
            <a:spAutoFit/>
          </a:bodyPr>
          <a:lstStyle/>
          <a:p>
            <a:pPr algn="ctr">
              <a:lnSpc>
                <a:spcPct val="100000"/>
              </a:lnSpc>
              <a:spcBef>
                <a:spcPts val="0"/>
              </a:spcBef>
              <a:spcAft>
                <a:spcPts val="0"/>
              </a:spcAft>
            </a:pPr>
            <a:r>
              <a:rPr sz="1050" b="1" i="0">
                <a:solidFill>
                  <a:srgbClr val="5A5E68"/>
                </a:solidFill>
                <a:latin typeface="Helvetica Neue"/>
                <a:ea typeface="Hiragino Sans GB"/>
              </a:rPr>
              <a:t>Input embedding ⊕ positional encoding</a:t>
            </a:r>
          </a:p>
        </p:txBody>
      </p:sp>
      <p:sp>
        <p:nvSpPr>
          <p:cNvPr id="30" name="Rounded Rectangle 29"/>
          <p:cNvSpPr/>
          <p:nvPr/>
        </p:nvSpPr>
        <p:spPr>
          <a:xfrm>
            <a:off x="5093208" y="4023360"/>
            <a:ext cx="3163824" cy="384048"/>
          </a:xfrm>
          <a:prstGeom prst="roundRect">
            <a:avLst>
              <a:gd name="adj" fmla="val 19047"/>
            </a:avLst>
          </a:prstGeom>
          <a:solidFill>
            <a:srgbClr val="FBFAF6"/>
          </a:solidFill>
          <a:ln w="12700">
            <a:solidFill>
              <a:srgbClr val="D9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48072" y="4023360"/>
            <a:ext cx="3054096" cy="384048"/>
          </a:xfrm>
          <a:prstGeom prst="rect">
            <a:avLst/>
          </a:prstGeom>
          <a:noFill/>
          <a:ln/>
        </p:spPr>
        <p:txBody>
          <a:bodyPr wrap="square" anchor="ctr" lIns="25400" rIns="25400" tIns="25400" bIns="25400">
            <a:spAutoFit/>
          </a:bodyPr>
          <a:lstStyle/>
          <a:p>
            <a:pPr algn="ctr">
              <a:lnSpc>
                <a:spcPct val="100000"/>
              </a:lnSpc>
              <a:spcBef>
                <a:spcPts val="0"/>
              </a:spcBef>
              <a:spcAft>
                <a:spcPts val="0"/>
              </a:spcAft>
            </a:pPr>
            <a:r>
              <a:rPr sz="1050" b="1" i="0">
                <a:solidFill>
                  <a:srgbClr val="5A5E68"/>
                </a:solidFill>
                <a:latin typeface="Helvetica Neue"/>
                <a:ea typeface="Hiragino Sans GB"/>
              </a:rPr>
              <a:t>Output embedding ⊕ pos. encoding (shifted)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8010144"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200" b="1" i="0">
                <a:solidFill>
                  <a:srgbClr val="B84020"/>
                </a:solidFill>
                <a:latin typeface="Helvetica Neue"/>
                <a:ea typeface="Hiragino Sans GB"/>
              </a:rPr>
              <a:t>MECHANISM · SCALED DOT-PRODUCT</a:t>
            </a:r>
          </a:p>
        </p:txBody>
      </p:sp>
      <p:sp>
        <p:nvSpPr>
          <p:cNvPr id="4" name="TextBox 3"/>
          <p:cNvSpPr txBox="1"/>
          <p:nvPr/>
        </p:nvSpPr>
        <p:spPr>
          <a:xfrm>
            <a:off x="566928" y="713232"/>
            <a:ext cx="8010144" cy="7315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2400" b="1" i="0">
                <a:solidFill>
                  <a:srgbClr val="1C1D22"/>
                </a:solidFill>
                <a:latin typeface="Helvetica Neue"/>
                <a:ea typeface="Songti SC"/>
              </a:rPr>
              <a:t>Scaled dot-product attention: weighting values by similarity</a:t>
            </a:r>
          </a:p>
        </p:txBody>
      </p:sp>
      <p:sp>
        <p:nvSpPr>
          <p:cNvPr id="5" name="TextBox 4"/>
          <p:cNvSpPr txBox="1"/>
          <p:nvPr/>
        </p:nvSpPr>
        <p:spPr>
          <a:xfrm>
            <a:off x="7680960" y="4759452"/>
            <a:ext cx="1097280" cy="274320"/>
          </a:xfrm>
          <a:prstGeom prst="rect">
            <a:avLst/>
          </a:prstGeom>
          <a:noFill/>
          <a:ln/>
        </p:spPr>
        <p:txBody>
          <a:bodyPr wrap="square" anchor="t" lIns="25400" rIns="25400" tIns="25400" bIns="25400">
            <a:spAutoFit/>
          </a:bodyPr>
          <a:lstStyle/>
          <a:p>
            <a:pPr algn="r">
              <a:lnSpc>
                <a:spcPct val="100000"/>
              </a:lnSpc>
              <a:spcBef>
                <a:spcPts val="0"/>
              </a:spcBef>
              <a:spcAft>
                <a:spcPts val="0"/>
              </a:spcAft>
            </a:pPr>
            <a:r>
              <a:rPr sz="900" b="1" i="0">
                <a:solidFill>
                  <a:srgbClr val="6F6656"/>
                </a:solidFill>
                <a:latin typeface="Menlo"/>
                <a:ea typeface="Hiragino Sans GB"/>
              </a:rPr>
              <a:t>06 / 15</a:t>
            </a:r>
          </a:p>
        </p:txBody>
      </p:sp>
      <p:sp>
        <p:nvSpPr>
          <p:cNvPr id="6" name="TextBox 5"/>
          <p:cNvSpPr txBox="1"/>
          <p:nvPr/>
        </p:nvSpPr>
        <p:spPr>
          <a:xfrm>
            <a:off x="566928" y="4777740"/>
            <a:ext cx="548640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800" b="0" i="0">
                <a:solidFill>
                  <a:srgbClr val="6F6656"/>
                </a:solidFill>
                <a:latin typeface="Menlo"/>
                <a:ea typeface="Hiragino Sans GB"/>
              </a:rPr>
              <a:t>ATTENTION IS ALL YOU NEED · PAPER DEEP-DIVE</a:t>
            </a:r>
          </a:p>
        </p:txBody>
      </p:sp>
      <p:pic>
        <p:nvPicPr>
          <p:cNvPr id="7" name="Picture 6" descr="equation attention" title="equation attention"/>
          <p:cNvPicPr>
            <a:picLocks noChangeAspect="1"/>
          </p:cNvPicPr>
          <p:nvPr/>
        </p:nvPicPr>
        <p:blipFill>
          <a:blip r:embed="rId2"/>
          <a:stretch>
            <a:fillRect/>
          </a:stretch>
        </p:blipFill>
        <p:spPr>
          <a:xfrm>
            <a:off x="2067209" y="1853183"/>
            <a:ext cx="5009581" cy="566928"/>
          </a:xfrm>
          <a:prstGeom prst="rect">
            <a:avLst/>
          </a:prstGeom>
        </p:spPr>
      </p:pic>
      <p:sp>
        <p:nvSpPr>
          <p:cNvPr id="8" name="Rounded Rectangle 7"/>
          <p:cNvSpPr/>
          <p:nvPr/>
        </p:nvSpPr>
        <p:spPr>
          <a:xfrm>
            <a:off x="685800" y="2831592"/>
            <a:ext cx="2346960" cy="786384"/>
          </a:xfrm>
          <a:prstGeom prst="roundRect">
            <a:avLst>
              <a:gd name="adj" fmla="val 11627"/>
            </a:avLst>
          </a:prstGeom>
          <a:solidFill>
            <a:srgbClr val="FBFAF6"/>
          </a:solidFill>
          <a:ln w="12700">
            <a:solidFill>
              <a:srgbClr val="D9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2941320"/>
            <a:ext cx="64008" cy="566928"/>
          </a:xfrm>
          <a:prstGeom prst="rect">
            <a:avLst/>
          </a:prstGeom>
          <a:solidFill>
            <a:srgbClr val="B84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 y="2959608"/>
            <a:ext cx="1981200" cy="310896"/>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350" b="1" i="0">
                <a:solidFill>
                  <a:srgbClr val="1C1D22"/>
                </a:solidFill>
                <a:latin typeface="Helvetica Neue"/>
                <a:ea typeface="Hiragino Sans GB"/>
              </a:rPr>
              <a:t>Q  Query</a:t>
            </a:r>
          </a:p>
        </p:txBody>
      </p:sp>
      <p:sp>
        <p:nvSpPr>
          <p:cNvPr id="11" name="TextBox 10"/>
          <p:cNvSpPr txBox="1"/>
          <p:nvPr/>
        </p:nvSpPr>
        <p:spPr>
          <a:xfrm>
            <a:off x="905256" y="3288792"/>
            <a:ext cx="198120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100" b="0" i="0">
                <a:solidFill>
                  <a:srgbClr val="5A5E68"/>
                </a:solidFill>
                <a:latin typeface="Helvetica Neue"/>
                <a:ea typeface="Hiragino Sans GB"/>
              </a:rPr>
              <a:t>The position being computed</a:t>
            </a:r>
          </a:p>
        </p:txBody>
      </p:sp>
      <p:sp>
        <p:nvSpPr>
          <p:cNvPr id="12" name="Rounded Rectangle 11"/>
          <p:cNvSpPr/>
          <p:nvPr/>
        </p:nvSpPr>
        <p:spPr>
          <a:xfrm>
            <a:off x="3398520" y="2831592"/>
            <a:ext cx="2346960" cy="786384"/>
          </a:xfrm>
          <a:prstGeom prst="roundRect">
            <a:avLst>
              <a:gd name="adj" fmla="val 11627"/>
            </a:avLst>
          </a:prstGeom>
          <a:solidFill>
            <a:srgbClr val="FBFAF6"/>
          </a:solidFill>
          <a:ln w="12700">
            <a:solidFill>
              <a:srgbClr val="D9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98520" y="2941320"/>
            <a:ext cx="64008" cy="566928"/>
          </a:xfrm>
          <a:prstGeom prst="rect">
            <a:avLst/>
          </a:prstGeom>
          <a:solidFill>
            <a:srgbClr val="166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17976" y="2959608"/>
            <a:ext cx="1981200" cy="310896"/>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350" b="1" i="0">
                <a:solidFill>
                  <a:srgbClr val="1C1D22"/>
                </a:solidFill>
                <a:latin typeface="Helvetica Neue"/>
                <a:ea typeface="Hiragino Sans GB"/>
              </a:rPr>
              <a:t>K  Key</a:t>
            </a:r>
          </a:p>
        </p:txBody>
      </p:sp>
      <p:sp>
        <p:nvSpPr>
          <p:cNvPr id="15" name="TextBox 14"/>
          <p:cNvSpPr txBox="1"/>
          <p:nvPr/>
        </p:nvSpPr>
        <p:spPr>
          <a:xfrm>
            <a:off x="3617976" y="3288792"/>
            <a:ext cx="198120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100" b="0" i="0">
                <a:solidFill>
                  <a:srgbClr val="5A5E68"/>
                </a:solidFill>
                <a:latin typeface="Helvetica Neue"/>
                <a:ea typeface="Hiragino Sans GB"/>
              </a:rPr>
              <a:t>Every position compared to</a:t>
            </a:r>
          </a:p>
        </p:txBody>
      </p:sp>
      <p:sp>
        <p:nvSpPr>
          <p:cNvPr id="16" name="Rounded Rectangle 15"/>
          <p:cNvSpPr/>
          <p:nvPr/>
        </p:nvSpPr>
        <p:spPr>
          <a:xfrm>
            <a:off x="6111240" y="2831592"/>
            <a:ext cx="2346960" cy="786384"/>
          </a:xfrm>
          <a:prstGeom prst="roundRect">
            <a:avLst>
              <a:gd name="adj" fmla="val 11627"/>
            </a:avLst>
          </a:prstGeom>
          <a:solidFill>
            <a:srgbClr val="FBFAF6"/>
          </a:solidFill>
          <a:ln w="12700">
            <a:solidFill>
              <a:srgbClr val="D9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11240" y="2941320"/>
            <a:ext cx="64008" cy="566928"/>
          </a:xfrm>
          <a:prstGeom prst="rect">
            <a:avLst/>
          </a:prstGeom>
          <a:solidFill>
            <a:srgbClr val="2A3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30696" y="2959608"/>
            <a:ext cx="1981200" cy="310896"/>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350" b="1" i="0">
                <a:solidFill>
                  <a:srgbClr val="1C1D22"/>
                </a:solidFill>
                <a:latin typeface="Helvetica Neue"/>
                <a:ea typeface="Hiragino Sans GB"/>
              </a:rPr>
              <a:t>V  Value</a:t>
            </a:r>
          </a:p>
        </p:txBody>
      </p:sp>
      <p:sp>
        <p:nvSpPr>
          <p:cNvPr id="19" name="TextBox 18"/>
          <p:cNvSpPr txBox="1"/>
          <p:nvPr/>
        </p:nvSpPr>
        <p:spPr>
          <a:xfrm>
            <a:off x="6330696" y="3288792"/>
            <a:ext cx="198120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100" b="0" i="0">
                <a:solidFill>
                  <a:srgbClr val="5A5E68"/>
                </a:solidFill>
                <a:latin typeface="Helvetica Neue"/>
                <a:ea typeface="Hiragino Sans GB"/>
              </a:rPr>
              <a:t>What's actually aggregated</a:t>
            </a:r>
          </a:p>
        </p:txBody>
      </p:sp>
      <p:sp>
        <p:nvSpPr>
          <p:cNvPr id="20" name="Rounded Rectangle 19"/>
          <p:cNvSpPr/>
          <p:nvPr/>
        </p:nvSpPr>
        <p:spPr>
          <a:xfrm>
            <a:off x="685800" y="4002024"/>
            <a:ext cx="1709928" cy="530352"/>
          </a:xfrm>
          <a:prstGeom prst="roundRect">
            <a:avLst/>
          </a:prstGeom>
          <a:solidFill>
            <a:srgbClr val="FFFFFF"/>
          </a:solidFill>
          <a:ln w="17780">
            <a:solidFill>
              <a:srgbClr val="166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0664" y="4002024"/>
            <a:ext cx="1600200" cy="530352"/>
          </a:xfrm>
          <a:prstGeom prst="rect">
            <a:avLst/>
          </a:prstGeom>
          <a:noFill/>
          <a:ln/>
        </p:spPr>
        <p:txBody>
          <a:bodyPr wrap="square" anchor="ctr" lIns="25400" rIns="25400" tIns="25400" bIns="25400">
            <a:spAutoFit/>
          </a:bodyPr>
          <a:lstStyle/>
          <a:p>
            <a:pPr algn="ctr">
              <a:lnSpc>
                <a:spcPct val="96000"/>
              </a:lnSpc>
              <a:spcBef>
                <a:spcPts val="0"/>
              </a:spcBef>
              <a:spcAft>
                <a:spcPts val="100"/>
              </a:spcAft>
            </a:pPr>
            <a:r>
              <a:rPr sz="1300" b="1" i="0">
                <a:solidFill>
                  <a:srgbClr val="1C1D22"/>
                </a:solidFill>
                <a:latin typeface="Helvetica Neue"/>
                <a:ea typeface="Hiragino Sans GB"/>
              </a:rPr>
              <a:t>QKᵀ score</a:t>
            </a:r>
          </a:p>
          <a:p>
            <a:pPr algn="ctr">
              <a:lnSpc>
                <a:spcPct val="96000"/>
              </a:lnSpc>
              <a:spcBef>
                <a:spcPts val="0"/>
              </a:spcBef>
              <a:spcAft>
                <a:spcPts val="100"/>
              </a:spcAft>
            </a:pPr>
            <a:r>
              <a:rPr sz="950" b="0" i="0">
                <a:solidFill>
                  <a:srgbClr val="6F6656"/>
                </a:solidFill>
                <a:latin typeface="Menlo"/>
                <a:ea typeface="Hiragino Sans GB"/>
              </a:rPr>
              <a:t>similarity</a:t>
            </a:r>
          </a:p>
        </p:txBody>
      </p:sp>
      <p:sp>
        <p:nvSpPr>
          <p:cNvPr id="22" name="Rounded Rectangle 21"/>
          <p:cNvSpPr/>
          <p:nvPr/>
        </p:nvSpPr>
        <p:spPr>
          <a:xfrm>
            <a:off x="2706624" y="4002024"/>
            <a:ext cx="1709928" cy="530352"/>
          </a:xfrm>
          <a:prstGeom prst="roundRect">
            <a:avLst/>
          </a:prstGeom>
          <a:solidFill>
            <a:srgbClr val="FFFFFF"/>
          </a:solidFill>
          <a:ln w="17780">
            <a:solidFill>
              <a:srgbClr val="166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1488" y="4002024"/>
            <a:ext cx="1600200" cy="530352"/>
          </a:xfrm>
          <a:prstGeom prst="rect">
            <a:avLst/>
          </a:prstGeom>
          <a:noFill/>
          <a:ln/>
        </p:spPr>
        <p:txBody>
          <a:bodyPr wrap="square" anchor="ctr" lIns="25400" rIns="25400" tIns="25400" bIns="25400">
            <a:spAutoFit/>
          </a:bodyPr>
          <a:lstStyle/>
          <a:p>
            <a:pPr algn="ctr">
              <a:lnSpc>
                <a:spcPct val="96000"/>
              </a:lnSpc>
              <a:spcBef>
                <a:spcPts val="0"/>
              </a:spcBef>
              <a:spcAft>
                <a:spcPts val="100"/>
              </a:spcAft>
            </a:pPr>
            <a:r>
              <a:rPr sz="1300" b="1" i="0">
                <a:solidFill>
                  <a:srgbClr val="1C1D22"/>
                </a:solidFill>
                <a:latin typeface="Helvetica Neue"/>
                <a:ea typeface="Hiragino Sans GB"/>
              </a:rPr>
              <a:t>÷ √dₖ scale</a:t>
            </a:r>
          </a:p>
          <a:p>
            <a:pPr algn="ctr">
              <a:lnSpc>
                <a:spcPct val="96000"/>
              </a:lnSpc>
              <a:spcBef>
                <a:spcPts val="0"/>
              </a:spcBef>
              <a:spcAft>
                <a:spcPts val="100"/>
              </a:spcAft>
            </a:pPr>
            <a:r>
              <a:rPr sz="950" b="0" i="0">
                <a:solidFill>
                  <a:srgbClr val="6F6656"/>
                </a:solidFill>
                <a:latin typeface="Menlo"/>
                <a:ea typeface="Hiragino Sans GB"/>
              </a:rPr>
              <a:t>stable gradients</a:t>
            </a:r>
          </a:p>
        </p:txBody>
      </p:sp>
      <p:cxnSp>
        <p:nvCxnSpPr>
          <p:cNvPr id="24" name="Connector 23"/>
          <p:cNvCxnSpPr/>
          <p:nvPr/>
        </p:nvCxnSpPr>
        <p:spPr>
          <a:xfrm>
            <a:off x="2414016" y="4267200"/>
            <a:ext cx="274320" cy="0"/>
          </a:xfrm>
          <a:prstGeom prst="line">
            <a:avLst/>
          </a:prstGeom>
          <a:ln w="19050">
            <a:solidFill>
              <a:srgbClr val="5C9397"/>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4727448" y="4002024"/>
            <a:ext cx="1709928" cy="530352"/>
          </a:xfrm>
          <a:prstGeom prst="roundRect">
            <a:avLst/>
          </a:prstGeom>
          <a:solidFill>
            <a:srgbClr val="FFFFFF"/>
          </a:solidFill>
          <a:ln w="17780">
            <a:solidFill>
              <a:srgbClr val="166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82312" y="4002024"/>
            <a:ext cx="1600200" cy="530352"/>
          </a:xfrm>
          <a:prstGeom prst="rect">
            <a:avLst/>
          </a:prstGeom>
          <a:noFill/>
          <a:ln/>
        </p:spPr>
        <p:txBody>
          <a:bodyPr wrap="square" anchor="ctr" lIns="25400" rIns="25400" tIns="25400" bIns="25400">
            <a:spAutoFit/>
          </a:bodyPr>
          <a:lstStyle/>
          <a:p>
            <a:pPr algn="ctr">
              <a:lnSpc>
                <a:spcPct val="96000"/>
              </a:lnSpc>
              <a:spcBef>
                <a:spcPts val="0"/>
              </a:spcBef>
              <a:spcAft>
                <a:spcPts val="100"/>
              </a:spcAft>
            </a:pPr>
            <a:r>
              <a:rPr sz="1300" b="1" i="0">
                <a:solidFill>
                  <a:srgbClr val="1C1D22"/>
                </a:solidFill>
                <a:latin typeface="Helvetica Neue"/>
                <a:ea typeface="Hiragino Sans GB"/>
              </a:rPr>
              <a:t>Softmax</a:t>
            </a:r>
          </a:p>
          <a:p>
            <a:pPr algn="ctr">
              <a:lnSpc>
                <a:spcPct val="96000"/>
              </a:lnSpc>
              <a:spcBef>
                <a:spcPts val="0"/>
              </a:spcBef>
              <a:spcAft>
                <a:spcPts val="100"/>
              </a:spcAft>
            </a:pPr>
            <a:r>
              <a:rPr sz="950" b="0" i="0">
                <a:solidFill>
                  <a:srgbClr val="6F6656"/>
                </a:solidFill>
                <a:latin typeface="Menlo"/>
                <a:ea typeface="Hiragino Sans GB"/>
              </a:rPr>
              <a:t>weights</a:t>
            </a:r>
          </a:p>
        </p:txBody>
      </p:sp>
      <p:cxnSp>
        <p:nvCxnSpPr>
          <p:cNvPr id="27" name="Connector 26"/>
          <p:cNvCxnSpPr/>
          <p:nvPr/>
        </p:nvCxnSpPr>
        <p:spPr>
          <a:xfrm>
            <a:off x="4434840" y="4267200"/>
            <a:ext cx="274320" cy="0"/>
          </a:xfrm>
          <a:prstGeom prst="line">
            <a:avLst/>
          </a:prstGeom>
          <a:ln w="19050">
            <a:solidFill>
              <a:srgbClr val="5C9397"/>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748272" y="4002024"/>
            <a:ext cx="1709928" cy="530352"/>
          </a:xfrm>
          <a:prstGeom prst="roundRect">
            <a:avLst/>
          </a:prstGeom>
          <a:solidFill>
            <a:srgbClr val="B84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03136" y="4002024"/>
            <a:ext cx="1600200" cy="530352"/>
          </a:xfrm>
          <a:prstGeom prst="rect">
            <a:avLst/>
          </a:prstGeom>
          <a:noFill/>
          <a:ln/>
        </p:spPr>
        <p:txBody>
          <a:bodyPr wrap="square" anchor="ctr" lIns="25400" rIns="25400" tIns="25400" bIns="25400">
            <a:spAutoFit/>
          </a:bodyPr>
          <a:lstStyle/>
          <a:p>
            <a:pPr algn="ctr">
              <a:lnSpc>
                <a:spcPct val="96000"/>
              </a:lnSpc>
              <a:spcBef>
                <a:spcPts val="0"/>
              </a:spcBef>
              <a:spcAft>
                <a:spcPts val="100"/>
              </a:spcAft>
            </a:pPr>
            <a:r>
              <a:rPr sz="1300" b="1" i="0">
                <a:solidFill>
                  <a:srgbClr val="FFFFFF"/>
                </a:solidFill>
                <a:latin typeface="Helvetica Neue"/>
                <a:ea typeface="Hiragino Sans GB"/>
              </a:rPr>
              <a:t>· V weight</a:t>
            </a:r>
          </a:p>
          <a:p>
            <a:pPr algn="ctr">
              <a:lnSpc>
                <a:spcPct val="96000"/>
              </a:lnSpc>
              <a:spcBef>
                <a:spcPts val="0"/>
              </a:spcBef>
              <a:spcAft>
                <a:spcPts val="100"/>
              </a:spcAft>
            </a:pPr>
            <a:r>
              <a:rPr sz="950" b="0" i="0">
                <a:solidFill>
                  <a:srgbClr val="FFFFFF"/>
                </a:solidFill>
                <a:latin typeface="Menlo"/>
                <a:ea typeface="Hiragino Sans GB"/>
              </a:rPr>
              <a:t>output</a:t>
            </a:r>
          </a:p>
        </p:txBody>
      </p:sp>
      <p:cxnSp>
        <p:nvCxnSpPr>
          <p:cNvPr id="30" name="Connector 29"/>
          <p:cNvCxnSpPr/>
          <p:nvPr/>
        </p:nvCxnSpPr>
        <p:spPr>
          <a:xfrm>
            <a:off x="6455664" y="4267200"/>
            <a:ext cx="274320" cy="0"/>
          </a:xfrm>
          <a:prstGeom prst="line">
            <a:avLst/>
          </a:prstGeom>
          <a:ln w="19050">
            <a:solidFill>
              <a:srgbClr val="5C9397"/>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8010144"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200" b="1" i="0">
                <a:solidFill>
                  <a:srgbClr val="B84020"/>
                </a:solidFill>
                <a:latin typeface="Helvetica Neue"/>
                <a:ea typeface="Hiragino Sans GB"/>
              </a:rPr>
              <a:t>DESIGN DETAIL · WHY √Dₖ</a:t>
            </a:r>
          </a:p>
        </p:txBody>
      </p:sp>
      <p:sp>
        <p:nvSpPr>
          <p:cNvPr id="4" name="TextBox 3"/>
          <p:cNvSpPr txBox="1"/>
          <p:nvPr/>
        </p:nvSpPr>
        <p:spPr>
          <a:xfrm>
            <a:off x="566928" y="713232"/>
            <a:ext cx="8010144" cy="7315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2400" b="1" i="0">
                <a:solidFill>
                  <a:srgbClr val="1C1D22"/>
                </a:solidFill>
                <a:latin typeface="Helvetica Neue"/>
                <a:ea typeface="Songti SC"/>
              </a:rPr>
              <a:t>Why divide by √dₖ: keeping Softmax out of saturation</a:t>
            </a:r>
          </a:p>
        </p:txBody>
      </p:sp>
      <p:sp>
        <p:nvSpPr>
          <p:cNvPr id="5" name="TextBox 4"/>
          <p:cNvSpPr txBox="1"/>
          <p:nvPr/>
        </p:nvSpPr>
        <p:spPr>
          <a:xfrm>
            <a:off x="7680960" y="4759452"/>
            <a:ext cx="1097280" cy="274320"/>
          </a:xfrm>
          <a:prstGeom prst="rect">
            <a:avLst/>
          </a:prstGeom>
          <a:noFill/>
          <a:ln/>
        </p:spPr>
        <p:txBody>
          <a:bodyPr wrap="square" anchor="t" lIns="25400" rIns="25400" tIns="25400" bIns="25400">
            <a:spAutoFit/>
          </a:bodyPr>
          <a:lstStyle/>
          <a:p>
            <a:pPr algn="r">
              <a:lnSpc>
                <a:spcPct val="100000"/>
              </a:lnSpc>
              <a:spcBef>
                <a:spcPts val="0"/>
              </a:spcBef>
              <a:spcAft>
                <a:spcPts val="0"/>
              </a:spcAft>
            </a:pPr>
            <a:r>
              <a:rPr sz="900" b="1" i="0">
                <a:solidFill>
                  <a:srgbClr val="6F6656"/>
                </a:solidFill>
                <a:latin typeface="Menlo"/>
                <a:ea typeface="Hiragino Sans GB"/>
              </a:rPr>
              <a:t>07 / 15</a:t>
            </a:r>
          </a:p>
        </p:txBody>
      </p:sp>
      <p:sp>
        <p:nvSpPr>
          <p:cNvPr id="6" name="TextBox 5"/>
          <p:cNvSpPr txBox="1"/>
          <p:nvPr/>
        </p:nvSpPr>
        <p:spPr>
          <a:xfrm>
            <a:off x="566928" y="4777740"/>
            <a:ext cx="548640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800" b="0" i="0">
                <a:solidFill>
                  <a:srgbClr val="6F6656"/>
                </a:solidFill>
                <a:latin typeface="Menlo"/>
                <a:ea typeface="Hiragino Sans GB"/>
              </a:rPr>
              <a:t>ATTENTION IS ALL YOU NEED · PAPER DEEP-DIVE</a:t>
            </a:r>
          </a:p>
        </p:txBody>
      </p:sp>
      <p:pic>
        <p:nvPicPr>
          <p:cNvPr id="7" name="Picture 6" descr="equation var" title="equation var"/>
          <p:cNvPicPr>
            <a:picLocks noChangeAspect="1"/>
          </p:cNvPicPr>
          <p:nvPr/>
        </p:nvPicPr>
        <p:blipFill>
          <a:blip r:embed="rId2"/>
          <a:stretch>
            <a:fillRect/>
          </a:stretch>
        </p:blipFill>
        <p:spPr>
          <a:xfrm>
            <a:off x="566928" y="1438656"/>
            <a:ext cx="2604532" cy="292608"/>
          </a:xfrm>
          <a:prstGeom prst="rect">
            <a:avLst/>
          </a:prstGeom>
        </p:spPr>
      </p:pic>
      <p:sp>
        <p:nvSpPr>
          <p:cNvPr id="8" name="Rounded Rectangle 7"/>
          <p:cNvSpPr/>
          <p:nvPr/>
        </p:nvSpPr>
        <p:spPr>
          <a:xfrm>
            <a:off x="566928" y="1987295"/>
            <a:ext cx="310896" cy="310896"/>
          </a:xfrm>
          <a:prstGeom prst="roundRect">
            <a:avLst>
              <a:gd name="adj" fmla="val 50000"/>
            </a:avLst>
          </a:prstGeom>
          <a:solidFill>
            <a:srgbClr val="2A3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987295"/>
            <a:ext cx="310896" cy="310896"/>
          </a:xfrm>
          <a:prstGeom prst="rect">
            <a:avLst/>
          </a:prstGeom>
          <a:noFill/>
          <a:ln/>
        </p:spPr>
        <p:txBody>
          <a:bodyPr wrap="square" anchor="ctr" lIns="25400" rIns="25400" tIns="25400" bIns="25400">
            <a:spAutoFit/>
          </a:bodyPr>
          <a:lstStyle/>
          <a:p>
            <a:pPr algn="ctr">
              <a:lnSpc>
                <a:spcPct val="100000"/>
              </a:lnSpc>
              <a:spcBef>
                <a:spcPts val="0"/>
              </a:spcBef>
              <a:spcAft>
                <a:spcPts val="0"/>
              </a:spcAft>
            </a:pPr>
            <a:r>
              <a:rPr sz="1300" b="1" i="0">
                <a:solidFill>
                  <a:srgbClr val="FFFFFF"/>
                </a:solidFill>
                <a:latin typeface="Helvetica Neue"/>
                <a:ea typeface="Hiragino Sans GB"/>
              </a:rPr>
              <a:t>1</a:t>
            </a:r>
          </a:p>
        </p:txBody>
      </p:sp>
      <p:sp>
        <p:nvSpPr>
          <p:cNvPr id="10" name="TextBox 9"/>
          <p:cNvSpPr txBox="1"/>
          <p:nvPr/>
        </p:nvSpPr>
        <p:spPr>
          <a:xfrm>
            <a:off x="1005840" y="1959863"/>
            <a:ext cx="2958592"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250" b="1" i="0">
                <a:solidFill>
                  <a:srgbClr val="1C1D22"/>
                </a:solidFill>
                <a:latin typeface="Helvetica Neue"/>
                <a:ea typeface="Hiragino Sans GB"/>
              </a:rPr>
              <a:t>The larger dₖ is</a:t>
            </a:r>
          </a:p>
        </p:txBody>
      </p:sp>
      <p:sp>
        <p:nvSpPr>
          <p:cNvPr id="11" name="TextBox 10"/>
          <p:cNvSpPr txBox="1"/>
          <p:nvPr/>
        </p:nvSpPr>
        <p:spPr>
          <a:xfrm>
            <a:off x="1005840" y="2225039"/>
            <a:ext cx="2958592" cy="310896"/>
          </a:xfrm>
          <a:prstGeom prst="rect">
            <a:avLst/>
          </a:prstGeom>
          <a:noFill/>
          <a:ln/>
        </p:spPr>
        <p:txBody>
          <a:bodyPr wrap="square" anchor="t" lIns="25400" rIns="25400" tIns="25400" bIns="25400">
            <a:spAutoFit/>
          </a:bodyPr>
          <a:lstStyle/>
          <a:p>
            <a:pPr algn="l">
              <a:lnSpc>
                <a:spcPct val="105000"/>
              </a:lnSpc>
              <a:spcBef>
                <a:spcPts val="0"/>
              </a:spcBef>
              <a:spcAft>
                <a:spcPts val="0"/>
              </a:spcAft>
            </a:pPr>
            <a:r>
              <a:rPr sz="1050" b="0" i="0">
                <a:solidFill>
                  <a:srgbClr val="5A5E68"/>
                </a:solidFill>
                <a:latin typeface="Helvetica Neue"/>
                <a:ea typeface="Hiragino Sans GB"/>
              </a:rPr>
              <a:t>Q·K sums dₖ products, so its variance grows linearly with dₖ</a:t>
            </a:r>
          </a:p>
        </p:txBody>
      </p:sp>
      <p:sp>
        <p:nvSpPr>
          <p:cNvPr id="12" name="Rounded Rectangle 11"/>
          <p:cNvSpPr/>
          <p:nvPr/>
        </p:nvSpPr>
        <p:spPr>
          <a:xfrm>
            <a:off x="566928" y="2663952"/>
            <a:ext cx="310896" cy="310896"/>
          </a:xfrm>
          <a:prstGeom prst="roundRect">
            <a:avLst>
              <a:gd name="adj" fmla="val 50000"/>
            </a:avLst>
          </a:prstGeom>
          <a:solidFill>
            <a:srgbClr val="2A3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2663952"/>
            <a:ext cx="310896" cy="310896"/>
          </a:xfrm>
          <a:prstGeom prst="rect">
            <a:avLst/>
          </a:prstGeom>
          <a:noFill/>
          <a:ln/>
        </p:spPr>
        <p:txBody>
          <a:bodyPr wrap="square" anchor="ctr" lIns="25400" rIns="25400" tIns="25400" bIns="25400">
            <a:spAutoFit/>
          </a:bodyPr>
          <a:lstStyle/>
          <a:p>
            <a:pPr algn="ctr">
              <a:lnSpc>
                <a:spcPct val="100000"/>
              </a:lnSpc>
              <a:spcBef>
                <a:spcPts val="0"/>
              </a:spcBef>
              <a:spcAft>
                <a:spcPts val="0"/>
              </a:spcAft>
            </a:pPr>
            <a:r>
              <a:rPr sz="1300" b="1" i="0">
                <a:solidFill>
                  <a:srgbClr val="FFFFFF"/>
                </a:solidFill>
                <a:latin typeface="Helvetica Neue"/>
                <a:ea typeface="Hiragino Sans GB"/>
              </a:rPr>
              <a:t>2</a:t>
            </a:r>
          </a:p>
        </p:txBody>
      </p:sp>
      <p:sp>
        <p:nvSpPr>
          <p:cNvPr id="14" name="TextBox 13"/>
          <p:cNvSpPr txBox="1"/>
          <p:nvPr/>
        </p:nvSpPr>
        <p:spPr>
          <a:xfrm>
            <a:off x="1005840" y="2636520"/>
            <a:ext cx="2958592"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250" b="1" i="0">
                <a:solidFill>
                  <a:srgbClr val="1C1D22"/>
                </a:solidFill>
                <a:latin typeface="Helvetica Neue"/>
                <a:ea typeface="Hiragino Sans GB"/>
              </a:rPr>
              <a:t>Dot products blow up</a:t>
            </a:r>
          </a:p>
        </p:txBody>
      </p:sp>
      <p:sp>
        <p:nvSpPr>
          <p:cNvPr id="15" name="TextBox 14"/>
          <p:cNvSpPr txBox="1"/>
          <p:nvPr/>
        </p:nvSpPr>
        <p:spPr>
          <a:xfrm>
            <a:off x="1005840" y="2901695"/>
            <a:ext cx="2958592" cy="310896"/>
          </a:xfrm>
          <a:prstGeom prst="rect">
            <a:avLst/>
          </a:prstGeom>
          <a:noFill/>
          <a:ln/>
        </p:spPr>
        <p:txBody>
          <a:bodyPr wrap="square" anchor="t" lIns="25400" rIns="25400" tIns="25400" bIns="25400">
            <a:spAutoFit/>
          </a:bodyPr>
          <a:lstStyle/>
          <a:p>
            <a:pPr algn="l">
              <a:lnSpc>
                <a:spcPct val="105000"/>
              </a:lnSpc>
              <a:spcBef>
                <a:spcPts val="0"/>
              </a:spcBef>
              <a:spcAft>
                <a:spcPts val="0"/>
              </a:spcAft>
            </a:pPr>
            <a:r>
              <a:rPr sz="1050" b="0" i="0">
                <a:solidFill>
                  <a:srgbClr val="5A5E68"/>
                </a:solidFill>
                <a:latin typeface="Helvetica Neue"/>
                <a:ea typeface="Hiragino Sans GB"/>
              </a:rPr>
              <a:t>Softmax slides into saturation and dumps nearly all weight on one key</a:t>
            </a:r>
          </a:p>
        </p:txBody>
      </p:sp>
      <p:sp>
        <p:nvSpPr>
          <p:cNvPr id="16" name="Rounded Rectangle 15"/>
          <p:cNvSpPr/>
          <p:nvPr/>
        </p:nvSpPr>
        <p:spPr>
          <a:xfrm>
            <a:off x="566928" y="3340608"/>
            <a:ext cx="310896" cy="310896"/>
          </a:xfrm>
          <a:prstGeom prst="roundRect">
            <a:avLst>
              <a:gd name="adj" fmla="val 50000"/>
            </a:avLst>
          </a:prstGeom>
          <a:solidFill>
            <a:srgbClr val="2A3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340608"/>
            <a:ext cx="310896" cy="310896"/>
          </a:xfrm>
          <a:prstGeom prst="rect">
            <a:avLst/>
          </a:prstGeom>
          <a:noFill/>
          <a:ln/>
        </p:spPr>
        <p:txBody>
          <a:bodyPr wrap="square" anchor="ctr" lIns="25400" rIns="25400" tIns="25400" bIns="25400">
            <a:spAutoFit/>
          </a:bodyPr>
          <a:lstStyle/>
          <a:p>
            <a:pPr algn="ctr">
              <a:lnSpc>
                <a:spcPct val="100000"/>
              </a:lnSpc>
              <a:spcBef>
                <a:spcPts val="0"/>
              </a:spcBef>
              <a:spcAft>
                <a:spcPts val="0"/>
              </a:spcAft>
            </a:pPr>
            <a:r>
              <a:rPr sz="1300" b="1" i="0">
                <a:solidFill>
                  <a:srgbClr val="FFFFFF"/>
                </a:solidFill>
                <a:latin typeface="Helvetica Neue"/>
                <a:ea typeface="Hiragino Sans GB"/>
              </a:rPr>
              <a:t>3</a:t>
            </a:r>
          </a:p>
        </p:txBody>
      </p:sp>
      <p:sp>
        <p:nvSpPr>
          <p:cNvPr id="18" name="TextBox 17"/>
          <p:cNvSpPr txBox="1"/>
          <p:nvPr/>
        </p:nvSpPr>
        <p:spPr>
          <a:xfrm>
            <a:off x="1005840" y="3313176"/>
            <a:ext cx="2958592"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250" b="1" i="0">
                <a:solidFill>
                  <a:srgbClr val="1C1D22"/>
                </a:solidFill>
                <a:latin typeface="Helvetica Neue"/>
                <a:ea typeface="Hiragino Sans GB"/>
              </a:rPr>
              <a:t>Gradients vanish</a:t>
            </a:r>
          </a:p>
        </p:txBody>
      </p:sp>
      <p:sp>
        <p:nvSpPr>
          <p:cNvPr id="19" name="TextBox 18"/>
          <p:cNvSpPr txBox="1"/>
          <p:nvPr/>
        </p:nvSpPr>
        <p:spPr>
          <a:xfrm>
            <a:off x="1005840" y="3578352"/>
            <a:ext cx="2958592" cy="310896"/>
          </a:xfrm>
          <a:prstGeom prst="rect">
            <a:avLst/>
          </a:prstGeom>
          <a:noFill/>
          <a:ln/>
        </p:spPr>
        <p:txBody>
          <a:bodyPr wrap="square" anchor="t" lIns="25400" rIns="25400" tIns="25400" bIns="25400">
            <a:spAutoFit/>
          </a:bodyPr>
          <a:lstStyle/>
          <a:p>
            <a:pPr algn="l">
              <a:lnSpc>
                <a:spcPct val="105000"/>
              </a:lnSpc>
              <a:spcBef>
                <a:spcPts val="0"/>
              </a:spcBef>
              <a:spcAft>
                <a:spcPts val="0"/>
              </a:spcAft>
            </a:pPr>
            <a:r>
              <a:rPr sz="1050" b="0" i="0">
                <a:solidFill>
                  <a:srgbClr val="5A5E68"/>
                </a:solidFill>
                <a:latin typeface="Helvetica Neue"/>
                <a:ea typeface="Hiragino Sans GB"/>
              </a:rPr>
              <a:t>Backprop can't learn — training stalls</a:t>
            </a:r>
          </a:p>
        </p:txBody>
      </p:sp>
      <p:sp>
        <p:nvSpPr>
          <p:cNvPr id="20" name="Rounded Rectangle 19"/>
          <p:cNvSpPr/>
          <p:nvPr/>
        </p:nvSpPr>
        <p:spPr>
          <a:xfrm>
            <a:off x="566928" y="4017264"/>
            <a:ext cx="310896" cy="310896"/>
          </a:xfrm>
          <a:prstGeom prst="roundRect">
            <a:avLst>
              <a:gd name="adj" fmla="val 50000"/>
            </a:avLst>
          </a:prstGeom>
          <a:solidFill>
            <a:srgbClr val="B84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4017264"/>
            <a:ext cx="310896" cy="310896"/>
          </a:xfrm>
          <a:prstGeom prst="rect">
            <a:avLst/>
          </a:prstGeom>
          <a:noFill/>
          <a:ln/>
        </p:spPr>
        <p:txBody>
          <a:bodyPr wrap="square" anchor="ctr" lIns="25400" rIns="25400" tIns="25400" bIns="25400">
            <a:spAutoFit/>
          </a:bodyPr>
          <a:lstStyle/>
          <a:p>
            <a:pPr algn="ctr">
              <a:lnSpc>
                <a:spcPct val="100000"/>
              </a:lnSpc>
              <a:spcBef>
                <a:spcPts val="0"/>
              </a:spcBef>
              <a:spcAft>
                <a:spcPts val="0"/>
              </a:spcAft>
            </a:pPr>
            <a:r>
              <a:rPr sz="1300" b="1" i="0">
                <a:solidFill>
                  <a:srgbClr val="FFFFFF"/>
                </a:solidFill>
                <a:latin typeface="Helvetica Neue"/>
                <a:ea typeface="Hiragino Sans GB"/>
              </a:rPr>
              <a:t>4</a:t>
            </a:r>
          </a:p>
        </p:txBody>
      </p:sp>
      <p:sp>
        <p:nvSpPr>
          <p:cNvPr id="22" name="TextBox 21"/>
          <p:cNvSpPr txBox="1"/>
          <p:nvPr/>
        </p:nvSpPr>
        <p:spPr>
          <a:xfrm>
            <a:off x="1005840" y="3989832"/>
            <a:ext cx="2958592"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250" b="1" i="0">
                <a:solidFill>
                  <a:srgbClr val="1C1D22"/>
                </a:solidFill>
                <a:latin typeface="Helvetica Neue"/>
                <a:ea typeface="Hiragino Sans GB"/>
              </a:rPr>
              <a:t>÷ √dₖ, variance back to ~1</a:t>
            </a:r>
          </a:p>
        </p:txBody>
      </p:sp>
      <p:sp>
        <p:nvSpPr>
          <p:cNvPr id="23" name="TextBox 22"/>
          <p:cNvSpPr txBox="1"/>
          <p:nvPr/>
        </p:nvSpPr>
        <p:spPr>
          <a:xfrm>
            <a:off x="1005840" y="4255008"/>
            <a:ext cx="2958592" cy="310896"/>
          </a:xfrm>
          <a:prstGeom prst="rect">
            <a:avLst/>
          </a:prstGeom>
          <a:noFill/>
          <a:ln/>
        </p:spPr>
        <p:txBody>
          <a:bodyPr wrap="square" anchor="t" lIns="25400" rIns="25400" tIns="25400" bIns="25400">
            <a:spAutoFit/>
          </a:bodyPr>
          <a:lstStyle/>
          <a:p>
            <a:pPr algn="l">
              <a:lnSpc>
                <a:spcPct val="105000"/>
              </a:lnSpc>
              <a:spcBef>
                <a:spcPts val="0"/>
              </a:spcBef>
              <a:spcAft>
                <a:spcPts val="0"/>
              </a:spcAft>
            </a:pPr>
            <a:r>
              <a:rPr sz="1050" b="0" i="0">
                <a:solidFill>
                  <a:srgbClr val="5A5E68"/>
                </a:solidFill>
                <a:latin typeface="Helvetica Neue"/>
                <a:ea typeface="Hiragino Sans GB"/>
              </a:rPr>
              <a:t>Flatter distribution, healthy gradients, stable training</a:t>
            </a:r>
          </a:p>
        </p:txBody>
      </p:sp>
      <p:sp>
        <p:nvSpPr>
          <p:cNvPr id="24" name="TextBox 23"/>
          <p:cNvSpPr txBox="1"/>
          <p:nvPr/>
        </p:nvSpPr>
        <p:spPr>
          <a:xfrm>
            <a:off x="4330192" y="1365503"/>
            <a:ext cx="4246879"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050" b="1" i="0">
                <a:solidFill>
                  <a:srgbClr val="6F6656"/>
                </a:solidFill>
                <a:latin typeface="Helvetica Neue"/>
                <a:ea typeface="Hiragino Sans GB"/>
              </a:rPr>
              <a:t>Softmax weights for one set of scores (dₖ = 64 · reproduced on random inputs, not the paper's numbers)</a:t>
            </a:r>
          </a:p>
        </p:txBody>
      </p:sp>
      <p:graphicFrame>
        <p:nvGraphicFramePr>
          <p:cNvPr id="25" name="Chart 24"/>
          <p:cNvGraphicFramePr>
            <a:graphicFrameLocks noGrp="1"/>
          </p:cNvGraphicFramePr>
          <p:nvPr/>
        </p:nvGraphicFramePr>
        <p:xfrm>
          <a:off x="4330192" y="1676399"/>
          <a:ext cx="4246879" cy="2150364"/>
        </p:xfrm>
        <a:graphic>
          <a:graphicData uri="http://schemas.openxmlformats.org/drawingml/2006/chart">
            <c:chart xmlns:c="http://schemas.openxmlformats.org/drawingml/2006/chart" r:id="rId3"/>
          </a:graphicData>
        </a:graphic>
      </p:graphicFrame>
      <p:sp>
        <p:nvSpPr>
          <p:cNvPr id="26" name="TextBox 25"/>
          <p:cNvSpPr txBox="1"/>
          <p:nvPr/>
        </p:nvSpPr>
        <p:spPr>
          <a:xfrm>
            <a:off x="4330192" y="3899916"/>
            <a:ext cx="4246879" cy="457200"/>
          </a:xfrm>
          <a:prstGeom prst="rect">
            <a:avLst/>
          </a:prstGeom>
          <a:noFill/>
          <a:ln/>
        </p:spPr>
        <p:txBody>
          <a:bodyPr wrap="square" anchor="t" lIns="25400" rIns="25400" tIns="25400" bIns="25400">
            <a:spAutoFit/>
          </a:bodyPr>
          <a:lstStyle/>
          <a:p>
            <a:pPr algn="l">
              <a:lnSpc>
                <a:spcPct val="112000"/>
              </a:lnSpc>
              <a:spcBef>
                <a:spcPts val="0"/>
              </a:spcBef>
              <a:spcAft>
                <a:spcPts val="0"/>
              </a:spcAft>
            </a:pPr>
            <a:r>
              <a:rPr sz="1100" b="0" i="0">
                <a:solidFill>
                  <a:srgbClr val="5A5E68"/>
                </a:solidFill>
                <a:latin typeface="Helvetica Neue"/>
                <a:ea typeface="Hiragino Sans GB"/>
              </a:rPr>
              <a:t>Unscaled, one key hogs almost all the weight (0.87); scaled, it flattens out — so gradients can flow.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8010144"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200" b="1" i="0">
                <a:solidFill>
                  <a:srgbClr val="B84020"/>
                </a:solidFill>
                <a:latin typeface="Helvetica Neue"/>
                <a:ea typeface="Hiragino Sans GB"/>
              </a:rPr>
              <a:t>MECHANISM · MULTI-HEAD</a:t>
            </a:r>
          </a:p>
        </p:txBody>
      </p:sp>
      <p:sp>
        <p:nvSpPr>
          <p:cNvPr id="4" name="TextBox 3"/>
          <p:cNvSpPr txBox="1"/>
          <p:nvPr/>
        </p:nvSpPr>
        <p:spPr>
          <a:xfrm>
            <a:off x="566928" y="713232"/>
            <a:ext cx="8010144" cy="7315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2400" b="1" i="0">
                <a:solidFill>
                  <a:srgbClr val="1C1D22"/>
                </a:solidFill>
                <a:latin typeface="Helvetica Neue"/>
                <a:ea typeface="Songti SC"/>
              </a:rPr>
              <a:t>Eight heads in parallel, each on a different relation</a:t>
            </a:r>
          </a:p>
        </p:txBody>
      </p:sp>
      <p:sp>
        <p:nvSpPr>
          <p:cNvPr id="5" name="TextBox 4"/>
          <p:cNvSpPr txBox="1"/>
          <p:nvPr/>
        </p:nvSpPr>
        <p:spPr>
          <a:xfrm>
            <a:off x="7680960" y="4759452"/>
            <a:ext cx="1097280" cy="274320"/>
          </a:xfrm>
          <a:prstGeom prst="rect">
            <a:avLst/>
          </a:prstGeom>
          <a:noFill/>
          <a:ln/>
        </p:spPr>
        <p:txBody>
          <a:bodyPr wrap="square" anchor="t" lIns="25400" rIns="25400" tIns="25400" bIns="25400">
            <a:spAutoFit/>
          </a:bodyPr>
          <a:lstStyle/>
          <a:p>
            <a:pPr algn="r">
              <a:lnSpc>
                <a:spcPct val="100000"/>
              </a:lnSpc>
              <a:spcBef>
                <a:spcPts val="0"/>
              </a:spcBef>
              <a:spcAft>
                <a:spcPts val="0"/>
              </a:spcAft>
            </a:pPr>
            <a:r>
              <a:rPr sz="900" b="1" i="0">
                <a:solidFill>
                  <a:srgbClr val="6F6656"/>
                </a:solidFill>
                <a:latin typeface="Menlo"/>
                <a:ea typeface="Hiragino Sans GB"/>
              </a:rPr>
              <a:t>08 / 15</a:t>
            </a:r>
          </a:p>
        </p:txBody>
      </p:sp>
      <p:sp>
        <p:nvSpPr>
          <p:cNvPr id="6" name="TextBox 5"/>
          <p:cNvSpPr txBox="1"/>
          <p:nvPr/>
        </p:nvSpPr>
        <p:spPr>
          <a:xfrm>
            <a:off x="566928" y="4777740"/>
            <a:ext cx="548640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800" b="0" i="0">
                <a:solidFill>
                  <a:srgbClr val="6F6656"/>
                </a:solidFill>
                <a:latin typeface="Menlo"/>
                <a:ea typeface="Hiragino Sans GB"/>
              </a:rPr>
              <a:t>ATTENTION IS ALL YOU NEED · PAPER DEEP-DIVE</a:t>
            </a:r>
          </a:p>
        </p:txBody>
      </p:sp>
      <p:sp>
        <p:nvSpPr>
          <p:cNvPr id="7" name="Rounded Rectangle 6"/>
          <p:cNvSpPr/>
          <p:nvPr/>
        </p:nvSpPr>
        <p:spPr>
          <a:xfrm>
            <a:off x="685800" y="1493520"/>
            <a:ext cx="1159459" cy="658368"/>
          </a:xfrm>
          <a:prstGeom prst="roundRect">
            <a:avLst>
              <a:gd name="adj" fmla="val 8000"/>
            </a:avLst>
          </a:prstGeom>
          <a:solidFill>
            <a:srgbClr val="166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493520"/>
            <a:ext cx="921715" cy="658368"/>
          </a:xfrm>
          <a:prstGeom prst="rect">
            <a:avLst/>
          </a:prstGeom>
          <a:noFill/>
          <a:ln/>
        </p:spPr>
        <p:txBody>
          <a:bodyPr wrap="square" anchor="ctr" lIns="25400" rIns="25400" tIns="25400" bIns="25400">
            <a:spAutoFit/>
          </a:bodyPr>
          <a:lstStyle/>
          <a:p>
            <a:pPr algn="ctr">
              <a:lnSpc>
                <a:spcPct val="98000"/>
              </a:lnSpc>
              <a:spcBef>
                <a:spcPts val="0"/>
              </a:spcBef>
              <a:spcAft>
                <a:spcPts val="100"/>
              </a:spcAft>
            </a:pPr>
            <a:r>
              <a:rPr sz="1400" b="1" i="0">
                <a:solidFill>
                  <a:srgbClr val="FFFFFF"/>
                </a:solidFill>
                <a:latin typeface="Helvetica Neue"/>
                <a:ea typeface="Hiragino Sans GB"/>
              </a:rPr>
              <a:t>Head 1</a:t>
            </a:r>
          </a:p>
        </p:txBody>
      </p:sp>
      <p:sp>
        <p:nvSpPr>
          <p:cNvPr id="9" name="Rounded Rectangle 8"/>
          <p:cNvSpPr/>
          <p:nvPr/>
        </p:nvSpPr>
        <p:spPr>
          <a:xfrm>
            <a:off x="2119579" y="1493520"/>
            <a:ext cx="1159459" cy="658368"/>
          </a:xfrm>
          <a:prstGeom prst="roundRect">
            <a:avLst>
              <a:gd name="adj" fmla="val 8000"/>
            </a:avLst>
          </a:prstGeom>
          <a:solidFill>
            <a:srgbClr val="166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38451" y="1493520"/>
            <a:ext cx="921715" cy="658368"/>
          </a:xfrm>
          <a:prstGeom prst="rect">
            <a:avLst/>
          </a:prstGeom>
          <a:noFill/>
          <a:ln/>
        </p:spPr>
        <p:txBody>
          <a:bodyPr wrap="square" anchor="ctr" lIns="25400" rIns="25400" tIns="25400" bIns="25400">
            <a:spAutoFit/>
          </a:bodyPr>
          <a:lstStyle/>
          <a:p>
            <a:pPr algn="ctr">
              <a:lnSpc>
                <a:spcPct val="98000"/>
              </a:lnSpc>
              <a:spcBef>
                <a:spcPts val="0"/>
              </a:spcBef>
              <a:spcAft>
                <a:spcPts val="100"/>
              </a:spcAft>
            </a:pPr>
            <a:r>
              <a:rPr sz="1400" b="1" i="0">
                <a:solidFill>
                  <a:srgbClr val="FFFFFF"/>
                </a:solidFill>
                <a:latin typeface="Helvetica Neue"/>
                <a:ea typeface="Hiragino Sans GB"/>
              </a:rPr>
              <a:t>Head 2</a:t>
            </a:r>
          </a:p>
        </p:txBody>
      </p:sp>
      <p:sp>
        <p:nvSpPr>
          <p:cNvPr id="11" name="Rounded Rectangle 10"/>
          <p:cNvSpPr/>
          <p:nvPr/>
        </p:nvSpPr>
        <p:spPr>
          <a:xfrm>
            <a:off x="3553358" y="1493520"/>
            <a:ext cx="1159459" cy="658368"/>
          </a:xfrm>
          <a:prstGeom prst="roundRect">
            <a:avLst>
              <a:gd name="adj" fmla="val 8000"/>
            </a:avLst>
          </a:prstGeom>
          <a:solidFill>
            <a:srgbClr val="166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72230" y="1493520"/>
            <a:ext cx="921715" cy="658368"/>
          </a:xfrm>
          <a:prstGeom prst="rect">
            <a:avLst/>
          </a:prstGeom>
          <a:noFill/>
          <a:ln/>
        </p:spPr>
        <p:txBody>
          <a:bodyPr wrap="square" anchor="ctr" lIns="25400" rIns="25400" tIns="25400" bIns="25400">
            <a:spAutoFit/>
          </a:bodyPr>
          <a:lstStyle/>
          <a:p>
            <a:pPr algn="ctr">
              <a:lnSpc>
                <a:spcPct val="98000"/>
              </a:lnSpc>
              <a:spcBef>
                <a:spcPts val="0"/>
              </a:spcBef>
              <a:spcAft>
                <a:spcPts val="100"/>
              </a:spcAft>
            </a:pPr>
            <a:r>
              <a:rPr sz="1400" b="1" i="0">
                <a:solidFill>
                  <a:srgbClr val="FFFFFF"/>
                </a:solidFill>
                <a:latin typeface="Helvetica Neue"/>
                <a:ea typeface="Hiragino Sans GB"/>
              </a:rPr>
              <a:t>Head 3</a:t>
            </a:r>
          </a:p>
        </p:txBody>
      </p:sp>
      <p:sp>
        <p:nvSpPr>
          <p:cNvPr id="13" name="TextBox 12"/>
          <p:cNvSpPr txBox="1"/>
          <p:nvPr/>
        </p:nvSpPr>
        <p:spPr>
          <a:xfrm>
            <a:off x="4987137" y="1493520"/>
            <a:ext cx="1159459" cy="658368"/>
          </a:xfrm>
          <a:prstGeom prst="rect">
            <a:avLst/>
          </a:prstGeom>
          <a:noFill/>
          <a:ln/>
        </p:spPr>
        <p:txBody>
          <a:bodyPr wrap="square" anchor="ctr" lIns="25400" rIns="25400" tIns="25400" bIns="25400">
            <a:spAutoFit/>
          </a:bodyPr>
          <a:lstStyle/>
          <a:p>
            <a:pPr algn="ctr">
              <a:lnSpc>
                <a:spcPct val="100000"/>
              </a:lnSpc>
              <a:spcBef>
                <a:spcPts val="0"/>
              </a:spcBef>
              <a:spcAft>
                <a:spcPts val="0"/>
              </a:spcAft>
            </a:pPr>
            <a:r>
              <a:rPr sz="2600" b="1" i="0">
                <a:solidFill>
                  <a:srgbClr val="6F6656"/>
                </a:solidFill>
                <a:latin typeface="Helvetica Neue"/>
                <a:ea typeface="Hiragino Sans GB"/>
              </a:rPr>
              <a:t>…</a:t>
            </a:r>
          </a:p>
        </p:txBody>
      </p:sp>
      <p:sp>
        <p:nvSpPr>
          <p:cNvPr id="14" name="Rounded Rectangle 13"/>
          <p:cNvSpPr/>
          <p:nvPr/>
        </p:nvSpPr>
        <p:spPr>
          <a:xfrm>
            <a:off x="6420916" y="1493520"/>
            <a:ext cx="1159459" cy="658368"/>
          </a:xfrm>
          <a:prstGeom prst="roundRect">
            <a:avLst>
              <a:gd name="adj" fmla="val 8000"/>
            </a:avLst>
          </a:prstGeom>
          <a:solidFill>
            <a:srgbClr val="166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9788" y="1493520"/>
            <a:ext cx="921715" cy="658368"/>
          </a:xfrm>
          <a:prstGeom prst="rect">
            <a:avLst/>
          </a:prstGeom>
          <a:noFill/>
          <a:ln/>
        </p:spPr>
        <p:txBody>
          <a:bodyPr wrap="square" anchor="ctr" lIns="25400" rIns="25400" tIns="25400" bIns="25400">
            <a:spAutoFit/>
          </a:bodyPr>
          <a:lstStyle/>
          <a:p>
            <a:pPr algn="ctr">
              <a:lnSpc>
                <a:spcPct val="98000"/>
              </a:lnSpc>
              <a:spcBef>
                <a:spcPts val="0"/>
              </a:spcBef>
              <a:spcAft>
                <a:spcPts val="100"/>
              </a:spcAft>
            </a:pPr>
            <a:r>
              <a:rPr sz="1400" b="1" i="0">
                <a:solidFill>
                  <a:srgbClr val="FFFFFF"/>
                </a:solidFill>
                <a:latin typeface="Helvetica Neue"/>
                <a:ea typeface="Hiragino Sans GB"/>
              </a:rPr>
              <a:t>Head 8</a:t>
            </a:r>
          </a:p>
        </p:txBody>
      </p:sp>
      <p:sp>
        <p:nvSpPr>
          <p:cNvPr id="16" name="Rounded Rectangle 15"/>
          <p:cNvSpPr/>
          <p:nvPr/>
        </p:nvSpPr>
        <p:spPr>
          <a:xfrm>
            <a:off x="7854696" y="1594103"/>
            <a:ext cx="603504" cy="457200"/>
          </a:xfrm>
          <a:prstGeom prst="roundRect">
            <a:avLst>
              <a:gd name="adj" fmla="val 8000"/>
            </a:avLst>
          </a:prstGeom>
          <a:solidFill>
            <a:srgbClr val="166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54696" y="1594103"/>
            <a:ext cx="603504" cy="457200"/>
          </a:xfrm>
          <a:prstGeom prst="rect">
            <a:avLst/>
          </a:prstGeom>
          <a:noFill/>
          <a:ln/>
        </p:spPr>
        <p:txBody>
          <a:bodyPr wrap="square" anchor="ctr" lIns="25400" rIns="25400" tIns="25400" bIns="25400">
            <a:spAutoFit/>
          </a:bodyPr>
          <a:lstStyle/>
          <a:p>
            <a:pPr algn="ctr">
              <a:lnSpc>
                <a:spcPct val="100000"/>
              </a:lnSpc>
              <a:spcBef>
                <a:spcPts val="0"/>
              </a:spcBef>
              <a:spcAft>
                <a:spcPts val="0"/>
              </a:spcAft>
            </a:pPr>
            <a:r>
              <a:rPr sz="1600" b="1" i="0">
                <a:solidFill>
                  <a:srgbClr val="FFFFFF"/>
                </a:solidFill>
                <a:latin typeface="Helvetica Neue"/>
                <a:ea typeface="Hiragino Sans GB"/>
              </a:rPr>
              <a:t>× 8</a:t>
            </a:r>
          </a:p>
        </p:txBody>
      </p:sp>
      <p:sp>
        <p:nvSpPr>
          <p:cNvPr id="18" name="TextBox 17"/>
          <p:cNvSpPr txBox="1"/>
          <p:nvPr/>
        </p:nvSpPr>
        <p:spPr>
          <a:xfrm>
            <a:off x="685800" y="2243328"/>
            <a:ext cx="7772400" cy="310896"/>
          </a:xfrm>
          <a:prstGeom prst="rect">
            <a:avLst/>
          </a:prstGeom>
          <a:noFill/>
          <a:ln/>
        </p:spPr>
        <p:txBody>
          <a:bodyPr wrap="square" anchor="t" lIns="25400" rIns="25400" tIns="25400" bIns="25400">
            <a:spAutoFit/>
          </a:bodyPr>
          <a:lstStyle/>
          <a:p>
            <a:pPr algn="ctr">
              <a:lnSpc>
                <a:spcPct val="100000"/>
              </a:lnSpc>
              <a:spcBef>
                <a:spcPts val="0"/>
              </a:spcBef>
              <a:spcAft>
                <a:spcPts val="0"/>
              </a:spcAft>
            </a:pPr>
            <a:r>
              <a:rPr sz="1250" b="0" i="0">
                <a:solidFill>
                  <a:srgbClr val="5A5E68"/>
                </a:solidFill>
                <a:latin typeface="Helvetica Neue"/>
                <a:ea typeface="Hiragino Sans GB"/>
              </a:rPr>
              <a:t>Each head runs scaled dot-product attention in its own dₖ = dᵥ = 64-dim subspace</a:t>
            </a:r>
          </a:p>
        </p:txBody>
      </p:sp>
      <p:sp>
        <p:nvSpPr>
          <p:cNvPr id="19" name="TextBox 18"/>
          <p:cNvSpPr txBox="1"/>
          <p:nvPr/>
        </p:nvSpPr>
        <p:spPr>
          <a:xfrm>
            <a:off x="685800" y="2682240"/>
            <a:ext cx="7772400" cy="274320"/>
          </a:xfrm>
          <a:prstGeom prst="rect">
            <a:avLst/>
          </a:prstGeom>
          <a:noFill/>
          <a:ln/>
        </p:spPr>
        <p:txBody>
          <a:bodyPr wrap="square" anchor="t" lIns="25400" rIns="25400" tIns="25400" bIns="25400">
            <a:spAutoFit/>
          </a:bodyPr>
          <a:lstStyle/>
          <a:p>
            <a:pPr algn="ctr">
              <a:lnSpc>
                <a:spcPct val="100000"/>
              </a:lnSpc>
              <a:spcBef>
                <a:spcPts val="0"/>
              </a:spcBef>
              <a:spcAft>
                <a:spcPts val="0"/>
              </a:spcAft>
            </a:pPr>
            <a:r>
              <a:rPr sz="1300" b="1" i="0">
                <a:solidFill>
                  <a:srgbClr val="1C1D22"/>
                </a:solidFill>
                <a:latin typeface="Helvetica Neue"/>
                <a:ea typeface="Hiragino Sans GB"/>
              </a:rPr>
              <a:t>↓  Concat  →  linear projection Wᴼ</a:t>
            </a:r>
          </a:p>
        </p:txBody>
      </p:sp>
      <p:pic>
        <p:nvPicPr>
          <p:cNvPr id="20" name="Picture 19" descr="equation multihead" title="equation multihead"/>
          <p:cNvPicPr>
            <a:picLocks noChangeAspect="1"/>
          </p:cNvPicPr>
          <p:nvPr/>
        </p:nvPicPr>
        <p:blipFill>
          <a:blip r:embed="rId2"/>
          <a:stretch>
            <a:fillRect/>
          </a:stretch>
        </p:blipFill>
        <p:spPr>
          <a:xfrm>
            <a:off x="2420946" y="3066288"/>
            <a:ext cx="4302106" cy="713231"/>
          </a:xfrm>
          <a:prstGeom prst="rect">
            <a:avLst/>
          </a:prstGeom>
        </p:spPr>
      </p:pic>
      <p:sp>
        <p:nvSpPr>
          <p:cNvPr id="21" name="Rounded Rectangle 20"/>
          <p:cNvSpPr/>
          <p:nvPr/>
        </p:nvSpPr>
        <p:spPr>
          <a:xfrm>
            <a:off x="658368" y="3980688"/>
            <a:ext cx="2389632" cy="504443"/>
          </a:xfrm>
          <a:prstGeom prst="roundRect">
            <a:avLst>
              <a:gd name="adj" fmla="val 18126"/>
            </a:avLst>
          </a:prstGeom>
          <a:solidFill>
            <a:srgbClr val="FBFAF6"/>
          </a:solidFill>
          <a:ln w="12700">
            <a:solidFill>
              <a:srgbClr val="D9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090416"/>
            <a:ext cx="64008" cy="284987"/>
          </a:xfrm>
          <a:prstGeom prst="rect">
            <a:avLst/>
          </a:prstGeom>
          <a:solidFill>
            <a:srgbClr val="166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824" y="3980688"/>
            <a:ext cx="2005584" cy="504443"/>
          </a:xfrm>
          <a:prstGeom prst="rect">
            <a:avLst/>
          </a:prstGeom>
          <a:noFill/>
          <a:ln/>
        </p:spPr>
        <p:txBody>
          <a:bodyPr wrap="square" anchor="ctr" lIns="25400" rIns="25400" tIns="25400" bIns="25400">
            <a:spAutoFit/>
          </a:bodyPr>
          <a:lstStyle/>
          <a:p>
            <a:pPr algn="l">
              <a:lnSpc>
                <a:spcPct val="108000"/>
              </a:lnSpc>
              <a:spcBef>
                <a:spcPts val="0"/>
              </a:spcBef>
              <a:spcAft>
                <a:spcPts val="300"/>
              </a:spcAft>
            </a:pPr>
            <a:r>
              <a:rPr sz="1300" b="1" i="0">
                <a:solidFill>
                  <a:srgbClr val="1C1D22"/>
                </a:solidFill>
                <a:latin typeface="Helvetica Neue"/>
                <a:ea typeface="Hiragino Sans GB"/>
              </a:rPr>
              <a:t>One head averages</a:t>
            </a:r>
          </a:p>
          <a:p>
            <a:pPr algn="l">
              <a:lnSpc>
                <a:spcPct val="108000"/>
              </a:lnSpc>
              <a:spcBef>
                <a:spcPts val="0"/>
              </a:spcBef>
              <a:spcAft>
                <a:spcPts val="300"/>
              </a:spcAft>
            </a:pPr>
            <a:r>
              <a:rPr sz="1050" b="0" i="0">
                <a:solidFill>
                  <a:srgbClr val="5A5E68"/>
                </a:solidFill>
                <a:latin typeface="Helvetica Neue"/>
                <a:ea typeface="Hiragino Sans GB"/>
              </a:rPr>
              <a:t>Relations dilute each other</a:t>
            </a:r>
          </a:p>
        </p:txBody>
      </p:sp>
      <p:sp>
        <p:nvSpPr>
          <p:cNvPr id="24" name="Rounded Rectangle 23"/>
          <p:cNvSpPr/>
          <p:nvPr/>
        </p:nvSpPr>
        <p:spPr>
          <a:xfrm>
            <a:off x="3377184" y="3980688"/>
            <a:ext cx="2389632" cy="504443"/>
          </a:xfrm>
          <a:prstGeom prst="roundRect">
            <a:avLst>
              <a:gd name="adj" fmla="val 18126"/>
            </a:avLst>
          </a:prstGeom>
          <a:solidFill>
            <a:srgbClr val="FBFAF6"/>
          </a:solidFill>
          <a:ln w="12700">
            <a:solidFill>
              <a:srgbClr val="D9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377184" y="4090416"/>
            <a:ext cx="64008" cy="284987"/>
          </a:xfrm>
          <a:prstGeom prst="rect">
            <a:avLst/>
          </a:prstGeom>
          <a:solidFill>
            <a:srgbClr val="B84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96640" y="3980688"/>
            <a:ext cx="2005584" cy="504443"/>
          </a:xfrm>
          <a:prstGeom prst="rect">
            <a:avLst/>
          </a:prstGeom>
          <a:noFill/>
          <a:ln/>
        </p:spPr>
        <p:txBody>
          <a:bodyPr wrap="square" anchor="ctr" lIns="25400" rIns="25400" tIns="25400" bIns="25400">
            <a:spAutoFit/>
          </a:bodyPr>
          <a:lstStyle/>
          <a:p>
            <a:pPr algn="l">
              <a:lnSpc>
                <a:spcPct val="108000"/>
              </a:lnSpc>
              <a:spcBef>
                <a:spcPts val="0"/>
              </a:spcBef>
              <a:spcAft>
                <a:spcPts val="300"/>
              </a:spcAft>
            </a:pPr>
            <a:r>
              <a:rPr sz="1300" b="1" i="0">
                <a:solidFill>
                  <a:srgbClr val="1C1D22"/>
                </a:solidFill>
                <a:latin typeface="Helvetica Neue"/>
                <a:ea typeface="Hiragino Sans GB"/>
              </a:rPr>
              <a:t>Heads specialize</a:t>
            </a:r>
          </a:p>
          <a:p>
            <a:pPr algn="l">
              <a:lnSpc>
                <a:spcPct val="108000"/>
              </a:lnSpc>
              <a:spcBef>
                <a:spcPts val="0"/>
              </a:spcBef>
              <a:spcAft>
                <a:spcPts val="300"/>
              </a:spcAft>
            </a:pPr>
            <a:r>
              <a:rPr sz="1050" b="0" i="0">
                <a:solidFill>
                  <a:srgbClr val="5A5E68"/>
                </a:solidFill>
                <a:latin typeface="Helvetica Neue"/>
                <a:ea typeface="Hiragino Sans GB"/>
              </a:rPr>
              <a:t>Syntax, coreference, position…</a:t>
            </a:r>
          </a:p>
        </p:txBody>
      </p:sp>
      <p:sp>
        <p:nvSpPr>
          <p:cNvPr id="27" name="Rounded Rectangle 26"/>
          <p:cNvSpPr/>
          <p:nvPr/>
        </p:nvSpPr>
        <p:spPr>
          <a:xfrm>
            <a:off x="6096000" y="3980688"/>
            <a:ext cx="2389632" cy="504443"/>
          </a:xfrm>
          <a:prstGeom prst="roundRect">
            <a:avLst>
              <a:gd name="adj" fmla="val 18126"/>
            </a:avLst>
          </a:prstGeom>
          <a:solidFill>
            <a:srgbClr val="FBFAF6"/>
          </a:solidFill>
          <a:ln w="12700">
            <a:solidFill>
              <a:srgbClr val="D9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096000" y="4090416"/>
            <a:ext cx="64008" cy="284987"/>
          </a:xfrm>
          <a:prstGeom prst="rect">
            <a:avLst/>
          </a:prstGeom>
          <a:solidFill>
            <a:srgbClr val="2A3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15456" y="3980688"/>
            <a:ext cx="2005584" cy="504443"/>
          </a:xfrm>
          <a:prstGeom prst="rect">
            <a:avLst/>
          </a:prstGeom>
          <a:noFill/>
          <a:ln/>
        </p:spPr>
        <p:txBody>
          <a:bodyPr wrap="square" anchor="ctr" lIns="25400" rIns="25400" tIns="25400" bIns="25400">
            <a:spAutoFit/>
          </a:bodyPr>
          <a:lstStyle/>
          <a:p>
            <a:pPr algn="l">
              <a:lnSpc>
                <a:spcPct val="108000"/>
              </a:lnSpc>
              <a:spcBef>
                <a:spcPts val="0"/>
              </a:spcBef>
              <a:spcAft>
                <a:spcPts val="300"/>
              </a:spcAft>
            </a:pPr>
            <a:r>
              <a:rPr sz="1300" b="1" i="0">
                <a:solidFill>
                  <a:srgbClr val="1C1D22"/>
                </a:solidFill>
                <a:latin typeface="Helvetica Neue"/>
                <a:ea typeface="Hiragino Sans GB"/>
              </a:rPr>
              <a:t>Same total width</a:t>
            </a:r>
          </a:p>
          <a:p>
            <a:pPr algn="l">
              <a:lnSpc>
                <a:spcPct val="108000"/>
              </a:lnSpc>
              <a:spcBef>
                <a:spcPts val="0"/>
              </a:spcBef>
              <a:spcAft>
                <a:spcPts val="300"/>
              </a:spcAft>
            </a:pPr>
            <a:r>
              <a:rPr sz="1050" b="0" i="0">
                <a:solidFill>
                  <a:srgbClr val="5A5E68"/>
                </a:solidFill>
                <a:latin typeface="Helvetica Neue"/>
                <a:ea typeface="Hiragino Sans GB"/>
              </a:rPr>
              <a:t>h × 64 = 512, one full head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8010144"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200" b="1" i="0">
                <a:solidFill>
                  <a:srgbClr val="B84020"/>
                </a:solidFill>
                <a:latin typeface="Helvetica Neue"/>
                <a:ea typeface="Hiragino Sans GB"/>
              </a:rPr>
              <a:t>MECHANISM · POSITIONAL ENCODING</a:t>
            </a:r>
          </a:p>
        </p:txBody>
      </p:sp>
      <p:sp>
        <p:nvSpPr>
          <p:cNvPr id="4" name="TextBox 3"/>
          <p:cNvSpPr txBox="1"/>
          <p:nvPr/>
        </p:nvSpPr>
        <p:spPr>
          <a:xfrm>
            <a:off x="566928" y="713232"/>
            <a:ext cx="8010144" cy="7315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2400" b="1" i="0">
                <a:solidFill>
                  <a:srgbClr val="1C1D22"/>
                </a:solidFill>
                <a:latin typeface="Helvetica Neue"/>
                <a:ea typeface="Songti SC"/>
              </a:rPr>
              <a:t>Attention is orderless: encode position with sinusoids</a:t>
            </a:r>
          </a:p>
        </p:txBody>
      </p:sp>
      <p:sp>
        <p:nvSpPr>
          <p:cNvPr id="5" name="TextBox 4"/>
          <p:cNvSpPr txBox="1"/>
          <p:nvPr/>
        </p:nvSpPr>
        <p:spPr>
          <a:xfrm>
            <a:off x="7680960" y="4759452"/>
            <a:ext cx="1097280" cy="274320"/>
          </a:xfrm>
          <a:prstGeom prst="rect">
            <a:avLst/>
          </a:prstGeom>
          <a:noFill/>
          <a:ln/>
        </p:spPr>
        <p:txBody>
          <a:bodyPr wrap="square" anchor="t" lIns="25400" rIns="25400" tIns="25400" bIns="25400">
            <a:spAutoFit/>
          </a:bodyPr>
          <a:lstStyle/>
          <a:p>
            <a:pPr algn="r">
              <a:lnSpc>
                <a:spcPct val="100000"/>
              </a:lnSpc>
              <a:spcBef>
                <a:spcPts val="0"/>
              </a:spcBef>
              <a:spcAft>
                <a:spcPts val="0"/>
              </a:spcAft>
            </a:pPr>
            <a:r>
              <a:rPr sz="900" b="1" i="0">
                <a:solidFill>
                  <a:srgbClr val="6F6656"/>
                </a:solidFill>
                <a:latin typeface="Menlo"/>
                <a:ea typeface="Hiragino Sans GB"/>
              </a:rPr>
              <a:t>09 / 15</a:t>
            </a:r>
          </a:p>
        </p:txBody>
      </p:sp>
      <p:sp>
        <p:nvSpPr>
          <p:cNvPr id="6" name="TextBox 5"/>
          <p:cNvSpPr txBox="1"/>
          <p:nvPr/>
        </p:nvSpPr>
        <p:spPr>
          <a:xfrm>
            <a:off x="566928" y="4777740"/>
            <a:ext cx="548640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800" b="0" i="0">
                <a:solidFill>
                  <a:srgbClr val="6F6656"/>
                </a:solidFill>
                <a:latin typeface="Menlo"/>
                <a:ea typeface="Hiragino Sans GB"/>
              </a:rPr>
              <a:t>ATTENTION IS ALL YOU NEED · PAPER DEEP-DIVE</a:t>
            </a:r>
          </a:p>
        </p:txBody>
      </p:sp>
      <p:pic>
        <p:nvPicPr>
          <p:cNvPr id="7" name="Picture 6" descr="equation pe" title="equation pe"/>
          <p:cNvPicPr>
            <a:picLocks noChangeAspect="1"/>
          </p:cNvPicPr>
          <p:nvPr/>
        </p:nvPicPr>
        <p:blipFill>
          <a:blip r:embed="rId2"/>
          <a:stretch>
            <a:fillRect/>
          </a:stretch>
        </p:blipFill>
        <p:spPr>
          <a:xfrm>
            <a:off x="566928" y="1438656"/>
            <a:ext cx="3396675" cy="658367"/>
          </a:xfrm>
          <a:prstGeom prst="rect">
            <a:avLst/>
          </a:prstGeom>
        </p:spPr>
      </p:pic>
      <p:sp>
        <p:nvSpPr>
          <p:cNvPr id="8" name="Rounded Rectangle 7"/>
          <p:cNvSpPr/>
          <p:nvPr/>
        </p:nvSpPr>
        <p:spPr>
          <a:xfrm>
            <a:off x="585216" y="2453640"/>
            <a:ext cx="128016" cy="128016"/>
          </a:xfrm>
          <a:prstGeom prst="roundRect">
            <a:avLst>
              <a:gd name="adj" fmla="val 50000"/>
            </a:avLst>
          </a:prstGeom>
          <a:solidFill>
            <a:srgbClr val="2A3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7" y="2398775"/>
            <a:ext cx="3200399" cy="292608"/>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200" b="0" i="0">
                <a:solidFill>
                  <a:srgbClr val="1C1D22"/>
                </a:solidFill>
                <a:latin typeface="Helvetica Neue"/>
                <a:ea typeface="Hiragino Sans GB"/>
              </a:rPr>
              <a:t>A different sine / cosine frequency per dimension</a:t>
            </a:r>
          </a:p>
        </p:txBody>
      </p:sp>
      <p:sp>
        <p:nvSpPr>
          <p:cNvPr id="10" name="Rounded Rectangle 9"/>
          <p:cNvSpPr/>
          <p:nvPr/>
        </p:nvSpPr>
        <p:spPr>
          <a:xfrm>
            <a:off x="585216" y="2874264"/>
            <a:ext cx="128016" cy="128016"/>
          </a:xfrm>
          <a:prstGeom prst="roundRect">
            <a:avLst>
              <a:gd name="adj" fmla="val 50000"/>
            </a:avLst>
          </a:prstGeom>
          <a:solidFill>
            <a:srgbClr val="2A3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7" y="2819399"/>
            <a:ext cx="3200399" cy="292608"/>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200" b="0" i="0">
                <a:solidFill>
                  <a:srgbClr val="1C1D22"/>
                </a:solidFill>
                <a:latin typeface="Helvetica Neue"/>
                <a:ea typeface="Hiragino Sans GB"/>
              </a:rPr>
              <a:t>Relative position falls out of a linear transform</a:t>
            </a:r>
          </a:p>
        </p:txBody>
      </p:sp>
      <p:sp>
        <p:nvSpPr>
          <p:cNvPr id="12" name="Rounded Rectangle 11"/>
          <p:cNvSpPr/>
          <p:nvPr/>
        </p:nvSpPr>
        <p:spPr>
          <a:xfrm>
            <a:off x="585216" y="3294887"/>
            <a:ext cx="128016" cy="128016"/>
          </a:xfrm>
          <a:prstGeom prst="roundRect">
            <a:avLst>
              <a:gd name="adj" fmla="val 50000"/>
            </a:avLst>
          </a:prstGeom>
          <a:solidFill>
            <a:srgbClr val="2A3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3240023"/>
            <a:ext cx="3200399" cy="292608"/>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200" b="0" i="0">
                <a:solidFill>
                  <a:srgbClr val="1C1D22"/>
                </a:solidFill>
                <a:latin typeface="Helvetica Neue"/>
                <a:ea typeface="Hiragino Sans GB"/>
              </a:rPr>
              <a:t>Extrapolates to sequences longer than seen in training</a:t>
            </a:r>
          </a:p>
        </p:txBody>
      </p:sp>
      <p:sp>
        <p:nvSpPr>
          <p:cNvPr id="14" name="TextBox 13"/>
          <p:cNvSpPr txBox="1"/>
          <p:nvPr/>
        </p:nvSpPr>
        <p:spPr>
          <a:xfrm>
            <a:off x="4407407" y="1365503"/>
            <a:ext cx="4169663"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100" b="1" i="0">
                <a:solidFill>
                  <a:srgbClr val="6F6656"/>
                </a:solidFill>
                <a:latin typeface="Helvetica Neue"/>
                <a:ea typeface="Hiragino Sans GB"/>
              </a:rPr>
              <a:t>Positional encoding matrix (computed: position × dimension)</a:t>
            </a:r>
          </a:p>
        </p:txBody>
      </p:sp>
      <p:pic>
        <p:nvPicPr>
          <p:cNvPr id="15" name="Picture 14" descr="positional encoding heatmap" title="positional encoding heatmap"/>
          <p:cNvPicPr>
            <a:picLocks noChangeAspect="1"/>
          </p:cNvPicPr>
          <p:nvPr/>
        </p:nvPicPr>
        <p:blipFill>
          <a:blip r:embed="rId3"/>
          <a:stretch>
            <a:fillRect/>
          </a:stretch>
        </p:blipFill>
        <p:spPr>
          <a:xfrm>
            <a:off x="4407407" y="1694687"/>
            <a:ext cx="4169663" cy="1886934"/>
          </a:xfrm>
          <a:prstGeom prst="rect">
            <a:avLst/>
          </a:prstGeom>
        </p:spPr>
      </p:pic>
      <p:sp>
        <p:nvSpPr>
          <p:cNvPr id="16" name="TextBox 15"/>
          <p:cNvSpPr txBox="1"/>
          <p:nvPr/>
        </p:nvSpPr>
        <p:spPr>
          <a:xfrm>
            <a:off x="4407407" y="3654774"/>
            <a:ext cx="4169663" cy="219456"/>
          </a:xfrm>
          <a:prstGeom prst="rect">
            <a:avLst/>
          </a:prstGeom>
          <a:noFill/>
          <a:ln/>
        </p:spPr>
        <p:txBody>
          <a:bodyPr wrap="square" anchor="t" lIns="25400" rIns="25400" tIns="25400" bIns="25400">
            <a:spAutoFit/>
          </a:bodyPr>
          <a:lstStyle/>
          <a:p>
            <a:pPr algn="l">
              <a:lnSpc>
                <a:spcPct val="112000"/>
              </a:lnSpc>
              <a:spcBef>
                <a:spcPts val="0"/>
              </a:spcBef>
              <a:spcAft>
                <a:spcPts val="0"/>
              </a:spcAft>
            </a:pPr>
            <a:r>
              <a:rPr sz="1100" b="0" i="0">
                <a:solidFill>
                  <a:srgbClr val="5A5E68"/>
                </a:solidFill>
                <a:latin typeface="Helvetica Neue"/>
                <a:ea typeface="Hiragino Sans GB"/>
              </a:rPr>
              <a:t>Low dims cycle fast, high dims drift slowly.</a:t>
            </a:r>
          </a:p>
        </p:txBody>
      </p:sp>
      <p:sp>
        <p:nvSpPr>
          <p:cNvPr id="17" name="Rounded Rectangle 16"/>
          <p:cNvSpPr/>
          <p:nvPr/>
        </p:nvSpPr>
        <p:spPr>
          <a:xfrm>
            <a:off x="566928" y="4050791"/>
            <a:ext cx="8010144" cy="498347"/>
          </a:xfrm>
          <a:prstGeom prst="roundRect">
            <a:avLst>
              <a:gd name="adj" fmla="val 8000"/>
            </a:avLst>
          </a:prstGeom>
          <a:solidFill>
            <a:srgbClr val="EA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4090659"/>
            <a:ext cx="64008" cy="418612"/>
          </a:xfrm>
          <a:prstGeom prst="rect">
            <a:avLst/>
          </a:prstGeom>
          <a:solidFill>
            <a:srgbClr val="B84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 y="4050791"/>
            <a:ext cx="7607808" cy="498347"/>
          </a:xfrm>
          <a:prstGeom prst="rect">
            <a:avLst/>
          </a:prstGeom>
          <a:noFill/>
          <a:ln/>
        </p:spPr>
        <p:txBody>
          <a:bodyPr wrap="square" anchor="ctr" lIns="25400" rIns="25400" tIns="25400" bIns="25400">
            <a:spAutoFit/>
          </a:bodyPr>
          <a:lstStyle/>
          <a:p>
            <a:pPr algn="l">
              <a:lnSpc>
                <a:spcPct val="108000"/>
              </a:lnSpc>
              <a:spcBef>
                <a:spcPts val="0"/>
              </a:spcBef>
              <a:spcAft>
                <a:spcPts val="0"/>
              </a:spcAft>
            </a:pPr>
            <a:r>
              <a:rPr sz="1100" b="1" i="0">
                <a:solidFill>
                  <a:srgbClr val="B84020"/>
                </a:solidFill>
                <a:latin typeface="Helvetica Neue"/>
                <a:ea typeface="Hiragino Sans GB"/>
              </a:rPr>
              <a:t>The clever bit  </a:t>
            </a:r>
            <a:r>
              <a:rPr sz="1250" b="0" i="0">
                <a:solidFill>
                  <a:srgbClr val="1C1D22"/>
                </a:solidFill>
                <a:latin typeface="Helvetica Neue"/>
                <a:ea typeface="Hiragino Sans GB"/>
              </a:rPr>
              <a:t>No learned parameters — and relative position is just a linear transform away.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8010144"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200" b="1" i="0">
                <a:solidFill>
                  <a:srgbClr val="B84020"/>
                </a:solidFill>
                <a:latin typeface="Helvetica Neue"/>
                <a:ea typeface="Hiragino Sans GB"/>
              </a:rPr>
              <a:t>CONFIGURATION · SETUP</a:t>
            </a:r>
          </a:p>
        </p:txBody>
      </p:sp>
      <p:sp>
        <p:nvSpPr>
          <p:cNvPr id="4" name="TextBox 3"/>
          <p:cNvSpPr txBox="1"/>
          <p:nvPr/>
        </p:nvSpPr>
        <p:spPr>
          <a:xfrm>
            <a:off x="566928" y="713232"/>
            <a:ext cx="8010144" cy="7315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2400" b="1" i="0">
                <a:solidFill>
                  <a:srgbClr val="1C1D22"/>
                </a:solidFill>
                <a:latin typeface="Helvetica Neue"/>
                <a:ea typeface="Songti SC"/>
              </a:rPr>
              <a:t>Two sizes and their training setup: base and big</a:t>
            </a:r>
          </a:p>
        </p:txBody>
      </p:sp>
      <p:sp>
        <p:nvSpPr>
          <p:cNvPr id="5" name="TextBox 4"/>
          <p:cNvSpPr txBox="1"/>
          <p:nvPr/>
        </p:nvSpPr>
        <p:spPr>
          <a:xfrm>
            <a:off x="7680960" y="4759452"/>
            <a:ext cx="1097280" cy="274320"/>
          </a:xfrm>
          <a:prstGeom prst="rect">
            <a:avLst/>
          </a:prstGeom>
          <a:noFill/>
          <a:ln/>
        </p:spPr>
        <p:txBody>
          <a:bodyPr wrap="square" anchor="t" lIns="25400" rIns="25400" tIns="25400" bIns="25400">
            <a:spAutoFit/>
          </a:bodyPr>
          <a:lstStyle/>
          <a:p>
            <a:pPr algn="r">
              <a:lnSpc>
                <a:spcPct val="100000"/>
              </a:lnSpc>
              <a:spcBef>
                <a:spcPts val="0"/>
              </a:spcBef>
              <a:spcAft>
                <a:spcPts val="0"/>
              </a:spcAft>
            </a:pPr>
            <a:r>
              <a:rPr sz="900" b="1" i="0">
                <a:solidFill>
                  <a:srgbClr val="6F6656"/>
                </a:solidFill>
                <a:latin typeface="Menlo"/>
                <a:ea typeface="Hiragino Sans GB"/>
              </a:rPr>
              <a:t>10 / 15</a:t>
            </a:r>
          </a:p>
        </p:txBody>
      </p:sp>
      <p:sp>
        <p:nvSpPr>
          <p:cNvPr id="6" name="TextBox 5"/>
          <p:cNvSpPr txBox="1"/>
          <p:nvPr/>
        </p:nvSpPr>
        <p:spPr>
          <a:xfrm>
            <a:off x="566928" y="4777740"/>
            <a:ext cx="548640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800" b="0" i="0">
                <a:solidFill>
                  <a:srgbClr val="6F6656"/>
                </a:solidFill>
                <a:latin typeface="Menlo"/>
                <a:ea typeface="Hiragino Sans GB"/>
              </a:rPr>
              <a:t>ATTENTION IS ALL YOU NEED · PAPER DEEP-DIVE</a:t>
            </a:r>
          </a:p>
        </p:txBody>
      </p:sp>
      <p:sp>
        <p:nvSpPr>
          <p:cNvPr id="7" name="Rounded Rectangle 6"/>
          <p:cNvSpPr/>
          <p:nvPr/>
        </p:nvSpPr>
        <p:spPr>
          <a:xfrm>
            <a:off x="566928" y="1374647"/>
            <a:ext cx="3776472" cy="2212848"/>
          </a:xfrm>
          <a:prstGeom prst="roundRect">
            <a:avLst>
              <a:gd name="adj" fmla="val 8000"/>
            </a:avLst>
          </a:prstGeom>
          <a:solidFill>
            <a:srgbClr val="FBFAF6"/>
          </a:solidFill>
          <a:ln w="12700">
            <a:solidFill>
              <a:srgbClr val="D6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20951"/>
            <a:ext cx="3447288"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050" b="1" i="0">
                <a:solidFill>
                  <a:srgbClr val="16656B"/>
                </a:solidFill>
                <a:latin typeface="Menlo"/>
                <a:ea typeface="Hiragino Sans GB"/>
              </a:rPr>
              <a:t>BASE</a:t>
            </a:r>
          </a:p>
        </p:txBody>
      </p:sp>
      <p:sp>
        <p:nvSpPr>
          <p:cNvPr id="9" name="TextBox 8"/>
          <p:cNvSpPr txBox="1"/>
          <p:nvPr/>
        </p:nvSpPr>
        <p:spPr>
          <a:xfrm>
            <a:off x="731520" y="1813559"/>
            <a:ext cx="1586118" cy="237744"/>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950" b="0" i="0">
                <a:solidFill>
                  <a:srgbClr val="6F6656"/>
                </a:solidFill>
                <a:latin typeface="Menlo"/>
                <a:ea typeface="Hiragino Sans GB"/>
              </a:rPr>
              <a:t>MODEL DIM D_MODEL</a:t>
            </a:r>
          </a:p>
        </p:txBody>
      </p:sp>
      <p:sp>
        <p:nvSpPr>
          <p:cNvPr id="10" name="TextBox 9"/>
          <p:cNvSpPr txBox="1"/>
          <p:nvPr/>
        </p:nvSpPr>
        <p:spPr>
          <a:xfrm>
            <a:off x="2228575" y="1813559"/>
            <a:ext cx="1874702" cy="237744"/>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050" b="1" i="0">
                <a:solidFill>
                  <a:srgbClr val="1C1D22"/>
                </a:solidFill>
                <a:latin typeface="Menlo"/>
                <a:ea typeface="Hiragino Sans GB"/>
              </a:rPr>
              <a:t>512</a:t>
            </a:r>
          </a:p>
        </p:txBody>
      </p:sp>
      <p:sp>
        <p:nvSpPr>
          <p:cNvPr id="11" name="TextBox 10"/>
          <p:cNvSpPr txBox="1"/>
          <p:nvPr/>
        </p:nvSpPr>
        <p:spPr>
          <a:xfrm>
            <a:off x="731520" y="2069591"/>
            <a:ext cx="1586118" cy="237744"/>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950" b="0" i="0">
                <a:solidFill>
                  <a:srgbClr val="6F6656"/>
                </a:solidFill>
                <a:latin typeface="Menlo"/>
                <a:ea typeface="Hiragino Sans GB"/>
              </a:rPr>
              <a:t>LAYERS N</a:t>
            </a:r>
          </a:p>
        </p:txBody>
      </p:sp>
      <p:sp>
        <p:nvSpPr>
          <p:cNvPr id="12" name="TextBox 11"/>
          <p:cNvSpPr txBox="1"/>
          <p:nvPr/>
        </p:nvSpPr>
        <p:spPr>
          <a:xfrm>
            <a:off x="2228575" y="2069591"/>
            <a:ext cx="1874702" cy="237744"/>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050" b="1" i="0">
                <a:solidFill>
                  <a:srgbClr val="1C1D22"/>
                </a:solidFill>
                <a:latin typeface="Menlo"/>
                <a:ea typeface="Hiragino Sans GB"/>
              </a:rPr>
              <a:t>6 + 6</a:t>
            </a:r>
          </a:p>
        </p:txBody>
      </p:sp>
      <p:sp>
        <p:nvSpPr>
          <p:cNvPr id="13" name="TextBox 12"/>
          <p:cNvSpPr txBox="1"/>
          <p:nvPr/>
        </p:nvSpPr>
        <p:spPr>
          <a:xfrm>
            <a:off x="731520" y="2325623"/>
            <a:ext cx="1586118" cy="237744"/>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950" b="0" i="0">
                <a:solidFill>
                  <a:srgbClr val="6F6656"/>
                </a:solidFill>
                <a:latin typeface="Menlo"/>
                <a:ea typeface="Hiragino Sans GB"/>
              </a:rPr>
              <a:t>HEADS H</a:t>
            </a:r>
          </a:p>
        </p:txBody>
      </p:sp>
      <p:sp>
        <p:nvSpPr>
          <p:cNvPr id="14" name="TextBox 13"/>
          <p:cNvSpPr txBox="1"/>
          <p:nvPr/>
        </p:nvSpPr>
        <p:spPr>
          <a:xfrm>
            <a:off x="2228575" y="2325623"/>
            <a:ext cx="1874702" cy="237744"/>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050" b="1" i="0">
                <a:solidFill>
                  <a:srgbClr val="1C1D22"/>
                </a:solidFill>
                <a:latin typeface="Menlo"/>
                <a:ea typeface="Hiragino Sans GB"/>
              </a:rPr>
              <a:t>8</a:t>
            </a:r>
          </a:p>
        </p:txBody>
      </p:sp>
      <p:sp>
        <p:nvSpPr>
          <p:cNvPr id="15" name="TextBox 14"/>
          <p:cNvSpPr txBox="1"/>
          <p:nvPr/>
        </p:nvSpPr>
        <p:spPr>
          <a:xfrm>
            <a:off x="731520" y="2581656"/>
            <a:ext cx="1586118" cy="237744"/>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950" b="0" i="0">
                <a:solidFill>
                  <a:srgbClr val="6F6656"/>
                </a:solidFill>
                <a:latin typeface="Menlo"/>
                <a:ea typeface="Hiragino Sans GB"/>
              </a:rPr>
              <a:t>FFN DIM D_FF</a:t>
            </a:r>
          </a:p>
        </p:txBody>
      </p:sp>
      <p:sp>
        <p:nvSpPr>
          <p:cNvPr id="16" name="TextBox 15"/>
          <p:cNvSpPr txBox="1"/>
          <p:nvPr/>
        </p:nvSpPr>
        <p:spPr>
          <a:xfrm>
            <a:off x="2228575" y="2581656"/>
            <a:ext cx="1874702" cy="237744"/>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050" b="1" i="0">
                <a:solidFill>
                  <a:srgbClr val="1C1D22"/>
                </a:solidFill>
                <a:latin typeface="Menlo"/>
                <a:ea typeface="Hiragino Sans GB"/>
              </a:rPr>
              <a:t>2048</a:t>
            </a:r>
          </a:p>
        </p:txBody>
      </p:sp>
      <p:sp>
        <p:nvSpPr>
          <p:cNvPr id="17" name="TextBox 16"/>
          <p:cNvSpPr txBox="1"/>
          <p:nvPr/>
        </p:nvSpPr>
        <p:spPr>
          <a:xfrm>
            <a:off x="731520" y="2837688"/>
            <a:ext cx="1586118" cy="237744"/>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950" b="0" i="0">
                <a:solidFill>
                  <a:srgbClr val="6F6656"/>
                </a:solidFill>
                <a:latin typeface="Menlo"/>
                <a:ea typeface="Hiragino Sans GB"/>
              </a:rPr>
              <a:t>PARAMETERS</a:t>
            </a:r>
          </a:p>
        </p:txBody>
      </p:sp>
      <p:sp>
        <p:nvSpPr>
          <p:cNvPr id="18" name="TextBox 17"/>
          <p:cNvSpPr txBox="1"/>
          <p:nvPr/>
        </p:nvSpPr>
        <p:spPr>
          <a:xfrm>
            <a:off x="2228575" y="2837688"/>
            <a:ext cx="1874702" cy="237744"/>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050" b="1" i="0">
                <a:solidFill>
                  <a:srgbClr val="1C1D22"/>
                </a:solidFill>
                <a:latin typeface="Menlo"/>
                <a:ea typeface="Hiragino Sans GB"/>
              </a:rPr>
              <a:t>65 M</a:t>
            </a:r>
          </a:p>
        </p:txBody>
      </p:sp>
      <p:sp>
        <p:nvSpPr>
          <p:cNvPr id="19" name="TextBox 18"/>
          <p:cNvSpPr txBox="1"/>
          <p:nvPr/>
        </p:nvSpPr>
        <p:spPr>
          <a:xfrm>
            <a:off x="731520" y="3093720"/>
            <a:ext cx="1586118" cy="237744"/>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950" b="0" i="0">
                <a:solidFill>
                  <a:srgbClr val="6F6656"/>
                </a:solidFill>
                <a:latin typeface="Menlo"/>
                <a:ea typeface="Hiragino Sans GB"/>
              </a:rPr>
              <a:t>TRAINING</a:t>
            </a:r>
          </a:p>
        </p:txBody>
      </p:sp>
      <p:sp>
        <p:nvSpPr>
          <p:cNvPr id="20" name="TextBox 19"/>
          <p:cNvSpPr txBox="1"/>
          <p:nvPr/>
        </p:nvSpPr>
        <p:spPr>
          <a:xfrm>
            <a:off x="2228575" y="3093720"/>
            <a:ext cx="1874702" cy="237744"/>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050" b="1" i="0">
                <a:solidFill>
                  <a:srgbClr val="1C1D22"/>
                </a:solidFill>
                <a:latin typeface="Menlo"/>
                <a:ea typeface="Hiragino Sans GB"/>
              </a:rPr>
              <a:t>12 h · 100k steps</a:t>
            </a:r>
          </a:p>
        </p:txBody>
      </p:sp>
      <p:sp>
        <p:nvSpPr>
          <p:cNvPr id="21" name="Rounded Rectangle 20"/>
          <p:cNvSpPr/>
          <p:nvPr/>
        </p:nvSpPr>
        <p:spPr>
          <a:xfrm>
            <a:off x="4800600" y="1374647"/>
            <a:ext cx="3776472" cy="2212848"/>
          </a:xfrm>
          <a:prstGeom prst="roundRect">
            <a:avLst>
              <a:gd name="adj" fmla="val 8000"/>
            </a:avLst>
          </a:prstGeom>
          <a:solidFill>
            <a:srgbClr val="FBFAF6"/>
          </a:solidFill>
          <a:ln w="12700">
            <a:solidFill>
              <a:srgbClr val="D6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65192" y="1520951"/>
            <a:ext cx="3447288"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050" b="1" i="0">
                <a:solidFill>
                  <a:srgbClr val="B84020"/>
                </a:solidFill>
                <a:latin typeface="Menlo"/>
                <a:ea typeface="Hiragino Sans GB"/>
              </a:rPr>
              <a:t>BIG</a:t>
            </a:r>
          </a:p>
        </p:txBody>
      </p:sp>
      <p:sp>
        <p:nvSpPr>
          <p:cNvPr id="23" name="TextBox 22"/>
          <p:cNvSpPr txBox="1"/>
          <p:nvPr/>
        </p:nvSpPr>
        <p:spPr>
          <a:xfrm>
            <a:off x="4965192" y="1813559"/>
            <a:ext cx="1586118" cy="237744"/>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950" b="0" i="0">
                <a:solidFill>
                  <a:srgbClr val="6F6656"/>
                </a:solidFill>
                <a:latin typeface="Menlo"/>
                <a:ea typeface="Hiragino Sans GB"/>
              </a:rPr>
              <a:t>MODEL DIM D_MODEL</a:t>
            </a:r>
          </a:p>
        </p:txBody>
      </p:sp>
      <p:sp>
        <p:nvSpPr>
          <p:cNvPr id="24" name="TextBox 23"/>
          <p:cNvSpPr txBox="1"/>
          <p:nvPr/>
        </p:nvSpPr>
        <p:spPr>
          <a:xfrm>
            <a:off x="6462247" y="1813559"/>
            <a:ext cx="1874702" cy="237744"/>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050" b="1" i="0">
                <a:solidFill>
                  <a:srgbClr val="1C1D22"/>
                </a:solidFill>
                <a:latin typeface="Menlo"/>
                <a:ea typeface="Hiragino Sans GB"/>
              </a:rPr>
              <a:t>1024</a:t>
            </a:r>
          </a:p>
        </p:txBody>
      </p:sp>
      <p:sp>
        <p:nvSpPr>
          <p:cNvPr id="25" name="TextBox 24"/>
          <p:cNvSpPr txBox="1"/>
          <p:nvPr/>
        </p:nvSpPr>
        <p:spPr>
          <a:xfrm>
            <a:off x="4965192" y="2069591"/>
            <a:ext cx="1586118" cy="237744"/>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950" b="0" i="0">
                <a:solidFill>
                  <a:srgbClr val="6F6656"/>
                </a:solidFill>
                <a:latin typeface="Menlo"/>
                <a:ea typeface="Hiragino Sans GB"/>
              </a:rPr>
              <a:t>LAYERS N</a:t>
            </a:r>
          </a:p>
        </p:txBody>
      </p:sp>
      <p:sp>
        <p:nvSpPr>
          <p:cNvPr id="26" name="TextBox 25"/>
          <p:cNvSpPr txBox="1"/>
          <p:nvPr/>
        </p:nvSpPr>
        <p:spPr>
          <a:xfrm>
            <a:off x="6462247" y="2069591"/>
            <a:ext cx="1874702" cy="237744"/>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050" b="1" i="0">
                <a:solidFill>
                  <a:srgbClr val="1C1D22"/>
                </a:solidFill>
                <a:latin typeface="Menlo"/>
                <a:ea typeface="Hiragino Sans GB"/>
              </a:rPr>
              <a:t>6 + 6</a:t>
            </a:r>
          </a:p>
        </p:txBody>
      </p:sp>
      <p:sp>
        <p:nvSpPr>
          <p:cNvPr id="27" name="TextBox 26"/>
          <p:cNvSpPr txBox="1"/>
          <p:nvPr/>
        </p:nvSpPr>
        <p:spPr>
          <a:xfrm>
            <a:off x="4965192" y="2325623"/>
            <a:ext cx="1586118" cy="237744"/>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950" b="0" i="0">
                <a:solidFill>
                  <a:srgbClr val="6F6656"/>
                </a:solidFill>
                <a:latin typeface="Menlo"/>
                <a:ea typeface="Hiragino Sans GB"/>
              </a:rPr>
              <a:t>HEADS H</a:t>
            </a:r>
          </a:p>
        </p:txBody>
      </p:sp>
      <p:sp>
        <p:nvSpPr>
          <p:cNvPr id="28" name="TextBox 27"/>
          <p:cNvSpPr txBox="1"/>
          <p:nvPr/>
        </p:nvSpPr>
        <p:spPr>
          <a:xfrm>
            <a:off x="6462247" y="2325623"/>
            <a:ext cx="1874702" cy="237744"/>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050" b="1" i="0">
                <a:solidFill>
                  <a:srgbClr val="1C1D22"/>
                </a:solidFill>
                <a:latin typeface="Menlo"/>
                <a:ea typeface="Hiragino Sans GB"/>
              </a:rPr>
              <a:t>16</a:t>
            </a:r>
          </a:p>
        </p:txBody>
      </p:sp>
      <p:sp>
        <p:nvSpPr>
          <p:cNvPr id="29" name="TextBox 28"/>
          <p:cNvSpPr txBox="1"/>
          <p:nvPr/>
        </p:nvSpPr>
        <p:spPr>
          <a:xfrm>
            <a:off x="4965192" y="2581656"/>
            <a:ext cx="1586118" cy="237744"/>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950" b="0" i="0">
                <a:solidFill>
                  <a:srgbClr val="6F6656"/>
                </a:solidFill>
                <a:latin typeface="Menlo"/>
                <a:ea typeface="Hiragino Sans GB"/>
              </a:rPr>
              <a:t>FFN DIM D_FF</a:t>
            </a:r>
          </a:p>
        </p:txBody>
      </p:sp>
      <p:sp>
        <p:nvSpPr>
          <p:cNvPr id="30" name="TextBox 29"/>
          <p:cNvSpPr txBox="1"/>
          <p:nvPr/>
        </p:nvSpPr>
        <p:spPr>
          <a:xfrm>
            <a:off x="6462247" y="2581656"/>
            <a:ext cx="1874702" cy="237744"/>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050" b="1" i="0">
                <a:solidFill>
                  <a:srgbClr val="1C1D22"/>
                </a:solidFill>
                <a:latin typeface="Menlo"/>
                <a:ea typeface="Hiragino Sans GB"/>
              </a:rPr>
              <a:t>4096</a:t>
            </a:r>
          </a:p>
        </p:txBody>
      </p:sp>
      <p:sp>
        <p:nvSpPr>
          <p:cNvPr id="31" name="TextBox 30"/>
          <p:cNvSpPr txBox="1"/>
          <p:nvPr/>
        </p:nvSpPr>
        <p:spPr>
          <a:xfrm>
            <a:off x="4965192" y="2837688"/>
            <a:ext cx="1586118" cy="237744"/>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950" b="0" i="0">
                <a:solidFill>
                  <a:srgbClr val="6F6656"/>
                </a:solidFill>
                <a:latin typeface="Menlo"/>
                <a:ea typeface="Hiragino Sans GB"/>
              </a:rPr>
              <a:t>PARAMETERS</a:t>
            </a:r>
          </a:p>
        </p:txBody>
      </p:sp>
      <p:sp>
        <p:nvSpPr>
          <p:cNvPr id="32" name="TextBox 31"/>
          <p:cNvSpPr txBox="1"/>
          <p:nvPr/>
        </p:nvSpPr>
        <p:spPr>
          <a:xfrm>
            <a:off x="6462247" y="2837688"/>
            <a:ext cx="1874702" cy="237744"/>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050" b="1" i="0">
                <a:solidFill>
                  <a:srgbClr val="1C1D22"/>
                </a:solidFill>
                <a:latin typeface="Menlo"/>
                <a:ea typeface="Hiragino Sans GB"/>
              </a:rPr>
              <a:t>213 M</a:t>
            </a:r>
          </a:p>
        </p:txBody>
      </p:sp>
      <p:sp>
        <p:nvSpPr>
          <p:cNvPr id="33" name="TextBox 32"/>
          <p:cNvSpPr txBox="1"/>
          <p:nvPr/>
        </p:nvSpPr>
        <p:spPr>
          <a:xfrm>
            <a:off x="4965192" y="3093720"/>
            <a:ext cx="1586118" cy="237744"/>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950" b="0" i="0">
                <a:solidFill>
                  <a:srgbClr val="6F6656"/>
                </a:solidFill>
                <a:latin typeface="Menlo"/>
                <a:ea typeface="Hiragino Sans GB"/>
              </a:rPr>
              <a:t>TRAINING</a:t>
            </a:r>
          </a:p>
        </p:txBody>
      </p:sp>
      <p:sp>
        <p:nvSpPr>
          <p:cNvPr id="34" name="TextBox 33"/>
          <p:cNvSpPr txBox="1"/>
          <p:nvPr/>
        </p:nvSpPr>
        <p:spPr>
          <a:xfrm>
            <a:off x="6462247" y="3093720"/>
            <a:ext cx="1874702" cy="237744"/>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050" b="1" i="0">
                <a:solidFill>
                  <a:srgbClr val="1C1D22"/>
                </a:solidFill>
                <a:latin typeface="Menlo"/>
                <a:ea typeface="Hiragino Sans GB"/>
              </a:rPr>
              <a:t>3.5 days · 300k steps</a:t>
            </a:r>
          </a:p>
        </p:txBody>
      </p:sp>
      <p:sp>
        <p:nvSpPr>
          <p:cNvPr id="35" name="TextBox 34"/>
          <p:cNvSpPr txBox="1"/>
          <p:nvPr/>
        </p:nvSpPr>
        <p:spPr>
          <a:xfrm>
            <a:off x="7159751" y="1484375"/>
            <a:ext cx="1371600" cy="274320"/>
          </a:xfrm>
          <a:prstGeom prst="rect">
            <a:avLst/>
          </a:prstGeom>
          <a:noFill/>
          <a:ln/>
        </p:spPr>
        <p:txBody>
          <a:bodyPr wrap="square" anchor="t" lIns="25400" rIns="25400" tIns="25400" bIns="25400">
            <a:spAutoFit/>
          </a:bodyPr>
          <a:lstStyle/>
          <a:p>
            <a:pPr algn="r">
              <a:lnSpc>
                <a:spcPct val="100000"/>
              </a:lnSpc>
              <a:spcBef>
                <a:spcPts val="0"/>
              </a:spcBef>
              <a:spcAft>
                <a:spcPts val="0"/>
              </a:spcAft>
            </a:pPr>
            <a:r>
              <a:rPr sz="1000" b="1" i="0">
                <a:solidFill>
                  <a:srgbClr val="B84020"/>
                </a:solidFill>
                <a:latin typeface="Helvetica Neue"/>
                <a:ea typeface="Hiragino Sans GB"/>
              </a:rPr>
              <a:t>↑ SOTA config</a:t>
            </a:r>
          </a:p>
        </p:txBody>
      </p:sp>
      <p:sp>
        <p:nvSpPr>
          <p:cNvPr id="36" name="TextBox 35"/>
          <p:cNvSpPr txBox="1"/>
          <p:nvPr/>
        </p:nvSpPr>
        <p:spPr>
          <a:xfrm>
            <a:off x="566928" y="3733800"/>
            <a:ext cx="274320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100" b="1" i="0">
                <a:solidFill>
                  <a:srgbClr val="6F6656"/>
                </a:solidFill>
                <a:latin typeface="Menlo"/>
                <a:ea typeface="Hiragino Sans GB"/>
              </a:rPr>
              <a:t>Shared training setup</a:t>
            </a:r>
          </a:p>
        </p:txBody>
      </p:sp>
      <p:sp>
        <p:nvSpPr>
          <p:cNvPr id="37" name="Rounded Rectangle 36"/>
          <p:cNvSpPr/>
          <p:nvPr/>
        </p:nvSpPr>
        <p:spPr>
          <a:xfrm>
            <a:off x="566928" y="4026408"/>
            <a:ext cx="1796795" cy="512064"/>
          </a:xfrm>
          <a:prstGeom prst="roundRect">
            <a:avLst>
              <a:gd name="adj" fmla="val 16071"/>
            </a:avLst>
          </a:prstGeom>
          <a:solidFill>
            <a:srgbClr val="E4E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13232" y="4090416"/>
            <a:ext cx="1522475" cy="201168"/>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950" b="1" i="0">
                <a:solidFill>
                  <a:srgbClr val="6F6656"/>
                </a:solidFill>
                <a:latin typeface="Menlo"/>
                <a:ea typeface="Hiragino Sans GB"/>
              </a:rPr>
              <a:t>Hardware</a:t>
            </a:r>
          </a:p>
        </p:txBody>
      </p:sp>
      <p:sp>
        <p:nvSpPr>
          <p:cNvPr id="39" name="TextBox 38"/>
          <p:cNvSpPr txBox="1"/>
          <p:nvPr/>
        </p:nvSpPr>
        <p:spPr>
          <a:xfrm>
            <a:off x="713232" y="4282440"/>
            <a:ext cx="1522475" cy="219456"/>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150" b="1" i="0">
                <a:solidFill>
                  <a:srgbClr val="1C1D22"/>
                </a:solidFill>
                <a:latin typeface="Helvetica Neue"/>
                <a:ea typeface="Hiragino Sans GB"/>
              </a:rPr>
              <a:t>8 × NVIDIA P100</a:t>
            </a:r>
          </a:p>
        </p:txBody>
      </p:sp>
      <p:sp>
        <p:nvSpPr>
          <p:cNvPr id="40" name="Rounded Rectangle 39"/>
          <p:cNvSpPr/>
          <p:nvPr/>
        </p:nvSpPr>
        <p:spPr>
          <a:xfrm>
            <a:off x="2638044" y="4026408"/>
            <a:ext cx="1796795" cy="512064"/>
          </a:xfrm>
          <a:prstGeom prst="roundRect">
            <a:avLst>
              <a:gd name="adj" fmla="val 16071"/>
            </a:avLst>
          </a:prstGeom>
          <a:solidFill>
            <a:srgbClr val="E4E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784348" y="4090416"/>
            <a:ext cx="1522475" cy="201168"/>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950" b="1" i="0">
                <a:solidFill>
                  <a:srgbClr val="6F6656"/>
                </a:solidFill>
                <a:latin typeface="Menlo"/>
                <a:ea typeface="Hiragino Sans GB"/>
              </a:rPr>
              <a:t>Optimizer</a:t>
            </a:r>
          </a:p>
        </p:txBody>
      </p:sp>
      <p:sp>
        <p:nvSpPr>
          <p:cNvPr id="42" name="TextBox 41"/>
          <p:cNvSpPr txBox="1"/>
          <p:nvPr/>
        </p:nvSpPr>
        <p:spPr>
          <a:xfrm>
            <a:off x="2784348" y="4282440"/>
            <a:ext cx="1522475" cy="219456"/>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150" b="1" i="0">
                <a:solidFill>
                  <a:srgbClr val="1C1D22"/>
                </a:solidFill>
                <a:latin typeface="Helvetica Neue"/>
                <a:ea typeface="Hiragino Sans GB"/>
              </a:rPr>
              <a:t>Adam β=(0.9, 0.98)</a:t>
            </a:r>
          </a:p>
        </p:txBody>
      </p:sp>
      <p:sp>
        <p:nvSpPr>
          <p:cNvPr id="43" name="Rounded Rectangle 42"/>
          <p:cNvSpPr/>
          <p:nvPr/>
        </p:nvSpPr>
        <p:spPr>
          <a:xfrm>
            <a:off x="4709159" y="4026408"/>
            <a:ext cx="1796795" cy="512064"/>
          </a:xfrm>
          <a:prstGeom prst="roundRect">
            <a:avLst>
              <a:gd name="adj" fmla="val 16071"/>
            </a:avLst>
          </a:prstGeom>
          <a:solidFill>
            <a:srgbClr val="E4E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855464" y="4090416"/>
            <a:ext cx="1522475" cy="201168"/>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950" b="1" i="0">
                <a:solidFill>
                  <a:srgbClr val="6F6656"/>
                </a:solidFill>
                <a:latin typeface="Menlo"/>
                <a:ea typeface="Hiragino Sans GB"/>
              </a:rPr>
              <a:t>Dropout</a:t>
            </a:r>
          </a:p>
        </p:txBody>
      </p:sp>
      <p:sp>
        <p:nvSpPr>
          <p:cNvPr id="45" name="TextBox 44"/>
          <p:cNvSpPr txBox="1"/>
          <p:nvPr/>
        </p:nvSpPr>
        <p:spPr>
          <a:xfrm>
            <a:off x="4855464" y="4282440"/>
            <a:ext cx="1522475" cy="219456"/>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150" b="1" i="0">
                <a:solidFill>
                  <a:srgbClr val="1C1D22"/>
                </a:solidFill>
                <a:latin typeface="Helvetica Neue"/>
                <a:ea typeface="Hiragino Sans GB"/>
              </a:rPr>
              <a:t>0.1</a:t>
            </a:r>
          </a:p>
        </p:txBody>
      </p:sp>
      <p:sp>
        <p:nvSpPr>
          <p:cNvPr id="46" name="Rounded Rectangle 45"/>
          <p:cNvSpPr/>
          <p:nvPr/>
        </p:nvSpPr>
        <p:spPr>
          <a:xfrm>
            <a:off x="6780275" y="4026408"/>
            <a:ext cx="1796795" cy="512064"/>
          </a:xfrm>
          <a:prstGeom prst="roundRect">
            <a:avLst>
              <a:gd name="adj" fmla="val 16071"/>
            </a:avLst>
          </a:prstGeom>
          <a:solidFill>
            <a:srgbClr val="E4E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926579" y="4090416"/>
            <a:ext cx="1522475" cy="201168"/>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950" b="1" i="0">
                <a:solidFill>
                  <a:srgbClr val="6F6656"/>
                </a:solidFill>
                <a:latin typeface="Menlo"/>
                <a:ea typeface="Hiragino Sans GB"/>
              </a:rPr>
              <a:t>Label smoothing</a:t>
            </a:r>
          </a:p>
        </p:txBody>
      </p:sp>
      <p:sp>
        <p:nvSpPr>
          <p:cNvPr id="48" name="TextBox 47"/>
          <p:cNvSpPr txBox="1"/>
          <p:nvPr/>
        </p:nvSpPr>
        <p:spPr>
          <a:xfrm>
            <a:off x="6926579" y="4282440"/>
            <a:ext cx="1522475" cy="219456"/>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150" b="1" i="0">
                <a:solidFill>
                  <a:srgbClr val="1C1D22"/>
                </a:solidFill>
                <a:latin typeface="Helvetica Neue"/>
                <a:ea typeface="Hiragino Sans GB"/>
              </a:rPr>
              <a:t>εₗₛ = 0.1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8010144"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200" b="1" i="0">
                <a:solidFill>
                  <a:srgbClr val="B84020"/>
                </a:solidFill>
                <a:latin typeface="Helvetica Neue"/>
                <a:ea typeface="Hiragino Sans GB"/>
              </a:rPr>
              <a:t>RESULTS · TRANSLATION</a:t>
            </a:r>
          </a:p>
        </p:txBody>
      </p:sp>
      <p:sp>
        <p:nvSpPr>
          <p:cNvPr id="4" name="TextBox 3"/>
          <p:cNvSpPr txBox="1"/>
          <p:nvPr/>
        </p:nvSpPr>
        <p:spPr>
          <a:xfrm>
            <a:off x="566928" y="713232"/>
            <a:ext cx="8010144" cy="7315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2400" b="1" i="0">
                <a:solidFill>
                  <a:srgbClr val="1C1D22"/>
                </a:solidFill>
                <a:latin typeface="Helvetica Neue"/>
                <a:ea typeface="Songti SC"/>
              </a:rPr>
              <a:t>New high on WMT 2014 English→German BLEU</a:t>
            </a:r>
          </a:p>
        </p:txBody>
      </p:sp>
      <p:sp>
        <p:nvSpPr>
          <p:cNvPr id="5" name="TextBox 4"/>
          <p:cNvSpPr txBox="1"/>
          <p:nvPr/>
        </p:nvSpPr>
        <p:spPr>
          <a:xfrm>
            <a:off x="7680960" y="4759452"/>
            <a:ext cx="1097280" cy="274320"/>
          </a:xfrm>
          <a:prstGeom prst="rect">
            <a:avLst/>
          </a:prstGeom>
          <a:noFill/>
          <a:ln/>
        </p:spPr>
        <p:txBody>
          <a:bodyPr wrap="square" anchor="t" lIns="25400" rIns="25400" tIns="25400" bIns="25400">
            <a:spAutoFit/>
          </a:bodyPr>
          <a:lstStyle/>
          <a:p>
            <a:pPr algn="r">
              <a:lnSpc>
                <a:spcPct val="100000"/>
              </a:lnSpc>
              <a:spcBef>
                <a:spcPts val="0"/>
              </a:spcBef>
              <a:spcAft>
                <a:spcPts val="0"/>
              </a:spcAft>
            </a:pPr>
            <a:r>
              <a:rPr sz="900" b="1" i="0">
                <a:solidFill>
                  <a:srgbClr val="6F6656"/>
                </a:solidFill>
                <a:latin typeface="Menlo"/>
                <a:ea typeface="Hiragino Sans GB"/>
              </a:rPr>
              <a:t>11 / 15</a:t>
            </a:r>
          </a:p>
        </p:txBody>
      </p:sp>
      <p:sp>
        <p:nvSpPr>
          <p:cNvPr id="6" name="TextBox 5"/>
          <p:cNvSpPr txBox="1"/>
          <p:nvPr/>
        </p:nvSpPr>
        <p:spPr>
          <a:xfrm>
            <a:off x="566928" y="4777740"/>
            <a:ext cx="548640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800" b="0" i="0">
                <a:solidFill>
                  <a:srgbClr val="6F6656"/>
                </a:solidFill>
                <a:latin typeface="Menlo"/>
                <a:ea typeface="Hiragino Sans GB"/>
              </a:rPr>
              <a:t>ATTENTION IS ALL YOU NEED · PAPER DEEP-DIVE</a:t>
            </a:r>
          </a:p>
        </p:txBody>
      </p:sp>
      <p:graphicFrame>
        <p:nvGraphicFramePr>
          <p:cNvPr id="7" name="Chart 6"/>
          <p:cNvGraphicFramePr>
            <a:graphicFrameLocks noGrp="1"/>
          </p:cNvGraphicFramePr>
          <p:nvPr/>
        </p:nvGraphicFramePr>
        <p:xfrm>
          <a:off x="566928" y="1466088"/>
          <a:ext cx="4813130" cy="2808732"/>
        </p:xfrm>
        <a:graphic>
          <a:graphicData uri="http://schemas.openxmlformats.org/drawingml/2006/chart">
            <c:chart xmlns:c="http://schemas.openxmlformats.org/drawingml/2006/chart" r:id="rId2"/>
          </a:graphicData>
        </a:graphic>
      </p:graphicFrame>
      <p:sp>
        <p:nvSpPr>
          <p:cNvPr id="8" name="TextBox 7"/>
          <p:cNvSpPr txBox="1"/>
          <p:nvPr/>
        </p:nvSpPr>
        <p:spPr>
          <a:xfrm>
            <a:off x="5745818" y="1557527"/>
            <a:ext cx="2831253"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100" b="1" i="0">
                <a:solidFill>
                  <a:srgbClr val="B84020"/>
                </a:solidFill>
                <a:latin typeface="Helvetica Neue"/>
                <a:ea typeface="Hiragino Sans GB"/>
              </a:rPr>
              <a:t>EN→DE · BIG</a:t>
            </a:r>
          </a:p>
        </p:txBody>
      </p:sp>
      <p:sp>
        <p:nvSpPr>
          <p:cNvPr id="9" name="TextBox 8"/>
          <p:cNvSpPr txBox="1"/>
          <p:nvPr/>
        </p:nvSpPr>
        <p:spPr>
          <a:xfrm>
            <a:off x="5745818" y="1868423"/>
            <a:ext cx="2831253" cy="82296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3400" b="1" i="0">
                <a:solidFill>
                  <a:srgbClr val="1C1D22"/>
                </a:solidFill>
                <a:latin typeface="Helvetica Neue"/>
                <a:ea typeface="Hiragino Sans GB"/>
              </a:rPr>
              <a:t>28.4</a:t>
            </a:r>
          </a:p>
        </p:txBody>
      </p:sp>
      <p:sp>
        <p:nvSpPr>
          <p:cNvPr id="10" name="TextBox 9"/>
          <p:cNvSpPr txBox="1"/>
          <p:nvPr/>
        </p:nvSpPr>
        <p:spPr>
          <a:xfrm>
            <a:off x="5745818" y="2746247"/>
            <a:ext cx="2831253" cy="1828800"/>
          </a:xfrm>
          <a:prstGeom prst="rect">
            <a:avLst/>
          </a:prstGeom>
          <a:noFill/>
          <a:ln/>
        </p:spPr>
        <p:txBody>
          <a:bodyPr wrap="square" anchor="t" lIns="25400" rIns="25400" tIns="25400" bIns="25400">
            <a:spAutoFit/>
          </a:bodyPr>
          <a:lstStyle/>
          <a:p>
            <a:pPr algn="l">
              <a:lnSpc>
                <a:spcPct val="120000"/>
              </a:lnSpc>
              <a:spcBef>
                <a:spcPts val="0"/>
              </a:spcBef>
              <a:spcAft>
                <a:spcPts val="0"/>
              </a:spcAft>
            </a:pPr>
            <a:r>
              <a:rPr sz="1400" b="0" i="0">
                <a:solidFill>
                  <a:srgbClr val="5A5E68"/>
                </a:solidFill>
                <a:latin typeface="Helvetica Neue"/>
                <a:ea typeface="Hiragino Sans GB"/>
              </a:rPr>
              <a:t>+3.2 BLEU over the best baseline, ConvS2S (25.16); base 27.3 beats them all too.</a:t>
            </a:r>
          </a:p>
        </p:txBody>
      </p:sp>
      <p:sp>
        <p:nvSpPr>
          <p:cNvPr id="11" name="TextBox 10"/>
          <p:cNvSpPr txBox="1"/>
          <p:nvPr/>
        </p:nvSpPr>
        <p:spPr>
          <a:xfrm>
            <a:off x="5745818" y="3660647"/>
            <a:ext cx="2831253" cy="822960"/>
          </a:xfrm>
          <a:prstGeom prst="rect">
            <a:avLst/>
          </a:prstGeom>
          <a:noFill/>
          <a:ln/>
        </p:spPr>
        <p:txBody>
          <a:bodyPr wrap="square" anchor="t" lIns="25400" rIns="25400" tIns="25400" bIns="25400">
            <a:spAutoFit/>
          </a:bodyPr>
          <a:lstStyle/>
          <a:p>
            <a:pPr algn="l">
              <a:lnSpc>
                <a:spcPct val="125000"/>
              </a:lnSpc>
              <a:spcBef>
                <a:spcPts val="0"/>
              </a:spcBef>
              <a:spcAft>
                <a:spcPts val="200"/>
              </a:spcAft>
            </a:pPr>
            <a:r>
              <a:rPr sz="1200" b="1" i="0">
                <a:solidFill>
                  <a:srgbClr val="1C1D22"/>
                </a:solidFill>
                <a:latin typeface="Helvetica Neue"/>
                <a:ea typeface="Hiragino Sans GB"/>
              </a:rPr>
              <a:t>It tops En→Fr too:</a:t>
            </a:r>
          </a:p>
          <a:p>
            <a:pPr algn="l">
              <a:lnSpc>
                <a:spcPct val="125000"/>
              </a:lnSpc>
              <a:spcBef>
                <a:spcPts val="0"/>
              </a:spcBef>
              <a:spcAft>
                <a:spcPts val="200"/>
              </a:spcAft>
            </a:pPr>
            <a:r>
              <a:rPr sz="1250" b="1" i="0">
                <a:solidFill>
                  <a:srgbClr val="B84020"/>
                </a:solidFill>
                <a:latin typeface="Helvetica Neue"/>
                <a:ea typeface="Hiragino Sans GB"/>
              </a:rPr>
              <a:t>big = 41.8 BLEU, a new single-model SOTA.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8010144"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200" b="1" i="0">
                <a:solidFill>
                  <a:srgbClr val="B84020"/>
                </a:solidFill>
                <a:latin typeface="Helvetica Neue"/>
                <a:ea typeface="Hiragino Sans GB"/>
              </a:rPr>
              <a:t>EFFICIENCY · COST</a:t>
            </a:r>
          </a:p>
        </p:txBody>
      </p:sp>
      <p:sp>
        <p:nvSpPr>
          <p:cNvPr id="4" name="TextBox 3"/>
          <p:cNvSpPr txBox="1"/>
          <p:nvPr/>
        </p:nvSpPr>
        <p:spPr>
          <a:xfrm>
            <a:off x="566928" y="713232"/>
            <a:ext cx="8010144" cy="7315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2400" b="1" i="0">
                <a:solidFill>
                  <a:srgbClr val="1C1D22"/>
                </a:solidFill>
                <a:latin typeface="Helvetica Neue"/>
                <a:ea typeface="Songti SC"/>
              </a:rPr>
              <a:t>Not just more accurate — cheaper to reach the top</a:t>
            </a:r>
          </a:p>
        </p:txBody>
      </p:sp>
      <p:sp>
        <p:nvSpPr>
          <p:cNvPr id="5" name="TextBox 4"/>
          <p:cNvSpPr txBox="1"/>
          <p:nvPr/>
        </p:nvSpPr>
        <p:spPr>
          <a:xfrm>
            <a:off x="7680960" y="4759452"/>
            <a:ext cx="1097280" cy="274320"/>
          </a:xfrm>
          <a:prstGeom prst="rect">
            <a:avLst/>
          </a:prstGeom>
          <a:noFill/>
          <a:ln/>
        </p:spPr>
        <p:txBody>
          <a:bodyPr wrap="square" anchor="t" lIns="25400" rIns="25400" tIns="25400" bIns="25400">
            <a:spAutoFit/>
          </a:bodyPr>
          <a:lstStyle/>
          <a:p>
            <a:pPr algn="r">
              <a:lnSpc>
                <a:spcPct val="100000"/>
              </a:lnSpc>
              <a:spcBef>
                <a:spcPts val="0"/>
              </a:spcBef>
              <a:spcAft>
                <a:spcPts val="0"/>
              </a:spcAft>
            </a:pPr>
            <a:r>
              <a:rPr sz="900" b="1" i="0">
                <a:solidFill>
                  <a:srgbClr val="6F6656"/>
                </a:solidFill>
                <a:latin typeface="Menlo"/>
                <a:ea typeface="Hiragino Sans GB"/>
              </a:rPr>
              <a:t>12 / 15</a:t>
            </a:r>
          </a:p>
        </p:txBody>
      </p:sp>
      <p:sp>
        <p:nvSpPr>
          <p:cNvPr id="6" name="TextBox 5"/>
          <p:cNvSpPr txBox="1"/>
          <p:nvPr/>
        </p:nvSpPr>
        <p:spPr>
          <a:xfrm>
            <a:off x="566928" y="4777740"/>
            <a:ext cx="548640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800" b="0" i="0">
                <a:solidFill>
                  <a:srgbClr val="6F6656"/>
                </a:solidFill>
                <a:latin typeface="Menlo"/>
                <a:ea typeface="Hiragino Sans GB"/>
              </a:rPr>
              <a:t>ATTENTION IS ALL YOU NEED · PAPER DEEP-DIVE</a:t>
            </a:r>
          </a:p>
        </p:txBody>
      </p:sp>
      <p:sp>
        <p:nvSpPr>
          <p:cNvPr id="7" name="TextBox 6"/>
          <p:cNvSpPr txBox="1"/>
          <p:nvPr/>
        </p:nvSpPr>
        <p:spPr>
          <a:xfrm>
            <a:off x="640080" y="1603248"/>
            <a:ext cx="2377440" cy="64008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3600" b="1" i="0">
                <a:solidFill>
                  <a:srgbClr val="1C1D22"/>
                </a:solidFill>
                <a:latin typeface="Helvetica Neue"/>
                <a:ea typeface="Hiragino Sans GB"/>
              </a:rPr>
              <a:t>28.4</a:t>
            </a:r>
            <a:r>
              <a:rPr sz="1512" b="1" i="0">
                <a:solidFill>
                  <a:srgbClr val="B84020"/>
                </a:solidFill>
                <a:latin typeface="Helvetica Neue"/>
                <a:ea typeface="Hiragino Sans GB"/>
              </a:rPr>
              <a:t> BLEU</a:t>
            </a:r>
          </a:p>
        </p:txBody>
      </p:sp>
      <p:sp>
        <p:nvSpPr>
          <p:cNvPr id="8" name="TextBox 7"/>
          <p:cNvSpPr txBox="1"/>
          <p:nvPr/>
        </p:nvSpPr>
        <p:spPr>
          <a:xfrm>
            <a:off x="640080" y="2206752"/>
            <a:ext cx="2377440" cy="36576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200" b="0" i="0">
                <a:solidFill>
                  <a:srgbClr val="6F6656"/>
                </a:solidFill>
                <a:latin typeface="Helvetica Neue"/>
                <a:ea typeface="Hiragino Sans GB"/>
              </a:rPr>
              <a:t>En→De · big · new high</a:t>
            </a:r>
          </a:p>
        </p:txBody>
      </p:sp>
      <p:sp>
        <p:nvSpPr>
          <p:cNvPr id="9" name="TextBox 8"/>
          <p:cNvSpPr txBox="1"/>
          <p:nvPr/>
        </p:nvSpPr>
        <p:spPr>
          <a:xfrm>
            <a:off x="3383280" y="1603248"/>
            <a:ext cx="2377440" cy="64008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3600" b="1" i="0">
                <a:solidFill>
                  <a:srgbClr val="1C1D22"/>
                </a:solidFill>
                <a:latin typeface="Helvetica Neue"/>
                <a:ea typeface="Hiragino Sans GB"/>
              </a:rPr>
              <a:t>3.5</a:t>
            </a:r>
            <a:r>
              <a:rPr sz="1512" b="1" i="0">
                <a:solidFill>
                  <a:srgbClr val="B84020"/>
                </a:solidFill>
                <a:latin typeface="Helvetica Neue"/>
                <a:ea typeface="Hiragino Sans GB"/>
              </a:rPr>
              <a:t> days</a:t>
            </a:r>
          </a:p>
        </p:txBody>
      </p:sp>
      <p:sp>
        <p:nvSpPr>
          <p:cNvPr id="10" name="TextBox 9"/>
          <p:cNvSpPr txBox="1"/>
          <p:nvPr/>
        </p:nvSpPr>
        <p:spPr>
          <a:xfrm>
            <a:off x="3383280" y="2206752"/>
            <a:ext cx="2377440" cy="36576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200" b="0" i="0">
                <a:solidFill>
                  <a:srgbClr val="6F6656"/>
                </a:solidFill>
                <a:latin typeface="Helvetica Neue"/>
                <a:ea typeface="Hiragino Sans GB"/>
              </a:rPr>
              <a:t>trained on 8 × P100</a:t>
            </a:r>
          </a:p>
        </p:txBody>
      </p:sp>
      <p:sp>
        <p:nvSpPr>
          <p:cNvPr id="11" name="Rectangle 10"/>
          <p:cNvSpPr/>
          <p:nvPr/>
        </p:nvSpPr>
        <p:spPr>
          <a:xfrm>
            <a:off x="3200400" y="1658112"/>
            <a:ext cx="12801" cy="82296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80" y="1603248"/>
            <a:ext cx="2377440" cy="64008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3600" b="1" i="0">
                <a:solidFill>
                  <a:srgbClr val="1C1D22"/>
                </a:solidFill>
                <a:latin typeface="Helvetica Neue"/>
                <a:ea typeface="Hiragino Sans GB"/>
              </a:rPr>
              <a:t>&lt; 1/4</a:t>
            </a:r>
          </a:p>
        </p:txBody>
      </p:sp>
      <p:sp>
        <p:nvSpPr>
          <p:cNvPr id="13" name="TextBox 12"/>
          <p:cNvSpPr txBox="1"/>
          <p:nvPr/>
        </p:nvSpPr>
        <p:spPr>
          <a:xfrm>
            <a:off x="6126480" y="2206752"/>
            <a:ext cx="2377440" cy="36576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200" b="0" i="0">
                <a:solidFill>
                  <a:srgbClr val="6F6656"/>
                </a:solidFill>
                <a:latin typeface="Helvetica Neue"/>
                <a:ea typeface="Hiragino Sans GB"/>
              </a:rPr>
              <a:t>of the compute to top En→Fr</a:t>
            </a:r>
          </a:p>
        </p:txBody>
      </p:sp>
      <p:sp>
        <p:nvSpPr>
          <p:cNvPr id="14" name="Rectangle 13"/>
          <p:cNvSpPr/>
          <p:nvPr/>
        </p:nvSpPr>
        <p:spPr>
          <a:xfrm>
            <a:off x="5943600" y="1658112"/>
            <a:ext cx="12801" cy="82296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0080" y="2828544"/>
            <a:ext cx="7863840" cy="530352"/>
          </a:xfrm>
          <a:prstGeom prst="roundRect">
            <a:avLst>
              <a:gd name="adj" fmla="val 8000"/>
            </a:avLst>
          </a:prstGeom>
          <a:solidFill>
            <a:srgbClr val="1C1D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2919984"/>
            <a:ext cx="54864" cy="347471"/>
          </a:xfrm>
          <a:prstGeom prst="rect">
            <a:avLst/>
          </a:prstGeom>
          <a:solidFill>
            <a:srgbClr val="E69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2828544"/>
            <a:ext cx="7406640" cy="530352"/>
          </a:xfrm>
          <a:prstGeom prst="rect">
            <a:avLst/>
          </a:prstGeom>
          <a:noFill/>
          <a:ln/>
        </p:spPr>
        <p:txBody>
          <a:bodyPr wrap="square" anchor="ctr" lIns="25400" rIns="25400" tIns="25400" bIns="25400">
            <a:spAutoFit/>
          </a:bodyPr>
          <a:lstStyle/>
          <a:p>
            <a:pPr algn="l">
              <a:lnSpc>
                <a:spcPct val="100000"/>
              </a:lnSpc>
              <a:spcBef>
                <a:spcPts val="0"/>
              </a:spcBef>
              <a:spcAft>
                <a:spcPts val="0"/>
              </a:spcAft>
            </a:pPr>
            <a:r>
              <a:rPr sz="1100" b="1" i="0">
                <a:solidFill>
                  <a:srgbClr val="E69A6E"/>
                </a:solidFill>
                <a:latin typeface="Helvetica Neue"/>
                <a:ea typeface="Hiragino Sans GB"/>
              </a:rPr>
              <a:t>So   </a:t>
            </a:r>
            <a:r>
              <a:rPr sz="1350" b="0" i="0">
                <a:solidFill>
                  <a:srgbClr val="FFFFFF"/>
                </a:solidFill>
                <a:latin typeface="Helvetica Neue"/>
                <a:ea typeface="Hiragino Sans GB"/>
              </a:rPr>
              <a:t>On En→Fr, big reaches a new single-model SOTA with under 1/4 the training compute of the previous best.</a:t>
            </a:r>
          </a:p>
        </p:txBody>
      </p:sp>
      <p:sp>
        <p:nvSpPr>
          <p:cNvPr id="18" name="TextBox 17"/>
          <p:cNvSpPr txBox="1"/>
          <p:nvPr/>
        </p:nvSpPr>
        <p:spPr>
          <a:xfrm>
            <a:off x="640080" y="3614928"/>
            <a:ext cx="548640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100" b="1" i="0">
                <a:solidFill>
                  <a:srgbClr val="6F6656"/>
                </a:solidFill>
                <a:latin typeface="Menlo"/>
                <a:ea typeface="Hiragino Sans GB"/>
              </a:rPr>
              <a:t>En→Fr training compute, FLOPs (shorter is better)</a:t>
            </a:r>
          </a:p>
        </p:txBody>
      </p:sp>
      <p:sp>
        <p:nvSpPr>
          <p:cNvPr id="19" name="TextBox 18"/>
          <p:cNvSpPr txBox="1"/>
          <p:nvPr/>
        </p:nvSpPr>
        <p:spPr>
          <a:xfrm>
            <a:off x="640080" y="3944112"/>
            <a:ext cx="1600200" cy="237744"/>
          </a:xfrm>
          <a:prstGeom prst="rect">
            <a:avLst/>
          </a:prstGeom>
          <a:noFill/>
          <a:ln/>
        </p:spPr>
        <p:txBody>
          <a:bodyPr wrap="square" anchor="ctr" lIns="25400" rIns="25400" tIns="25400" bIns="25400">
            <a:spAutoFit/>
          </a:bodyPr>
          <a:lstStyle/>
          <a:p>
            <a:pPr algn="l">
              <a:lnSpc>
                <a:spcPct val="100000"/>
              </a:lnSpc>
              <a:spcBef>
                <a:spcPts val="0"/>
              </a:spcBef>
              <a:spcAft>
                <a:spcPts val="0"/>
              </a:spcAft>
            </a:pPr>
            <a:r>
              <a:rPr sz="1150" b="1" i="0">
                <a:solidFill>
                  <a:srgbClr val="1C1D22"/>
                </a:solidFill>
                <a:latin typeface="Helvetica Neue"/>
                <a:ea typeface="Hiragino Sans GB"/>
              </a:rPr>
              <a:t>Ours · big</a:t>
            </a:r>
          </a:p>
        </p:txBody>
      </p:sp>
      <p:sp>
        <p:nvSpPr>
          <p:cNvPr id="20" name="Rounded Rectangle 19"/>
          <p:cNvSpPr/>
          <p:nvPr/>
        </p:nvSpPr>
        <p:spPr>
          <a:xfrm>
            <a:off x="2286000" y="3944112"/>
            <a:ext cx="4754880" cy="237744"/>
          </a:xfrm>
          <a:prstGeom prst="roundRect">
            <a:avLst>
              <a:gd name="adj" fmla="val 50000"/>
            </a:avLst>
          </a:prstGeom>
          <a:solidFill>
            <a:srgbClr val="E6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286000" y="3944112"/>
            <a:ext cx="727496" cy="237744"/>
          </a:xfrm>
          <a:prstGeom prst="roundRect">
            <a:avLst>
              <a:gd name="adj" fmla="val 50000"/>
            </a:avLst>
          </a:prstGeom>
          <a:solidFill>
            <a:srgbClr val="B84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60" y="3944112"/>
            <a:ext cx="1463040" cy="237744"/>
          </a:xfrm>
          <a:prstGeom prst="rect">
            <a:avLst/>
          </a:prstGeom>
          <a:noFill/>
          <a:ln/>
        </p:spPr>
        <p:txBody>
          <a:bodyPr wrap="square" anchor="ctr" lIns="25400" rIns="25400" tIns="25400" bIns="25400">
            <a:spAutoFit/>
          </a:bodyPr>
          <a:lstStyle/>
          <a:p>
            <a:pPr algn="l">
              <a:lnSpc>
                <a:spcPct val="100000"/>
              </a:lnSpc>
              <a:spcBef>
                <a:spcPts val="0"/>
              </a:spcBef>
              <a:spcAft>
                <a:spcPts val="0"/>
              </a:spcAft>
            </a:pPr>
            <a:r>
              <a:rPr sz="1800" b="1" i="0">
                <a:solidFill>
                  <a:srgbClr val="1C1D22"/>
                </a:solidFill>
                <a:latin typeface="Helvetica Neue"/>
                <a:ea typeface="Hiragino Sans GB"/>
              </a:rPr>
              <a:t>2.3×10¹⁹</a:t>
            </a:r>
          </a:p>
        </p:txBody>
      </p:sp>
      <p:sp>
        <p:nvSpPr>
          <p:cNvPr id="23" name="TextBox 22"/>
          <p:cNvSpPr txBox="1"/>
          <p:nvPr/>
        </p:nvSpPr>
        <p:spPr>
          <a:xfrm>
            <a:off x="640080" y="4309872"/>
            <a:ext cx="1600200" cy="237744"/>
          </a:xfrm>
          <a:prstGeom prst="rect">
            <a:avLst/>
          </a:prstGeom>
          <a:noFill/>
          <a:ln/>
        </p:spPr>
        <p:txBody>
          <a:bodyPr wrap="square" anchor="ctr" lIns="25400" rIns="25400" tIns="25400" bIns="25400">
            <a:spAutoFit/>
          </a:bodyPr>
          <a:lstStyle/>
          <a:p>
            <a:pPr algn="l">
              <a:lnSpc>
                <a:spcPct val="100000"/>
              </a:lnSpc>
              <a:spcBef>
                <a:spcPts val="0"/>
              </a:spcBef>
              <a:spcAft>
                <a:spcPts val="0"/>
              </a:spcAft>
            </a:pPr>
            <a:r>
              <a:rPr sz="1150" b="1" i="0">
                <a:solidFill>
                  <a:srgbClr val="1C1D22"/>
                </a:solidFill>
                <a:latin typeface="Helvetica Neue"/>
                <a:ea typeface="Hiragino Sans GB"/>
              </a:rPr>
              <a:t>Prev. SOTA</a:t>
            </a:r>
          </a:p>
        </p:txBody>
      </p:sp>
      <p:sp>
        <p:nvSpPr>
          <p:cNvPr id="24" name="Rounded Rectangle 23"/>
          <p:cNvSpPr/>
          <p:nvPr/>
        </p:nvSpPr>
        <p:spPr>
          <a:xfrm>
            <a:off x="2286000" y="4309872"/>
            <a:ext cx="4754880" cy="237744"/>
          </a:xfrm>
          <a:prstGeom prst="roundRect">
            <a:avLst>
              <a:gd name="adj" fmla="val 50000"/>
            </a:avLst>
          </a:prstGeom>
          <a:solidFill>
            <a:srgbClr val="E6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2286000" y="4309872"/>
            <a:ext cx="4754880" cy="237744"/>
          </a:xfrm>
          <a:prstGeom prst="roundRect">
            <a:avLst>
              <a:gd name="adj" fmla="val 50000"/>
            </a:avLst>
          </a:prstGeom>
          <a:solidFill>
            <a:srgbClr val="166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23760" y="4309872"/>
            <a:ext cx="1463040" cy="237744"/>
          </a:xfrm>
          <a:prstGeom prst="rect">
            <a:avLst/>
          </a:prstGeom>
          <a:noFill/>
          <a:ln/>
        </p:spPr>
        <p:txBody>
          <a:bodyPr wrap="square" anchor="ctr" lIns="25400" rIns="25400" tIns="25400" bIns="25400">
            <a:spAutoFit/>
          </a:bodyPr>
          <a:lstStyle/>
          <a:p>
            <a:pPr algn="l">
              <a:lnSpc>
                <a:spcPct val="100000"/>
              </a:lnSpc>
              <a:spcBef>
                <a:spcPts val="0"/>
              </a:spcBef>
              <a:spcAft>
                <a:spcPts val="0"/>
              </a:spcAft>
            </a:pPr>
            <a:r>
              <a:rPr sz="1800" b="1" i="0">
                <a:solidFill>
                  <a:srgbClr val="1C1D22"/>
                </a:solidFill>
                <a:latin typeface="Helvetica Neue"/>
                <a:ea typeface="Hiragino Sans GB"/>
              </a:rPr>
              <a:t>1.5×10²⁰</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8010144"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200" b="1" i="0">
                <a:solidFill>
                  <a:srgbClr val="B84020"/>
                </a:solidFill>
                <a:latin typeface="Helvetica Neue"/>
                <a:ea typeface="Hiragino Sans GB"/>
              </a:rPr>
              <a:t>IMPLICATIONS · LIMITS &amp; LEGACY</a:t>
            </a:r>
          </a:p>
        </p:txBody>
      </p:sp>
      <p:sp>
        <p:nvSpPr>
          <p:cNvPr id="4" name="TextBox 3"/>
          <p:cNvSpPr txBox="1"/>
          <p:nvPr/>
        </p:nvSpPr>
        <p:spPr>
          <a:xfrm>
            <a:off x="566928" y="713232"/>
            <a:ext cx="8010144" cy="7315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2400" b="1" i="0">
                <a:solidFill>
                  <a:srgbClr val="1C1D22"/>
                </a:solidFill>
                <a:latin typeface="Helvetica Neue"/>
                <a:ea typeface="Songti SC"/>
              </a:rPr>
              <a:t>Weak spot and legacy: from one model to a foundation</a:t>
            </a:r>
          </a:p>
        </p:txBody>
      </p:sp>
      <p:sp>
        <p:nvSpPr>
          <p:cNvPr id="5" name="TextBox 4"/>
          <p:cNvSpPr txBox="1"/>
          <p:nvPr/>
        </p:nvSpPr>
        <p:spPr>
          <a:xfrm>
            <a:off x="7680960" y="4759452"/>
            <a:ext cx="1097280" cy="274320"/>
          </a:xfrm>
          <a:prstGeom prst="rect">
            <a:avLst/>
          </a:prstGeom>
          <a:noFill/>
          <a:ln/>
        </p:spPr>
        <p:txBody>
          <a:bodyPr wrap="square" anchor="t" lIns="25400" rIns="25400" tIns="25400" bIns="25400">
            <a:spAutoFit/>
          </a:bodyPr>
          <a:lstStyle/>
          <a:p>
            <a:pPr algn="r">
              <a:lnSpc>
                <a:spcPct val="100000"/>
              </a:lnSpc>
              <a:spcBef>
                <a:spcPts val="0"/>
              </a:spcBef>
              <a:spcAft>
                <a:spcPts val="0"/>
              </a:spcAft>
            </a:pPr>
            <a:r>
              <a:rPr sz="900" b="1" i="0">
                <a:solidFill>
                  <a:srgbClr val="6F6656"/>
                </a:solidFill>
                <a:latin typeface="Menlo"/>
                <a:ea typeface="Hiragino Sans GB"/>
              </a:rPr>
              <a:t>13 / 15</a:t>
            </a:r>
          </a:p>
        </p:txBody>
      </p:sp>
      <p:sp>
        <p:nvSpPr>
          <p:cNvPr id="6" name="TextBox 5"/>
          <p:cNvSpPr txBox="1"/>
          <p:nvPr/>
        </p:nvSpPr>
        <p:spPr>
          <a:xfrm>
            <a:off x="566928" y="4777740"/>
            <a:ext cx="548640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800" b="0" i="0">
                <a:solidFill>
                  <a:srgbClr val="6F6656"/>
                </a:solidFill>
                <a:latin typeface="Menlo"/>
                <a:ea typeface="Hiragino Sans GB"/>
              </a:rPr>
              <a:t>ATTENTION IS ALL YOU NEED · PAPER DEEP-DIVE</a:t>
            </a:r>
          </a:p>
        </p:txBody>
      </p:sp>
      <p:sp>
        <p:nvSpPr>
          <p:cNvPr id="7" name="Rounded Rectangle 6"/>
          <p:cNvSpPr/>
          <p:nvPr/>
        </p:nvSpPr>
        <p:spPr>
          <a:xfrm>
            <a:off x="566928" y="1374647"/>
            <a:ext cx="3776472" cy="3128772"/>
          </a:xfrm>
          <a:prstGeom prst="roundRect">
            <a:avLst>
              <a:gd name="adj" fmla="val 2922"/>
            </a:avLst>
          </a:prstGeom>
          <a:solidFill>
            <a:srgbClr val="FBFAF6"/>
          </a:solidFill>
          <a:ln w="15240">
            <a:solidFill>
              <a:srgbClr val="90B2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 Same Side Corner Rectangle 7"/>
          <p:cNvSpPr/>
          <p:nvPr/>
        </p:nvSpPr>
        <p:spPr>
          <a:xfrm>
            <a:off x="566928" y="1374647"/>
            <a:ext cx="3776472" cy="457200"/>
          </a:xfrm>
          <a:prstGeom prst="round2SameRect">
            <a:avLst>
              <a:gd name="adj1" fmla="val 20000"/>
              <a:gd name="adj2" fmla="val 0"/>
            </a:avLst>
          </a:prstGeom>
          <a:solidFill>
            <a:srgbClr val="166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1374647"/>
            <a:ext cx="3410712" cy="457200"/>
          </a:xfrm>
          <a:prstGeom prst="rect">
            <a:avLst/>
          </a:prstGeom>
          <a:noFill/>
          <a:ln/>
        </p:spPr>
        <p:txBody>
          <a:bodyPr wrap="square" anchor="ctr" lIns="25400" rIns="25400" tIns="25400" bIns="25400">
            <a:spAutoFit/>
          </a:bodyPr>
          <a:lstStyle/>
          <a:p>
            <a:pPr algn="l">
              <a:lnSpc>
                <a:spcPct val="100000"/>
              </a:lnSpc>
              <a:spcBef>
                <a:spcPts val="0"/>
              </a:spcBef>
              <a:spcAft>
                <a:spcPts val="0"/>
              </a:spcAft>
            </a:pPr>
            <a:r>
              <a:rPr sz="1450" b="1" i="0">
                <a:solidFill>
                  <a:srgbClr val="FFFFFF"/>
                </a:solidFill>
                <a:latin typeface="Helvetica Neue"/>
                <a:ea typeface="Hiragino Sans GB"/>
              </a:rPr>
              <a:t>Limitations</a:t>
            </a:r>
          </a:p>
        </p:txBody>
      </p:sp>
      <p:sp>
        <p:nvSpPr>
          <p:cNvPr id="10" name="TextBox 9"/>
          <p:cNvSpPr txBox="1"/>
          <p:nvPr/>
        </p:nvSpPr>
        <p:spPr>
          <a:xfrm>
            <a:off x="2971800" y="1374647"/>
            <a:ext cx="1188720" cy="457200"/>
          </a:xfrm>
          <a:prstGeom prst="rect">
            <a:avLst/>
          </a:prstGeom>
          <a:noFill/>
          <a:ln/>
        </p:spPr>
        <p:txBody>
          <a:bodyPr wrap="square" anchor="ctr" lIns="25400" rIns="25400" tIns="25400" bIns="25400">
            <a:spAutoFit/>
          </a:bodyPr>
          <a:lstStyle/>
          <a:p>
            <a:pPr algn="r">
              <a:lnSpc>
                <a:spcPct val="100000"/>
              </a:lnSpc>
              <a:spcBef>
                <a:spcPts val="0"/>
              </a:spcBef>
              <a:spcAft>
                <a:spcPts val="0"/>
              </a:spcAft>
            </a:pPr>
            <a:r>
              <a:rPr sz="900" b="1" i="0">
                <a:solidFill>
                  <a:srgbClr val="ADC9CB"/>
                </a:solidFill>
                <a:latin typeface="Menlo"/>
                <a:ea typeface="Hiragino Sans GB"/>
              </a:rPr>
              <a:t>WEAK SPOT</a:t>
            </a:r>
          </a:p>
        </p:txBody>
      </p:sp>
      <p:sp>
        <p:nvSpPr>
          <p:cNvPr id="11" name="Rounded Rectangle 10"/>
          <p:cNvSpPr/>
          <p:nvPr/>
        </p:nvSpPr>
        <p:spPr>
          <a:xfrm>
            <a:off x="804672" y="2051303"/>
            <a:ext cx="109728" cy="109728"/>
          </a:xfrm>
          <a:prstGeom prst="roundRect">
            <a:avLst>
              <a:gd name="adj" fmla="val 50000"/>
            </a:avLst>
          </a:prstGeom>
          <a:solidFill>
            <a:srgbClr val="166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1996439"/>
            <a:ext cx="3063239"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250" b="1" i="0">
                <a:solidFill>
                  <a:srgbClr val="1C1D22"/>
                </a:solidFill>
                <a:latin typeface="Helvetica Neue"/>
                <a:ea typeface="Hiragino Sans GB"/>
              </a:rPr>
              <a:t>Attention is O(n²)</a:t>
            </a:r>
          </a:p>
        </p:txBody>
      </p:sp>
      <p:sp>
        <p:nvSpPr>
          <p:cNvPr id="13" name="TextBox 12"/>
          <p:cNvSpPr txBox="1"/>
          <p:nvPr/>
        </p:nvSpPr>
        <p:spPr>
          <a:xfrm>
            <a:off x="1042416" y="2261616"/>
            <a:ext cx="3063239" cy="384048"/>
          </a:xfrm>
          <a:prstGeom prst="rect">
            <a:avLst/>
          </a:prstGeom>
          <a:noFill/>
          <a:ln/>
        </p:spPr>
        <p:txBody>
          <a:bodyPr wrap="square" anchor="t" lIns="25400" rIns="25400" tIns="25400" bIns="25400">
            <a:spAutoFit/>
          </a:bodyPr>
          <a:lstStyle/>
          <a:p>
            <a:pPr algn="l">
              <a:lnSpc>
                <a:spcPct val="108000"/>
              </a:lnSpc>
              <a:spcBef>
                <a:spcPts val="0"/>
              </a:spcBef>
              <a:spcAft>
                <a:spcPts val="0"/>
              </a:spcAft>
            </a:pPr>
            <a:r>
              <a:rPr sz="1050" b="0" i="0">
                <a:solidFill>
                  <a:srgbClr val="5A5E68"/>
                </a:solidFill>
                <a:latin typeface="Helvetica Neue"/>
                <a:ea typeface="Hiragino Sans GB"/>
              </a:rPr>
              <a:t>Memory and compute grow quadratically — long text is costly</a:t>
            </a:r>
          </a:p>
        </p:txBody>
      </p:sp>
      <p:sp>
        <p:nvSpPr>
          <p:cNvPr id="14" name="Rounded Rectangle 13"/>
          <p:cNvSpPr/>
          <p:nvPr/>
        </p:nvSpPr>
        <p:spPr>
          <a:xfrm>
            <a:off x="804672" y="2746248"/>
            <a:ext cx="109728" cy="109728"/>
          </a:xfrm>
          <a:prstGeom prst="roundRect">
            <a:avLst>
              <a:gd name="adj" fmla="val 50000"/>
            </a:avLst>
          </a:prstGeom>
          <a:solidFill>
            <a:srgbClr val="166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42416" y="2691384"/>
            <a:ext cx="3063239"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250" b="1" i="0">
                <a:solidFill>
                  <a:srgbClr val="1C1D22"/>
                </a:solidFill>
                <a:latin typeface="Helvetica Neue"/>
                <a:ea typeface="Hiragino Sans GB"/>
              </a:rPr>
              <a:t>Positional encoding is hand-designed</a:t>
            </a:r>
          </a:p>
        </p:txBody>
      </p:sp>
      <p:sp>
        <p:nvSpPr>
          <p:cNvPr id="16" name="TextBox 15"/>
          <p:cNvSpPr txBox="1"/>
          <p:nvPr/>
        </p:nvSpPr>
        <p:spPr>
          <a:xfrm>
            <a:off x="1042416" y="2956560"/>
            <a:ext cx="3063239" cy="384048"/>
          </a:xfrm>
          <a:prstGeom prst="rect">
            <a:avLst/>
          </a:prstGeom>
          <a:noFill/>
          <a:ln/>
        </p:spPr>
        <p:txBody>
          <a:bodyPr wrap="square" anchor="t" lIns="25400" rIns="25400" tIns="25400" bIns="25400">
            <a:spAutoFit/>
          </a:bodyPr>
          <a:lstStyle/>
          <a:p>
            <a:pPr algn="l">
              <a:lnSpc>
                <a:spcPct val="108000"/>
              </a:lnSpc>
              <a:spcBef>
                <a:spcPts val="0"/>
              </a:spcBef>
              <a:spcAft>
                <a:spcPts val="0"/>
              </a:spcAft>
            </a:pPr>
            <a:r>
              <a:rPr sz="1050" b="0" i="0">
                <a:solidFill>
                  <a:srgbClr val="5A5E68"/>
                </a:solidFill>
                <a:latin typeface="Helvetica Neue"/>
                <a:ea typeface="Hiragino Sans GB"/>
              </a:rPr>
              <a:t>Extrapolation stays imperfect; later replaced by relative schemes</a:t>
            </a:r>
          </a:p>
        </p:txBody>
      </p:sp>
      <p:sp>
        <p:nvSpPr>
          <p:cNvPr id="17" name="Rounded Rectangle 16"/>
          <p:cNvSpPr/>
          <p:nvPr/>
        </p:nvSpPr>
        <p:spPr>
          <a:xfrm>
            <a:off x="804672" y="3441192"/>
            <a:ext cx="109728" cy="109728"/>
          </a:xfrm>
          <a:prstGeom prst="roundRect">
            <a:avLst>
              <a:gd name="adj" fmla="val 50000"/>
            </a:avLst>
          </a:prstGeom>
          <a:solidFill>
            <a:srgbClr val="166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386328"/>
            <a:ext cx="3063239"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250" b="1" i="0">
                <a:solidFill>
                  <a:srgbClr val="1C1D22"/>
                </a:solidFill>
                <a:latin typeface="Helvetica Neue"/>
                <a:ea typeface="Hiragino Sans GB"/>
              </a:rPr>
              <a:t>Hungry for data and compute</a:t>
            </a:r>
          </a:p>
        </p:txBody>
      </p:sp>
      <p:sp>
        <p:nvSpPr>
          <p:cNvPr id="19" name="TextBox 18"/>
          <p:cNvSpPr txBox="1"/>
          <p:nvPr/>
        </p:nvSpPr>
        <p:spPr>
          <a:xfrm>
            <a:off x="1042416" y="3651504"/>
            <a:ext cx="3063239" cy="384048"/>
          </a:xfrm>
          <a:prstGeom prst="rect">
            <a:avLst/>
          </a:prstGeom>
          <a:noFill/>
          <a:ln/>
        </p:spPr>
        <p:txBody>
          <a:bodyPr wrap="square" anchor="t" lIns="25400" rIns="25400" tIns="25400" bIns="25400">
            <a:spAutoFit/>
          </a:bodyPr>
          <a:lstStyle/>
          <a:p>
            <a:pPr algn="l">
              <a:lnSpc>
                <a:spcPct val="108000"/>
              </a:lnSpc>
              <a:spcBef>
                <a:spcPts val="0"/>
              </a:spcBef>
              <a:spcAft>
                <a:spcPts val="0"/>
              </a:spcAft>
            </a:pPr>
            <a:r>
              <a:rPr sz="1050" b="0" i="0">
                <a:solidFill>
                  <a:srgbClr val="5A5E68"/>
                </a:solidFill>
                <a:latin typeface="Helvetica Neue"/>
                <a:ea typeface="Hiragino Sans GB"/>
              </a:rPr>
              <a:t>Little edge on small datasets</a:t>
            </a:r>
          </a:p>
        </p:txBody>
      </p:sp>
      <p:sp>
        <p:nvSpPr>
          <p:cNvPr id="20" name="Rounded Rectangle 19"/>
          <p:cNvSpPr/>
          <p:nvPr/>
        </p:nvSpPr>
        <p:spPr>
          <a:xfrm>
            <a:off x="4800600" y="1374647"/>
            <a:ext cx="3776472" cy="3128772"/>
          </a:xfrm>
          <a:prstGeom prst="roundRect">
            <a:avLst>
              <a:gd name="adj" fmla="val 2922"/>
            </a:avLst>
          </a:prstGeom>
          <a:solidFill>
            <a:srgbClr val="FBFAF6"/>
          </a:solidFill>
          <a:ln w="15240">
            <a:solidFill>
              <a:srgbClr val="D9A1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 Same Side Corner Rectangle 20"/>
          <p:cNvSpPr/>
          <p:nvPr/>
        </p:nvSpPr>
        <p:spPr>
          <a:xfrm>
            <a:off x="4800600" y="1374647"/>
            <a:ext cx="3776472" cy="457200"/>
          </a:xfrm>
          <a:prstGeom prst="round2SameRect">
            <a:avLst>
              <a:gd name="adj1" fmla="val 20000"/>
              <a:gd name="adj2" fmla="val 0"/>
            </a:avLst>
          </a:prstGeom>
          <a:solidFill>
            <a:srgbClr val="B84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0056" y="1374647"/>
            <a:ext cx="3410712" cy="457200"/>
          </a:xfrm>
          <a:prstGeom prst="rect">
            <a:avLst/>
          </a:prstGeom>
          <a:noFill/>
          <a:ln/>
        </p:spPr>
        <p:txBody>
          <a:bodyPr wrap="square" anchor="ctr" lIns="25400" rIns="25400" tIns="25400" bIns="25400">
            <a:spAutoFit/>
          </a:bodyPr>
          <a:lstStyle/>
          <a:p>
            <a:pPr algn="l">
              <a:lnSpc>
                <a:spcPct val="100000"/>
              </a:lnSpc>
              <a:spcBef>
                <a:spcPts val="0"/>
              </a:spcBef>
              <a:spcAft>
                <a:spcPts val="0"/>
              </a:spcAft>
            </a:pPr>
            <a:r>
              <a:rPr sz="1450" b="1" i="0">
                <a:solidFill>
                  <a:srgbClr val="FFFFFF"/>
                </a:solidFill>
                <a:latin typeface="Helvetica Neue"/>
                <a:ea typeface="Hiragino Sans GB"/>
              </a:rPr>
              <a:t>Legacy</a:t>
            </a:r>
          </a:p>
        </p:txBody>
      </p:sp>
      <p:sp>
        <p:nvSpPr>
          <p:cNvPr id="23" name="TextBox 22"/>
          <p:cNvSpPr txBox="1"/>
          <p:nvPr/>
        </p:nvSpPr>
        <p:spPr>
          <a:xfrm>
            <a:off x="7205471" y="1374647"/>
            <a:ext cx="1188720" cy="457200"/>
          </a:xfrm>
          <a:prstGeom prst="rect">
            <a:avLst/>
          </a:prstGeom>
          <a:noFill/>
          <a:ln/>
        </p:spPr>
        <p:txBody>
          <a:bodyPr wrap="square" anchor="ctr" lIns="25400" rIns="25400" tIns="25400" bIns="25400">
            <a:spAutoFit/>
          </a:bodyPr>
          <a:lstStyle/>
          <a:p>
            <a:pPr algn="r">
              <a:lnSpc>
                <a:spcPct val="100000"/>
              </a:lnSpc>
              <a:spcBef>
                <a:spcPts val="0"/>
              </a:spcBef>
              <a:spcAft>
                <a:spcPts val="0"/>
              </a:spcAft>
            </a:pPr>
            <a:r>
              <a:rPr sz="900" b="1" i="0">
                <a:solidFill>
                  <a:srgbClr val="E6BCB1"/>
                </a:solidFill>
                <a:latin typeface="Menlo"/>
                <a:ea typeface="Hiragino Sans GB"/>
              </a:rPr>
              <a:t>LEGACY</a:t>
            </a:r>
          </a:p>
        </p:txBody>
      </p:sp>
      <p:sp>
        <p:nvSpPr>
          <p:cNvPr id="24" name="Rounded Rectangle 23"/>
          <p:cNvSpPr/>
          <p:nvPr/>
        </p:nvSpPr>
        <p:spPr>
          <a:xfrm>
            <a:off x="5038344" y="2051303"/>
            <a:ext cx="109728" cy="109728"/>
          </a:xfrm>
          <a:prstGeom prst="roundRect">
            <a:avLst>
              <a:gd name="adj" fmla="val 50000"/>
            </a:avLst>
          </a:prstGeom>
          <a:solidFill>
            <a:srgbClr val="B84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76088" y="1996439"/>
            <a:ext cx="3063239"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250" b="1" i="0">
                <a:solidFill>
                  <a:srgbClr val="1C1D22"/>
                </a:solidFill>
                <a:latin typeface="Helvetica Neue"/>
                <a:ea typeface="Hiragino Sans GB"/>
              </a:rPr>
              <a:t>Became the default architecture</a:t>
            </a:r>
          </a:p>
        </p:txBody>
      </p:sp>
      <p:sp>
        <p:nvSpPr>
          <p:cNvPr id="26" name="TextBox 25"/>
          <p:cNvSpPr txBox="1"/>
          <p:nvPr/>
        </p:nvSpPr>
        <p:spPr>
          <a:xfrm>
            <a:off x="5276088" y="2261616"/>
            <a:ext cx="3063239" cy="384048"/>
          </a:xfrm>
          <a:prstGeom prst="rect">
            <a:avLst/>
          </a:prstGeom>
          <a:noFill/>
          <a:ln/>
        </p:spPr>
        <p:txBody>
          <a:bodyPr wrap="square" anchor="t" lIns="25400" rIns="25400" tIns="25400" bIns="25400">
            <a:spAutoFit/>
          </a:bodyPr>
          <a:lstStyle/>
          <a:p>
            <a:pPr algn="l">
              <a:lnSpc>
                <a:spcPct val="108000"/>
              </a:lnSpc>
              <a:spcBef>
                <a:spcPts val="0"/>
              </a:spcBef>
              <a:spcAft>
                <a:spcPts val="0"/>
              </a:spcAft>
            </a:pPr>
            <a:r>
              <a:rPr sz="1050" b="0" i="0">
                <a:solidFill>
                  <a:srgbClr val="5A5E68"/>
                </a:solidFill>
                <a:latin typeface="Helvetica Neue"/>
                <a:ea typeface="Hiragino Sans GB"/>
              </a:rPr>
              <a:t>BERT, GPT and most others are built on Transformers</a:t>
            </a:r>
          </a:p>
        </p:txBody>
      </p:sp>
      <p:sp>
        <p:nvSpPr>
          <p:cNvPr id="27" name="Rounded Rectangle 26"/>
          <p:cNvSpPr/>
          <p:nvPr/>
        </p:nvSpPr>
        <p:spPr>
          <a:xfrm>
            <a:off x="5038344" y="2746248"/>
            <a:ext cx="109728" cy="109728"/>
          </a:xfrm>
          <a:prstGeom prst="roundRect">
            <a:avLst>
              <a:gd name="adj" fmla="val 50000"/>
            </a:avLst>
          </a:prstGeom>
          <a:solidFill>
            <a:srgbClr val="B84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76088" y="2691384"/>
            <a:ext cx="3063239"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250" b="1" i="0">
                <a:solidFill>
                  <a:srgbClr val="1C1D22"/>
                </a:solidFill>
                <a:latin typeface="Helvetica Neue"/>
                <a:ea typeface="Hiragino Sans GB"/>
              </a:rPr>
              <a:t>Kicked off the era of large models</a:t>
            </a:r>
          </a:p>
        </p:txBody>
      </p:sp>
      <p:sp>
        <p:nvSpPr>
          <p:cNvPr id="29" name="TextBox 28"/>
          <p:cNvSpPr txBox="1"/>
          <p:nvPr/>
        </p:nvSpPr>
        <p:spPr>
          <a:xfrm>
            <a:off x="5276088" y="2956560"/>
            <a:ext cx="3063239" cy="384048"/>
          </a:xfrm>
          <a:prstGeom prst="rect">
            <a:avLst/>
          </a:prstGeom>
          <a:noFill/>
          <a:ln/>
        </p:spPr>
        <p:txBody>
          <a:bodyPr wrap="square" anchor="t" lIns="25400" rIns="25400" tIns="25400" bIns="25400">
            <a:spAutoFit/>
          </a:bodyPr>
          <a:lstStyle/>
          <a:p>
            <a:pPr algn="l">
              <a:lnSpc>
                <a:spcPct val="108000"/>
              </a:lnSpc>
              <a:spcBef>
                <a:spcPts val="0"/>
              </a:spcBef>
              <a:spcAft>
                <a:spcPts val="0"/>
              </a:spcAft>
            </a:pPr>
            <a:r>
              <a:rPr sz="1050" b="0" i="0">
                <a:solidFill>
                  <a:srgbClr val="5A5E68"/>
                </a:solidFill>
                <a:latin typeface="Helvetica Neue"/>
                <a:ea typeface="Hiragino Sans GB"/>
              </a:rPr>
              <a:t>Parallel and scalable — it made large-scale training possible</a:t>
            </a:r>
          </a:p>
        </p:txBody>
      </p:sp>
      <p:sp>
        <p:nvSpPr>
          <p:cNvPr id="30" name="Rounded Rectangle 29"/>
          <p:cNvSpPr/>
          <p:nvPr/>
        </p:nvSpPr>
        <p:spPr>
          <a:xfrm>
            <a:off x="5038344" y="3441192"/>
            <a:ext cx="109728" cy="109728"/>
          </a:xfrm>
          <a:prstGeom prst="roundRect">
            <a:avLst>
              <a:gd name="adj" fmla="val 50000"/>
            </a:avLst>
          </a:prstGeom>
          <a:solidFill>
            <a:srgbClr val="B84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276088" y="3386328"/>
            <a:ext cx="3063239"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250" b="1" i="0">
                <a:solidFill>
                  <a:srgbClr val="1C1D22"/>
                </a:solidFill>
                <a:latin typeface="Helvetica Neue"/>
                <a:ea typeface="Hiragino Sans GB"/>
              </a:rPr>
              <a:t>Reach beyond NLP</a:t>
            </a:r>
          </a:p>
        </p:txBody>
      </p:sp>
      <p:sp>
        <p:nvSpPr>
          <p:cNvPr id="32" name="TextBox 31"/>
          <p:cNvSpPr txBox="1"/>
          <p:nvPr/>
        </p:nvSpPr>
        <p:spPr>
          <a:xfrm>
            <a:off x="5276088" y="3651504"/>
            <a:ext cx="3063239" cy="384048"/>
          </a:xfrm>
          <a:prstGeom prst="rect">
            <a:avLst/>
          </a:prstGeom>
          <a:noFill/>
          <a:ln/>
        </p:spPr>
        <p:txBody>
          <a:bodyPr wrap="square" anchor="t" lIns="25400" rIns="25400" tIns="25400" bIns="25400">
            <a:spAutoFit/>
          </a:bodyPr>
          <a:lstStyle/>
          <a:p>
            <a:pPr algn="l">
              <a:lnSpc>
                <a:spcPct val="108000"/>
              </a:lnSpc>
              <a:spcBef>
                <a:spcPts val="0"/>
              </a:spcBef>
              <a:spcAft>
                <a:spcPts val="0"/>
              </a:spcAft>
            </a:pPr>
            <a:r>
              <a:rPr sz="1050" b="0" i="0">
                <a:solidFill>
                  <a:srgbClr val="5A5E68"/>
                </a:solidFill>
                <a:latin typeface="Helvetica Neue"/>
                <a:ea typeface="Hiragino Sans GB"/>
              </a:rPr>
              <a:t>Vision, speech, proteins… attention became a universal building block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8010144"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200" b="1" i="0">
                <a:solidFill>
                  <a:srgbClr val="B84020"/>
                </a:solidFill>
                <a:latin typeface="Helvetica Neue"/>
                <a:ea typeface="Hiragino Sans GB"/>
              </a:rPr>
              <a:t>RECAP · FIVE LINES</a:t>
            </a:r>
          </a:p>
        </p:txBody>
      </p:sp>
      <p:sp>
        <p:nvSpPr>
          <p:cNvPr id="4" name="TextBox 3"/>
          <p:cNvSpPr txBox="1"/>
          <p:nvPr/>
        </p:nvSpPr>
        <p:spPr>
          <a:xfrm>
            <a:off x="566928" y="713232"/>
            <a:ext cx="8010144" cy="7315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2400" b="1" i="0">
                <a:solidFill>
                  <a:srgbClr val="1C1D22"/>
                </a:solidFill>
                <a:latin typeface="Helvetica Neue"/>
                <a:ea typeface="Songti SC"/>
              </a:rPr>
              <a:t>Remember this paper in five lines</a:t>
            </a:r>
          </a:p>
        </p:txBody>
      </p:sp>
      <p:sp>
        <p:nvSpPr>
          <p:cNvPr id="5" name="TextBox 4"/>
          <p:cNvSpPr txBox="1"/>
          <p:nvPr/>
        </p:nvSpPr>
        <p:spPr>
          <a:xfrm>
            <a:off x="7680960" y="4759452"/>
            <a:ext cx="1097280" cy="274320"/>
          </a:xfrm>
          <a:prstGeom prst="rect">
            <a:avLst/>
          </a:prstGeom>
          <a:noFill/>
          <a:ln/>
        </p:spPr>
        <p:txBody>
          <a:bodyPr wrap="square" anchor="t" lIns="25400" rIns="25400" tIns="25400" bIns="25400">
            <a:spAutoFit/>
          </a:bodyPr>
          <a:lstStyle/>
          <a:p>
            <a:pPr algn="r">
              <a:lnSpc>
                <a:spcPct val="100000"/>
              </a:lnSpc>
              <a:spcBef>
                <a:spcPts val="0"/>
              </a:spcBef>
              <a:spcAft>
                <a:spcPts val="0"/>
              </a:spcAft>
            </a:pPr>
            <a:r>
              <a:rPr sz="900" b="1" i="0">
                <a:solidFill>
                  <a:srgbClr val="6F6656"/>
                </a:solidFill>
                <a:latin typeface="Menlo"/>
                <a:ea typeface="Hiragino Sans GB"/>
              </a:rPr>
              <a:t>14 / 15</a:t>
            </a:r>
          </a:p>
        </p:txBody>
      </p:sp>
      <p:sp>
        <p:nvSpPr>
          <p:cNvPr id="6" name="TextBox 5"/>
          <p:cNvSpPr txBox="1"/>
          <p:nvPr/>
        </p:nvSpPr>
        <p:spPr>
          <a:xfrm>
            <a:off x="566928" y="4777740"/>
            <a:ext cx="548640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800" b="0" i="0">
                <a:solidFill>
                  <a:srgbClr val="6F6656"/>
                </a:solidFill>
                <a:latin typeface="Menlo"/>
                <a:ea typeface="Hiragino Sans GB"/>
              </a:rPr>
              <a:t>ATTENTION IS ALL YOU NEED · PAPER DEEP-DIVE</a:t>
            </a:r>
          </a:p>
        </p:txBody>
      </p:sp>
      <p:sp>
        <p:nvSpPr>
          <p:cNvPr id="7" name="Rounded Rectangle 6"/>
          <p:cNvSpPr/>
          <p:nvPr/>
        </p:nvSpPr>
        <p:spPr>
          <a:xfrm>
            <a:off x="777240" y="1530096"/>
            <a:ext cx="402336" cy="402336"/>
          </a:xfrm>
          <a:prstGeom prst="roundRect">
            <a:avLst>
              <a:gd name="adj" fmla="val 50000"/>
            </a:avLst>
          </a:prstGeom>
          <a:solidFill>
            <a:srgbClr val="B84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530096"/>
            <a:ext cx="402336" cy="420624"/>
          </a:xfrm>
          <a:prstGeom prst="rect">
            <a:avLst/>
          </a:prstGeom>
          <a:noFill/>
          <a:ln/>
        </p:spPr>
        <p:txBody>
          <a:bodyPr wrap="square" anchor="ctr" lIns="25400" rIns="25400" tIns="25400" bIns="25400">
            <a:spAutoFit/>
          </a:bodyPr>
          <a:lstStyle/>
          <a:p>
            <a:pPr algn="ctr">
              <a:lnSpc>
                <a:spcPct val="100000"/>
              </a:lnSpc>
              <a:spcBef>
                <a:spcPts val="0"/>
              </a:spcBef>
              <a:spcAft>
                <a:spcPts val="0"/>
              </a:spcAft>
            </a:pPr>
            <a:r>
              <a:rPr sz="1600" b="1" i="0">
                <a:solidFill>
                  <a:srgbClr val="FFFFFF"/>
                </a:solidFill>
                <a:latin typeface="Helvetica Neue"/>
                <a:ea typeface="Hiragino Sans GB"/>
              </a:rPr>
              <a:t>1</a:t>
            </a:r>
          </a:p>
        </p:txBody>
      </p:sp>
      <p:sp>
        <p:nvSpPr>
          <p:cNvPr id="9" name="TextBox 8"/>
          <p:cNvSpPr txBox="1"/>
          <p:nvPr/>
        </p:nvSpPr>
        <p:spPr>
          <a:xfrm>
            <a:off x="1335024" y="1502664"/>
            <a:ext cx="4663440" cy="292608"/>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550" b="1" i="0">
                <a:solidFill>
                  <a:srgbClr val="1C1D22"/>
                </a:solidFill>
                <a:latin typeface="Helvetica Neue"/>
                <a:ea typeface="Hiragino Sans GB"/>
              </a:rPr>
              <a:t>Attention only</a:t>
            </a:r>
          </a:p>
        </p:txBody>
      </p:sp>
      <p:sp>
        <p:nvSpPr>
          <p:cNvPr id="10" name="TextBox 9"/>
          <p:cNvSpPr txBox="1"/>
          <p:nvPr/>
        </p:nvSpPr>
        <p:spPr>
          <a:xfrm>
            <a:off x="1335024" y="1795272"/>
            <a:ext cx="466344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150" b="0" i="0">
                <a:solidFill>
                  <a:srgbClr val="5A5E68"/>
                </a:solidFill>
                <a:latin typeface="Helvetica Neue"/>
                <a:ea typeface="Hiragino Sans GB"/>
              </a:rPr>
              <a:t>No recurrence or convolution; attention does it all.</a:t>
            </a:r>
          </a:p>
        </p:txBody>
      </p:sp>
      <p:sp>
        <p:nvSpPr>
          <p:cNvPr id="11" name="Rectangle 10"/>
          <p:cNvSpPr/>
          <p:nvPr/>
        </p:nvSpPr>
        <p:spPr>
          <a:xfrm>
            <a:off x="978408" y="1932432"/>
            <a:ext cx="12801" cy="201168"/>
          </a:xfrm>
          <a:prstGeom prst="rect">
            <a:avLst/>
          </a:prstGeom>
          <a:solidFill>
            <a:srgbClr val="DCA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77240" y="2133600"/>
            <a:ext cx="402336" cy="402336"/>
          </a:xfrm>
          <a:prstGeom prst="roundRect">
            <a:avLst>
              <a:gd name="adj" fmla="val 50000"/>
            </a:avLst>
          </a:prstGeom>
          <a:solidFill>
            <a:srgbClr val="B84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133600"/>
            <a:ext cx="402336" cy="420624"/>
          </a:xfrm>
          <a:prstGeom prst="rect">
            <a:avLst/>
          </a:prstGeom>
          <a:noFill/>
          <a:ln/>
        </p:spPr>
        <p:txBody>
          <a:bodyPr wrap="square" anchor="ctr" lIns="25400" rIns="25400" tIns="25400" bIns="25400">
            <a:spAutoFit/>
          </a:bodyPr>
          <a:lstStyle/>
          <a:p>
            <a:pPr algn="ctr">
              <a:lnSpc>
                <a:spcPct val="100000"/>
              </a:lnSpc>
              <a:spcBef>
                <a:spcPts val="0"/>
              </a:spcBef>
              <a:spcAft>
                <a:spcPts val="0"/>
              </a:spcAft>
            </a:pPr>
            <a:r>
              <a:rPr sz="1600" b="1" i="0">
                <a:solidFill>
                  <a:srgbClr val="FFFFFF"/>
                </a:solidFill>
                <a:latin typeface="Helvetica Neue"/>
                <a:ea typeface="Hiragino Sans GB"/>
              </a:rPr>
              <a:t>2</a:t>
            </a:r>
          </a:p>
        </p:txBody>
      </p:sp>
      <p:sp>
        <p:nvSpPr>
          <p:cNvPr id="14" name="TextBox 13"/>
          <p:cNvSpPr txBox="1"/>
          <p:nvPr/>
        </p:nvSpPr>
        <p:spPr>
          <a:xfrm>
            <a:off x="1335024" y="2106168"/>
            <a:ext cx="4663440" cy="292608"/>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550" b="1" i="0">
                <a:solidFill>
                  <a:srgbClr val="1C1D22"/>
                </a:solidFill>
                <a:latin typeface="Helvetica Neue"/>
                <a:ea typeface="Hiragino Sans GB"/>
              </a:rPr>
              <a:t>Scaled dot-product at the core</a:t>
            </a:r>
          </a:p>
        </p:txBody>
      </p:sp>
      <p:sp>
        <p:nvSpPr>
          <p:cNvPr id="15" name="TextBox 14"/>
          <p:cNvSpPr txBox="1"/>
          <p:nvPr/>
        </p:nvSpPr>
        <p:spPr>
          <a:xfrm>
            <a:off x="1335024" y="2398776"/>
            <a:ext cx="466344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150" b="0" i="0">
                <a:solidFill>
                  <a:srgbClr val="5A5E68"/>
                </a:solidFill>
                <a:latin typeface="Helvetica Neue"/>
                <a:ea typeface="Hiragino Sans GB"/>
              </a:rPr>
              <a:t>softmax(QKᵀ/√dₖ)·V — weight the values by similarity.</a:t>
            </a:r>
          </a:p>
        </p:txBody>
      </p:sp>
      <p:sp>
        <p:nvSpPr>
          <p:cNvPr id="16" name="Rectangle 15"/>
          <p:cNvSpPr/>
          <p:nvPr/>
        </p:nvSpPr>
        <p:spPr>
          <a:xfrm>
            <a:off x="978408" y="2535936"/>
            <a:ext cx="12801" cy="201168"/>
          </a:xfrm>
          <a:prstGeom prst="rect">
            <a:avLst/>
          </a:prstGeom>
          <a:solidFill>
            <a:srgbClr val="DCA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77240" y="2737104"/>
            <a:ext cx="402336" cy="402336"/>
          </a:xfrm>
          <a:prstGeom prst="roundRect">
            <a:avLst>
              <a:gd name="adj" fmla="val 50000"/>
            </a:avLst>
          </a:prstGeom>
          <a:solidFill>
            <a:srgbClr val="B84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2737104"/>
            <a:ext cx="402336" cy="420624"/>
          </a:xfrm>
          <a:prstGeom prst="rect">
            <a:avLst/>
          </a:prstGeom>
          <a:noFill/>
          <a:ln/>
        </p:spPr>
        <p:txBody>
          <a:bodyPr wrap="square" anchor="ctr" lIns="25400" rIns="25400" tIns="25400" bIns="25400">
            <a:spAutoFit/>
          </a:bodyPr>
          <a:lstStyle/>
          <a:p>
            <a:pPr algn="ctr">
              <a:lnSpc>
                <a:spcPct val="100000"/>
              </a:lnSpc>
              <a:spcBef>
                <a:spcPts val="0"/>
              </a:spcBef>
              <a:spcAft>
                <a:spcPts val="0"/>
              </a:spcAft>
            </a:pPr>
            <a:r>
              <a:rPr sz="1600" b="1" i="0">
                <a:solidFill>
                  <a:srgbClr val="FFFFFF"/>
                </a:solidFill>
                <a:latin typeface="Helvetica Neue"/>
                <a:ea typeface="Hiragino Sans GB"/>
              </a:rPr>
              <a:t>3</a:t>
            </a:r>
          </a:p>
        </p:txBody>
      </p:sp>
      <p:sp>
        <p:nvSpPr>
          <p:cNvPr id="19" name="TextBox 18"/>
          <p:cNvSpPr txBox="1"/>
          <p:nvPr/>
        </p:nvSpPr>
        <p:spPr>
          <a:xfrm>
            <a:off x="1335024" y="2709672"/>
            <a:ext cx="4663440" cy="292608"/>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550" b="1" i="0">
                <a:solidFill>
                  <a:srgbClr val="1C1D22"/>
                </a:solidFill>
                <a:latin typeface="Helvetica Neue"/>
                <a:ea typeface="Hiragino Sans GB"/>
              </a:rPr>
              <a:t>Multi-head + positional encoding</a:t>
            </a:r>
          </a:p>
        </p:txBody>
      </p:sp>
      <p:sp>
        <p:nvSpPr>
          <p:cNvPr id="20" name="TextBox 19"/>
          <p:cNvSpPr txBox="1"/>
          <p:nvPr/>
        </p:nvSpPr>
        <p:spPr>
          <a:xfrm>
            <a:off x="1335024" y="3002280"/>
            <a:ext cx="466344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150" b="0" i="0">
                <a:solidFill>
                  <a:srgbClr val="5A5E68"/>
                </a:solidFill>
                <a:latin typeface="Helvetica Neue"/>
                <a:ea typeface="Hiragino Sans GB"/>
              </a:rPr>
              <a:t>8 heads for different relations; sinusoids add order back.</a:t>
            </a:r>
          </a:p>
        </p:txBody>
      </p:sp>
      <p:sp>
        <p:nvSpPr>
          <p:cNvPr id="21" name="Rectangle 20"/>
          <p:cNvSpPr/>
          <p:nvPr/>
        </p:nvSpPr>
        <p:spPr>
          <a:xfrm>
            <a:off x="978408" y="3139440"/>
            <a:ext cx="12801" cy="201168"/>
          </a:xfrm>
          <a:prstGeom prst="rect">
            <a:avLst/>
          </a:prstGeom>
          <a:solidFill>
            <a:srgbClr val="DCA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77240" y="3340608"/>
            <a:ext cx="402336" cy="402336"/>
          </a:xfrm>
          <a:prstGeom prst="roundRect">
            <a:avLst>
              <a:gd name="adj" fmla="val 50000"/>
            </a:avLst>
          </a:prstGeom>
          <a:solidFill>
            <a:srgbClr val="B84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3340608"/>
            <a:ext cx="402336" cy="420624"/>
          </a:xfrm>
          <a:prstGeom prst="rect">
            <a:avLst/>
          </a:prstGeom>
          <a:noFill/>
          <a:ln/>
        </p:spPr>
        <p:txBody>
          <a:bodyPr wrap="square" anchor="ctr" lIns="25400" rIns="25400" tIns="25400" bIns="25400">
            <a:spAutoFit/>
          </a:bodyPr>
          <a:lstStyle/>
          <a:p>
            <a:pPr algn="ctr">
              <a:lnSpc>
                <a:spcPct val="100000"/>
              </a:lnSpc>
              <a:spcBef>
                <a:spcPts val="0"/>
              </a:spcBef>
              <a:spcAft>
                <a:spcPts val="0"/>
              </a:spcAft>
            </a:pPr>
            <a:r>
              <a:rPr sz="1600" b="1" i="0">
                <a:solidFill>
                  <a:srgbClr val="FFFFFF"/>
                </a:solidFill>
                <a:latin typeface="Helvetica Neue"/>
                <a:ea typeface="Hiragino Sans GB"/>
              </a:rPr>
              <a:t>4</a:t>
            </a:r>
          </a:p>
        </p:txBody>
      </p:sp>
      <p:sp>
        <p:nvSpPr>
          <p:cNvPr id="24" name="TextBox 23"/>
          <p:cNvSpPr txBox="1"/>
          <p:nvPr/>
        </p:nvSpPr>
        <p:spPr>
          <a:xfrm>
            <a:off x="1335024" y="3313176"/>
            <a:ext cx="4663440" cy="292608"/>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550" b="1" i="0">
                <a:solidFill>
                  <a:srgbClr val="1C1D22"/>
                </a:solidFill>
                <a:latin typeface="Helvetica Neue"/>
                <a:ea typeface="Hiragino Sans GB"/>
              </a:rPr>
              <a:t>Parallel, short paths</a:t>
            </a:r>
          </a:p>
        </p:txBody>
      </p:sp>
      <p:sp>
        <p:nvSpPr>
          <p:cNvPr id="25" name="TextBox 24"/>
          <p:cNvSpPr txBox="1"/>
          <p:nvPr/>
        </p:nvSpPr>
        <p:spPr>
          <a:xfrm>
            <a:off x="1335024" y="3605784"/>
            <a:ext cx="466344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150" b="0" i="0">
                <a:solidFill>
                  <a:srgbClr val="5A5E68"/>
                </a:solidFill>
                <a:latin typeface="Helvetica Neue"/>
                <a:ea typeface="Hiragino Sans GB"/>
              </a:rPr>
              <a:t>O(1) sequential ops, any two positions one hop — fast and stable.</a:t>
            </a:r>
          </a:p>
        </p:txBody>
      </p:sp>
      <p:sp>
        <p:nvSpPr>
          <p:cNvPr id="26" name="Rectangle 25"/>
          <p:cNvSpPr/>
          <p:nvPr/>
        </p:nvSpPr>
        <p:spPr>
          <a:xfrm>
            <a:off x="978408" y="3742944"/>
            <a:ext cx="12801" cy="201168"/>
          </a:xfrm>
          <a:prstGeom prst="rect">
            <a:avLst/>
          </a:prstGeom>
          <a:solidFill>
            <a:srgbClr val="DCA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77240" y="3944112"/>
            <a:ext cx="402336" cy="402336"/>
          </a:xfrm>
          <a:prstGeom prst="roundRect">
            <a:avLst>
              <a:gd name="adj" fmla="val 50000"/>
            </a:avLst>
          </a:prstGeom>
          <a:solidFill>
            <a:srgbClr val="B84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3944112"/>
            <a:ext cx="402336" cy="420624"/>
          </a:xfrm>
          <a:prstGeom prst="rect">
            <a:avLst/>
          </a:prstGeom>
          <a:noFill/>
          <a:ln/>
        </p:spPr>
        <p:txBody>
          <a:bodyPr wrap="square" anchor="ctr" lIns="25400" rIns="25400" tIns="25400" bIns="25400">
            <a:spAutoFit/>
          </a:bodyPr>
          <a:lstStyle/>
          <a:p>
            <a:pPr algn="ctr">
              <a:lnSpc>
                <a:spcPct val="100000"/>
              </a:lnSpc>
              <a:spcBef>
                <a:spcPts val="0"/>
              </a:spcBef>
              <a:spcAft>
                <a:spcPts val="0"/>
              </a:spcAft>
            </a:pPr>
            <a:r>
              <a:rPr sz="1600" b="1" i="0">
                <a:solidFill>
                  <a:srgbClr val="FFFFFF"/>
                </a:solidFill>
                <a:latin typeface="Helvetica Neue"/>
                <a:ea typeface="Hiragino Sans GB"/>
              </a:rPr>
              <a:t>5</a:t>
            </a:r>
          </a:p>
        </p:txBody>
      </p:sp>
      <p:sp>
        <p:nvSpPr>
          <p:cNvPr id="29" name="TextBox 28"/>
          <p:cNvSpPr txBox="1"/>
          <p:nvPr/>
        </p:nvSpPr>
        <p:spPr>
          <a:xfrm>
            <a:off x="1335024" y="3916680"/>
            <a:ext cx="4663440" cy="292608"/>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550" b="1" i="0">
                <a:solidFill>
                  <a:srgbClr val="1C1D22"/>
                </a:solidFill>
                <a:latin typeface="Helvetica Neue"/>
                <a:ea typeface="Hiragino Sans GB"/>
              </a:rPr>
              <a:t>Bedrock of large models</a:t>
            </a:r>
          </a:p>
        </p:txBody>
      </p:sp>
      <p:sp>
        <p:nvSpPr>
          <p:cNvPr id="30" name="TextBox 29"/>
          <p:cNvSpPr txBox="1"/>
          <p:nvPr/>
        </p:nvSpPr>
        <p:spPr>
          <a:xfrm>
            <a:off x="1335024" y="4209288"/>
            <a:ext cx="466344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150" b="0" i="0">
                <a:solidFill>
                  <a:srgbClr val="5A5E68"/>
                </a:solidFill>
                <a:latin typeface="Helvetica Neue"/>
                <a:ea typeface="Hiragino Sans GB"/>
              </a:rPr>
              <a:t>28.4 En–De / 41.8 En–Fr BLEU — the backbone of all that followed.</a:t>
            </a:r>
          </a:p>
        </p:txBody>
      </p:sp>
      <p:sp>
        <p:nvSpPr>
          <p:cNvPr id="31" name="Rounded Rectangle 30"/>
          <p:cNvSpPr/>
          <p:nvPr/>
        </p:nvSpPr>
        <p:spPr>
          <a:xfrm>
            <a:off x="6309360" y="1511808"/>
            <a:ext cx="2286000" cy="2889504"/>
          </a:xfrm>
          <a:prstGeom prst="roundRect">
            <a:avLst>
              <a:gd name="adj" fmla="val 4800"/>
            </a:avLst>
          </a:prstGeom>
          <a:solidFill>
            <a:srgbClr val="EED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309360" y="1658112"/>
            <a:ext cx="64008" cy="2596896"/>
          </a:xfrm>
          <a:prstGeom prst="rect">
            <a:avLst/>
          </a:prstGeom>
          <a:solidFill>
            <a:srgbClr val="B84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65392" y="1786128"/>
            <a:ext cx="548640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100" b="1" i="0" spc="150">
                <a:solidFill>
                  <a:srgbClr val="B84020"/>
                </a:solidFill>
                <a:latin typeface="Menlo"/>
                <a:ea typeface="Hiragino Sans GB"/>
              </a:rPr>
              <a:t>IN ONE LINE</a:t>
            </a:r>
          </a:p>
        </p:txBody>
      </p:sp>
      <p:sp>
        <p:nvSpPr>
          <p:cNvPr id="34" name="TextBox 33"/>
          <p:cNvSpPr txBox="1"/>
          <p:nvPr/>
        </p:nvSpPr>
        <p:spPr>
          <a:xfrm>
            <a:off x="6565392" y="2170175"/>
            <a:ext cx="1828800" cy="1737360"/>
          </a:xfrm>
          <a:prstGeom prst="rect">
            <a:avLst/>
          </a:prstGeom>
          <a:noFill/>
          <a:ln/>
        </p:spPr>
        <p:txBody>
          <a:bodyPr wrap="square" anchor="t" lIns="25400" rIns="25400" tIns="25400" bIns="25400">
            <a:spAutoFit/>
          </a:bodyPr>
          <a:lstStyle/>
          <a:p>
            <a:pPr algn="l">
              <a:lnSpc>
                <a:spcPct val="108000"/>
              </a:lnSpc>
              <a:spcBef>
                <a:spcPts val="0"/>
              </a:spcBef>
              <a:spcAft>
                <a:spcPts val="200"/>
              </a:spcAft>
            </a:pPr>
            <a:r>
              <a:rPr sz="2500" b="1" i="0">
                <a:solidFill>
                  <a:srgbClr val="1C1D22"/>
                </a:solidFill>
                <a:latin typeface="Songti SC"/>
                <a:ea typeface="Hiragino Sans GB"/>
              </a:rPr>
              <a:t>Attention</a:t>
            </a:r>
          </a:p>
          <a:p>
            <a:pPr algn="l">
              <a:lnSpc>
                <a:spcPct val="108000"/>
              </a:lnSpc>
              <a:spcBef>
                <a:spcPts val="0"/>
              </a:spcBef>
              <a:spcAft>
                <a:spcPts val="200"/>
              </a:spcAft>
            </a:pPr>
            <a:r>
              <a:rPr sz="2500" b="1" i="0">
                <a:solidFill>
                  <a:srgbClr val="1C1D22"/>
                </a:solidFill>
                <a:latin typeface="Songti SC"/>
                <a:ea typeface="Hiragino Sans GB"/>
              </a:rPr>
              <a:t>is all</a:t>
            </a:r>
          </a:p>
          <a:p>
            <a:pPr algn="l">
              <a:lnSpc>
                <a:spcPct val="108000"/>
              </a:lnSpc>
              <a:spcBef>
                <a:spcPts val="0"/>
              </a:spcBef>
              <a:spcAft>
                <a:spcPts val="200"/>
              </a:spcAft>
            </a:pPr>
            <a:r>
              <a:rPr sz="2500" b="1" i="0">
                <a:solidFill>
                  <a:srgbClr val="1C1D22"/>
                </a:solidFill>
                <a:latin typeface="Songti SC"/>
                <a:ea typeface="Hiragino Sans GB"/>
              </a:rPr>
              <a:t>you need.</a:t>
            </a:r>
          </a:p>
        </p:txBody>
      </p:sp>
      <p:cxnSp>
        <p:nvCxnSpPr>
          <p:cNvPr id="35" name="Connector 34"/>
          <p:cNvCxnSpPr/>
          <p:nvPr/>
        </p:nvCxnSpPr>
        <p:spPr>
          <a:xfrm>
            <a:off x="6583680" y="3532632"/>
            <a:ext cx="731520" cy="502920"/>
          </a:xfrm>
          <a:prstGeom prst="line">
            <a:avLst/>
          </a:prstGeom>
          <a:ln w="11430">
            <a:solidFill>
              <a:srgbClr val="E7CCC0"/>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6876288" y="3532632"/>
            <a:ext cx="438912" cy="502920"/>
          </a:xfrm>
          <a:prstGeom prst="line">
            <a:avLst/>
          </a:prstGeom>
          <a:ln w="11430">
            <a:solidFill>
              <a:srgbClr val="E7CCC0"/>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168896" y="3532632"/>
            <a:ext cx="146304" cy="502920"/>
          </a:xfrm>
          <a:prstGeom prst="line">
            <a:avLst/>
          </a:prstGeom>
          <a:ln w="11430">
            <a:solidFill>
              <a:srgbClr val="E7CCC0"/>
            </a:solidFill>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7315200" y="3532632"/>
            <a:ext cx="146304" cy="502920"/>
          </a:xfrm>
          <a:prstGeom prst="line">
            <a:avLst/>
          </a:prstGeom>
          <a:ln w="11430">
            <a:solidFill>
              <a:srgbClr val="E7CCC0"/>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7315200" y="3532632"/>
            <a:ext cx="438912" cy="502920"/>
          </a:xfrm>
          <a:prstGeom prst="line">
            <a:avLst/>
          </a:prstGeom>
          <a:ln w="11430">
            <a:solidFill>
              <a:srgbClr val="E7CCC0"/>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7315200" y="3532632"/>
            <a:ext cx="731520" cy="502920"/>
          </a:xfrm>
          <a:prstGeom prst="line">
            <a:avLst/>
          </a:prstGeom>
          <a:ln w="11430">
            <a:solidFill>
              <a:srgbClr val="E7CCC0"/>
            </a:solidFill>
          </a:ln>
          <a:effectLst/>
        </p:spPr>
        <p:style>
          <a:lnRef idx="2">
            <a:schemeClr val="accent1"/>
          </a:lnRef>
          <a:fillRef idx="0">
            <a:schemeClr val="accent1"/>
          </a:fillRef>
          <a:effectRef idx="1">
            <a:schemeClr val="accent1"/>
          </a:effectRef>
          <a:fontRef idx="minor">
            <a:schemeClr val="tx1"/>
          </a:fontRef>
        </p:style>
      </p:cxnSp>
      <p:sp>
        <p:nvSpPr>
          <p:cNvPr id="41" name="Oval 40"/>
          <p:cNvSpPr/>
          <p:nvPr/>
        </p:nvSpPr>
        <p:spPr>
          <a:xfrm>
            <a:off x="6549390" y="3498342"/>
            <a:ext cx="68580" cy="68580"/>
          </a:xfrm>
          <a:prstGeom prst="ellipse">
            <a:avLst/>
          </a:prstGeom>
          <a:solidFill>
            <a:srgbClr val="C4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841998" y="3498342"/>
            <a:ext cx="68580" cy="68580"/>
          </a:xfrm>
          <a:prstGeom prst="ellipse">
            <a:avLst/>
          </a:prstGeom>
          <a:solidFill>
            <a:srgbClr val="C4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134606" y="3498342"/>
            <a:ext cx="68580" cy="68580"/>
          </a:xfrm>
          <a:prstGeom prst="ellipse">
            <a:avLst/>
          </a:prstGeom>
          <a:solidFill>
            <a:srgbClr val="C4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7427214" y="3498342"/>
            <a:ext cx="68580" cy="68580"/>
          </a:xfrm>
          <a:prstGeom prst="ellipse">
            <a:avLst/>
          </a:prstGeom>
          <a:solidFill>
            <a:srgbClr val="C4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7719822" y="3498342"/>
            <a:ext cx="68580" cy="68580"/>
          </a:xfrm>
          <a:prstGeom prst="ellipse">
            <a:avLst/>
          </a:prstGeom>
          <a:solidFill>
            <a:srgbClr val="C4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8012430" y="3498342"/>
            <a:ext cx="68580" cy="68580"/>
          </a:xfrm>
          <a:prstGeom prst="ellipse">
            <a:avLst/>
          </a:prstGeom>
          <a:solidFill>
            <a:srgbClr val="C4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7272680" y="3993032"/>
            <a:ext cx="85039" cy="85039"/>
          </a:xfrm>
          <a:prstGeom prst="ellipse">
            <a:avLst/>
          </a:prstGeom>
          <a:solidFill>
            <a:srgbClr val="B84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40080" y="3931920"/>
            <a:ext cx="1463040" cy="685800"/>
          </a:xfrm>
          <a:prstGeom prst="line">
            <a:avLst/>
          </a:prstGeom>
          <a:ln w="11430">
            <a:solidFill>
              <a:srgbClr val="E7CCC0"/>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127760" y="3931920"/>
            <a:ext cx="975360" cy="685800"/>
          </a:xfrm>
          <a:prstGeom prst="line">
            <a:avLst/>
          </a:prstGeom>
          <a:ln w="11430">
            <a:solidFill>
              <a:srgbClr val="E7CCC0"/>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615440" y="3931920"/>
            <a:ext cx="487680" cy="685800"/>
          </a:xfrm>
          <a:prstGeom prst="line">
            <a:avLst/>
          </a:prstGeom>
          <a:ln w="11430">
            <a:solidFill>
              <a:srgbClr val="E7CCC0"/>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103120" y="3931920"/>
            <a:ext cx="0" cy="685800"/>
          </a:xfrm>
          <a:prstGeom prst="line">
            <a:avLst/>
          </a:prstGeom>
          <a:ln w="11430">
            <a:solidFill>
              <a:srgbClr val="E7CCC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2103120" y="3931920"/>
            <a:ext cx="487679" cy="685800"/>
          </a:xfrm>
          <a:prstGeom prst="line">
            <a:avLst/>
          </a:prstGeom>
          <a:ln w="11430">
            <a:solidFill>
              <a:srgbClr val="E7CCC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2103120" y="3931920"/>
            <a:ext cx="975359" cy="685800"/>
          </a:xfrm>
          <a:prstGeom prst="line">
            <a:avLst/>
          </a:prstGeom>
          <a:ln w="11430">
            <a:solidFill>
              <a:srgbClr val="E7CCC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2103120" y="3931920"/>
            <a:ext cx="1463040" cy="685800"/>
          </a:xfrm>
          <a:prstGeom prst="line">
            <a:avLst/>
          </a:prstGeom>
          <a:ln w="11430">
            <a:solidFill>
              <a:srgbClr val="E7CCC0"/>
            </a:solidFill>
          </a:ln>
          <a:effectLst/>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601218" y="3893057"/>
            <a:ext cx="77724" cy="77724"/>
          </a:xfrm>
          <a:prstGeom prst="ellipse">
            <a:avLst/>
          </a:prstGeom>
          <a:solidFill>
            <a:srgbClr val="C4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88898" y="3893057"/>
            <a:ext cx="77724" cy="77724"/>
          </a:xfrm>
          <a:prstGeom prst="ellipse">
            <a:avLst/>
          </a:prstGeom>
          <a:solidFill>
            <a:srgbClr val="C4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576578" y="3893057"/>
            <a:ext cx="77724" cy="77724"/>
          </a:xfrm>
          <a:prstGeom prst="ellipse">
            <a:avLst/>
          </a:prstGeom>
          <a:solidFill>
            <a:srgbClr val="C4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064257" y="3893057"/>
            <a:ext cx="77724" cy="77724"/>
          </a:xfrm>
          <a:prstGeom prst="ellipse">
            <a:avLst/>
          </a:prstGeom>
          <a:solidFill>
            <a:srgbClr val="C4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551937" y="3893057"/>
            <a:ext cx="77724" cy="77724"/>
          </a:xfrm>
          <a:prstGeom prst="ellipse">
            <a:avLst/>
          </a:prstGeom>
          <a:solidFill>
            <a:srgbClr val="C4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039617" y="3893057"/>
            <a:ext cx="77724" cy="77724"/>
          </a:xfrm>
          <a:prstGeom prst="ellipse">
            <a:avLst/>
          </a:prstGeom>
          <a:solidFill>
            <a:srgbClr val="C4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27298" y="3893057"/>
            <a:ext cx="77724" cy="77724"/>
          </a:xfrm>
          <a:prstGeom prst="ellipse">
            <a:avLst/>
          </a:prstGeom>
          <a:solidFill>
            <a:srgbClr val="C4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054931" y="4569531"/>
            <a:ext cx="96377" cy="96377"/>
          </a:xfrm>
          <a:prstGeom prst="ellipse">
            <a:avLst/>
          </a:prstGeom>
          <a:solidFill>
            <a:srgbClr val="CD7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1748790"/>
            <a:ext cx="7863840" cy="1280160"/>
          </a:xfrm>
          <a:prstGeom prst="rect">
            <a:avLst/>
          </a:prstGeom>
          <a:noFill/>
          <a:ln/>
        </p:spPr>
        <p:txBody>
          <a:bodyPr wrap="square" anchor="t" lIns="25400" rIns="25400" tIns="25400" bIns="25400">
            <a:spAutoFit/>
          </a:bodyPr>
          <a:lstStyle/>
          <a:p>
            <a:pPr algn="l">
              <a:lnSpc>
                <a:spcPct val="100000"/>
              </a:lnSpc>
              <a:spcBef>
                <a:spcPts val="0"/>
              </a:spcBef>
              <a:spcAft>
                <a:spcPts val="200"/>
              </a:spcAft>
            </a:pPr>
            <a:r>
              <a:rPr sz="4000" b="1" i="0">
                <a:solidFill>
                  <a:srgbClr val="1C1D22"/>
                </a:solidFill>
                <a:latin typeface="Songti SC"/>
                <a:ea typeface="Hiragino Sans GB"/>
              </a:rPr>
              <a:t>Attention changed everything.</a:t>
            </a:r>
          </a:p>
        </p:txBody>
      </p:sp>
      <p:sp>
        <p:nvSpPr>
          <p:cNvPr id="19" name="Rectangle 18"/>
          <p:cNvSpPr/>
          <p:nvPr/>
        </p:nvSpPr>
        <p:spPr>
          <a:xfrm>
            <a:off x="658368" y="3028950"/>
            <a:ext cx="1280160" cy="54864"/>
          </a:xfrm>
          <a:prstGeom prst="rect">
            <a:avLst/>
          </a:prstGeom>
          <a:solidFill>
            <a:srgbClr val="B84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3321558"/>
            <a:ext cx="548640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100" b="1" i="0" spc="150">
                <a:solidFill>
                  <a:srgbClr val="B84020"/>
                </a:solidFill>
                <a:latin typeface="Menlo"/>
                <a:ea typeface="Hiragino Sans GB"/>
              </a:rPr>
              <a:t>SOURCE</a:t>
            </a:r>
          </a:p>
        </p:txBody>
      </p:sp>
      <p:sp>
        <p:nvSpPr>
          <p:cNvPr id="21" name="TextBox 20"/>
          <p:cNvSpPr txBox="1"/>
          <p:nvPr/>
        </p:nvSpPr>
        <p:spPr>
          <a:xfrm>
            <a:off x="640080" y="3577589"/>
            <a:ext cx="7863840" cy="36576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100" b="0" i="0">
                <a:solidFill>
                  <a:srgbClr val="6F6656"/>
                </a:solidFill>
                <a:latin typeface="Menlo"/>
                <a:ea typeface="Hiragino Sans GB"/>
              </a:rPr>
              <a:t>Vaswani et al., NeurIPS 2017 · arXiv:1706.03762</a:t>
            </a:r>
          </a:p>
        </p:txBody>
      </p:sp>
      <p:sp>
        <p:nvSpPr>
          <p:cNvPr id="22" name="TextBox 21"/>
          <p:cNvSpPr txBox="1"/>
          <p:nvPr/>
        </p:nvSpPr>
        <p:spPr>
          <a:xfrm>
            <a:off x="658368" y="3127248"/>
            <a:ext cx="5486400" cy="274320"/>
          </a:xfrm>
          <a:prstGeom prst="rect">
            <a:avLst/>
          </a:prstGeom>
          <a:noFill/>
          <a:ln/>
        </p:spPr>
        <p:txBody>
          <a:bodyPr wrap="square" anchor="t" lIns="25400" rIns="25400" tIns="25400" bIns="25400">
            <a:spAutoFit/>
          </a:bodyPr>
          <a:lstStyle/>
          <a:p>
            <a:pPr algn="l">
              <a:lnSpc>
                <a:spcPct val="112000"/>
              </a:lnSpc>
              <a:spcBef>
                <a:spcPts val="0"/>
              </a:spcBef>
              <a:spcAft>
                <a:spcPts val="0"/>
              </a:spcAft>
            </a:pPr>
            <a:r>
              <a:rPr sz="1200" b="0" i="0">
                <a:solidFill>
                  <a:srgbClr val="5A5E68"/>
                </a:solidFill>
                <a:latin typeface="Helvetica Neue"/>
                <a:ea typeface="Hiragino Sans GB"/>
              </a:rPr>
              <a:t>Discussion · reading group　|　Q &amp; A — interrupt anytime</a:t>
            </a:r>
          </a:p>
        </p:txBody>
      </p:sp>
      <p:sp>
        <p:nvSpPr>
          <p:cNvPr id="23" name="TextBox 22"/>
          <p:cNvSpPr txBox="1"/>
          <p:nvPr/>
        </p:nvSpPr>
        <p:spPr>
          <a:xfrm>
            <a:off x="7680960" y="4759452"/>
            <a:ext cx="1097280" cy="274320"/>
          </a:xfrm>
          <a:prstGeom prst="rect">
            <a:avLst/>
          </a:prstGeom>
          <a:noFill/>
          <a:ln/>
        </p:spPr>
        <p:txBody>
          <a:bodyPr wrap="square" anchor="t" lIns="25400" rIns="25400" tIns="25400" bIns="25400">
            <a:spAutoFit/>
          </a:bodyPr>
          <a:lstStyle/>
          <a:p>
            <a:pPr algn="r">
              <a:lnSpc>
                <a:spcPct val="100000"/>
              </a:lnSpc>
              <a:spcBef>
                <a:spcPts val="0"/>
              </a:spcBef>
              <a:spcAft>
                <a:spcPts val="0"/>
              </a:spcAft>
            </a:pPr>
            <a:r>
              <a:rPr sz="900" b="1" i="0">
                <a:solidFill>
                  <a:srgbClr val="6F6656"/>
                </a:solidFill>
                <a:latin typeface="Menlo"/>
                <a:ea typeface="Hiragino Sans GB"/>
              </a:rPr>
              <a:t>15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