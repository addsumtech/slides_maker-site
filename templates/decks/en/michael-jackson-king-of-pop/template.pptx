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est. millions</c:v>
                </c:pt>
              </c:strCache>
            </c:strRef>
          </c:tx>
          <c:spPr>
            <a:solidFill>
              <a:srgbClr val="F0C24A"/>
            </a:solidFill>
            <a:ln w="31750">
              <a:solidFill>
                <a:srgbClr val="F0C24A"/>
              </a:solidFill>
            </a:ln>
          </c:spPr>
          <c:dPt>
            <c:idx val="0"/>
            <c:spPr>
              <a:solidFill>
                <a:srgbClr val="F0C24A"/>
              </a:solidFill>
            </c:spPr>
          </c:dPt>
          <c:dPt>
            <c:idx val="1"/>
            <c:spPr>
              <a:solidFill>
                <a:srgbClr val="F0C24A"/>
              </a:solidFill>
            </c:spPr>
          </c:dPt>
          <c:dPt>
            <c:idx val="2"/>
            <c:spPr>
              <a:solidFill>
                <a:srgbClr val="E23B4E"/>
              </a:solidFill>
            </c:spPr>
          </c:dPt>
          <c:dPt>
            <c:idx val="3"/>
            <c:spPr>
              <a:solidFill>
                <a:srgbClr val="F0C24A"/>
              </a:solidFill>
            </c:spPr>
          </c:dPt>
          <c:dPt>
            <c:idx val="4"/>
            <c:spPr>
              <a:solidFill>
                <a:srgbClr val="F0C24A"/>
              </a:solidFill>
            </c:spPr>
          </c:dPt>
          <c:dPt>
            <c:idx val="5"/>
            <c:spPr>
              <a:solidFill>
                <a:srgbClr val="F0C24A"/>
              </a:solidFill>
            </c:spPr>
          </c:dPt>
          <c:cat>
            <c:strRef>
              <c:f>Sheet1!$A$2:$A$7</c:f>
              <c:strCache>
                <c:ptCount val="6"/>
                <c:pt idx="0">
                  <c:v>Off the Wall
1979</c:v>
                </c:pt>
                <c:pt idx="1">
                  <c:v>Thriller
1982</c:v>
                </c:pt>
                <c:pt idx="2">
                  <c:v>Bad
1987</c:v>
                </c:pt>
                <c:pt idx="3">
                  <c:v>Dangerous
1991</c:v>
                </c:pt>
                <c:pt idx="4">
                  <c:v>HIStory
1995</c:v>
                </c:pt>
                <c:pt idx="5">
                  <c:v>Invincible
2001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70</c:v>
                </c:pt>
                <c:pt idx="2">
                  <c:v>35</c:v>
                </c:pt>
                <c:pt idx="3">
                  <c:v>32</c:v>
                </c:pt>
                <c:pt idx="4">
                  <c:v>20</c:v>
                </c:pt>
                <c:pt idx="5">
                  <c:v>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3A3630"/>
              </a:solidFill>
            </a:ln>
          </c:spPr>
        </c:majorGridlines>
        <c:numFmt formatCode="0&quot;M&quot;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Fedora and sequined glove under a golden spotlight" title="Fedora and sequined glove under a golden spotlight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94000"/>
                </a:srgbClr>
              </a:gs>
              <a:gs pos="42000">
                <a:srgbClr val="0A0A0F">
                  <a:alpha val="55000"/>
                </a:srgbClr>
              </a:gs>
              <a:gs pos="62000">
                <a:srgbClr val="0A0A0F">
                  <a:alpha val="0"/>
                </a:srgbClr>
              </a:gs>
              <a:gs pos="100000">
                <a:srgbClr val="0A0A0F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3444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486400" cy="10972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6F2E9"/>
                </a:solidFill>
                <a:latin typeface="Arial"/>
                <a:ea typeface="Hiragino Sans GB"/>
              </a:rPr>
              <a:t>Michael Jackson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" y="2432304"/>
            <a:ext cx="1188720" cy="54864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5120640" cy="5486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0C24A"/>
                </a:solidFill>
                <a:latin typeface="Arial Black"/>
                <a:ea typeface="Hiragino Sans GB"/>
              </a:rPr>
              <a:t>THE KING OF POP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0128"/>
            <a:ext cx="4480560" cy="8229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0C24A"/>
                </a:solidFill>
                <a:latin typeface="Courier New"/>
                <a:ea typeface="Hiragino Sans GB"/>
              </a:rPr>
              <a:t>1958 – 2009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584448"/>
            <a:ext cx="4754880" cy="9144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DAD5C8"/>
                </a:solidFill>
                <a:latin typeface="Arial"/>
                <a:ea typeface="Hiragino Sans GB"/>
              </a:rPr>
              <a:t>He redefined pop culture through music, dance and the moving image.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6863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A VISUAL TRIBUTE  ·  AS OF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Arial"/>
                <a:ea typeface="Hiragino Sans GB"/>
              </a:rPr>
              <a:t>Who He Was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65376"/>
            <a:ext cx="8010144" cy="5486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6F2E9"/>
                </a:solidFill>
                <a:latin typeface="Arial"/>
                <a:ea typeface="Hiragino Sans GB"/>
              </a:rPr>
              <a:t>Not one pop star among many, very nearly the definition of pop itself.</a:t>
            </a:r>
          </a:p>
        </p:txBody>
      </p:sp>
      <p:sp>
        <p:nvSpPr>
          <p:cNvPr id="10" name="Oval 9"/>
          <p:cNvSpPr/>
          <p:nvPr/>
        </p:nvSpPr>
        <p:spPr>
          <a:xfrm>
            <a:off x="520979" y="2626614"/>
            <a:ext cx="1929841" cy="1440180"/>
          </a:xfrm>
          <a:prstGeom prst="ellipse">
            <a:avLst/>
          </a:prstGeom>
          <a:gradFill>
            <a:gsLst>
              <a:gs pos="0">
                <a:srgbClr val="F0C24A">
                  <a:alpha val="5500"/>
                </a:srgbClr>
              </a:gs>
              <a:gs pos="100000">
                <a:srgbClr val="F0C24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566928" y="2660904"/>
            <a:ext cx="1837943" cy="365760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F0C24A">
                  <a:alpha val="95000"/>
                </a:srgbClr>
              </a:gs>
              <a:gs pos="100000">
                <a:srgbClr val="F0C24A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3090672"/>
            <a:ext cx="1618487" cy="49377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0C24A"/>
                </a:solidFill>
                <a:latin typeface="Arial Black"/>
                <a:ea typeface="Hiragino Sans GB"/>
              </a:rPr>
              <a:t>500M+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547872"/>
            <a:ext cx="1545335" cy="40233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6F2E9"/>
                </a:solidFill>
                <a:latin typeface="Arial"/>
                <a:ea typeface="Hiragino Sans GB"/>
              </a:rPr>
              <a:t>Records sold worldwide</a:t>
            </a:r>
          </a:p>
        </p:txBody>
      </p:sp>
      <p:sp>
        <p:nvSpPr>
          <p:cNvPr id="16" name="Oval 15"/>
          <p:cNvSpPr/>
          <p:nvPr/>
        </p:nvSpPr>
        <p:spPr>
          <a:xfrm>
            <a:off x="2578379" y="2626614"/>
            <a:ext cx="1929841" cy="1440180"/>
          </a:xfrm>
          <a:prstGeom prst="ellipse">
            <a:avLst/>
          </a:prstGeom>
          <a:gradFill>
            <a:gsLst>
              <a:gs pos="0">
                <a:srgbClr val="5FC7D6">
                  <a:alpha val="5500"/>
                </a:srgbClr>
              </a:gs>
              <a:gs pos="100000">
                <a:srgbClr val="5FC7D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43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6243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2624328" y="2660904"/>
            <a:ext cx="1837943" cy="365760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5FC7D6">
                  <a:alpha val="95000"/>
                </a:srgbClr>
              </a:gs>
              <a:gs pos="100000">
                <a:srgbClr val="5FC7D6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34056" y="3090672"/>
            <a:ext cx="1618487" cy="49377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FC7D6"/>
                </a:solidFill>
                <a:latin typeface="Arial Black"/>
                <a:ea typeface="Hiragino Sans GB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3547872"/>
            <a:ext cx="1545335" cy="40233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6F2E9"/>
                </a:solidFill>
                <a:latin typeface="Arial"/>
                <a:ea typeface="Hiragino Sans GB"/>
              </a:rPr>
              <a:t>Grammy Awards</a:t>
            </a:r>
          </a:p>
        </p:txBody>
      </p:sp>
      <p:sp>
        <p:nvSpPr>
          <p:cNvPr id="22" name="Oval 21"/>
          <p:cNvSpPr/>
          <p:nvPr/>
        </p:nvSpPr>
        <p:spPr>
          <a:xfrm>
            <a:off x="4635779" y="2626614"/>
            <a:ext cx="1929841" cy="1440180"/>
          </a:xfrm>
          <a:prstGeom prst="ellipse">
            <a:avLst/>
          </a:prstGeom>
          <a:gradFill>
            <a:gsLst>
              <a:gs pos="0">
                <a:srgbClr val="E23B4E">
                  <a:alpha val="5500"/>
                </a:srgbClr>
              </a:gs>
              <a:gs pos="100000">
                <a:srgbClr val="E23B4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817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817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4681728" y="2660904"/>
            <a:ext cx="1837943" cy="365760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E23B4E">
                  <a:alpha val="95000"/>
                </a:srgbClr>
              </a:gs>
              <a:gs pos="100000">
                <a:srgbClr val="E23B4E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3090672"/>
            <a:ext cx="1618487" cy="49377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23B4E"/>
                </a:solidFill>
                <a:latin typeface="Arial Black"/>
                <a:ea typeface="Hiragino Sans GB"/>
              </a:rPr>
              <a:t>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3547872"/>
            <a:ext cx="1545335" cy="40233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6F2E9"/>
                </a:solidFill>
                <a:latin typeface="Arial"/>
                <a:ea typeface="Hiragino Sans GB"/>
              </a:rPr>
              <a:t>Best-seller ever · Thriller</a:t>
            </a:r>
          </a:p>
        </p:txBody>
      </p:sp>
      <p:sp>
        <p:nvSpPr>
          <p:cNvPr id="28" name="Oval 27"/>
          <p:cNvSpPr/>
          <p:nvPr/>
        </p:nvSpPr>
        <p:spPr>
          <a:xfrm>
            <a:off x="6693179" y="2626614"/>
            <a:ext cx="1929841" cy="1440180"/>
          </a:xfrm>
          <a:prstGeom prst="ellipse">
            <a:avLst/>
          </a:prstGeom>
          <a:gradFill>
            <a:gsLst>
              <a:gs pos="0">
                <a:srgbClr val="B98BE0">
                  <a:alpha val="5500"/>
                </a:srgbClr>
              </a:gs>
              <a:gs pos="100000">
                <a:srgbClr val="B98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391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7391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6739128" y="2660904"/>
            <a:ext cx="1837943" cy="365760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B98BE0">
                  <a:alpha val="95000"/>
                </a:srgbClr>
              </a:gs>
              <a:gs pos="100000">
                <a:srgbClr val="B98BE0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3090672"/>
            <a:ext cx="1618487" cy="49377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98BE0"/>
                </a:solidFill>
                <a:latin typeface="Arial Black"/>
                <a:ea typeface="Hiragino Sans GB"/>
              </a:rPr>
              <a:t>2×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85432" y="3547872"/>
            <a:ext cx="1545335" cy="40233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6F2E9"/>
                </a:solidFill>
                <a:latin typeface="Arial"/>
                <a:ea typeface="Hiragino Sans GB"/>
              </a:rPr>
              <a:t>Rock &amp; Roll Hall of Fame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Arial"/>
                <a:ea typeface="Hiragino Sans GB"/>
              </a:rPr>
              <a:t>A Life in Motion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2558491"/>
            <a:ext cx="7223759" cy="21945"/>
          </a:xfrm>
          <a:prstGeom prst="rect">
            <a:avLst/>
          </a:prstGeom>
          <a:solidFill>
            <a:srgbClr val="5A5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5A5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" y="2734056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544A"/>
                </a:solidFill>
                <a:latin typeface="Arial"/>
                <a:ea typeface="Hiragino Sans GB"/>
              </a:rPr>
              <a:t>1958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" y="3026664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Born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3282696"/>
            <a:ext cx="201168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192"/>
                </a:solidFill>
                <a:latin typeface="Arial"/>
                <a:ea typeface="Hiragino Sans GB"/>
              </a:rPr>
              <a:t>Gary, Indiana, USA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22576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5A5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90472" y="2734056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544A"/>
                </a:solidFill>
                <a:latin typeface="Arial"/>
                <a:ea typeface="Hiragino Sans GB"/>
              </a:rPr>
              <a:t>1969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472" y="3026664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Jackson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1" y="3282696"/>
            <a:ext cx="201168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192"/>
                </a:solidFill>
                <a:latin typeface="Arial"/>
                <a:ea typeface="Hiragino Sans GB"/>
              </a:rPr>
              <a:t>Signed to Motown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67328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5A5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734056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544A"/>
                </a:solidFill>
                <a:latin typeface="Arial"/>
                <a:ea typeface="Hiragino Sans GB"/>
              </a:rPr>
              <a:t>1979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3026664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Off the Wall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43784" y="3282696"/>
            <a:ext cx="201168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192"/>
                </a:solidFill>
                <a:latin typeface="Arial"/>
                <a:ea typeface="Hiragino Sans GB"/>
              </a:rPr>
              <a:t>First adult solo album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12079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9975" y="2734056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C24A"/>
                </a:solidFill>
                <a:latin typeface="Arial"/>
                <a:ea typeface="Hiragino Sans GB"/>
              </a:rPr>
              <a:t>1982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9975" y="3026664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Thriller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8536" y="3282696"/>
            <a:ext cx="201168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192"/>
                </a:solidFill>
                <a:latin typeface="Arial"/>
                <a:ea typeface="Hiragino Sans GB"/>
              </a:rPr>
              <a:t>Best-selling album ever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56831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5A5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24727" y="2734056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544A"/>
                </a:solidFill>
                <a:latin typeface="Arial"/>
                <a:ea typeface="Hiragino Sans GB"/>
              </a:rPr>
              <a:t>1987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4727" y="3026664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Bad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33288" y="3282696"/>
            <a:ext cx="201168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192"/>
                </a:solidFill>
                <a:latin typeface="Arial"/>
                <a:ea typeface="Hiragino Sans GB"/>
              </a:rPr>
              <a:t>Five #1 singles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5A5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69479" y="2734056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544A"/>
                </a:solidFill>
                <a:latin typeface="Arial"/>
                <a:ea typeface="Hiragino Sans GB"/>
              </a:rPr>
              <a:t>2009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79" y="3026664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Died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3282696"/>
            <a:ext cx="201168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192"/>
                </a:solidFill>
                <a:latin typeface="Arial"/>
                <a:ea typeface="Hiragino Sans GB"/>
              </a:rPr>
              <a:t>Aged 50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050791"/>
            <a:ext cx="8010144" cy="498347"/>
          </a:xfrm>
          <a:prstGeom prst="roundRect">
            <a:avLst>
              <a:gd name="adj" fmla="val 8000"/>
            </a:avLst>
          </a:prstGeom>
          <a:solidFill>
            <a:srgbClr val="20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090659"/>
            <a:ext cx="64008" cy="41861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3986784"/>
            <a:ext cx="7607808" cy="438912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0C24A"/>
                </a:solidFill>
                <a:latin typeface="Arial"/>
                <a:ea typeface="Hiragino Sans GB"/>
              </a:rPr>
              <a:t>SPAN  </a:t>
            </a:r>
            <a:r>
              <a:rPr sz="1000" b="0" i="0">
                <a:solidFill>
                  <a:srgbClr val="DAD5C8"/>
                </a:solidFill>
                <a:latin typeface="Arial"/>
                <a:ea typeface="Hiragino Sans GB"/>
              </a:rPr>
              <a:t>From an 11-year-old prodigy to the artist who redefined pop, a legend spanning four decades.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Arial"/>
                <a:ea typeface="Hiragino Sans GB"/>
              </a:rPr>
              <a:t>The Prodigy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6654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0824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Born 1958 in Gary, Indiana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17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Fronted the Jackson 5 · signed to Motown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69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91256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First four singles, all reached #1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76472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A soaring boy-soprano, born to perform</a:t>
            </a:r>
          </a:p>
        </p:txBody>
      </p:sp>
      <p:pic>
        <p:nvPicPr>
          <p:cNvPr id="17" name="Picture 16" descr="A vintage microphone under a warm spotlight on a dark stage" title="A vintage microphone under a warm spotlight on a dark stage"/>
          <p:cNvPicPr>
            <a:picLocks noChangeAspect="1"/>
          </p:cNvPicPr>
          <p:nvPr/>
        </p:nvPicPr>
        <p:blipFill>
          <a:blip r:embed="rId3"/>
          <a:srcRect t="31309" b="31309"/>
          <a:stretch>
            <a:fillRect/>
          </a:stretch>
        </p:blipFill>
        <p:spPr>
          <a:xfrm>
            <a:off x="5559552" y="1929384"/>
            <a:ext cx="3017520" cy="2377440"/>
          </a:xfrm>
          <a:prstGeom prst="roundRect">
            <a:avLst>
              <a:gd name="adj" fmla="val 5384"/>
            </a:avLst>
          </a:prstGeom>
        </p:spPr>
      </p:pic>
      <p:sp>
        <p:nvSpPr>
          <p:cNvPr id="18" name="Round Same Side Corner Rectangle 17"/>
          <p:cNvSpPr/>
          <p:nvPr/>
        </p:nvSpPr>
        <p:spPr>
          <a:xfrm rot="10800000">
            <a:off x="5559552" y="3136391"/>
            <a:ext cx="3017520" cy="1170432"/>
          </a:xfrm>
          <a:prstGeom prst="round2SameRect">
            <a:avLst>
              <a:gd name="adj1" fmla="val 10937"/>
              <a:gd name="adj2" fmla="val 0"/>
            </a:avLst>
          </a:prstGeom>
          <a:gradFill>
            <a:gsLst>
              <a:gs pos="0">
                <a:srgbClr val="0A0A0F">
                  <a:alpha val="0"/>
                </a:srgbClr>
              </a:gs>
              <a:gs pos="50000">
                <a:srgbClr val="0A0A0F">
                  <a:alpha val="50000"/>
                </a:srgbClr>
              </a:gs>
              <a:gs pos="100000">
                <a:srgbClr val="0A0A0F">
                  <a:alpha val="9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9008" y="3310128"/>
            <a:ext cx="2578608" cy="384048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0C24A"/>
                </a:solidFill>
                <a:latin typeface="Arial Black"/>
                <a:ea typeface="Hiragino Sans GB"/>
              </a:rPr>
              <a:t>Age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9008" y="3877056"/>
            <a:ext cx="2578608" cy="292608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6F2E9"/>
                </a:solidFill>
                <a:latin typeface="Arial"/>
                <a:ea typeface="Hiragino Sans GB"/>
              </a:rPr>
              <a:t>Topping the U.S. charts at eleven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59552" y="1929384"/>
            <a:ext cx="3017520" cy="2377440"/>
          </a:xfrm>
          <a:prstGeom prst="roundRect">
            <a:avLst>
              <a:gd name="adj" fmla="val 5384"/>
            </a:avLst>
          </a:prstGeom>
          <a:noFill/>
          <a:ln w="12700">
            <a:solidFill>
              <a:srgbClr val="F6F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Arial"/>
                <a:ea typeface="Hiragino Sans GB"/>
              </a:rPr>
              <a:t>The Thriller Phenomenon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57984"/>
            <a:ext cx="365760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>
                <a:solidFill>
                  <a:srgbClr val="F0C24A"/>
                </a:solidFill>
                <a:latin typeface="Arial Black"/>
                <a:ea typeface="Hiragino Sans GB"/>
              </a:rPr>
              <a:t>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64992"/>
            <a:ext cx="3840480" cy="3657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6F2E9"/>
                </a:solidFill>
                <a:latin typeface="Arial"/>
                <a:ea typeface="Hiragino Sans GB"/>
              </a:rPr>
              <a:t>copies, best-selling album of all time</a:t>
            </a:r>
          </a:p>
        </p:txBody>
      </p:sp>
      <p:sp>
        <p:nvSpPr>
          <p:cNvPr id="11" name="Oval 10"/>
          <p:cNvSpPr/>
          <p:nvPr/>
        </p:nvSpPr>
        <p:spPr>
          <a:xfrm>
            <a:off x="4096969" y="1913382"/>
            <a:ext cx="4589373" cy="2592324"/>
          </a:xfrm>
          <a:prstGeom prst="ellipse">
            <a:avLst/>
          </a:prstGeom>
          <a:gradFill>
            <a:gsLst>
              <a:gs pos="0">
                <a:srgbClr val="E23B4E">
                  <a:alpha val="5500"/>
                </a:srgbClr>
              </a:gs>
              <a:gs pos="100000">
                <a:srgbClr val="E23B4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975104"/>
            <a:ext cx="4370832" cy="2468880"/>
          </a:xfrm>
          <a:prstGeom prst="roundRect">
            <a:avLst>
              <a:gd name="adj" fmla="val 5185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975104"/>
            <a:ext cx="4370832" cy="2468880"/>
          </a:xfrm>
          <a:prstGeom prst="roundRect">
            <a:avLst>
              <a:gd name="adj" fmla="val 5185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4206240" y="1975104"/>
            <a:ext cx="4370832" cy="530352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E23B4E">
                  <a:alpha val="95000"/>
                </a:srgbClr>
              </a:gs>
              <a:gs pos="100000">
                <a:srgbClr val="E23B4E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98848" y="25877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542032"/>
            <a:ext cx="356616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Released 1982 · produced by Quincy Jones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8" y="315468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108960"/>
            <a:ext cx="356616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7 singles, every one a top-10 hit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37216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3675888"/>
            <a:ext cx="356616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7 Grammys · Guinness best-seller ever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Arial"/>
                <a:ea typeface="Hiragino Sans GB"/>
              </a:rPr>
              <a:t>Videos That Changed the Game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504748" y="1912239"/>
            <a:ext cx="2611526" cy="2640330"/>
          </a:xfrm>
          <a:prstGeom prst="ellipse">
            <a:avLst/>
          </a:prstGeom>
          <a:gradFill>
            <a:gsLst>
              <a:gs pos="0">
                <a:srgbClr val="F0C24A">
                  <a:alpha val="5500"/>
                </a:srgbClr>
              </a:gs>
              <a:gs pos="100000">
                <a:srgbClr val="F0C24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975104"/>
            <a:ext cx="2487168" cy="2514600"/>
          </a:xfrm>
          <a:prstGeom prst="roundRect">
            <a:avLst>
              <a:gd name="adj" fmla="val 5147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2487168" cy="2514600"/>
          </a:xfrm>
          <a:prstGeom prst="roundRect">
            <a:avLst>
              <a:gd name="adj" fmla="val 5147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66928" y="1975104"/>
            <a:ext cx="2487168" cy="658368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F0C24A">
                  <a:alpha val="95000"/>
                </a:srgbClr>
              </a:gs>
              <a:gs pos="100000">
                <a:srgbClr val="F0C24A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011680"/>
            <a:ext cx="2048256" cy="5486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A0A0F"/>
                </a:solidFill>
                <a:latin typeface="Arial Black"/>
                <a:ea typeface="Hiragino Sans GB"/>
              </a:rPr>
              <a:t>14′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816352"/>
            <a:ext cx="2048256" cy="329184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6F2E9"/>
                </a:solidFill>
                <a:latin typeface="Arial"/>
                <a:ea typeface="Hiragino Sans GB"/>
              </a:rPr>
              <a:t>A cinematic short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255264"/>
            <a:ext cx="2048256" cy="10058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AD5C8"/>
                </a:solidFill>
                <a:latin typeface="Arial"/>
                <a:ea typeface="Hiragino Sans GB"/>
              </a:rPr>
              <a:t>The Thriller video turned the music video into a 14-minute mini-movie.</a:t>
            </a:r>
          </a:p>
        </p:txBody>
      </p:sp>
      <p:sp>
        <p:nvSpPr>
          <p:cNvPr id="16" name="Oval 15"/>
          <p:cNvSpPr/>
          <p:nvPr/>
        </p:nvSpPr>
        <p:spPr>
          <a:xfrm>
            <a:off x="3266236" y="1912239"/>
            <a:ext cx="2611526" cy="2640330"/>
          </a:xfrm>
          <a:prstGeom prst="ellipse">
            <a:avLst/>
          </a:prstGeom>
          <a:gradFill>
            <a:gsLst>
              <a:gs pos="0">
                <a:srgbClr val="E23B4E">
                  <a:alpha val="5500"/>
                </a:srgbClr>
              </a:gs>
              <a:gs pos="100000">
                <a:srgbClr val="E23B4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28416" y="1975104"/>
            <a:ext cx="2487168" cy="2514600"/>
          </a:xfrm>
          <a:prstGeom prst="roundRect">
            <a:avLst>
              <a:gd name="adj" fmla="val 5147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28416" y="1975104"/>
            <a:ext cx="2487168" cy="2514600"/>
          </a:xfrm>
          <a:prstGeom prst="roundRect">
            <a:avLst>
              <a:gd name="adj" fmla="val 5147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3328416" y="1975104"/>
            <a:ext cx="2487168" cy="658368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E23B4E">
                  <a:alpha val="95000"/>
                </a:srgbClr>
              </a:gs>
              <a:gs pos="100000">
                <a:srgbClr val="E23B4E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7872" y="2011680"/>
            <a:ext cx="2048256" cy="5486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A0A0F"/>
                </a:solidFill>
                <a:latin typeface="Arial Black"/>
                <a:ea typeface="Hiragino Sans GB"/>
              </a:rPr>
              <a:t>MTV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816352"/>
            <a:ext cx="2048256" cy="329184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6F2E9"/>
                </a:solidFill>
                <a:latin typeface="Arial"/>
                <a:ea typeface="Hiragino Sans GB"/>
              </a:rPr>
              <a:t>Broke MTV's color barrier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3255264"/>
            <a:ext cx="2048256" cy="10058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AD5C8"/>
                </a:solidFill>
                <a:latin typeface="Arial"/>
                <a:ea typeface="Hiragino Sans GB"/>
              </a:rPr>
              <a:t>One of the first Black artists in heavy MTV rotation, opening the door for others.</a:t>
            </a:r>
          </a:p>
        </p:txBody>
      </p:sp>
      <p:sp>
        <p:nvSpPr>
          <p:cNvPr id="23" name="Oval 22"/>
          <p:cNvSpPr/>
          <p:nvPr/>
        </p:nvSpPr>
        <p:spPr>
          <a:xfrm>
            <a:off x="6027724" y="1912239"/>
            <a:ext cx="2611526" cy="2640330"/>
          </a:xfrm>
          <a:prstGeom prst="ellipse">
            <a:avLst/>
          </a:prstGeom>
          <a:gradFill>
            <a:gsLst>
              <a:gs pos="0">
                <a:srgbClr val="5FC7D6">
                  <a:alpha val="5500"/>
                </a:srgbClr>
              </a:gs>
              <a:gs pos="100000">
                <a:srgbClr val="5FC7D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89904" y="1975104"/>
            <a:ext cx="2487168" cy="2514600"/>
          </a:xfrm>
          <a:prstGeom prst="roundRect">
            <a:avLst>
              <a:gd name="adj" fmla="val 5147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89904" y="1975104"/>
            <a:ext cx="2487168" cy="2514600"/>
          </a:xfrm>
          <a:prstGeom prst="roundRect">
            <a:avLst>
              <a:gd name="adj" fmla="val 5147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6089904" y="1975104"/>
            <a:ext cx="2487168" cy="658368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5FC7D6">
                  <a:alpha val="95000"/>
                </a:srgbClr>
              </a:gs>
              <a:gs pos="100000">
                <a:srgbClr val="5FC7D6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2011680"/>
            <a:ext cx="2048256" cy="5486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A0A0F"/>
                </a:solidFill>
                <a:latin typeface="Arial Black"/>
                <a:ea typeface="Hiragino Sans GB"/>
              </a:rPr>
              <a:t>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16352"/>
            <a:ext cx="2048256" cy="329184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6F2E9"/>
                </a:solidFill>
                <a:latin typeface="Arial"/>
                <a:ea typeface="Hiragino Sans GB"/>
              </a:rPr>
              <a:t>The video as an art 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255264"/>
            <a:ext cx="2048256" cy="10058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AD5C8"/>
                </a:solidFill>
                <a:latin typeface="Arial"/>
                <a:ea typeface="Hiragino Sans GB"/>
              </a:rPr>
              <a:t>From promo clip to art form, the video became inseparable from pop.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Arial"/>
                <a:ea typeface="Hiragino Sans GB"/>
              </a:rPr>
              <a:t>The Moonwalk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pic>
        <p:nvPicPr>
          <p:cNvPr id="9" name="Picture 8" descr="Silhouette of a dancer mid-pose under a golden spotlight" title="Silhouette of a dancer mid-pose under a golden spotlight"/>
          <p:cNvPicPr>
            <a:picLocks noChangeAspect="1"/>
          </p:cNvPicPr>
          <p:nvPr/>
        </p:nvPicPr>
        <p:blipFill>
          <a:blip r:embed="rId3"/>
          <a:srcRect t="31309" b="31309"/>
          <a:stretch>
            <a:fillRect/>
          </a:stretch>
        </p:blipFill>
        <p:spPr>
          <a:xfrm>
            <a:off x="566928" y="1929384"/>
            <a:ext cx="3017520" cy="2377440"/>
          </a:xfrm>
          <a:prstGeom prst="roundRect">
            <a:avLst>
              <a:gd name="adj" fmla="val 5384"/>
            </a:avLst>
          </a:prstGeom>
        </p:spPr>
      </p:pic>
      <p:sp>
        <p:nvSpPr>
          <p:cNvPr id="10" name="Round Same Side Corner Rectangle 9"/>
          <p:cNvSpPr/>
          <p:nvPr/>
        </p:nvSpPr>
        <p:spPr>
          <a:xfrm rot="10800000">
            <a:off x="566928" y="3136391"/>
            <a:ext cx="3017520" cy="1170432"/>
          </a:xfrm>
          <a:prstGeom prst="round2SameRect">
            <a:avLst>
              <a:gd name="adj1" fmla="val 10937"/>
              <a:gd name="adj2" fmla="val 0"/>
            </a:avLst>
          </a:prstGeom>
          <a:gradFill>
            <a:gsLst>
              <a:gs pos="0">
                <a:srgbClr val="0A0A0F">
                  <a:alpha val="0"/>
                </a:srgbClr>
              </a:gs>
              <a:gs pos="50000">
                <a:srgbClr val="0A0A0F">
                  <a:alpha val="50000"/>
                </a:srgbClr>
              </a:gs>
              <a:gs pos="100000">
                <a:srgbClr val="0A0A0F">
                  <a:alpha val="9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3428999"/>
            <a:ext cx="2578608" cy="5029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0C24A"/>
                </a:solidFill>
                <a:latin typeface="Arial Black"/>
                <a:ea typeface="Hiragino Sans GB"/>
              </a:rPr>
              <a:t>47M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886200"/>
            <a:ext cx="2578608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watched the moonwalk debut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929384"/>
            <a:ext cx="3017520" cy="2377440"/>
          </a:xfrm>
          <a:prstGeom prst="roundRect">
            <a:avLst>
              <a:gd name="adj" fmla="val 5384"/>
            </a:avLst>
          </a:prstGeom>
          <a:noFill/>
          <a:ln w="12700">
            <a:solidFill>
              <a:srgbClr val="F6F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50208" y="206654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2020824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1983 · Billie Jean at Motown 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50208" y="26517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2606040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Unveiled the moonwalk to the world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50208" y="32369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3191256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His signature moves were copied worldwide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50208" y="38221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3776472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Made dance the core language of pop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Arial"/>
                <a:ea typeface="Hiragino Sans GB"/>
              </a:rPr>
              <a:t>The Album Empire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1929384"/>
          <a:ext cx="54406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17920" y="1975104"/>
            <a:ext cx="235915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23B4E"/>
                </a:solidFill>
                <a:latin typeface="Arial"/>
                <a:ea typeface="Hiragino Sans GB"/>
              </a:rPr>
              <a:t>SO WHAT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86000"/>
            <a:ext cx="2359152" cy="8229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2E9"/>
                </a:solidFill>
                <a:latin typeface="Arial"/>
                <a:ea typeface="Hiragino Sans GB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877056"/>
            <a:ext cx="2359152" cy="329184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AD5C8"/>
                </a:solidFill>
                <a:latin typeface="Arial"/>
                <a:ea typeface="Hiragino Sans GB"/>
              </a:rPr>
              <a:t>Bad was the first album ever to spawn five #1 hits.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61104"/>
            <a:ext cx="5486400" cy="256032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A192"/>
                </a:solidFill>
                <a:latin typeface="Arial"/>
                <a:ea typeface="Hiragino Sans GB"/>
              </a:rPr>
              <a:t>Worldwide sales, public estimates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Arial"/>
                <a:ea typeface="Hiragino Sans GB"/>
              </a:rPr>
              <a:t>Wall of Honor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75104"/>
            <a:ext cx="1728216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6F2E9"/>
                </a:solidFill>
                <a:latin typeface="Arial"/>
                <a:ea typeface="Hiragino Sans GB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78608"/>
            <a:ext cx="1728216" cy="3657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192"/>
                </a:solidFill>
                <a:latin typeface="Arial"/>
                <a:ea typeface="Hiragino Sans GB"/>
              </a:rPr>
              <a:t>Grammy Awards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0904" y="1975104"/>
            <a:ext cx="1728216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6F2E9"/>
                </a:solidFill>
                <a:latin typeface="Arial"/>
                <a:ea typeface="Hiragino Sans GB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0904" y="2578608"/>
            <a:ext cx="1728216" cy="3657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192"/>
                </a:solidFill>
                <a:latin typeface="Arial"/>
                <a:ea typeface="Hiragino Sans GB"/>
              </a:rPr>
              <a:t>Won in one night, 1984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78024" y="2029968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975104"/>
            <a:ext cx="1728216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6F2E9"/>
                </a:solidFill>
                <a:latin typeface="Arial"/>
                <a:ea typeface="Hiragino Sans GB"/>
              </a:rPr>
              <a:t>2×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78608"/>
            <a:ext cx="1728216" cy="3657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192"/>
                </a:solidFill>
                <a:latin typeface="Arial"/>
                <a:ea typeface="Hiragino Sans GB"/>
              </a:rPr>
              <a:t>Rock &amp; Roll HoF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029968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1975104"/>
            <a:ext cx="1728216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6F2E9"/>
                </a:solidFill>
                <a:latin typeface="Arial"/>
                <a:ea typeface="Hiragino Sans GB"/>
              </a:rPr>
              <a:t>90M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8856" y="2578608"/>
            <a:ext cx="1728216" cy="3657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192"/>
                </a:solidFill>
                <a:latin typeface="Arial"/>
                <a:ea typeface="Hiragino Sans GB"/>
              </a:rPr>
              <a:t>RIAA-certified albums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65976" y="2029968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6674" y="3228975"/>
            <a:ext cx="8410651" cy="1104138"/>
          </a:xfrm>
          <a:prstGeom prst="ellipse">
            <a:avLst/>
          </a:prstGeom>
          <a:gradFill>
            <a:gsLst>
              <a:gs pos="0">
                <a:srgbClr val="F0C24A">
                  <a:alpha val="5500"/>
                </a:srgbClr>
              </a:gs>
              <a:gs pos="100000">
                <a:srgbClr val="F0C24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255264"/>
            <a:ext cx="8010144" cy="1051560"/>
          </a:xfrm>
          <a:prstGeom prst="roundRect">
            <a:avLst>
              <a:gd name="adj" fmla="val 12173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255264"/>
            <a:ext cx="8010144" cy="1051560"/>
          </a:xfrm>
          <a:prstGeom prst="roundRect">
            <a:avLst>
              <a:gd name="adj" fmla="val 12173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566928" y="3255264"/>
            <a:ext cx="8010144" cy="530352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F0C24A">
                  <a:alpha val="95000"/>
                </a:srgbClr>
              </a:gs>
              <a:gs pos="100000">
                <a:srgbClr val="F0C24A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364992"/>
            <a:ext cx="7406640" cy="438912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A0A0F"/>
                </a:solidFill>
                <a:latin typeface="Arial"/>
                <a:ea typeface="Hiragino Sans GB"/>
              </a:rPr>
              <a:t>A record 8 Grammys in one night (1984); inducted into the Rock &amp; Roll Hall of Fame in 1997 &amp; 2001.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Arial"/>
                <a:ea typeface="Hiragino Sans GB"/>
              </a:rPr>
              <a:t>More Than Music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462915" y="1869948"/>
            <a:ext cx="4368546" cy="2496312"/>
          </a:xfrm>
          <a:prstGeom prst="ellipse">
            <a:avLst/>
          </a:prstGeom>
          <a:gradFill>
            <a:gsLst>
              <a:gs pos="0">
                <a:srgbClr val="E23B4E">
                  <a:alpha val="5500"/>
                </a:srgbClr>
              </a:gs>
              <a:gs pos="100000">
                <a:srgbClr val="E23B4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929384"/>
            <a:ext cx="4160520" cy="2377440"/>
          </a:xfrm>
          <a:prstGeom prst="roundRect">
            <a:avLst>
              <a:gd name="adj" fmla="val 5384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929384"/>
            <a:ext cx="4160520" cy="2377440"/>
          </a:xfrm>
          <a:prstGeom prst="roundRect">
            <a:avLst>
              <a:gd name="adj" fmla="val 5384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66928" y="1929384"/>
            <a:ext cx="4160520" cy="530352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E23B4E">
                  <a:alpha val="95000"/>
                </a:srgbClr>
              </a:gs>
              <a:gs pos="100000">
                <a:srgbClr val="E23B4E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542032"/>
            <a:ext cx="365760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6F2E9"/>
                </a:solidFill>
                <a:latin typeface="Arial Black"/>
                <a:ea typeface="Hiragino Sans GB"/>
              </a:rPr>
              <a:t>"We Are the World"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017520"/>
            <a:ext cx="3657600" cy="292608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6072"/>
                </a:solidFill>
                <a:latin typeface="Courier New"/>
                <a:ea typeface="Hiragino Sans GB"/>
              </a:rPr>
              <a:t>1985 · USA for Africa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364992"/>
            <a:ext cx="3657600" cy="8229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AD5C8"/>
                </a:solidFill>
                <a:latin typeface="Arial"/>
                <a:ea typeface="Hiragino Sans GB"/>
              </a:rPr>
              <a:t>Co-written with Lionel Richie, it raised tens of millions for African famine relief, one of history's great charity singles.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3208" y="215798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9240" y="2112264"/>
            <a:ext cx="3227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Founded Heal the World (1992)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3208" y="28163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9240" y="2770632"/>
            <a:ext cx="3227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Guinness: most charities of any pop star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34747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3429000"/>
            <a:ext cx="3227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Tours &amp; royalties funded his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Arial"/>
                <a:ea typeface="Hiragino Sans GB"/>
              </a:rPr>
              <a:t>Light &amp; Shadow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65376"/>
            <a:ext cx="8010144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6F2E9"/>
                </a:solidFill>
                <a:latin typeface="Arial"/>
                <a:ea typeface="Hiragino Sans GB"/>
              </a:rPr>
              <a:t>The other side of stardom, controversy is as much a part of the story as the legend.</a:t>
            </a:r>
          </a:p>
        </p:txBody>
      </p:sp>
      <p:sp>
        <p:nvSpPr>
          <p:cNvPr id="10" name="Oval 9"/>
          <p:cNvSpPr/>
          <p:nvPr/>
        </p:nvSpPr>
        <p:spPr>
          <a:xfrm>
            <a:off x="471373" y="2291714"/>
            <a:ext cx="4013301" cy="2064257"/>
          </a:xfrm>
          <a:prstGeom prst="ellipse">
            <a:avLst/>
          </a:prstGeom>
          <a:gradFill>
            <a:gsLst>
              <a:gs pos="0">
                <a:srgbClr val="F0C24A">
                  <a:alpha val="5500"/>
                </a:srgbClr>
              </a:gs>
              <a:gs pos="100000">
                <a:srgbClr val="F0C24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340864"/>
            <a:ext cx="3822191" cy="1965960"/>
          </a:xfrm>
          <a:prstGeom prst="roundRect">
            <a:avLst>
              <a:gd name="adj" fmla="val 6511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2340864"/>
            <a:ext cx="3822191" cy="1965960"/>
          </a:xfrm>
          <a:prstGeom prst="roundRect">
            <a:avLst>
              <a:gd name="adj" fmla="val 6511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566928" y="2340864"/>
            <a:ext cx="3822191" cy="530352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F0C24A">
                  <a:alpha val="95000"/>
                </a:srgbClr>
              </a:gs>
              <a:gs pos="100000">
                <a:srgbClr val="F0C24A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2432304"/>
            <a:ext cx="3273551" cy="438912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0A0F"/>
                </a:solidFill>
                <a:latin typeface="Arial"/>
                <a:ea typeface="Hiragino Sans GB"/>
              </a:rPr>
              <a:t>Appearance &amp; Rumors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999232"/>
            <a:ext cx="3273551" cy="67665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r>
              <a:rPr sz="1019">
                <a:solidFill>
                  <a:srgbClr val="D9D4C7"/>
                </a:solidFill>
              </a:rPr>
              <a:t>Vitiligo and lupus changed his skin; tabloids turned medical change into spectacle.</a:t>
            </a:r>
          </a:p>
        </p:txBody>
      </p:sp>
      <p:sp>
        <p:nvSpPr>
          <p:cNvPr id="16" name="Oval 15"/>
          <p:cNvSpPr/>
          <p:nvPr/>
        </p:nvSpPr>
        <p:spPr>
          <a:xfrm>
            <a:off x="4659325" y="2291714"/>
            <a:ext cx="4013301" cy="2064257"/>
          </a:xfrm>
          <a:prstGeom prst="ellipse">
            <a:avLst/>
          </a:prstGeom>
          <a:gradFill>
            <a:gsLst>
              <a:gs pos="0">
                <a:srgbClr val="E23B4E">
                  <a:alpha val="5500"/>
                </a:srgbClr>
              </a:gs>
              <a:gs pos="100000">
                <a:srgbClr val="E23B4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0" y="2340864"/>
            <a:ext cx="3822191" cy="1965960"/>
          </a:xfrm>
          <a:prstGeom prst="roundRect">
            <a:avLst>
              <a:gd name="adj" fmla="val 6511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54880" y="2340864"/>
            <a:ext cx="3822191" cy="1965960"/>
          </a:xfrm>
          <a:prstGeom prst="roundRect">
            <a:avLst>
              <a:gd name="adj" fmla="val 6511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4754880" y="2340864"/>
            <a:ext cx="3822191" cy="530352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E23B4E">
                  <a:alpha val="95000"/>
                </a:srgbClr>
              </a:gs>
              <a:gs pos="100000">
                <a:srgbClr val="E23B4E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432304"/>
            <a:ext cx="3273551" cy="438912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0A0F"/>
                </a:solidFill>
                <a:latin typeface="Arial"/>
                <a:ea typeface="Hiragino Sans GB"/>
              </a:rPr>
              <a:t>Allegations &amp; Trial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273551" cy="67665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r>
              <a:rPr sz="1019">
                <a:solidFill>
                  <a:srgbClr val="D9D4C7"/>
                </a:solidFill>
              </a:rPr>
              <a:t>Allegations shadowed later life; he was acquitted of all charges in 2005.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Arial"/>
                <a:ea typeface="Hiragino Sans GB"/>
              </a:rPr>
              <a:t>The Final Curtain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pic>
        <p:nvPicPr>
          <p:cNvPr id="9" name="Picture 8" descr="An empty stage with a lone microphone under a fading spotlight" title="An empty stage with a lone microphone under a fading spotlight"/>
          <p:cNvPicPr>
            <a:picLocks noChangeAspect="1"/>
          </p:cNvPicPr>
          <p:nvPr/>
        </p:nvPicPr>
        <p:blipFill>
          <a:blip r:embed="rId3"/>
          <a:srcRect t="23737" b="23737"/>
          <a:stretch>
            <a:fillRect/>
          </a:stretch>
        </p:blipFill>
        <p:spPr>
          <a:xfrm>
            <a:off x="566928" y="1929384"/>
            <a:ext cx="3017520" cy="2377440"/>
          </a:xfrm>
          <a:prstGeom prst="roundRect">
            <a:avLst>
              <a:gd name="adj" fmla="val 5384"/>
            </a:avLst>
          </a:prstGeom>
        </p:spPr>
      </p:pic>
      <p:sp>
        <p:nvSpPr>
          <p:cNvPr id="10" name="Round Same Side Corner Rectangle 9"/>
          <p:cNvSpPr/>
          <p:nvPr/>
        </p:nvSpPr>
        <p:spPr>
          <a:xfrm rot="10800000">
            <a:off x="566928" y="3136391"/>
            <a:ext cx="3017520" cy="1170432"/>
          </a:xfrm>
          <a:prstGeom prst="round2SameRect">
            <a:avLst>
              <a:gd name="adj1" fmla="val 10937"/>
              <a:gd name="adj2" fmla="val 0"/>
            </a:avLst>
          </a:prstGeom>
          <a:gradFill>
            <a:gsLst>
              <a:gs pos="0">
                <a:srgbClr val="0A0A0F">
                  <a:alpha val="0"/>
                </a:srgbClr>
              </a:gs>
              <a:gs pos="50000">
                <a:srgbClr val="0A0A0F">
                  <a:alpha val="50000"/>
                </a:srgbClr>
              </a:gs>
              <a:gs pos="100000">
                <a:srgbClr val="0A0A0F">
                  <a:alpha val="9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3428999"/>
            <a:ext cx="2578608" cy="5029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0C24A"/>
                </a:solidFill>
                <a:latin typeface="Arial Black"/>
                <a:ea typeface="Hiragino Sans GB"/>
              </a:rPr>
              <a:t>2009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886200"/>
            <a:ext cx="2578608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June 25, died in Los Angeles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929384"/>
            <a:ext cx="3017520" cy="2377440"/>
          </a:xfrm>
          <a:prstGeom prst="roundRect">
            <a:avLst>
              <a:gd name="adj" fmla="val 5384"/>
            </a:avLst>
          </a:prstGeom>
          <a:noFill/>
          <a:ln w="12700">
            <a:solidFill>
              <a:srgbClr val="F6F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50208" y="215798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2112264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Rehearsing the This Is It comeback shows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50208" y="28163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2770632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News broke across the world instantly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50208" y="34747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3429000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A public memorial watched by hundreds of millions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Arial"/>
                <a:ea typeface="Hiragino Sans GB"/>
              </a:rPr>
              <a:t>An Enduring Legacy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6654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0824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Shaped every pop &amp; R&amp;B generation since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17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From Beyoncé to The Weeknd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69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91256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Thriller is still the best-seller ever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76472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Arial"/>
                <a:ea typeface="Hiragino Sans GB"/>
              </a:rPr>
              <a:t>"King of Pop", a permanent cultural landmark</a:t>
            </a:r>
          </a:p>
        </p:txBody>
      </p:sp>
      <p:pic>
        <p:nvPicPr>
          <p:cNvPr id="17" name="Picture 16" descr="A vast crowd holding up a sea of golden lights toward a bright stage" title="A vast crowd holding up a sea of golden lights toward a bright stage"/>
          <p:cNvPicPr>
            <a:picLocks noChangeAspect="1"/>
          </p:cNvPicPr>
          <p:nvPr/>
        </p:nvPicPr>
        <p:blipFill>
          <a:blip r:embed="rId3"/>
          <a:srcRect t="23737" b="23737"/>
          <a:stretch>
            <a:fillRect/>
          </a:stretch>
        </p:blipFill>
        <p:spPr>
          <a:xfrm>
            <a:off x="5559552" y="1929384"/>
            <a:ext cx="3017520" cy="2377440"/>
          </a:xfrm>
          <a:prstGeom prst="roundRect">
            <a:avLst>
              <a:gd name="adj" fmla="val 5384"/>
            </a:avLst>
          </a:prstGeom>
        </p:spPr>
      </p:pic>
      <p:sp>
        <p:nvSpPr>
          <p:cNvPr id="18" name="Round Same Side Corner Rectangle 17"/>
          <p:cNvSpPr/>
          <p:nvPr/>
        </p:nvSpPr>
        <p:spPr>
          <a:xfrm rot="10800000">
            <a:off x="5559552" y="3136391"/>
            <a:ext cx="3017520" cy="1170432"/>
          </a:xfrm>
          <a:prstGeom prst="round2SameRect">
            <a:avLst>
              <a:gd name="adj1" fmla="val 10937"/>
              <a:gd name="adj2" fmla="val 0"/>
            </a:avLst>
          </a:prstGeom>
          <a:gradFill>
            <a:gsLst>
              <a:gs pos="0">
                <a:srgbClr val="0A0A0F">
                  <a:alpha val="0"/>
                </a:srgbClr>
              </a:gs>
              <a:gs pos="50000">
                <a:srgbClr val="0A0A0F">
                  <a:alpha val="50000"/>
                </a:srgbClr>
              </a:gs>
              <a:gs pos="100000">
                <a:srgbClr val="0A0A0F">
                  <a:alpha val="9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9008" y="3428999"/>
            <a:ext cx="2578608" cy="5029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0C24A"/>
                </a:solidFill>
                <a:latin typeface="Arial Black"/>
                <a:ea typeface="Hiragino Sans GB"/>
              </a:rPr>
              <a:t>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9008" y="3886200"/>
            <a:ext cx="2578608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Forever the King of Pop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59552" y="1929384"/>
            <a:ext cx="3017520" cy="2377440"/>
          </a:xfrm>
          <a:prstGeom prst="roundRect">
            <a:avLst>
              <a:gd name="adj" fmla="val 5384"/>
            </a:avLst>
          </a:prstGeom>
          <a:noFill/>
          <a:ln w="12700">
            <a:solidFill>
              <a:srgbClr val="F6F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Fedora and sequined glove under a golden spotlight" title="Fedora and sequined glove under a golden spotlight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94000"/>
                </a:srgbClr>
              </a:gs>
              <a:gs pos="42000">
                <a:srgbClr val="0A0A0F">
                  <a:alpha val="55000"/>
                </a:srgbClr>
              </a:gs>
              <a:gs pos="62000">
                <a:srgbClr val="0A0A0F">
                  <a:alpha val="0"/>
                </a:srgbClr>
              </a:gs>
              <a:gs pos="100000">
                <a:srgbClr val="0A0A0F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THANK YOU, MJ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852160" cy="14630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6F2E9"/>
                </a:solidFill>
                <a:latin typeface="Arial"/>
                <a:ea typeface="Hiragino Sans GB"/>
              </a:rPr>
              <a:t>The music stops.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0C24A"/>
                </a:solidFill>
                <a:latin typeface="Arial"/>
                <a:ea typeface="Hiragino Sans GB"/>
              </a:rPr>
              <a:t>The legend never does.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" y="3200400"/>
            <a:ext cx="1188720" cy="54864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430268"/>
            <a:ext cx="4937760" cy="5486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A192"/>
                </a:solidFill>
                <a:latin typeface="Courier New"/>
                <a:ea typeface="Hiragino Sans GB"/>
              </a:rPr>
              <a:t>SOURCES · Guinness · RIAA · GRAMMY.com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A192"/>
                </a:solidFill>
                <a:latin typeface="Courier New"/>
                <a:ea typeface="Hiragino Sans GB"/>
              </a:rPr>
              <a:t>Wikipedia · Britannica · as of 2026-07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