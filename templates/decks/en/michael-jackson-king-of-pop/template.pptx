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52000">
                <a:srgbClr val="000000">
                  <a:alpha val="50000"/>
                </a:srgbClr>
              </a:gs>
              <a:gs pos="10000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91939"/>
            <a:ext cx="9144000" cy="1051560"/>
          </a:xfrm>
          <a:prstGeom prst="rect">
            <a:avLst/>
          </a:prstGeom>
          <a:gradFill>
            <a:gsLst>
              <a:gs pos="0">
                <a:srgbClr val="0E0D13">
                  <a:alpha val="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</a:rPr>
              <a:t>A  C A R E E R   R E T R O S P E C T I V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7863840" cy="1051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3EFE6"/>
                </a:solidFill>
                <a:latin typeface="Didot"/>
              </a:rPr>
              <a:t>Michael Jackson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15184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E8B23A"/>
                </a:solidFill>
                <a:latin typeface="Didot"/>
              </a:rPr>
              <a:t>The King of Pop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310128"/>
            <a:ext cx="1280160" cy="3657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</a:rPr>
              <a:t>From the Jackson 5 to global icon — a retrospective in fourteen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43984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1958  — 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58EA0"/>
                </a:solidFill>
                <a:latin typeface="Helvetica Neue"/>
              </a:rPr>
              <a:t>EXAMPLE DECK  ·  BUILT WITH SLIDE-MAKER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THE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One life, measured in firsts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61084"/>
            <a:ext cx="4343400" cy="2743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</a:rPr>
              <a:t>Born in Gary, Indiana in 1958, Michael Jackson went from the youngest voice of a Motown group to the most famous entertainer on earth. Across four decades he reset what a pop record, a music video, and a live stage could be — and became the template every global pop star since has been measured against.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561084"/>
            <a:ext cx="18288" cy="2880360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5336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</a:rPr>
              <a:t>400M+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838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records sold worldwide (estimated)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480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30982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U.S. #1 singles as a solo artist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3624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</a:rPr>
              <a:t>67M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40126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copies of Thriller — the best-seller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1969–1975 · THE JACKSON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Four singles, four times number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5364"/>
            <a:ext cx="786384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</a:rPr>
              <a:t>Signed to Motown in 1968, the five brothers from Gary made history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9923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</a:rPr>
              <a:t>N o .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331012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331012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</a:rPr>
              <a:t>I Want You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785615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1969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376732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63347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</a:rPr>
              <a:t>N o .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94436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06040" y="294436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307238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</a:rPr>
              <a:t>ABC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341985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1970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340156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26771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</a:rPr>
              <a:t>N o .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257860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57860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270662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</a:rPr>
              <a:t>The Love You 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305409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1970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303580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190195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</a:rPr>
              <a:t>N o .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221284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83096" y="221284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234086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</a:rPr>
              <a:t>I'll Be There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68833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1970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97680"/>
            <a:ext cx="78638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B23A"/>
                </a:solidFill>
                <a:latin typeface="Helvetica Neue"/>
              </a:rPr>
              <a:t>The first act to debut with four consecutive Billboard Hot 100 #1 singles.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1979 · OFF THE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The pivot from prodigy to auteur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Oval 6"/>
          <p:cNvSpPr/>
          <p:nvPr/>
        </p:nvSpPr>
        <p:spPr>
          <a:xfrm>
            <a:off x="987551" y="1588516"/>
            <a:ext cx="2688336" cy="268833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1634236"/>
            <a:ext cx="2596896" cy="2596896"/>
          </a:xfrm>
          <a:prstGeom prst="ellipse">
            <a:avLst/>
          </a:prstGeom>
          <a:noFill/>
          <a:ln w="279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4567" y="1745531"/>
            <a:ext cx="2374304" cy="2374304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5863" y="1856827"/>
            <a:ext cx="2151713" cy="2151713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67158" y="1968122"/>
            <a:ext cx="1929122" cy="1929122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8454" y="2079418"/>
            <a:ext cx="1706531" cy="1706531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89749" y="2190713"/>
            <a:ext cx="1483940" cy="1483940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1045" y="2302009"/>
            <a:ext cx="1261349" cy="1261349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42185" y="2543149"/>
            <a:ext cx="779068" cy="77906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3289" y="2874253"/>
            <a:ext cx="116860" cy="116860"/>
          </a:xfrm>
          <a:prstGeom prst="ellipse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88516"/>
            <a:ext cx="3977639" cy="13335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</a:rPr>
              <a:t>Reunited with producer Quincy Jones, his first grown-up solo album fused disco, funk and pop into something sleek and unmistakably his — the launchpad for everything that came 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79216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</a:rPr>
              <a:t>RELEASED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360928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</a:rPr>
              <a:t>1979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690112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818128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</a:rPr>
              <a:t>PRODUCER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99840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</a:rPr>
              <a:t>Quincy Jones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4129024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257040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</a:rPr>
              <a:t>GENRE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38752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</a:rPr>
              <a:t>Disco · funk · pop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567936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822960"/>
            <a:ext cx="5120640" cy="3566160"/>
          </a:xfrm>
          <a:prstGeom prst="ellipse">
            <a:avLst/>
          </a:prstGeom>
          <a:gradFill>
            <a:gsLst>
              <a:gs pos="0">
                <a:srgbClr val="E8B23A">
                  <a:alpha val="9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1982 · THRILLER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The best-selling album in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0228"/>
            <a:ext cx="30175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E8B23A"/>
                </a:solidFill>
                <a:latin typeface="Helvetica Neue"/>
              </a:rPr>
              <a:t>67M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0116"/>
            <a:ext cx="28803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3EFE6"/>
                </a:solidFill>
                <a:latin typeface="Helvetica Neue"/>
              </a:rPr>
              <a:t>copies sold worldwide (est.) — no album has ever sold more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703320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7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Grammys 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one night (1984)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8968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5458968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singles in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U.S. Top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14616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7214616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</a:rPr>
              <a:t>30×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first album certified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</a:rPr>
              <a:t>30× platinum (RIAA)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59936"/>
            <a:ext cx="7863840" cy="54864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059936"/>
            <a:ext cx="7461504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EFE6"/>
                </a:solidFill>
                <a:latin typeface="Helvetica Neue"/>
              </a:rPr>
              <a:t>A then-record eight Grammys in a single night (Feb 28, 1984) — and two Hot 100 chart-toppers in </a:t>
            </a:r>
            <a:r>
              <a:rPr sz="1200" b="1" i="1">
                <a:solidFill>
                  <a:srgbClr val="E8B23A"/>
                </a:solidFill>
                <a:latin typeface="Helvetica Neue"/>
              </a:rPr>
              <a:t>Billie Jean</a:t>
            </a:r>
            <a:r>
              <a:rPr sz="1200" b="0" i="0">
                <a:solidFill>
                  <a:srgbClr val="F3EFE6"/>
                </a:solidFill>
                <a:latin typeface="Helvetica Neue"/>
              </a:rPr>
              <a:t> and </a:t>
            </a:r>
            <a:r>
              <a:rPr sz="1200" b="1" i="1">
                <a:solidFill>
                  <a:srgbClr val="E8B23A"/>
                </a:solidFill>
                <a:latin typeface="Helvetica Neue"/>
              </a:rPr>
              <a:t>Beat It</a:t>
            </a:r>
            <a:r>
              <a:rPr sz="1200" b="0" i="0">
                <a:solidFill>
                  <a:srgbClr val="F3EFE6"/>
                </a:solidFill>
                <a:latin typeface="Helvetica Neue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l="13556" r="13556"/>
          <a:stretch>
            <a:fillRect/>
          </a:stretch>
        </p:blipFill>
        <p:spPr>
          <a:xfrm>
            <a:off x="5394960" y="0"/>
            <a:ext cx="3749039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gradFill>
            <a:gsLst>
              <a:gs pos="0">
                <a:srgbClr val="0E0D13">
                  <a:alpha val="100000"/>
                </a:srgbClr>
              </a:gs>
              <a:gs pos="34000">
                <a:srgbClr val="0E0D13">
                  <a:alpha val="16000"/>
                </a:srgbClr>
              </a:gs>
              <a:gs pos="62000">
                <a:srgbClr val="0E0D13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</a:rPr>
              <a:t>M A Y   1 6 ,   1 9 8 3   ·   M O T O W N   2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45720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F3EFE6"/>
                </a:solidFill>
                <a:latin typeface="Didot"/>
              </a:rPr>
              <a:t>The night the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0" i="1">
                <a:solidFill>
                  <a:srgbClr val="E8B23A"/>
                </a:solidFill>
                <a:latin typeface="Didot"/>
              </a:rPr>
              <a:t>moonwalk</a:t>
            </a:r>
            <a:r>
              <a:rPr sz="4000" b="0" i="0">
                <a:solidFill>
                  <a:srgbClr val="F3EFE6"/>
                </a:solidFill>
                <a:latin typeface="Didot"/>
              </a:rPr>
              <a:t>  landed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75887"/>
            <a:ext cx="45720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</a:rPr>
              <a:t>Performing “Billie Jean” on NBC's Motown 25 special, Jackson slid backward across the stage and debuted the move that would define him. Some 47 million viewers watched — and Thriller surged to new heights.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DECEMBER 1983 · THE SHORT FILM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He turned the music video into cinema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61084"/>
            <a:ext cx="3977639" cy="2194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</a:rPr>
              <a:t>Directed by John Landis as a 14-minute horror short, the “Thriller” video treated a pop single like a movie — a story, a budget, prosthetic makeup, and choreography built to be watched again and again. It made MTV essential viewing.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06804"/>
            <a:ext cx="3886200" cy="1783080"/>
          </a:xfrm>
          <a:prstGeom prst="roundRect">
            <a:avLst>
              <a:gd name="adj" fmla="val 3076"/>
            </a:avLst>
          </a:prstGeom>
          <a:solidFill>
            <a:srgbClr val="17141F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1888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1888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464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5040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5040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616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1616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768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344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920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920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4496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4496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92040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</a:rPr>
              <a:t>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3005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3005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</a:rPr>
              <a:t>HORROR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3972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3972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</a:rPr>
              <a:t>DANCE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04938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04938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</a:rPr>
              <a:t>14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</a:rPr>
              <a:t>14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136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</a:rPr>
              <a:t>John Landis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136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director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264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</a:rPr>
              <a:t>1st ever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264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</a:rPr>
              <a:t>music video in the U.S. National Film Registry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1979–2001 · THE SOLO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Six albums that moved the center of pop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3652"/>
            <a:ext cx="786384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</a:rPr>
              <a:t>Six studio albums across three decades — from disco-pop to new jack swing.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2555951"/>
            <a:ext cx="7754112" cy="2194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1979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Off the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breakthrough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3470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6542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1982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6542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Thriller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5102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best-seller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4292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7364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</a:rPr>
              <a:t>1987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7364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Bad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5924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five #1 singles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65115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8187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1991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8187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Dangerous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6747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new jack swing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5937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9009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1995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9009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7569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hits + new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9831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</a:rPr>
              <a:t>2001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</a:rPr>
              <a:t>Invincible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</a:rPr>
              <a:t>final studio album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40480"/>
            <a:ext cx="7863840" cy="566928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3840480"/>
            <a:ext cx="7461504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8B23A"/>
                </a:solidFill>
                <a:latin typeface="Helvetica Neue"/>
              </a:rPr>
              <a:t>Bad</a:t>
            </a:r>
            <a:r>
              <a:rPr sz="1200" b="0" i="0">
                <a:solidFill>
                  <a:srgbClr val="F3EFE6"/>
                </a:solidFill>
                <a:latin typeface="Helvetica Neue"/>
              </a:rPr>
              <a:t> (1987) became the first album in history to send five singles to No. 1 on the Billboard Hot 100.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JANUARY 31, 1993 · SUPER BOWL XXVII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He made the halftime show a main 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1940"/>
            <a:ext cx="7863840" cy="16459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1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53895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63623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4560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04288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5224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4952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7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85615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6552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66944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0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07608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38544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48272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79207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88935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9871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9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917700"/>
            <a:ext cx="4297680" cy="2103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</a:rPr>
              <a:t>Before Michael Jackson, viewers changed the channel at halftime. He filled the Rose Bowl, opened by standing motionless for nearly two minutes, and held the stadium — and the ratings — for the whole show.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11092"/>
            <a:ext cx="4297680" cy="566928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8B23A">
                  <a:alpha val="14000"/>
                </a:srgbClr>
              </a:gs>
              <a:gs pos="100000">
                <a:srgbClr val="E8B23A">
                  <a:alpha val="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11092"/>
            <a:ext cx="4114800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F3EFE6"/>
                </a:solidFill>
                <a:latin typeface="Helvetica Neue"/>
              </a:rPr>
              <a:t>The blueprint for every blockbuster halftime since.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1917700"/>
            <a:ext cx="18288" cy="2514600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1917700"/>
            <a:ext cx="31089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B23A"/>
                </a:solidFill>
                <a:latin typeface="Helvetica Neue"/>
              </a:rPr>
              <a:t>133.4M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905252"/>
            <a:ext cx="30175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EFE6"/>
                </a:solidFill>
                <a:latin typeface="Helvetica Neue"/>
              </a:rPr>
              <a:t>U.S. viewers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389884"/>
            <a:ext cx="3017520" cy="914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</a:rPr>
              <a:t>▲  the first time a Super Bowl's audience grew between halves, not shrank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Beyond the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02919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1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oad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56" y="2062540"/>
            <a:ext cx="368686" cy="3686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1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</a:rPr>
              <a:t>Breaking barriers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Among the first Black artists in heavy MTV rotation — his videos helped break the young channel's color barrier.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3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3300983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7015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uma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720" y="2062540"/>
            <a:ext cx="368686" cy="3686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57015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</a:rPr>
              <a:t>Humanitarian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Co-wrote “We Are the World” (1985) with Lionel Richie; the USA for Africa single raised tens of millions for famine relief.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7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099047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84" y="2062540"/>
            <a:ext cx="368686" cy="3686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55079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</a:rPr>
              <a:t>A global blueprint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</a:rPr>
              <a:t>The album era, the video era, the world tour — he fused them into the modern, boundary-crossing pop-star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The most-decorated pop career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509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509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</a:rPr>
              <a:t>1984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0680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</a:rPr>
              <a:t>Eight Grammy Awards for Thriller — a then-record single-night sweep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18287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4231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231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</a:rPr>
              <a:t>1993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2402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</a:rPr>
              <a:t>Grammy Legend Award, presented at the 35th Grammy Awards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80009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5953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953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</a:rPr>
              <a:t>1997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84124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</a:rPr>
              <a:t>Rock &amp; Roll Hall of Fame — inducted with the Jackson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41731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476751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76751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</a:rPr>
              <a:t>2001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58463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</a:rPr>
              <a:t>Rock &amp; Roll Hall of Fame — inducted as a solo artist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034535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093971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3971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</a:rPr>
              <a:t>Career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075683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B23A"/>
                </a:solidFill>
                <a:latin typeface="Helvetica Neue"/>
              </a:rPr>
              <a:t>13 solo Billboard Hot 100 #1 singles — 17 including the Jackson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E8A96"/>
                </a:solidFill>
                <a:latin typeface="Helvetica Neue"/>
              </a:rPr>
              <a:t>THE CONTESTED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A legacy that remains in dispute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8E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8E8A96"/>
                </a:solidFill>
                <a:latin typeface="Didot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6250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570228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</a:rPr>
              <a:t>1993–94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551940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</a:rPr>
              <a:t>Accused of child sexual abuse. Jackson settled a civil lawsuit in 1994; no criminal charges were filed at the time, and he denied any wrongdoing.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4114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56612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</a:rPr>
              <a:t>2005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338324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</a:rPr>
              <a:t>Tried on criminal charges in California (People v. Jackson) and acquitted on all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1978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142996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3124708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</a:rPr>
              <a:t>The documentary Leaving Neverland aired renewed allegations from two men; Jackson's estate disputed the film.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" y="1707388"/>
            <a:ext cx="21945" cy="1572768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9651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17141F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96512"/>
            <a:ext cx="7461504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BBC6"/>
                </a:solidFill>
                <a:latin typeface="Helvetica Neue"/>
              </a:rPr>
              <a:t>Michael Jackson denied every allegation. The questions remain unresolved — and inseparable from how his life and work are weighed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A96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</a:rPr>
              <a:t>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</a:rPr>
              <a:t>The template for the modern pop 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8244"/>
            <a:ext cx="4572000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</a:rPr>
              <a:t>Every arena-filling,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</a:rPr>
              <a:t>genre-crossing,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1">
                <a:solidFill>
                  <a:srgbClr val="E8B23A"/>
                </a:solidFill>
                <a:latin typeface="Didot"/>
              </a:rPr>
              <a:t>video-driven</a:t>
            </a:r>
            <a:r>
              <a:rPr sz="2700" b="0" i="0">
                <a:solidFill>
                  <a:srgbClr val="F3EFE6"/>
                </a:solidFill>
                <a:latin typeface="Didot"/>
              </a:rPr>
              <a:t> pop career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</a:rPr>
              <a:t>since runs on 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</a:rPr>
              <a:t>blueprint he built.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9963"/>
            <a:ext cx="1320393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9963"/>
            <a:ext cx="1320393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</a:rPr>
              <a:t>The album 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3353" y="4029963"/>
            <a:ext cx="1320393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3353" y="4029963"/>
            <a:ext cx="1320393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</a:rPr>
              <a:t>The video 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6627" y="4029963"/>
            <a:ext cx="1561795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6627" y="4029963"/>
            <a:ext cx="1561795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</a:rPr>
              <a:t>The global stage</a:t>
            </a:r>
          </a:p>
        </p:txBody>
      </p:sp>
      <p:sp>
        <p:nvSpPr>
          <p:cNvPr id="14" name="Oval 13"/>
          <p:cNvSpPr/>
          <p:nvPr/>
        </p:nvSpPr>
        <p:spPr>
          <a:xfrm>
            <a:off x="5870448" y="1350772"/>
            <a:ext cx="2432304" cy="2432304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16168" y="1396492"/>
            <a:ext cx="2340864" cy="2340864"/>
          </a:xfrm>
          <a:prstGeom prst="ellipse">
            <a:avLst/>
          </a:prstGeom>
          <a:noFill/>
          <a:ln w="279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16490" y="1496814"/>
            <a:ext cx="2140218" cy="2140218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16813" y="1597137"/>
            <a:ext cx="1939573" cy="1939573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136" y="1697460"/>
            <a:ext cx="1738927" cy="1738927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17458" y="1797782"/>
            <a:ext cx="1538282" cy="1538282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7781" y="1898105"/>
            <a:ext cx="1337636" cy="1337636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8104" y="1998428"/>
            <a:ext cx="1136991" cy="1136991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5470" y="2215794"/>
            <a:ext cx="702259" cy="702259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33930" y="2514254"/>
            <a:ext cx="105338" cy="105338"/>
          </a:xfrm>
          <a:prstGeom prst="ellipse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892804"/>
            <a:ext cx="29260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58EA0"/>
                </a:solidFill>
                <a:latin typeface="Helvetica Neue"/>
              </a:rPr>
              <a:t>Off the Wall to Invincible — still in rotation.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</a:rPr>
              <a:t>MICHAEL JACKSON</a:t>
            </a:r>
            <a:r>
              <a:rPr sz="850" b="0" i="0">
                <a:solidFill>
                  <a:srgbClr val="958EA0"/>
                </a:solidFill>
                <a:latin typeface="Helvetica Neue"/>
              </a:rPr>
              <a:t>   ·   THE KING OF POP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50000">
                <a:srgbClr val="000000">
                  <a:alpha val="62000"/>
                </a:srgbClr>
              </a:gs>
              <a:gs pos="100000">
                <a:srgbClr val="000000">
                  <a:alpha val="6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54780"/>
            <a:ext cx="9144000" cy="1188720"/>
          </a:xfrm>
          <a:prstGeom prst="rect">
            <a:avLst/>
          </a:prstGeom>
          <a:gradFill>
            <a:gsLst>
              <a:gs pos="0">
                <a:srgbClr val="0E0D13">
                  <a:alpha val="0"/>
                </a:srgbClr>
              </a:gs>
              <a:gs pos="100000">
                <a:srgbClr val="000000">
                  <a:alpha val="9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</a:rPr>
              <a:t>1 9 5 8   —   2 0 0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86384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3EFE6"/>
                </a:solidFill>
                <a:latin typeface="Didot"/>
              </a:rPr>
              <a:t>Long live the King of Pop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880360"/>
            <a:ext cx="1280160" cy="3657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BC5D2"/>
                </a:solidFill>
                <a:latin typeface="Helvetica Neue"/>
              </a:rPr>
              <a:t>A reusable visual system — swap the content, keep the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23A"/>
                </a:solidFill>
                <a:latin typeface="Helvetica Neue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58EA0"/>
                </a:solidFill>
                <a:latin typeface="Helvetica Neue"/>
              </a:rPr>
              <a:t>Billboard · Wikipedia · GRAMMY.com · RIAA · Rock &amp; Roll Hall of Fame · Britannica · Variety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58EA0"/>
                </a:solidFill>
                <a:latin typeface="Helvetica Neue"/>
              </a:rPr>
              <a:t>EXAMPLE DECK  ·  BUILT WITH SLIDE-MAKER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