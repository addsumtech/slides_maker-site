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2377440" y="0"/>
            <a:ext cx="4389120" cy="5074920"/>
          </a:xfrm>
          <a:prstGeom prst="triangle">
            <a:avLst/>
          </a:prstGeom>
          <a:gradFill>
            <a:gsLst>
              <a:gs pos="0">
                <a:srgbClr val="E8B23A">
                  <a:alpha val="17000"/>
                </a:srgbClr>
              </a:gs>
              <a:gs pos="100000">
                <a:srgbClr val="E8B23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1760" y="0"/>
            <a:ext cx="3840480" cy="2286000"/>
          </a:xfrm>
          <a:prstGeom prst="ellipse">
            <a:avLst/>
          </a:prstGeom>
          <a:gradFill>
            <a:gsLst>
              <a:gs pos="0">
                <a:srgbClr val="E8B23A">
                  <a:alpha val="15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20440" y="0"/>
            <a:ext cx="2103120" cy="1737360"/>
          </a:xfrm>
          <a:prstGeom prst="ellipse">
            <a:avLst/>
          </a:prstGeom>
          <a:gradFill>
            <a:gsLst>
              <a:gs pos="0">
                <a:srgbClr val="E8B23A">
                  <a:alpha val="44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19" y="91439"/>
            <a:ext cx="7680960" cy="4937760"/>
          </a:xfrm>
          <a:prstGeom prst="ellipse">
            <a:avLst/>
          </a:prstGeom>
          <a:gradFill>
            <a:gsLst>
              <a:gs pos="0">
                <a:srgbClr val="E8B23A">
                  <a:alpha val="1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19" y="3749039"/>
            <a:ext cx="5852160" cy="1371600"/>
          </a:xfrm>
          <a:prstGeom prst="ellipse">
            <a:avLst/>
          </a:prstGeom>
          <a:gradFill>
            <a:gsLst>
              <a:gs pos="0">
                <a:srgbClr val="E8B23A">
                  <a:alpha val="2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091939"/>
            <a:ext cx="9144000" cy="1051560"/>
          </a:xfrm>
          <a:prstGeom prst="rect">
            <a:avLst/>
          </a:prstGeom>
          <a:gradFill>
            <a:gsLst>
              <a:gs pos="0">
                <a:srgbClr val="0E0D13">
                  <a:alpha val="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3A"/>
                </a:solidFill>
                <a:latin typeface="Helvetica Neue"/>
              </a:rPr>
              <a:t>A  C A R E E R   R E T R O S P E C T I V 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17904"/>
            <a:ext cx="7863840" cy="10515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0" i="0">
                <a:solidFill>
                  <a:srgbClr val="F3EFE6"/>
                </a:solidFill>
                <a:latin typeface="Didot"/>
              </a:rPr>
              <a:t>Michael Jackson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15184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1">
                <a:solidFill>
                  <a:srgbClr val="E8B23A"/>
                </a:solidFill>
                <a:latin typeface="Didot"/>
              </a:rPr>
              <a:t>The King of Pop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310128"/>
            <a:ext cx="1280160" cy="3657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93008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</a:rPr>
              <a:t>From the Jackson 5 to global icon — a retrospective in fourteen slides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</a:rPr>
              <a:t>1958  —  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28032"/>
            <a:ext cx="78638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58EA0"/>
                </a:solidFill>
                <a:latin typeface="Helvetica Neue"/>
              </a:rPr>
              <a:t>EXAMPLE DECK  ·  BUILT WITH SLIDE-MAKER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THE 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One life, measured in firsts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61084"/>
            <a:ext cx="4343400" cy="2743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</a:rPr>
              <a:t>Born in Gary, Indiana in 1958, Michael Jackson went from the youngest voice of a Motown group to the most famous entertainer on earth. Across four decades he reset what a pop record, a music video, and a live stage could be — and became the template every global pop star since has been measured against.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0912" y="1561084"/>
            <a:ext cx="18288" cy="2880360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533652"/>
            <a:ext cx="3291840" cy="660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B23A"/>
                </a:solidFill>
                <a:latin typeface="Helvetica Neue"/>
              </a:rPr>
              <a:t>400M+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21807" y="2183892"/>
            <a:ext cx="3291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</a:rPr>
              <a:t>records sold worldwide (estimated)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48052"/>
            <a:ext cx="3291840" cy="660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B23A"/>
                </a:solidFill>
                <a:latin typeface="Helvetica Neue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3098292"/>
            <a:ext cx="3291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</a:rPr>
              <a:t>U.S. #1 singles as a solo artist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362452"/>
            <a:ext cx="3291840" cy="660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E8B23A"/>
                </a:solidFill>
                <a:latin typeface="Helvetica Neue"/>
              </a:rPr>
              <a:t>67M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7" y="4012692"/>
            <a:ext cx="3291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</a:rPr>
              <a:t>copies of Thriller — the best-seller ever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1969–1975 · THE JACKSON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Four singles, four times number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15364"/>
            <a:ext cx="78638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BC5D2"/>
                </a:solidFill>
                <a:latin typeface="Helvetica Neue"/>
              </a:rPr>
              <a:t>Signed to Motown in 1968, the five brothers from Gary made history fast.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9923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</a:rPr>
              <a:t>N o .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331012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7512" y="331012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43814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</a:rPr>
              <a:t>I Want You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785615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1969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59736" y="3767328"/>
            <a:ext cx="164592" cy="27432"/>
          </a:xfrm>
          <a:prstGeom prst="rect">
            <a:avLst/>
          </a:prstGeom>
          <a:solidFill>
            <a:srgbClr val="B9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263347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</a:rPr>
              <a:t>N o .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94436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06040" y="294436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9776" y="307238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</a:rPr>
              <a:t>ABC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3419856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1970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8264" y="3401568"/>
            <a:ext cx="164592" cy="27432"/>
          </a:xfrm>
          <a:prstGeom prst="rect">
            <a:avLst/>
          </a:prstGeom>
          <a:solidFill>
            <a:srgbClr val="B9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226771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</a:rPr>
              <a:t>N o .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57860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44568" y="257860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270662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</a:rPr>
              <a:t>The Love You Save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4" y="3054096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1970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36792" y="3035808"/>
            <a:ext cx="164592" cy="27432"/>
          </a:xfrm>
          <a:prstGeom prst="rect">
            <a:avLst/>
          </a:prstGeom>
          <a:solidFill>
            <a:srgbClr val="B9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3096" y="1901952"/>
            <a:ext cx="179222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</a:rPr>
              <a:t>N o .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83096" y="2212848"/>
            <a:ext cx="1792224" cy="841248"/>
          </a:xfrm>
          <a:prstGeom prst="roundRect">
            <a:avLst>
              <a:gd name="adj" fmla="val 978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83096" y="2212848"/>
            <a:ext cx="54864" cy="8412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2340864"/>
            <a:ext cx="1499616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EFE6"/>
                </a:solidFill>
                <a:latin typeface="Helvetica Neue"/>
              </a:rPr>
              <a:t>I'll Be There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2688336"/>
            <a:ext cx="1499616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1970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786384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B23A"/>
                </a:solidFill>
                <a:latin typeface="Helvetica Neue"/>
              </a:rPr>
              <a:t>The first act to debut with four consecutive Billboard Hot 100 #1 singles.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1979 · OFF THE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The pivot from prodigy to auteur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Oval 6"/>
          <p:cNvSpPr/>
          <p:nvPr/>
        </p:nvSpPr>
        <p:spPr>
          <a:xfrm>
            <a:off x="987551" y="1588516"/>
            <a:ext cx="2688336" cy="268833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1" y="1634236"/>
            <a:ext cx="2596896" cy="2596896"/>
          </a:xfrm>
          <a:prstGeom prst="ellipse">
            <a:avLst/>
          </a:prstGeom>
          <a:noFill/>
          <a:ln w="2794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4567" y="1745531"/>
            <a:ext cx="2374304" cy="2374304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55863" y="1856827"/>
            <a:ext cx="2151713" cy="2151713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67158" y="1968122"/>
            <a:ext cx="1929122" cy="1929122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78454" y="2079418"/>
            <a:ext cx="1706531" cy="1706531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89749" y="2190713"/>
            <a:ext cx="1483940" cy="1483940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01045" y="2302009"/>
            <a:ext cx="1261349" cy="1261349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42185" y="2543149"/>
            <a:ext cx="779068" cy="779068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3289" y="2874253"/>
            <a:ext cx="116860" cy="116860"/>
          </a:xfrm>
          <a:prstGeom prst="ellipse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588516"/>
            <a:ext cx="3977639" cy="13335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</a:rPr>
              <a:t>Reunited with producer Quincy Jones, his first grown-up solo album fused disco, funk and pop into something sleek and unmistakably his — the launchpad for everything that came after.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79216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  <a:latin typeface="Helvetica Neue"/>
              </a:rPr>
              <a:t>RELEASED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60928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EFE6"/>
                </a:solidFill>
                <a:latin typeface="Helvetica Neue"/>
              </a:rPr>
              <a:t>1979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3690112"/>
            <a:ext cx="397763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818128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  <a:latin typeface="Helvetica Neue"/>
              </a:rPr>
              <a:t>PRODUCER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799840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EFE6"/>
                </a:solidFill>
                <a:latin typeface="Helvetica Neue"/>
              </a:rPr>
              <a:t>Quincy Jones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4129024"/>
            <a:ext cx="397763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257040"/>
            <a:ext cx="15544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  <a:latin typeface="Helvetica Neue"/>
              </a:rPr>
              <a:t>GENRE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238752"/>
            <a:ext cx="2377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3EFE6"/>
                </a:solidFill>
                <a:latin typeface="Helvetica Neue"/>
              </a:rPr>
              <a:t>Disco · funk · pop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4567936"/>
            <a:ext cx="397763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822960"/>
            <a:ext cx="5120640" cy="3566160"/>
          </a:xfrm>
          <a:prstGeom prst="ellipse">
            <a:avLst/>
          </a:prstGeom>
          <a:gradFill>
            <a:gsLst>
              <a:gs pos="0">
                <a:srgbClr val="E8B23A">
                  <a:alpha val="9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1982 · THRILLER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The best-selling album in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70228"/>
            <a:ext cx="301752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0" b="1" i="0">
                <a:solidFill>
                  <a:srgbClr val="E8B23A"/>
                </a:solidFill>
                <a:latin typeface="Helvetica Neue"/>
              </a:rPr>
              <a:t>67M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0116"/>
            <a:ext cx="28803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3EFE6"/>
                </a:solidFill>
                <a:latin typeface="Helvetica Neue"/>
              </a:rPr>
              <a:t>copies sold worldwide (est.) — no album has ever sold more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570228"/>
            <a:ext cx="1536192" cy="1828800"/>
          </a:xfrm>
          <a:prstGeom prst="roundRect">
            <a:avLst>
              <a:gd name="adj" fmla="val 595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703320" y="1570228"/>
            <a:ext cx="153619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04487" y="1789684"/>
            <a:ext cx="1133856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8B23A"/>
                </a:solidFill>
                <a:latin typeface="Helvetica Neue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4487" y="2539492"/>
            <a:ext cx="1133856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</a:rPr>
              <a:t>Grammys in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</a:rPr>
              <a:t>one night (1984)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8968" y="1570228"/>
            <a:ext cx="1536192" cy="1828800"/>
          </a:xfrm>
          <a:prstGeom prst="roundRect">
            <a:avLst>
              <a:gd name="adj" fmla="val 595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5458968" y="1570228"/>
            <a:ext cx="153619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0136" y="1789684"/>
            <a:ext cx="1133856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8B23A"/>
                </a:solidFill>
                <a:latin typeface="Helvetica Neue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0136" y="2539492"/>
            <a:ext cx="1133856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</a:rPr>
              <a:t>singles in the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</a:rPr>
              <a:t>U.S. Top 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4616" y="1570228"/>
            <a:ext cx="1536192" cy="1828800"/>
          </a:xfrm>
          <a:prstGeom prst="roundRect">
            <a:avLst>
              <a:gd name="adj" fmla="val 5952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7214616" y="1570228"/>
            <a:ext cx="153619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15783" y="1789684"/>
            <a:ext cx="1133856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E8B23A"/>
                </a:solidFill>
                <a:latin typeface="Helvetica Neue"/>
              </a:rPr>
              <a:t>30×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2539492"/>
            <a:ext cx="1133856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</a:rPr>
              <a:t>first album certified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BC5D2"/>
                </a:solidFill>
                <a:latin typeface="Helvetica Neue"/>
              </a:rPr>
              <a:t>30× platinum (RIAA)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059936"/>
            <a:ext cx="7863840" cy="548640"/>
          </a:xfrm>
          <a:prstGeom prst="roundRect">
            <a:avLst>
              <a:gd name="adj" fmla="val 13333"/>
            </a:avLst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5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059936"/>
            <a:ext cx="7461504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EFE6"/>
                </a:solidFill>
                <a:latin typeface="Helvetica Neue"/>
              </a:rPr>
              <a:t>A then-record eight Grammys in a single night (Feb 28, 1984) — and two Hot 100 chart-toppers in </a:t>
            </a:r>
            <a:r>
              <a:rPr sz="1200" b="1" i="1">
                <a:solidFill>
                  <a:srgbClr val="E8B23A"/>
                </a:solidFill>
                <a:latin typeface="Helvetica Neue"/>
              </a:rPr>
              <a:t>Billie Jean</a:t>
            </a:r>
            <a:r>
              <a:rPr sz="1200" b="0" i="0">
                <a:solidFill>
                  <a:srgbClr val="F3EFE6"/>
                </a:solidFill>
                <a:latin typeface="Helvetica Neue"/>
              </a:rPr>
              <a:t> and </a:t>
            </a:r>
            <a:r>
              <a:rPr sz="1200" b="1" i="1">
                <a:solidFill>
                  <a:srgbClr val="E8B23A"/>
                </a:solidFill>
                <a:latin typeface="Helvetica Neue"/>
              </a:rPr>
              <a:t>Beat It</a:t>
            </a:r>
            <a:r>
              <a:rPr sz="1200" b="0" i="0">
                <a:solidFill>
                  <a:srgbClr val="F3EFE6"/>
                </a:solidFill>
                <a:latin typeface="Helvetica Neue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2377440" y="0"/>
            <a:ext cx="4389120" cy="5074920"/>
          </a:xfrm>
          <a:prstGeom prst="triangle">
            <a:avLst/>
          </a:prstGeom>
          <a:gradFill>
            <a:gsLst>
              <a:gs pos="0">
                <a:srgbClr val="E8B23A">
                  <a:alpha val="17000"/>
                </a:srgbClr>
              </a:gs>
              <a:gs pos="100000">
                <a:srgbClr val="E8B23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1760" y="0"/>
            <a:ext cx="3840480" cy="2286000"/>
          </a:xfrm>
          <a:prstGeom prst="ellipse">
            <a:avLst/>
          </a:prstGeom>
          <a:gradFill>
            <a:gsLst>
              <a:gs pos="0">
                <a:srgbClr val="E8B23A">
                  <a:alpha val="15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20440" y="0"/>
            <a:ext cx="2103120" cy="1737360"/>
          </a:xfrm>
          <a:prstGeom prst="ellipse">
            <a:avLst/>
          </a:prstGeom>
          <a:gradFill>
            <a:gsLst>
              <a:gs pos="0">
                <a:srgbClr val="E8B23A">
                  <a:alpha val="44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19" y="91439"/>
            <a:ext cx="7680960" cy="4937760"/>
          </a:xfrm>
          <a:prstGeom prst="ellipse">
            <a:avLst/>
          </a:prstGeom>
          <a:gradFill>
            <a:gsLst>
              <a:gs pos="0">
                <a:srgbClr val="E8B23A">
                  <a:alpha val="1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19" y="3749039"/>
            <a:ext cx="5852160" cy="1371600"/>
          </a:xfrm>
          <a:prstGeom prst="ellipse">
            <a:avLst/>
          </a:prstGeom>
          <a:gradFill>
            <a:gsLst>
              <a:gs pos="0">
                <a:srgbClr val="E8B23A">
                  <a:alpha val="2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23A"/>
                </a:solidFill>
                <a:latin typeface="Helvetica Neue"/>
              </a:rPr>
              <a:t>M A Y   1 6 ,   1 9 8 3   ·   M O T O W N   2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786384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0" i="0">
                <a:solidFill>
                  <a:srgbClr val="F3EFE6"/>
                </a:solidFill>
                <a:latin typeface="Didot"/>
              </a:rPr>
              <a:t>The night the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0" i="1">
                <a:solidFill>
                  <a:srgbClr val="E8B23A"/>
                </a:solidFill>
                <a:latin typeface="Didot"/>
              </a:rPr>
              <a:t>moonwalk</a:t>
            </a:r>
            <a:r>
              <a:rPr sz="4000" b="0" i="0">
                <a:solidFill>
                  <a:srgbClr val="F3EFE6"/>
                </a:solidFill>
                <a:latin typeface="Didot"/>
              </a:rPr>
              <a:t>  landed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977639"/>
            <a:ext cx="60350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</a:rPr>
              <a:t>Performing “Billie Jean” on NBC's Motown 25 special, Jackson slid backward across the stage and debuted the move that would define him. Some 47 million viewers watched — and Thriller surged to new heights.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DECEMBER 1983 · THE SHORT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He turned the music video into cinema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61084"/>
            <a:ext cx="3977639" cy="21945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BC5D2"/>
                </a:solidFill>
                <a:latin typeface="Helvetica Neue"/>
              </a:rPr>
              <a:t>Directed by John Landis as a 14-minute horror short, the “Thriller” video treated a pop single like a movie — a story, a budget, prosthetic makeup, and choreography built to be watched again and again. It made MTV essential viewing.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06804"/>
            <a:ext cx="3886200" cy="1783080"/>
          </a:xfrm>
          <a:prstGeom prst="roundRect">
            <a:avLst>
              <a:gd name="adj" fmla="val 3076"/>
            </a:avLst>
          </a:prstGeom>
          <a:solidFill>
            <a:srgbClr val="17141F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1888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1888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8464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8464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50407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50407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1616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1616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1927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4768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4768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79208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79208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44967" y="1689100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44967" y="3216148"/>
            <a:ext cx="146304" cy="91440"/>
          </a:xfrm>
          <a:prstGeom prst="roundRect">
            <a:avLst>
              <a:gd name="adj" fmla="val 30000"/>
            </a:avLst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92040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</a:rPr>
              <a:t>STORY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3005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3005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</a:rPr>
              <a:t>HORROR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33972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33972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</a:rPr>
              <a:t>DANCE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04938" y="1881124"/>
            <a:ext cx="724662" cy="1234440"/>
          </a:xfrm>
          <a:prstGeom prst="roundRect">
            <a:avLst>
              <a:gd name="adj" fmla="val 5047"/>
            </a:avLst>
          </a:prstGeom>
          <a:solidFill>
            <a:srgbClr val="0E0D13"/>
          </a:solidFill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04938" y="1881124"/>
            <a:ext cx="724662" cy="12344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23A"/>
                </a:solidFill>
                <a:latin typeface="Helvetica Neue"/>
              </a:rPr>
              <a:t>14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682492"/>
            <a:ext cx="24384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23A"/>
                </a:solidFill>
                <a:latin typeface="Helvetica Neue"/>
              </a:rPr>
              <a:t>14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011676"/>
            <a:ext cx="2438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runtime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61360" y="3682492"/>
            <a:ext cx="24384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23A"/>
                </a:solidFill>
                <a:latin typeface="Helvetica Neue"/>
              </a:rPr>
              <a:t>John Landis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1360" y="4011676"/>
            <a:ext cx="2438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director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2640" y="3682492"/>
            <a:ext cx="24384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8B23A"/>
                </a:solidFill>
                <a:latin typeface="Helvetica Neue"/>
              </a:rPr>
              <a:t>1st ever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82640" y="4011676"/>
            <a:ext cx="2438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58EA0"/>
                </a:solidFill>
                <a:latin typeface="Helvetica Neue"/>
              </a:rPr>
              <a:t>music video in the U.S. National Film Registry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1979–2001 · THE SOLO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Six albums that moved the center of pop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33652"/>
            <a:ext cx="78638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CBC5D2"/>
                </a:solidFill>
                <a:latin typeface="Helvetica Neue"/>
              </a:rPr>
              <a:t>Six studio albums across three decades — from disco-pop to new jack swing.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2555951"/>
            <a:ext cx="7754112" cy="2194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</a:rPr>
              <a:t>1979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</a:rPr>
              <a:t>Off the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</a:rPr>
              <a:t>breakthrough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470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6542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</a:rPr>
              <a:t>1982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6542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</a:rPr>
              <a:t>Thriller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5102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</a:rPr>
              <a:t>best-seller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14292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7364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3A"/>
                </a:solidFill>
                <a:latin typeface="Helvetica Neue"/>
              </a:rPr>
              <a:t>1987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7364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</a:rPr>
              <a:t>Bad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5924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</a:rPr>
              <a:t>five #1 singles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65115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8187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</a:rPr>
              <a:t>1991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8187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</a:rPr>
              <a:t>Dangerous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6747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</a:rPr>
              <a:t>new jack swing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5937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9009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</a:rPr>
              <a:t>1995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9009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</a:rPr>
              <a:t>HIStory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7569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</a:rPr>
              <a:t>hits + new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66760" y="24846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9831" y="2731516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58EA0"/>
                </a:solidFill>
                <a:latin typeface="Helvetica Neue"/>
              </a:rPr>
              <a:t>2001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9831" y="3024124"/>
            <a:ext cx="12984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Helvetica Neue"/>
              </a:rPr>
              <a:t>Invincible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6952" y="3280156"/>
            <a:ext cx="148132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58EA0"/>
                </a:solidFill>
                <a:latin typeface="Helvetica Neue"/>
              </a:rPr>
              <a:t>final studio album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7863840" cy="566928"/>
          </a:xfrm>
          <a:prstGeom prst="roundRect">
            <a:avLst>
              <a:gd name="adj" fmla="val 12903"/>
            </a:avLst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5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3840480"/>
            <a:ext cx="7461504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1">
                <a:solidFill>
                  <a:srgbClr val="E8B23A"/>
                </a:solidFill>
                <a:latin typeface="Helvetica Neue"/>
              </a:rPr>
              <a:t>Bad</a:t>
            </a:r>
            <a:r>
              <a:rPr sz="1200" b="0" i="0">
                <a:solidFill>
                  <a:srgbClr val="F3EFE6"/>
                </a:solidFill>
                <a:latin typeface="Helvetica Neue"/>
              </a:rPr>
              <a:t> (1987) became the first album in history to send five singles to No. 1 on the Billboard Hot 100.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JANUARY 31, 1993 · SUPER BOWL XXVII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He made the halftime show a main event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1940"/>
            <a:ext cx="7863840" cy="16459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1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53895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63623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4560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04288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5224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4952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75887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85615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16552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80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57216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66944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97880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07608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38544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48272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79207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88935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19871" y="1506220"/>
            <a:ext cx="310896" cy="310896"/>
          </a:xfrm>
          <a:prstGeom prst="ellipse">
            <a:avLst/>
          </a:prstGeom>
          <a:gradFill>
            <a:gsLst>
              <a:gs pos="0">
                <a:srgbClr val="E8B23A">
                  <a:alpha val="16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9599" y="1515364"/>
            <a:ext cx="91440" cy="91440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1917700"/>
            <a:ext cx="4297680" cy="2103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BC5D2"/>
                </a:solidFill>
                <a:latin typeface="Helvetica Neue"/>
              </a:rPr>
              <a:t>Before Michael Jackson, viewers changed the channel at halftime. He filled the Rose Bowl, opened by standing motionless for nearly two minutes, and held the stadium — and the ratings — for the whole show.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911092"/>
            <a:ext cx="4297680" cy="566928"/>
          </a:xfrm>
          <a:prstGeom prst="roundRect">
            <a:avLst>
              <a:gd name="adj" fmla="val 12903"/>
            </a:avLst>
          </a:prstGeom>
          <a:gradFill>
            <a:gsLst>
              <a:gs pos="0">
                <a:srgbClr val="E8B23A">
                  <a:alpha val="14000"/>
                </a:srgbClr>
              </a:gs>
              <a:gs pos="100000">
                <a:srgbClr val="E8B23A">
                  <a:alpha val="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3911092"/>
            <a:ext cx="411480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3EFE6"/>
                </a:solidFill>
                <a:latin typeface="Helvetica Neue"/>
              </a:rPr>
              <a:t>The blueprint for every blockbuster halftime since.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1917700"/>
            <a:ext cx="18288" cy="2514600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1917700"/>
            <a:ext cx="3108960" cy="10058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E8B23A"/>
                </a:solidFill>
                <a:latin typeface="Helvetica Neue"/>
              </a:rPr>
              <a:t>133.4M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2905252"/>
            <a:ext cx="30175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EFE6"/>
                </a:solidFill>
                <a:latin typeface="Helvetica Neue"/>
              </a:rPr>
              <a:t>U.S. viewers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3389884"/>
            <a:ext cx="3017520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</a:rPr>
              <a:t>▲  the first time a Super Bowl's audience grew between halves, not shrank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Beyond the charts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19" y="1588516"/>
            <a:ext cx="2542032" cy="2907792"/>
          </a:xfrm>
          <a:prstGeom prst="roundRect">
            <a:avLst>
              <a:gd name="adj" fmla="val 4316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02919" y="1588516"/>
            <a:ext cx="254203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1" y="1862836"/>
            <a:ext cx="768096" cy="76809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oad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56" y="2062540"/>
            <a:ext cx="368686" cy="3686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1" y="2777236"/>
            <a:ext cx="202996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FE6"/>
                </a:solidFill>
                <a:latin typeface="Didot"/>
              </a:rPr>
              <a:t>Breaking barriers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" y="3179572"/>
            <a:ext cx="2029967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</a:rPr>
              <a:t>Among the first Black artists in heavy MTV rotation — his videos helped break the young channel's color barrier.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0983" y="1588516"/>
            <a:ext cx="2542032" cy="2907792"/>
          </a:xfrm>
          <a:prstGeom prst="roundRect">
            <a:avLst>
              <a:gd name="adj" fmla="val 4316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300983" y="1588516"/>
            <a:ext cx="254203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57015" y="1862836"/>
            <a:ext cx="768096" cy="76809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uma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720" y="2062540"/>
            <a:ext cx="368686" cy="36868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57015" y="2777236"/>
            <a:ext cx="202996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FE6"/>
                </a:solidFill>
                <a:latin typeface="Didot"/>
              </a:rPr>
              <a:t>Humanitarian reach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5" y="3179572"/>
            <a:ext cx="2029967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</a:rPr>
              <a:t>Co-wrote “We Are the World” (1985) with Lionel Richie; the USA for Africa single raised tens of millions for famine relief.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99047" y="1588516"/>
            <a:ext cx="2542032" cy="2907792"/>
          </a:xfrm>
          <a:prstGeom prst="roundRect">
            <a:avLst>
              <a:gd name="adj" fmla="val 4316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099047" y="1588516"/>
            <a:ext cx="2542032" cy="45720"/>
          </a:xfrm>
          <a:prstGeom prst="round2SameRect">
            <a:avLst>
              <a:gd name="adj1" fmla="val 40000"/>
              <a:gd name="adj2" fmla="val 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79" y="1862836"/>
            <a:ext cx="768096" cy="768096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784" y="2062540"/>
            <a:ext cx="368686" cy="36868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55079" y="2777236"/>
            <a:ext cx="202996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EFE6"/>
                </a:solidFill>
                <a:latin typeface="Didot"/>
              </a:rPr>
              <a:t>A global blueprint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3179572"/>
            <a:ext cx="2029967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BC5D2"/>
                </a:solidFill>
                <a:latin typeface="Helvetica Neue"/>
              </a:rPr>
              <a:t>The album era, the video era, the world tour — he fused them into the modern, boundary-crossing pop-star model.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The most-decorated pop career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509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5092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</a:rPr>
              <a:t>1984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606804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</a:rPr>
              <a:t>Eight Grammy Awards for Thriller — a then-record single-night sweep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2182876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24231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2312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</a:rPr>
              <a:t>1993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224024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</a:rPr>
              <a:t>Grammy Legend Award, presented at the 35th Grammy Awards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2800096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859532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59532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</a:rPr>
              <a:t>1997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2841244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</a:rPr>
              <a:t>Rock &amp; Roll Hall of Fame — inducted with the Jackson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3417316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476751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76751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E0D13"/>
                </a:solidFill>
                <a:latin typeface="Helvetica Neue"/>
              </a:rPr>
              <a:t>2001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458463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3EFE6"/>
                </a:solidFill>
                <a:latin typeface="Helvetica Neue"/>
              </a:rPr>
              <a:t>Rock &amp; Roll Hall of Fame — inducted as a solo artist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4034535"/>
            <a:ext cx="6537959" cy="7315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093971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93971"/>
            <a:ext cx="1051560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</a:rPr>
              <a:t>Career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075683"/>
            <a:ext cx="6537959" cy="5760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8B23A"/>
                </a:solidFill>
                <a:latin typeface="Helvetica Neue"/>
              </a:rPr>
              <a:t>13 solo Billboard Hot 100 #1 singles — 17 including the Jackson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8E8A96"/>
                </a:solidFill>
                <a:latin typeface="Helvetica Neue"/>
              </a:rPr>
              <a:t>THE CONTESTED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A legacy that remains in dispute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8E8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8E8A96"/>
                </a:solidFill>
                <a:latin typeface="Didot"/>
              </a:rPr>
              <a:t>MJ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162509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FB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570228"/>
            <a:ext cx="1188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FBBC6"/>
                </a:solidFill>
                <a:latin typeface="Helvetica Neue"/>
              </a:rPr>
              <a:t>1993–94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1551940"/>
            <a:ext cx="60350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</a:rPr>
              <a:t>Accused of child sexual abuse. Jackson settled a civil lawsuit in 1994; no criminal charges were filed at the time, and he denied any wrongdoing.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41147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FB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356612"/>
            <a:ext cx="1188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FBBC6"/>
                </a:solidFill>
                <a:latin typeface="Helvetica Neue"/>
              </a:rPr>
              <a:t>2005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2338324"/>
            <a:ext cx="60350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</a:rPr>
              <a:t>Tried on criminal charges in California (People v. Jackson) and acquitted on all counts.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9786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FBB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3142996"/>
            <a:ext cx="1188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FBBC6"/>
                </a:solidFill>
                <a:latin typeface="Helvetica Neue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0008" y="3124708"/>
            <a:ext cx="6035040" cy="685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BC5D2"/>
                </a:solidFill>
                <a:latin typeface="Helvetica Neue"/>
              </a:rPr>
              <a:t>The documentary Leaving Neverland aired renewed allegations from two men; Jackson's estate disputed the film.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835" y="1707388"/>
            <a:ext cx="21945" cy="1572768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4096512"/>
            <a:ext cx="7863840" cy="566928"/>
          </a:xfrm>
          <a:prstGeom prst="roundRect">
            <a:avLst>
              <a:gd name="adj" fmla="val 12903"/>
            </a:avLst>
          </a:prstGeom>
          <a:solidFill>
            <a:srgbClr val="17141F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096512"/>
            <a:ext cx="7461504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FBBC6"/>
                </a:solidFill>
                <a:latin typeface="Helvetica Neue"/>
              </a:rPr>
              <a:t>Michael Jackson denied every allegation. The questions remain unresolved — and inseparable from how his life and work are weighed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A96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69494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B23A"/>
                </a:solidFill>
                <a:latin typeface="Helvetica Neue"/>
              </a:rPr>
              <a:t>LEGACY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6809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EFE6"/>
                </a:solidFill>
                <a:latin typeface="Didot"/>
              </a:rPr>
              <a:t>The template for the modern pop star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1044"/>
            <a:ext cx="1188720" cy="4114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402336"/>
            <a:ext cx="822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1">
                <a:solidFill>
                  <a:srgbClr val="E8B23A"/>
                </a:solidFill>
                <a:latin typeface="Didot"/>
              </a:rPr>
              <a:t>MJ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8244"/>
            <a:ext cx="4572000" cy="1828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</a:rPr>
              <a:t>Every arena-filling,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</a:rPr>
              <a:t>genre-crossing,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1">
                <a:solidFill>
                  <a:srgbClr val="E8B23A"/>
                </a:solidFill>
                <a:latin typeface="Didot"/>
              </a:rPr>
              <a:t>video-driven</a:t>
            </a:r>
            <a:r>
              <a:rPr sz="2700" b="0" i="0">
                <a:solidFill>
                  <a:srgbClr val="F3EFE6"/>
                </a:solidFill>
                <a:latin typeface="Didot"/>
              </a:rPr>
              <a:t> pop career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</a:rPr>
              <a:t>since runs on a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F3EFE6"/>
                </a:solidFill>
                <a:latin typeface="Didot"/>
              </a:rPr>
              <a:t>blueprint he built.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9963"/>
            <a:ext cx="1320393" cy="365760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9963"/>
            <a:ext cx="1320393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</a:rPr>
              <a:t>The album 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3353" y="4029963"/>
            <a:ext cx="1320393" cy="365760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3353" y="4029963"/>
            <a:ext cx="1320393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</a:rPr>
              <a:t>The video 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46627" y="4029963"/>
            <a:ext cx="1561795" cy="365760"/>
          </a:xfrm>
          <a:prstGeom prst="roundRect">
            <a:avLst>
              <a:gd name="adj" fmla="val 50000"/>
            </a:avLst>
          </a:prstGeom>
          <a:solidFill>
            <a:srgbClr val="1C1826"/>
          </a:solidFill>
          <a:ln w="12700">
            <a:solidFill>
              <a:srgbClr val="352E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6627" y="4029963"/>
            <a:ext cx="1561795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23A"/>
                </a:solidFill>
                <a:latin typeface="Helvetica Neue"/>
              </a:rPr>
              <a:t>The global stage</a:t>
            </a:r>
          </a:p>
        </p:txBody>
      </p:sp>
      <p:sp>
        <p:nvSpPr>
          <p:cNvPr id="14" name="Oval 13"/>
          <p:cNvSpPr/>
          <p:nvPr/>
        </p:nvSpPr>
        <p:spPr>
          <a:xfrm>
            <a:off x="5870448" y="1350772"/>
            <a:ext cx="2432304" cy="2432304"/>
          </a:xfrm>
          <a:prstGeom prst="ellipse">
            <a:avLst/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16168" y="1396492"/>
            <a:ext cx="2340864" cy="2340864"/>
          </a:xfrm>
          <a:prstGeom prst="ellipse">
            <a:avLst/>
          </a:prstGeom>
          <a:noFill/>
          <a:ln w="2794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16490" y="1496814"/>
            <a:ext cx="2140218" cy="2140218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116813" y="1597137"/>
            <a:ext cx="1939573" cy="1939573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136" y="1697460"/>
            <a:ext cx="1738927" cy="1738927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17458" y="1797782"/>
            <a:ext cx="1538282" cy="1538282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17781" y="1898105"/>
            <a:ext cx="1337636" cy="1337636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18104" y="1998428"/>
            <a:ext cx="1136991" cy="1136991"/>
          </a:xfrm>
          <a:prstGeom prst="ellipse">
            <a:avLst/>
          </a:prstGeom>
          <a:noFill/>
          <a:ln w="12700">
            <a:solidFill>
              <a:srgbClr val="B9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35470" y="2215794"/>
            <a:ext cx="702259" cy="702259"/>
          </a:xfrm>
          <a:prstGeom prst="ellipse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33930" y="2514254"/>
            <a:ext cx="105338" cy="105338"/>
          </a:xfrm>
          <a:prstGeom prst="ellipse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3892804"/>
            <a:ext cx="292608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958EA0"/>
                </a:solidFill>
                <a:latin typeface="Helvetica Neue"/>
              </a:rPr>
              <a:t>Off the Wall to Invincible — still in rotation.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18304"/>
            <a:ext cx="7863840" cy="9144"/>
          </a:xfrm>
          <a:prstGeom prst="rect">
            <a:avLst/>
          </a:prstGeom>
          <a:solidFill>
            <a:srgbClr val="35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73168"/>
            <a:ext cx="548640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8B23A"/>
                </a:solidFill>
                <a:latin typeface="Helvetica Neue"/>
              </a:rPr>
              <a:t>MICHAEL JACKSON</a:t>
            </a:r>
            <a:r>
              <a:rPr sz="850" b="0" i="0">
                <a:solidFill>
                  <a:srgbClr val="958EA0"/>
                </a:solidFill>
                <a:latin typeface="Helvetica Neue"/>
              </a:rPr>
              <a:t>   ·   THE KING OF POP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773168"/>
            <a:ext cx="14630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58EA0"/>
                </a:solidFill>
                <a:latin typeface="Helvetica Neue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E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2377440" y="0"/>
            <a:ext cx="4389120" cy="5074920"/>
          </a:xfrm>
          <a:prstGeom prst="triangle">
            <a:avLst/>
          </a:prstGeom>
          <a:gradFill>
            <a:gsLst>
              <a:gs pos="0">
                <a:srgbClr val="E8B23A">
                  <a:alpha val="17000"/>
                </a:srgbClr>
              </a:gs>
              <a:gs pos="100000">
                <a:srgbClr val="E8B23A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1760" y="0"/>
            <a:ext cx="3840480" cy="2286000"/>
          </a:xfrm>
          <a:prstGeom prst="ellipse">
            <a:avLst/>
          </a:prstGeom>
          <a:gradFill>
            <a:gsLst>
              <a:gs pos="0">
                <a:srgbClr val="E8B23A">
                  <a:alpha val="15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20440" y="0"/>
            <a:ext cx="2103120" cy="1737360"/>
          </a:xfrm>
          <a:prstGeom prst="ellipse">
            <a:avLst/>
          </a:prstGeom>
          <a:gradFill>
            <a:gsLst>
              <a:gs pos="0">
                <a:srgbClr val="E8B23A">
                  <a:alpha val="44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19" y="91439"/>
            <a:ext cx="7680960" cy="4937760"/>
          </a:xfrm>
          <a:prstGeom prst="ellipse">
            <a:avLst/>
          </a:prstGeom>
          <a:gradFill>
            <a:gsLst>
              <a:gs pos="0">
                <a:srgbClr val="E8B23A">
                  <a:alpha val="1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45919" y="3749039"/>
            <a:ext cx="5852160" cy="1371600"/>
          </a:xfrm>
          <a:prstGeom prst="ellipse">
            <a:avLst/>
          </a:prstGeom>
          <a:gradFill>
            <a:gsLst>
              <a:gs pos="0">
                <a:srgbClr val="E8B23A">
                  <a:alpha val="20000"/>
                </a:srgbClr>
              </a:gs>
              <a:gs pos="100000">
                <a:srgbClr val="E8B2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954780"/>
            <a:ext cx="9144000" cy="1188720"/>
          </a:xfrm>
          <a:prstGeom prst="rect">
            <a:avLst/>
          </a:prstGeom>
          <a:gradFill>
            <a:gsLst>
              <a:gs pos="0">
                <a:srgbClr val="0E0D13">
                  <a:alpha val="0"/>
                </a:srgbClr>
              </a:gs>
              <a:gs pos="100000">
                <a:srgbClr val="000000">
                  <a:alpha val="9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23A"/>
                </a:solidFill>
                <a:latin typeface="Helvetica Neue"/>
              </a:rPr>
              <a:t>1 9 5 8   —   2 0 0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7863840" cy="10058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3EFE6"/>
                </a:solidFill>
                <a:latin typeface="Didot"/>
              </a:rPr>
              <a:t>Long live the King of Pop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880360"/>
            <a:ext cx="1280160" cy="3657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CBC5D2"/>
                </a:solidFill>
                <a:latin typeface="Helvetica Neue"/>
              </a:rPr>
              <a:t>A reusable visual system — swap the content, keep the design.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78638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B23A"/>
                </a:solidFill>
                <a:latin typeface="Helvetica Neue"/>
              </a:rPr>
              <a:t>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58EA0"/>
                </a:solidFill>
                <a:latin typeface="Helvetica Neue"/>
              </a:rPr>
              <a:t>Billboard · Wikipedia · GRAMMY.com · RIAA · Rock &amp; Roll Hall of Fame · Britannica · Variety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28032"/>
            <a:ext cx="786384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58EA0"/>
                </a:solidFill>
                <a:latin typeface="Helvetica Neue"/>
              </a:rPr>
              <a:t>EXAMPLE DECK  ·  BUILT WITH SLIDE-MAKER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