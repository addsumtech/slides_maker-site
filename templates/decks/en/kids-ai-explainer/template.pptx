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1BB111C-DD1F-426D-8C3F-B7B0A5D13C7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Opening: Hi everyone! Today we're going to meet a new friend called AI. Don't worry about memorizing a definition yet — let's just play and figure it out together.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84B9276-D0E1-4968-BE19-74AE89AD09E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First, here are the five stops on today's trip: where AI hides, how it learns, what it can and can't do, how we work with it, and some safety tips. Let's set off with little AI!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DA17E83-0FEE-45F9-BFB2-8844D06B80A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Ask the class: since this morning, what have you used? A smart speaker, short videos, the camera, translation, games, maps — every one of these has AI inside. It's actually all around us.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22FEF2F-5BF8-4419-965E-55828C65E3B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what is AI, really? It's a kind of computer program. Unlike a calculator that only does fixed sums, it can look at lots of examples, find patterns on its own, and learn a skill. Remember the three steps: see examples, find patterns, learn a skill.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D0361C9-54B2-4F7B-B009-F5A792A7174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Here's a comparison: how did you learn what a 'cat' is when you were little? You saw lots and lots of cats and slowly remembered what a cat looks like. AI is the same — it looks at thousands of cat photos and learns to recognize cats on its own. Nobody told it cats have whiskers and tails!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318DB5F-318E-4ACA-90E9-5EE22DBEEF6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it 'practices': it takes a guess, someone tells it whether it's right, it fixes things, and tries again. Just like learning to ride a bike — the more you practice, the steadier you get. The more AI practices, the better it gets too.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EDF0133-BD98-4D1E-B38A-6D0F83686D7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has lots of superpowers: an amazing memory, lightning-fast calculation, never getting tired even after 10,000 repeats, and spotting patterns in a huge pile of things. At these, it's way better than we are.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7D88504-2FE2-49E7-ABA4-6E01313AB4F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But it has weak spots too: it makes mistakes, and it can say wrong things with total confidence — like 'dinosaurs live in Antarctica,' which sounds real but is made up. So we always have to think for ourselves about what it says.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E114E1A-55B7-4EFD-9211-13C393A8ED9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 we work with it? One, ask your question clearly. Two, check the answers yourself. Three, when you're unsure, ask your teachers and parents. Four, you're the boss — you make the final decision.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3BCAAC2-D8E3-4805-BEAB-2F261F355C5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matters most: you can use it to look things up, practice a language, and spark ideas; but don't tell it your real name, home address, or passwords; if you see something upsetting, tell a grown-up right away; and never make big decisions alone in secret.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27F84E6-22D0-464F-8902-745E9752D4A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Let's tie today together: AI lives all around us, learns from examples, is very capable but also makes mistakes, should be a good helper while you stay in charge, and you need to guard your own little secrets. You've got it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862681A-9468-465F-9400-72879D50287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last thought to leave you with: however smart the tool is, you're the one who decides. Stay curious, and go discover more amazing things!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D377B8C-9EDC-4603-B3EC-1167DEB78CD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9FFC6D-9676-4A5F-B38B-ECDE09989D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BF036BF-DEDD-4D2C-80E2-6D5FA01D5D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8DC322-6C04-411D-8D20-7B17101FB7B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E256339-4C8B-49C5-BBE0-22C0B3711E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ABD25A-656C-44E7-89B8-4EE9DE82B3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C05DDF-D07C-433A-AF4C-039389B3D9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2030C3-6689-43D8-9FAC-56AF358CC2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EF5ADA-83F0-4255-AC9C-53F225BE5B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EDF3E58-0426-4390-9243-6E8527F13E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02E13AD-3F08-4572-B799-DE8CF768FD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C0FB16-61BF-410F-9B19-7447C64892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.png"/><Relationship Id="rId7" Type="http://schemas.openxmlformats.org/officeDocument/2006/relationships/slideLayout" Target="../slideLayouts/slideLayout9.xml"/><Relationship Id="rId8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image" Target="../media/image14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5.png"/><Relationship Id="rId9" Type="http://schemas.openxmlformats.org/officeDocument/2006/relationships/image" Target="../media/image15.png"/><Relationship Id="rId10" Type="http://schemas.openxmlformats.org/officeDocument/2006/relationships/image" Target="../media/image15.png"/><Relationship Id="rId11" Type="http://schemas.openxmlformats.org/officeDocument/2006/relationships/image" Target="../media/image15.png"/><Relationship Id="rId12" Type="http://schemas.openxmlformats.org/officeDocument/2006/relationships/image" Target="../media/image15.png"/><Relationship Id="rId13" Type="http://schemas.openxmlformats.org/officeDocument/2006/relationships/image" Target="../media/image15.png"/><Relationship Id="rId14" Type="http://schemas.openxmlformats.org/officeDocument/2006/relationships/image" Target="../media/image15.png"/><Relationship Id="rId15" Type="http://schemas.openxmlformats.org/officeDocument/2006/relationships/slideLayout" Target="../slideLayouts/slideLayout9.xml"/><Relationship Id="rId1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5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image" Target="../media/image24.png"/><Relationship Id="rId6" Type="http://schemas.openxmlformats.org/officeDocument/2006/relationships/image" Target="../media/image24.png"/><Relationship Id="rId7" Type="http://schemas.openxmlformats.org/officeDocument/2006/relationships/image" Target="../media/image24.png"/><Relationship Id="rId8" Type="http://schemas.openxmlformats.org/officeDocument/2006/relationships/image" Target="../media/image24.png"/><Relationship Id="rId9" Type="http://schemas.openxmlformats.org/officeDocument/2006/relationships/slideLayout" Target="../slideLayouts/slideLayout9.xml"/><Relationship Id="rId10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gradFill rotWithShape="0">
            <a:gsLst>
              <a:gs pos="0">
                <a:srgbClr val="FFE1C4"/>
              </a:gs>
              <a:gs pos="100000">
                <a:srgbClr val="FFF3E4"/>
              </a:gs>
            </a:gsLst>
            <a:lin ang="54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Sun 2"/>
          <p:cNvSpPr/>
          <p:nvPr/>
        </p:nvSpPr>
        <p:spPr>
          <a:xfrm>
            <a:off x="594360" y="411480"/>
            <a:ext cx="914040" cy="914040"/>
          </a:xfrm>
          <a:prstGeom prst="sun">
            <a:avLst>
              <a:gd name="adj" fmla="val 25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Cloud 3"/>
          <p:cNvSpPr/>
          <p:nvPr/>
        </p:nvSpPr>
        <p:spPr>
          <a:xfrm>
            <a:off x="5669280" y="502920"/>
            <a:ext cx="1554120" cy="868320"/>
          </a:xfrm>
          <a:prstGeom prst="cloud">
            <a:avLst/>
          </a:prstGeom>
          <a:solidFill>
            <a:srgbClr val="FFFFFF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Cloud 4"/>
          <p:cNvSpPr/>
          <p:nvPr/>
        </p:nvSpPr>
        <p:spPr>
          <a:xfrm>
            <a:off x="7680960" y="1371600"/>
            <a:ext cx="1371240" cy="776880"/>
          </a:xfrm>
          <a:prstGeom prst="cloud">
            <a:avLst/>
          </a:prstGeom>
          <a:solidFill>
            <a:srgbClr val="FFFFFF">
              <a:alpha val="8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4-Point Star 5"/>
          <p:cNvSpPr/>
          <p:nvPr/>
        </p:nvSpPr>
        <p:spPr>
          <a:xfrm>
            <a:off x="2807280" y="338400"/>
            <a:ext cx="237240" cy="23724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5-Point Star 6"/>
          <p:cNvSpPr/>
          <p:nvPr/>
        </p:nvSpPr>
        <p:spPr>
          <a:xfrm>
            <a:off x="4069080" y="685800"/>
            <a:ext cx="273960" cy="27396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Heart 7"/>
          <p:cNvSpPr/>
          <p:nvPr/>
        </p:nvSpPr>
        <p:spPr>
          <a:xfrm>
            <a:off x="8275320" y="502920"/>
            <a:ext cx="273960" cy="273960"/>
          </a:xfrm>
          <a:prstGeom prst="heart">
            <a:avLst/>
          </a:prstGeom>
          <a:solidFill>
            <a:srgbClr val="3FC79A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Oval 8"/>
          <p:cNvSpPr/>
          <p:nvPr/>
        </p:nvSpPr>
        <p:spPr>
          <a:xfrm>
            <a:off x="2121480" y="1481400"/>
            <a:ext cx="145800" cy="145800"/>
          </a:xfrm>
          <a:prstGeom prst="ellipse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4-Point Star 9"/>
          <p:cNvSpPr/>
          <p:nvPr/>
        </p:nvSpPr>
        <p:spPr>
          <a:xfrm>
            <a:off x="5029200" y="2743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Rounded Rectangle 10"/>
          <p:cNvSpPr/>
          <p:nvPr/>
        </p:nvSpPr>
        <p:spPr>
          <a:xfrm>
            <a:off x="0" y="4526280"/>
            <a:ext cx="9143640" cy="617040"/>
          </a:xfrm>
          <a:prstGeom prst="roundRect">
            <a:avLst>
              <a:gd name="adj" fmla="val 14000"/>
            </a:avLst>
          </a:prstGeom>
          <a:solidFill>
            <a:srgbClr val="FDEB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Rounded Rectangle 11"/>
          <p:cNvSpPr/>
          <p:nvPr/>
        </p:nvSpPr>
        <p:spPr>
          <a:xfrm>
            <a:off x="6839280" y="1720440"/>
            <a:ext cx="128520" cy="6444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Oval 12"/>
          <p:cNvSpPr/>
          <p:nvPr/>
        </p:nvSpPr>
        <p:spPr>
          <a:xfrm>
            <a:off x="6710400" y="1483920"/>
            <a:ext cx="386280" cy="3862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4-Point Star 13"/>
          <p:cNvSpPr/>
          <p:nvPr/>
        </p:nvSpPr>
        <p:spPr>
          <a:xfrm>
            <a:off x="6796440" y="1569960"/>
            <a:ext cx="214560" cy="21456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ounded Rectangle 14"/>
          <p:cNvSpPr/>
          <p:nvPr/>
        </p:nvSpPr>
        <p:spPr>
          <a:xfrm>
            <a:off x="5679000" y="3009600"/>
            <a:ext cx="192960" cy="4723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Rounded Rectangle 15"/>
          <p:cNvSpPr/>
          <p:nvPr/>
        </p:nvSpPr>
        <p:spPr>
          <a:xfrm>
            <a:off x="7935120" y="3009600"/>
            <a:ext cx="192960" cy="4723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ounded Rectangle 16"/>
          <p:cNvSpPr/>
          <p:nvPr/>
        </p:nvSpPr>
        <p:spPr>
          <a:xfrm>
            <a:off x="5829480" y="2322000"/>
            <a:ext cx="2148480" cy="184752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ounded Rectangle 17"/>
          <p:cNvSpPr/>
          <p:nvPr/>
        </p:nvSpPr>
        <p:spPr>
          <a:xfrm>
            <a:off x="6087240" y="2716200"/>
            <a:ext cx="1632600" cy="114552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Oval 18"/>
          <p:cNvSpPr/>
          <p:nvPr/>
        </p:nvSpPr>
        <p:spPr>
          <a:xfrm>
            <a:off x="6399360" y="3052440"/>
            <a:ext cx="289800" cy="289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Oval 19"/>
          <p:cNvSpPr/>
          <p:nvPr/>
        </p:nvSpPr>
        <p:spPr>
          <a:xfrm>
            <a:off x="6480720" y="3151080"/>
            <a:ext cx="127440" cy="127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Oval 20"/>
          <p:cNvSpPr/>
          <p:nvPr/>
        </p:nvSpPr>
        <p:spPr>
          <a:xfrm>
            <a:off x="6465960" y="3119040"/>
            <a:ext cx="63360" cy="633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60" rIns="90000" bIns="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Oval 21"/>
          <p:cNvSpPr/>
          <p:nvPr/>
        </p:nvSpPr>
        <p:spPr>
          <a:xfrm>
            <a:off x="7117920" y="3052440"/>
            <a:ext cx="289800" cy="289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Oval 22"/>
          <p:cNvSpPr/>
          <p:nvPr/>
        </p:nvSpPr>
        <p:spPr>
          <a:xfrm>
            <a:off x="7199280" y="3151080"/>
            <a:ext cx="127440" cy="127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Oval 23"/>
          <p:cNvSpPr/>
          <p:nvPr/>
        </p:nvSpPr>
        <p:spPr>
          <a:xfrm>
            <a:off x="7184520" y="3119040"/>
            <a:ext cx="63360" cy="633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60" rIns="90000" bIns="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Oval 24"/>
          <p:cNvSpPr/>
          <p:nvPr/>
        </p:nvSpPr>
        <p:spPr>
          <a:xfrm>
            <a:off x="6368400" y="3354840"/>
            <a:ext cx="236160" cy="236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Oval 25"/>
          <p:cNvSpPr/>
          <p:nvPr/>
        </p:nvSpPr>
        <p:spPr>
          <a:xfrm>
            <a:off x="7202880" y="3354840"/>
            <a:ext cx="236160" cy="236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Arc 26"/>
          <p:cNvSpPr/>
          <p:nvPr/>
        </p:nvSpPr>
        <p:spPr>
          <a:xfrm>
            <a:off x="6581520" y="3202920"/>
            <a:ext cx="644400" cy="6444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95504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ounded Rectangle 27"/>
          <p:cNvSpPr/>
          <p:nvPr/>
        </p:nvSpPr>
        <p:spPr>
          <a:xfrm>
            <a:off x="6151680" y="4127040"/>
            <a:ext cx="1503720" cy="902160"/>
          </a:xfrm>
          <a:prstGeom prst="roundRect">
            <a:avLst>
              <a:gd name="adj" fmla="val 45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28"/>
          <p:cNvSpPr/>
          <p:nvPr/>
        </p:nvSpPr>
        <p:spPr>
          <a:xfrm rot="20400000">
            <a:off x="5807520" y="4169880"/>
            <a:ext cx="429480" cy="1929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Rounded Rectangle 29"/>
          <p:cNvSpPr/>
          <p:nvPr/>
        </p:nvSpPr>
        <p:spPr>
          <a:xfrm rot="2700000">
            <a:off x="7548120" y="3783240"/>
            <a:ext cx="429480" cy="1929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4-Point Star 30"/>
          <p:cNvSpPr/>
          <p:nvPr/>
        </p:nvSpPr>
        <p:spPr>
          <a:xfrm>
            <a:off x="5706000" y="2185560"/>
            <a:ext cx="200880" cy="20088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Rounded Rectangle 31"/>
          <p:cNvSpPr/>
          <p:nvPr/>
        </p:nvSpPr>
        <p:spPr>
          <a:xfrm>
            <a:off x="713160" y="1847160"/>
            <a:ext cx="2651400" cy="4568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32"/>
          <p:cNvSpPr/>
          <p:nvPr/>
        </p:nvSpPr>
        <p:spPr>
          <a:xfrm>
            <a:off x="713160" y="1847160"/>
            <a:ext cx="265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C0453B"/>
                </a:solidFill>
                <a:effectLst/>
                <a:uFillTx/>
                <a:latin typeface="Arial Rounded MT Bold"/>
                <a:ea typeface="Hiragino Sans GB"/>
              </a:rPr>
              <a:t>A First Class for Kids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33"/>
          <p:cNvSpPr/>
          <p:nvPr/>
        </p:nvSpPr>
        <p:spPr>
          <a:xfrm>
            <a:off x="640080" y="2395800"/>
            <a:ext cx="5668920" cy="11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62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What Is AI?</a:t>
            </a:r>
            <a:endParaRPr lang="en-US" sz="6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4"/>
          <p:cNvSpPr/>
          <p:nvPr/>
        </p:nvSpPr>
        <p:spPr>
          <a:xfrm>
            <a:off x="749880" y="361188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8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Meet the clever little helper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8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that lives all around 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5"/>
          <p:cNvSpPr/>
          <p:nvPr/>
        </p:nvSpPr>
        <p:spPr>
          <a:xfrm>
            <a:off x="567000" y="48279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slide-maker · sample template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ounded Rectangle 5"/>
          <p:cNvSpPr/>
          <p:nvPr/>
        </p:nvSpPr>
        <p:spPr>
          <a:xfrm>
            <a:off x="567000" y="457200"/>
            <a:ext cx="197460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1005840" y="457200"/>
            <a:ext cx="1974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Let's go!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Today's AI Adventure Map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585360" y="1627560"/>
            <a:ext cx="594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Follow little AI, one stop at a time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Oval 12"/>
          <p:cNvSpPr/>
          <p:nvPr/>
        </p:nvSpPr>
        <p:spPr>
          <a:xfrm>
            <a:off x="180612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Oval 13"/>
          <p:cNvSpPr/>
          <p:nvPr/>
        </p:nvSpPr>
        <p:spPr>
          <a:xfrm>
            <a:off x="201456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Oval 14"/>
          <p:cNvSpPr/>
          <p:nvPr/>
        </p:nvSpPr>
        <p:spPr>
          <a:xfrm>
            <a:off x="222300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Oval 15"/>
          <p:cNvSpPr/>
          <p:nvPr/>
        </p:nvSpPr>
        <p:spPr>
          <a:xfrm>
            <a:off x="243144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Oval 16"/>
          <p:cNvSpPr/>
          <p:nvPr/>
        </p:nvSpPr>
        <p:spPr>
          <a:xfrm>
            <a:off x="26398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Oval 17"/>
          <p:cNvSpPr/>
          <p:nvPr/>
        </p:nvSpPr>
        <p:spPr>
          <a:xfrm>
            <a:off x="284832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Oval 18"/>
          <p:cNvSpPr/>
          <p:nvPr/>
        </p:nvSpPr>
        <p:spPr>
          <a:xfrm>
            <a:off x="336060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Oval 19"/>
          <p:cNvSpPr/>
          <p:nvPr/>
        </p:nvSpPr>
        <p:spPr>
          <a:xfrm>
            <a:off x="357804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Oval 20"/>
          <p:cNvSpPr/>
          <p:nvPr/>
        </p:nvSpPr>
        <p:spPr>
          <a:xfrm>
            <a:off x="379584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Oval 21"/>
          <p:cNvSpPr/>
          <p:nvPr/>
        </p:nvSpPr>
        <p:spPr>
          <a:xfrm>
            <a:off x="401328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Oval 22"/>
          <p:cNvSpPr/>
          <p:nvPr/>
        </p:nvSpPr>
        <p:spPr>
          <a:xfrm>
            <a:off x="423108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Oval 23"/>
          <p:cNvSpPr/>
          <p:nvPr/>
        </p:nvSpPr>
        <p:spPr>
          <a:xfrm>
            <a:off x="444852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Oval 24"/>
          <p:cNvSpPr/>
          <p:nvPr/>
        </p:nvSpPr>
        <p:spPr>
          <a:xfrm>
            <a:off x="496080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Oval 25"/>
          <p:cNvSpPr/>
          <p:nvPr/>
        </p:nvSpPr>
        <p:spPr>
          <a:xfrm>
            <a:off x="517824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Oval 26"/>
          <p:cNvSpPr/>
          <p:nvPr/>
        </p:nvSpPr>
        <p:spPr>
          <a:xfrm>
            <a:off x="539604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Oval 27"/>
          <p:cNvSpPr/>
          <p:nvPr/>
        </p:nvSpPr>
        <p:spPr>
          <a:xfrm>
            <a:off x="561348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Oval 28"/>
          <p:cNvSpPr/>
          <p:nvPr/>
        </p:nvSpPr>
        <p:spPr>
          <a:xfrm>
            <a:off x="58312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Oval 29"/>
          <p:cNvSpPr/>
          <p:nvPr/>
        </p:nvSpPr>
        <p:spPr>
          <a:xfrm>
            <a:off x="604872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Oval 30"/>
          <p:cNvSpPr/>
          <p:nvPr/>
        </p:nvSpPr>
        <p:spPr>
          <a:xfrm>
            <a:off x="656100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Oval 31"/>
          <p:cNvSpPr/>
          <p:nvPr/>
        </p:nvSpPr>
        <p:spPr>
          <a:xfrm>
            <a:off x="67510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Oval 32"/>
          <p:cNvSpPr/>
          <p:nvPr/>
        </p:nvSpPr>
        <p:spPr>
          <a:xfrm>
            <a:off x="694116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Oval 33"/>
          <p:cNvSpPr/>
          <p:nvPr/>
        </p:nvSpPr>
        <p:spPr>
          <a:xfrm>
            <a:off x="713124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Oval 34"/>
          <p:cNvSpPr/>
          <p:nvPr/>
        </p:nvSpPr>
        <p:spPr>
          <a:xfrm>
            <a:off x="732168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Oval 35"/>
          <p:cNvSpPr/>
          <p:nvPr/>
        </p:nvSpPr>
        <p:spPr>
          <a:xfrm>
            <a:off x="751176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Oval 36"/>
          <p:cNvSpPr/>
          <p:nvPr/>
        </p:nvSpPr>
        <p:spPr>
          <a:xfrm>
            <a:off x="1179720" y="3191400"/>
            <a:ext cx="840960" cy="8409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8" name="Picture 37" descr="map-pin.png"/>
          <p:cNvPicPr/>
          <p:nvPr/>
        </p:nvPicPr>
        <p:blipFill>
          <a:blip r:embed="rId1"/>
          <a:stretch/>
        </p:blipFill>
        <p:spPr>
          <a:xfrm>
            <a:off x="139896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Oval 38"/>
          <p:cNvSpPr/>
          <p:nvPr/>
        </p:nvSpPr>
        <p:spPr>
          <a:xfrm>
            <a:off x="171000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39"/>
          <p:cNvSpPr/>
          <p:nvPr/>
        </p:nvSpPr>
        <p:spPr>
          <a:xfrm>
            <a:off x="171000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40"/>
          <p:cNvSpPr/>
          <p:nvPr/>
        </p:nvSpPr>
        <p:spPr>
          <a:xfrm>
            <a:off x="64008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All around us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Oval 41"/>
          <p:cNvSpPr/>
          <p:nvPr/>
        </p:nvSpPr>
        <p:spPr>
          <a:xfrm>
            <a:off x="2734200" y="2459880"/>
            <a:ext cx="840960" cy="8409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3" name="Picture 42" descr="lightbulb.png"/>
          <p:cNvPicPr/>
          <p:nvPr/>
        </p:nvPicPr>
        <p:blipFill>
          <a:blip r:embed="rId2"/>
          <a:stretch/>
        </p:blipFill>
        <p:spPr>
          <a:xfrm>
            <a:off x="2953440" y="267912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Oval 43"/>
          <p:cNvSpPr/>
          <p:nvPr/>
        </p:nvSpPr>
        <p:spPr>
          <a:xfrm>
            <a:off x="3264480" y="240480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44"/>
          <p:cNvSpPr/>
          <p:nvPr/>
        </p:nvSpPr>
        <p:spPr>
          <a:xfrm>
            <a:off x="3264480" y="2404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45"/>
          <p:cNvSpPr/>
          <p:nvPr/>
        </p:nvSpPr>
        <p:spPr>
          <a:xfrm>
            <a:off x="2194560" y="203904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How it learns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Oval 46"/>
          <p:cNvSpPr/>
          <p:nvPr/>
        </p:nvSpPr>
        <p:spPr>
          <a:xfrm>
            <a:off x="4334400" y="3191400"/>
            <a:ext cx="840960" cy="84096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47" descr="gauge.png"/>
          <p:cNvPicPr/>
          <p:nvPr/>
        </p:nvPicPr>
        <p:blipFill>
          <a:blip r:embed="rId3"/>
          <a:stretch/>
        </p:blipFill>
        <p:spPr>
          <a:xfrm>
            <a:off x="455364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Oval 48"/>
          <p:cNvSpPr/>
          <p:nvPr/>
        </p:nvSpPr>
        <p:spPr>
          <a:xfrm>
            <a:off x="486468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49"/>
          <p:cNvSpPr/>
          <p:nvPr/>
        </p:nvSpPr>
        <p:spPr>
          <a:xfrm>
            <a:off x="486468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FC79A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50"/>
          <p:cNvSpPr/>
          <p:nvPr/>
        </p:nvSpPr>
        <p:spPr>
          <a:xfrm>
            <a:off x="379476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What it can &amp; can't do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Oval 51"/>
          <p:cNvSpPr/>
          <p:nvPr/>
        </p:nvSpPr>
        <p:spPr>
          <a:xfrm>
            <a:off x="5934600" y="2459880"/>
            <a:ext cx="840960" cy="84096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3" name="Picture 52" descr="chat-text.png"/>
          <p:cNvPicPr/>
          <p:nvPr/>
        </p:nvPicPr>
        <p:blipFill>
          <a:blip r:embed="rId4"/>
          <a:stretch/>
        </p:blipFill>
        <p:spPr>
          <a:xfrm>
            <a:off x="6153840" y="267912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Oval 53"/>
          <p:cNvSpPr/>
          <p:nvPr/>
        </p:nvSpPr>
        <p:spPr>
          <a:xfrm>
            <a:off x="6464880" y="240480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Box 54"/>
          <p:cNvSpPr/>
          <p:nvPr/>
        </p:nvSpPr>
        <p:spPr>
          <a:xfrm>
            <a:off x="6464880" y="2404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9B7EDE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55"/>
          <p:cNvSpPr/>
          <p:nvPr/>
        </p:nvSpPr>
        <p:spPr>
          <a:xfrm>
            <a:off x="5394960" y="203904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Working with it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56"/>
          <p:cNvSpPr/>
          <p:nvPr/>
        </p:nvSpPr>
        <p:spPr>
          <a:xfrm>
            <a:off x="7397640" y="3191400"/>
            <a:ext cx="840960" cy="84096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8" name="Picture 57" descr="shield-check.png"/>
          <p:cNvPicPr/>
          <p:nvPr/>
        </p:nvPicPr>
        <p:blipFill>
          <a:blip r:embed="rId5"/>
          <a:stretch/>
        </p:blipFill>
        <p:spPr>
          <a:xfrm>
            <a:off x="761688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Oval 58"/>
          <p:cNvSpPr/>
          <p:nvPr/>
        </p:nvSpPr>
        <p:spPr>
          <a:xfrm>
            <a:off x="792792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59"/>
          <p:cNvSpPr/>
          <p:nvPr/>
        </p:nvSpPr>
        <p:spPr>
          <a:xfrm>
            <a:off x="792792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60"/>
          <p:cNvSpPr/>
          <p:nvPr/>
        </p:nvSpPr>
        <p:spPr>
          <a:xfrm>
            <a:off x="685800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Safety tips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61"/>
          <p:cNvSpPr/>
          <p:nvPr/>
        </p:nvSpPr>
        <p:spPr>
          <a:xfrm>
            <a:off x="689760" y="2568960"/>
            <a:ext cx="46800" cy="2354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Oval 62"/>
          <p:cNvSpPr/>
          <p:nvPr/>
        </p:nvSpPr>
        <p:spPr>
          <a:xfrm>
            <a:off x="642600" y="2482560"/>
            <a:ext cx="141120" cy="14112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4-Point Star 63"/>
          <p:cNvSpPr/>
          <p:nvPr/>
        </p:nvSpPr>
        <p:spPr>
          <a:xfrm>
            <a:off x="673920" y="2513880"/>
            <a:ext cx="78120" cy="7812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Rounded Rectangle 64"/>
          <p:cNvSpPr/>
          <p:nvPr/>
        </p:nvSpPr>
        <p:spPr>
          <a:xfrm>
            <a:off x="264960" y="3040920"/>
            <a:ext cx="70560" cy="172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ounded Rectangle 65"/>
          <p:cNvSpPr/>
          <p:nvPr/>
        </p:nvSpPr>
        <p:spPr>
          <a:xfrm>
            <a:off x="1090800" y="3040920"/>
            <a:ext cx="70560" cy="172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Rounded Rectangle 66"/>
          <p:cNvSpPr/>
          <p:nvPr/>
        </p:nvSpPr>
        <p:spPr>
          <a:xfrm>
            <a:off x="320040" y="2789280"/>
            <a:ext cx="785880" cy="67608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Rounded Rectangle 67"/>
          <p:cNvSpPr/>
          <p:nvPr/>
        </p:nvSpPr>
        <p:spPr>
          <a:xfrm>
            <a:off x="414360" y="2933280"/>
            <a:ext cx="597240" cy="41904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Oval 68"/>
          <p:cNvSpPr/>
          <p:nvPr/>
        </p:nvSpPr>
        <p:spPr>
          <a:xfrm>
            <a:off x="528840" y="3056400"/>
            <a:ext cx="105840" cy="1058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880" rIns="90000" bIns="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Oval 69"/>
          <p:cNvSpPr/>
          <p:nvPr/>
        </p:nvSpPr>
        <p:spPr>
          <a:xfrm>
            <a:off x="558360" y="3092400"/>
            <a:ext cx="46440" cy="46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Oval 70"/>
          <p:cNvSpPr/>
          <p:nvPr/>
        </p:nvSpPr>
        <p:spPr>
          <a:xfrm>
            <a:off x="552960" y="3080880"/>
            <a:ext cx="23040" cy="23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440" rIns="90000" bIns="-28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Oval 71"/>
          <p:cNvSpPr/>
          <p:nvPr/>
        </p:nvSpPr>
        <p:spPr>
          <a:xfrm>
            <a:off x="791640" y="3056400"/>
            <a:ext cx="105840" cy="1058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880" rIns="90000" bIns="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Oval 72"/>
          <p:cNvSpPr/>
          <p:nvPr/>
        </p:nvSpPr>
        <p:spPr>
          <a:xfrm>
            <a:off x="821520" y="3092400"/>
            <a:ext cx="46440" cy="46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Oval 73"/>
          <p:cNvSpPr/>
          <p:nvPr/>
        </p:nvSpPr>
        <p:spPr>
          <a:xfrm>
            <a:off x="816120" y="3080880"/>
            <a:ext cx="23040" cy="23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440" rIns="90000" bIns="-28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Oval 74"/>
          <p:cNvSpPr/>
          <p:nvPr/>
        </p:nvSpPr>
        <p:spPr>
          <a:xfrm>
            <a:off x="517320" y="3166920"/>
            <a:ext cx="86040" cy="86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840" rIns="90000" bIns="15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Oval 75"/>
          <p:cNvSpPr/>
          <p:nvPr/>
        </p:nvSpPr>
        <p:spPr>
          <a:xfrm>
            <a:off x="822600" y="3166920"/>
            <a:ext cx="86040" cy="86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840" rIns="90000" bIns="15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Arc 76"/>
          <p:cNvSpPr/>
          <p:nvPr/>
        </p:nvSpPr>
        <p:spPr>
          <a:xfrm>
            <a:off x="595440" y="3111480"/>
            <a:ext cx="235440" cy="23544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4950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Rounded Rectangle 5"/>
          <p:cNvSpPr/>
          <p:nvPr/>
        </p:nvSpPr>
        <p:spPr>
          <a:xfrm>
            <a:off x="567000" y="457200"/>
            <a:ext cx="329148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7"/>
          <p:cNvSpPr/>
          <p:nvPr/>
        </p:nvSpPr>
        <p:spPr>
          <a:xfrm>
            <a:off x="1005840" y="45720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① AI in Daily Life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hides in the things you use every day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Rounded Rectangle 11"/>
          <p:cNvSpPr/>
          <p:nvPr/>
        </p:nvSpPr>
        <p:spPr>
          <a:xfrm>
            <a:off x="8343360" y="499680"/>
            <a:ext cx="46440" cy="2329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Oval 12"/>
          <p:cNvSpPr/>
          <p:nvPr/>
        </p:nvSpPr>
        <p:spPr>
          <a:xfrm>
            <a:off x="8296920" y="414360"/>
            <a:ext cx="139680" cy="139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4-Point Star 13"/>
          <p:cNvSpPr/>
          <p:nvPr/>
        </p:nvSpPr>
        <p:spPr>
          <a:xfrm>
            <a:off x="8327880" y="445320"/>
            <a:ext cx="77400" cy="77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Rounded Rectangle 14"/>
          <p:cNvSpPr/>
          <p:nvPr/>
        </p:nvSpPr>
        <p:spPr>
          <a:xfrm>
            <a:off x="792360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ounded Rectangle 15"/>
          <p:cNvSpPr/>
          <p:nvPr/>
        </p:nvSpPr>
        <p:spPr>
          <a:xfrm>
            <a:off x="873972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Rounded Rectangle 16"/>
          <p:cNvSpPr/>
          <p:nvPr/>
        </p:nvSpPr>
        <p:spPr>
          <a:xfrm>
            <a:off x="7978320" y="717480"/>
            <a:ext cx="776880" cy="66816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Rounded Rectangle 17"/>
          <p:cNvSpPr/>
          <p:nvPr/>
        </p:nvSpPr>
        <p:spPr>
          <a:xfrm>
            <a:off x="8071560" y="860040"/>
            <a:ext cx="590400" cy="4140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Oval 18"/>
          <p:cNvSpPr/>
          <p:nvPr/>
        </p:nvSpPr>
        <p:spPr>
          <a:xfrm>
            <a:off x="818424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Oval 19"/>
          <p:cNvSpPr/>
          <p:nvPr/>
        </p:nvSpPr>
        <p:spPr>
          <a:xfrm>
            <a:off x="8213760" y="1017000"/>
            <a:ext cx="45720" cy="457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Oval 20"/>
          <p:cNvSpPr/>
          <p:nvPr/>
        </p:nvSpPr>
        <p:spPr>
          <a:xfrm>
            <a:off x="820836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Oval 21"/>
          <p:cNvSpPr/>
          <p:nvPr/>
        </p:nvSpPr>
        <p:spPr>
          <a:xfrm>
            <a:off x="844416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Oval 22"/>
          <p:cNvSpPr/>
          <p:nvPr/>
        </p:nvSpPr>
        <p:spPr>
          <a:xfrm>
            <a:off x="8473680" y="1017000"/>
            <a:ext cx="45720" cy="457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Oval 23"/>
          <p:cNvSpPr/>
          <p:nvPr/>
        </p:nvSpPr>
        <p:spPr>
          <a:xfrm>
            <a:off x="846828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24"/>
          <p:cNvSpPr/>
          <p:nvPr/>
        </p:nvSpPr>
        <p:spPr>
          <a:xfrm>
            <a:off x="817308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25"/>
          <p:cNvSpPr/>
          <p:nvPr/>
        </p:nvSpPr>
        <p:spPr>
          <a:xfrm>
            <a:off x="847512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Arc 26"/>
          <p:cNvSpPr/>
          <p:nvPr/>
        </p:nvSpPr>
        <p:spPr>
          <a:xfrm>
            <a:off x="8250120" y="1036080"/>
            <a:ext cx="232920" cy="23292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4544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ounded Rectangle 27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Rectangle 28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29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Notice?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Behind every one of these lives an AI — it's closer to you than you think.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ounded Rectangle 30"/>
          <p:cNvSpPr/>
          <p:nvPr/>
        </p:nvSpPr>
        <p:spPr>
          <a:xfrm>
            <a:off x="56700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31"/>
          <p:cNvSpPr/>
          <p:nvPr/>
        </p:nvSpPr>
        <p:spPr>
          <a:xfrm>
            <a:off x="768240" y="195912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9" name="Picture 32" descr="microphone.png"/>
          <p:cNvPicPr/>
          <p:nvPr/>
        </p:nvPicPr>
        <p:blipFill>
          <a:blip r:embed="rId1"/>
          <a:stretch/>
        </p:blipFill>
        <p:spPr>
          <a:xfrm>
            <a:off x="92916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Box 33"/>
          <p:cNvSpPr/>
          <p:nvPr/>
        </p:nvSpPr>
        <p:spPr>
          <a:xfrm>
            <a:off x="157284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Voice assistant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34"/>
          <p:cNvSpPr/>
          <p:nvPr/>
        </p:nvSpPr>
        <p:spPr>
          <a:xfrm>
            <a:off x="157284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You talk, it understands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ounded Rectangle 35"/>
          <p:cNvSpPr/>
          <p:nvPr/>
        </p:nvSpPr>
        <p:spPr>
          <a:xfrm>
            <a:off x="343800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36"/>
          <p:cNvSpPr/>
          <p:nvPr/>
        </p:nvSpPr>
        <p:spPr>
          <a:xfrm>
            <a:off x="3639240" y="195912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4" name="Picture 37" descr="play-circle.png"/>
          <p:cNvPicPr/>
          <p:nvPr/>
        </p:nvPicPr>
        <p:blipFill>
          <a:blip r:embed="rId2"/>
          <a:stretch/>
        </p:blipFill>
        <p:spPr>
          <a:xfrm>
            <a:off x="380016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Box 38"/>
          <p:cNvSpPr/>
          <p:nvPr/>
        </p:nvSpPr>
        <p:spPr>
          <a:xfrm>
            <a:off x="444384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Video picks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39"/>
          <p:cNvSpPr/>
          <p:nvPr/>
        </p:nvSpPr>
        <p:spPr>
          <a:xfrm>
            <a:off x="444384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Guesses what you'll love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40"/>
          <p:cNvSpPr/>
          <p:nvPr/>
        </p:nvSpPr>
        <p:spPr>
          <a:xfrm>
            <a:off x="630936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Oval 41"/>
          <p:cNvSpPr/>
          <p:nvPr/>
        </p:nvSpPr>
        <p:spPr>
          <a:xfrm>
            <a:off x="6510600" y="195912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Picture 42" descr="camera.png"/>
          <p:cNvPicPr/>
          <p:nvPr/>
        </p:nvPicPr>
        <p:blipFill>
          <a:blip r:embed="rId3"/>
          <a:stretch/>
        </p:blipFill>
        <p:spPr>
          <a:xfrm>
            <a:off x="667152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Box 43"/>
          <p:cNvSpPr/>
          <p:nvPr/>
        </p:nvSpPr>
        <p:spPr>
          <a:xfrm>
            <a:off x="731520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Photo &amp; filters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44"/>
          <p:cNvSpPr/>
          <p:nvPr/>
        </p:nvSpPr>
        <p:spPr>
          <a:xfrm>
            <a:off x="731520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Spots faces on its own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ounded Rectangle 45"/>
          <p:cNvSpPr/>
          <p:nvPr/>
        </p:nvSpPr>
        <p:spPr>
          <a:xfrm>
            <a:off x="56700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Oval 46"/>
          <p:cNvSpPr/>
          <p:nvPr/>
        </p:nvSpPr>
        <p:spPr>
          <a:xfrm>
            <a:off x="768240" y="306108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24" name="Picture 47" descr="translate.png"/>
          <p:cNvPicPr/>
          <p:nvPr/>
        </p:nvPicPr>
        <p:blipFill>
          <a:blip r:embed="rId4"/>
          <a:stretch/>
        </p:blipFill>
        <p:spPr>
          <a:xfrm>
            <a:off x="92916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TextBox 48"/>
          <p:cNvSpPr/>
          <p:nvPr/>
        </p:nvSpPr>
        <p:spPr>
          <a:xfrm>
            <a:off x="157284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Translation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49"/>
          <p:cNvSpPr/>
          <p:nvPr/>
        </p:nvSpPr>
        <p:spPr>
          <a:xfrm>
            <a:off x="157284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Any language, any time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ounded Rectangle 50"/>
          <p:cNvSpPr/>
          <p:nvPr/>
        </p:nvSpPr>
        <p:spPr>
          <a:xfrm>
            <a:off x="343800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51"/>
          <p:cNvSpPr/>
          <p:nvPr/>
        </p:nvSpPr>
        <p:spPr>
          <a:xfrm>
            <a:off x="3639240" y="306108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29" name="Picture 52" descr="game-controller.png"/>
          <p:cNvPicPr/>
          <p:nvPr/>
        </p:nvPicPr>
        <p:blipFill>
          <a:blip r:embed="rId5"/>
          <a:stretch/>
        </p:blipFill>
        <p:spPr>
          <a:xfrm>
            <a:off x="380016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TextBox 53"/>
          <p:cNvSpPr/>
          <p:nvPr/>
        </p:nvSpPr>
        <p:spPr>
          <a:xfrm>
            <a:off x="444384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Game buddy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54"/>
          <p:cNvSpPr/>
          <p:nvPr/>
        </p:nvSpPr>
        <p:spPr>
          <a:xfrm>
            <a:off x="444384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Plays along with you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ounded Rectangle 55"/>
          <p:cNvSpPr/>
          <p:nvPr/>
        </p:nvSpPr>
        <p:spPr>
          <a:xfrm>
            <a:off x="630936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Oval 56"/>
          <p:cNvSpPr/>
          <p:nvPr/>
        </p:nvSpPr>
        <p:spPr>
          <a:xfrm>
            <a:off x="6510600" y="306108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34" name="Picture 57" descr="map-pin.png"/>
          <p:cNvPicPr/>
          <p:nvPr/>
        </p:nvPicPr>
        <p:blipFill>
          <a:blip r:embed="rId6"/>
          <a:stretch/>
        </p:blipFill>
        <p:spPr>
          <a:xfrm>
            <a:off x="667152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TextBox 58"/>
          <p:cNvSpPr/>
          <p:nvPr/>
        </p:nvSpPr>
        <p:spPr>
          <a:xfrm>
            <a:off x="731520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Maps &amp; routes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59"/>
          <p:cNvSpPr/>
          <p:nvPr/>
        </p:nvSpPr>
        <p:spPr>
          <a:xfrm>
            <a:off x="731520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Finds you the quickest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Rounded Rectangle 5"/>
          <p:cNvSpPr/>
          <p:nvPr/>
        </p:nvSpPr>
        <p:spPr>
          <a:xfrm>
            <a:off x="567000" y="457200"/>
            <a:ext cx="387684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7"/>
          <p:cNvSpPr/>
          <p:nvPr/>
        </p:nvSpPr>
        <p:spPr>
          <a:xfrm>
            <a:off x="1005840" y="457200"/>
            <a:ext cx="387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So what is it, really?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is a helper that learns from examples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Rounded Rectangle 11"/>
          <p:cNvSpPr/>
          <p:nvPr/>
        </p:nvSpPr>
        <p:spPr>
          <a:xfrm>
            <a:off x="60336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Oval 12"/>
          <p:cNvSpPr/>
          <p:nvPr/>
        </p:nvSpPr>
        <p:spPr>
          <a:xfrm>
            <a:off x="1408320" y="2039040"/>
            <a:ext cx="822600" cy="8226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49" name="Picture 13" descr="images.png"/>
          <p:cNvPicPr/>
          <p:nvPr/>
        </p:nvPicPr>
        <p:blipFill>
          <a:blip r:embed="rId1"/>
          <a:stretch/>
        </p:blipFill>
        <p:spPr>
          <a:xfrm>
            <a:off x="158940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TextBox 14"/>
          <p:cNvSpPr/>
          <p:nvPr/>
        </p:nvSpPr>
        <p:spPr>
          <a:xfrm>
            <a:off x="69480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Sees lots of examples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5"/>
          <p:cNvSpPr/>
          <p:nvPr/>
        </p:nvSpPr>
        <p:spPr>
          <a:xfrm>
            <a:off x="71316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Thousands of pictures and words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ight Arrow 16"/>
          <p:cNvSpPr/>
          <p:nvPr/>
        </p:nvSpPr>
        <p:spPr>
          <a:xfrm>
            <a:off x="3191400" y="2597040"/>
            <a:ext cx="255600" cy="23724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6A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Rounded Rectangle 17"/>
          <p:cNvSpPr/>
          <p:nvPr/>
        </p:nvSpPr>
        <p:spPr>
          <a:xfrm>
            <a:off x="360288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Oval 18"/>
          <p:cNvSpPr/>
          <p:nvPr/>
        </p:nvSpPr>
        <p:spPr>
          <a:xfrm>
            <a:off x="4407480" y="2039040"/>
            <a:ext cx="822600" cy="8226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55" name="Picture 19" descr="magic-wand.png"/>
          <p:cNvPicPr/>
          <p:nvPr/>
        </p:nvPicPr>
        <p:blipFill>
          <a:blip r:embed="rId2"/>
          <a:stretch/>
        </p:blipFill>
        <p:spPr>
          <a:xfrm>
            <a:off x="458856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TextBox 20"/>
          <p:cNvSpPr/>
          <p:nvPr/>
        </p:nvSpPr>
        <p:spPr>
          <a:xfrm>
            <a:off x="369432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Finds patterns itself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21"/>
          <p:cNvSpPr/>
          <p:nvPr/>
        </p:nvSpPr>
        <p:spPr>
          <a:xfrm>
            <a:off x="371232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Nobody teaches it rule by rule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ight Arrow 22"/>
          <p:cNvSpPr/>
          <p:nvPr/>
        </p:nvSpPr>
        <p:spPr>
          <a:xfrm>
            <a:off x="6190560" y="2597040"/>
            <a:ext cx="255600" cy="23724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6A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Rounded Rectangle 23"/>
          <p:cNvSpPr/>
          <p:nvPr/>
        </p:nvSpPr>
        <p:spPr>
          <a:xfrm>
            <a:off x="660204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Oval 24"/>
          <p:cNvSpPr/>
          <p:nvPr/>
        </p:nvSpPr>
        <p:spPr>
          <a:xfrm>
            <a:off x="7406640" y="203904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61" name="Picture 25" descr="medal.png"/>
          <p:cNvPicPr/>
          <p:nvPr/>
        </p:nvPicPr>
        <p:blipFill>
          <a:blip r:embed="rId3"/>
          <a:stretch/>
        </p:blipFill>
        <p:spPr>
          <a:xfrm>
            <a:off x="758772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Box 26"/>
          <p:cNvSpPr/>
          <p:nvPr/>
        </p:nvSpPr>
        <p:spPr>
          <a:xfrm>
            <a:off x="669348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Learns a new skill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27"/>
          <p:cNvSpPr/>
          <p:nvPr/>
        </p:nvSpPr>
        <p:spPr>
          <a:xfrm>
            <a:off x="671184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Like spotting a cat in a photo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ounded Rectangle 28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Rectangle 29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30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So...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is more like a curious, well-read kid than a calculator that just memorizes formulas.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Rounded Rectangle 5"/>
          <p:cNvSpPr/>
          <p:nvPr/>
        </p:nvSpPr>
        <p:spPr>
          <a:xfrm>
            <a:off x="567000" y="457200"/>
            <a:ext cx="373032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7"/>
          <p:cNvSpPr/>
          <p:nvPr/>
        </p:nvSpPr>
        <p:spPr>
          <a:xfrm>
            <a:off x="1005840" y="457200"/>
            <a:ext cx="3730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② Here's a comparison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It learns from examples, like you with cats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Rounded Rectangle 11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Rectangle 12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13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The key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Nobody told it cats have whiskers and tails — it figured that out from lots of examples.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ounded Rectangle 14"/>
          <p:cNvSpPr/>
          <p:nvPr/>
        </p:nvSpPr>
        <p:spPr>
          <a:xfrm>
            <a:off x="365760" y="1874520"/>
            <a:ext cx="4023000" cy="1947240"/>
          </a:xfrm>
          <a:prstGeom prst="roundRect">
            <a:avLst>
              <a:gd name="adj" fmla="val 16000"/>
            </a:avLst>
          </a:prstGeom>
          <a:solidFill>
            <a:srgbClr val="EFEA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Rounded Rectangle 15"/>
          <p:cNvSpPr/>
          <p:nvPr/>
        </p:nvSpPr>
        <p:spPr>
          <a:xfrm>
            <a:off x="548640" y="2039040"/>
            <a:ext cx="3657240" cy="383760"/>
          </a:xfrm>
          <a:prstGeom prst="roundRect">
            <a:avLst>
              <a:gd name="adj" fmla="val 50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16"/>
          <p:cNvSpPr/>
          <p:nvPr/>
        </p:nvSpPr>
        <p:spPr>
          <a:xfrm>
            <a:off x="548640" y="203904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How did YOU learn “cat”?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Oval 17"/>
          <p:cNvSpPr/>
          <p:nvPr/>
        </p:nvSpPr>
        <p:spPr>
          <a:xfrm>
            <a:off x="704160" y="2487240"/>
            <a:ext cx="456840" cy="45684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4" name="Picture 18" descr="cat.png"/>
          <p:cNvPicPr/>
          <p:nvPr/>
        </p:nvPicPr>
        <p:blipFill>
          <a:blip r:embed="rId1"/>
          <a:stretch/>
        </p:blipFill>
        <p:spPr>
          <a:xfrm>
            <a:off x="80460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Oval 19"/>
          <p:cNvSpPr/>
          <p:nvPr/>
        </p:nvSpPr>
        <p:spPr>
          <a:xfrm>
            <a:off x="1435680" y="2487240"/>
            <a:ext cx="456840" cy="45684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6" name="Picture 20" descr="cat.png"/>
          <p:cNvPicPr/>
          <p:nvPr/>
        </p:nvPicPr>
        <p:blipFill>
          <a:blip r:embed="rId2"/>
          <a:stretch/>
        </p:blipFill>
        <p:spPr>
          <a:xfrm>
            <a:off x="153612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Oval 21"/>
          <p:cNvSpPr/>
          <p:nvPr/>
        </p:nvSpPr>
        <p:spPr>
          <a:xfrm>
            <a:off x="2167200" y="2487240"/>
            <a:ext cx="456840" cy="45684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8" name="Picture 22" descr="cat.png"/>
          <p:cNvPicPr/>
          <p:nvPr/>
        </p:nvPicPr>
        <p:blipFill>
          <a:blip r:embed="rId3"/>
          <a:stretch/>
        </p:blipFill>
        <p:spPr>
          <a:xfrm>
            <a:off x="226764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Oval 23"/>
          <p:cNvSpPr/>
          <p:nvPr/>
        </p:nvSpPr>
        <p:spPr>
          <a:xfrm>
            <a:off x="1069920" y="3035880"/>
            <a:ext cx="456840" cy="45684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0" name="Picture 24" descr="cat.png"/>
          <p:cNvPicPr/>
          <p:nvPr/>
        </p:nvPicPr>
        <p:blipFill>
          <a:blip r:embed="rId4"/>
          <a:stretch/>
        </p:blipFill>
        <p:spPr>
          <a:xfrm>
            <a:off x="117036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Oval 25"/>
          <p:cNvSpPr/>
          <p:nvPr/>
        </p:nvSpPr>
        <p:spPr>
          <a:xfrm>
            <a:off x="1801440" y="30358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2" name="Picture 26" descr="cat.png"/>
          <p:cNvPicPr/>
          <p:nvPr/>
        </p:nvPicPr>
        <p:blipFill>
          <a:blip r:embed="rId5"/>
          <a:stretch/>
        </p:blipFill>
        <p:spPr>
          <a:xfrm>
            <a:off x="190188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Oval 27"/>
          <p:cNvSpPr/>
          <p:nvPr/>
        </p:nvSpPr>
        <p:spPr>
          <a:xfrm>
            <a:off x="2532960" y="3035880"/>
            <a:ext cx="456840" cy="45684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4" name="Picture 28" descr="cat.png"/>
          <p:cNvPicPr/>
          <p:nvPr/>
        </p:nvPicPr>
        <p:blipFill>
          <a:blip r:embed="rId6"/>
          <a:stretch/>
        </p:blipFill>
        <p:spPr>
          <a:xfrm>
            <a:off x="263340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TextBox 29"/>
          <p:cNvSpPr/>
          <p:nvPr/>
        </p:nvSpPr>
        <p:spPr>
          <a:xfrm>
            <a:off x="548640" y="33649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Saw lots of cats → learned what cats look like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30"/>
          <p:cNvSpPr/>
          <p:nvPr/>
        </p:nvSpPr>
        <p:spPr>
          <a:xfrm>
            <a:off x="4754880" y="1874520"/>
            <a:ext cx="4023000" cy="1947240"/>
          </a:xfrm>
          <a:prstGeom prst="roundRect">
            <a:avLst>
              <a:gd name="adj" fmla="val 16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Rounded Rectangle 31"/>
          <p:cNvSpPr/>
          <p:nvPr/>
        </p:nvSpPr>
        <p:spPr>
          <a:xfrm>
            <a:off x="4937760" y="2039040"/>
            <a:ext cx="3657240" cy="38376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32"/>
          <p:cNvSpPr/>
          <p:nvPr/>
        </p:nvSpPr>
        <p:spPr>
          <a:xfrm>
            <a:off x="4937760" y="203904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How does AI learn “cat”?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ounded Rectangle 33"/>
          <p:cNvSpPr/>
          <p:nvPr/>
        </p:nvSpPr>
        <p:spPr>
          <a:xfrm>
            <a:off x="532188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0" name="Picture 34" descr="cat_3D9BE9.png"/>
          <p:cNvPicPr/>
          <p:nvPr/>
        </p:nvPicPr>
        <p:blipFill>
          <a:blip r:embed="rId7"/>
          <a:stretch/>
        </p:blipFill>
        <p:spPr>
          <a:xfrm>
            <a:off x="539496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1" name="Rounded Rectangle 35"/>
          <p:cNvSpPr/>
          <p:nvPr/>
        </p:nvSpPr>
        <p:spPr>
          <a:xfrm>
            <a:off x="583380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2" name="Picture 36" descr="cat_3D9BE9.png"/>
          <p:cNvPicPr/>
          <p:nvPr/>
        </p:nvPicPr>
        <p:blipFill>
          <a:blip r:embed="rId8"/>
          <a:stretch/>
        </p:blipFill>
        <p:spPr>
          <a:xfrm>
            <a:off x="590688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Rounded Rectangle 37"/>
          <p:cNvSpPr/>
          <p:nvPr/>
        </p:nvSpPr>
        <p:spPr>
          <a:xfrm>
            <a:off x="634608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4" name="Picture 38" descr="cat_3D9BE9.png"/>
          <p:cNvPicPr/>
          <p:nvPr/>
        </p:nvPicPr>
        <p:blipFill>
          <a:blip r:embed="rId9"/>
          <a:stretch/>
        </p:blipFill>
        <p:spPr>
          <a:xfrm>
            <a:off x="641916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Rounded Rectangle 39"/>
          <p:cNvSpPr/>
          <p:nvPr/>
        </p:nvSpPr>
        <p:spPr>
          <a:xfrm>
            <a:off x="685800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6" name="Picture 40" descr="cat_3D9BE9.png"/>
          <p:cNvPicPr/>
          <p:nvPr/>
        </p:nvPicPr>
        <p:blipFill>
          <a:blip r:embed="rId10"/>
          <a:stretch/>
        </p:blipFill>
        <p:spPr>
          <a:xfrm>
            <a:off x="693108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Rounded Rectangle 41"/>
          <p:cNvSpPr/>
          <p:nvPr/>
        </p:nvSpPr>
        <p:spPr>
          <a:xfrm>
            <a:off x="532188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8" name="Picture 42" descr="cat_3D9BE9.png"/>
          <p:cNvPicPr/>
          <p:nvPr/>
        </p:nvPicPr>
        <p:blipFill>
          <a:blip r:embed="rId11"/>
          <a:stretch/>
        </p:blipFill>
        <p:spPr>
          <a:xfrm>
            <a:off x="539496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Rounded Rectangle 43"/>
          <p:cNvSpPr/>
          <p:nvPr/>
        </p:nvSpPr>
        <p:spPr>
          <a:xfrm>
            <a:off x="583380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0" name="Picture 44" descr="cat_3D9BE9.png"/>
          <p:cNvPicPr/>
          <p:nvPr/>
        </p:nvPicPr>
        <p:blipFill>
          <a:blip r:embed="rId12"/>
          <a:stretch/>
        </p:blipFill>
        <p:spPr>
          <a:xfrm>
            <a:off x="590688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Rounded Rectangle 45"/>
          <p:cNvSpPr/>
          <p:nvPr/>
        </p:nvSpPr>
        <p:spPr>
          <a:xfrm>
            <a:off x="634608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2" name="Picture 46" descr="cat_3D9BE9.png"/>
          <p:cNvPicPr/>
          <p:nvPr/>
        </p:nvPicPr>
        <p:blipFill>
          <a:blip r:embed="rId13"/>
          <a:stretch/>
        </p:blipFill>
        <p:spPr>
          <a:xfrm>
            <a:off x="641916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Rounded Rectangle 47"/>
          <p:cNvSpPr/>
          <p:nvPr/>
        </p:nvSpPr>
        <p:spPr>
          <a:xfrm>
            <a:off x="685800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4" name="Picture 48" descr="cat_3D9BE9.png"/>
          <p:cNvPicPr/>
          <p:nvPr/>
        </p:nvPicPr>
        <p:blipFill>
          <a:blip r:embed="rId14"/>
          <a:stretch/>
        </p:blipFill>
        <p:spPr>
          <a:xfrm>
            <a:off x="693108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Box 49"/>
          <p:cNvSpPr/>
          <p:nvPr/>
        </p:nvSpPr>
        <p:spPr>
          <a:xfrm>
            <a:off x="4937760" y="33649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Saw thousands of photos → learned to spot a cat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Oval 50"/>
          <p:cNvSpPr/>
          <p:nvPr/>
        </p:nvSpPr>
        <p:spPr>
          <a:xfrm>
            <a:off x="4288680" y="2565000"/>
            <a:ext cx="566640" cy="56664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51"/>
          <p:cNvSpPr/>
          <p:nvPr/>
        </p:nvSpPr>
        <p:spPr>
          <a:xfrm>
            <a:off x="4288680" y="256500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=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Rounded Rectangle 5"/>
          <p:cNvSpPr/>
          <p:nvPr/>
        </p:nvSpPr>
        <p:spPr>
          <a:xfrm>
            <a:off x="567000" y="457200"/>
            <a:ext cx="255996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Box 7"/>
          <p:cNvSpPr/>
          <p:nvPr/>
        </p:nvSpPr>
        <p:spPr>
          <a:xfrm>
            <a:off x="1005840" y="4572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A little more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The more it practices, the better it gets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28" name="Connector 11"/>
          <p:cNvCxnSpPr/>
          <p:nvPr/>
        </p:nvCxnSpPr>
        <p:spPr>
          <a:xfrm>
            <a:off x="3409200" y="206964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29" name="Connector 12"/>
          <p:cNvCxnSpPr/>
          <p:nvPr/>
        </p:nvCxnSpPr>
        <p:spPr>
          <a:xfrm flipH="1">
            <a:off x="3409200" y="368352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30" name="Connector 13"/>
          <p:cNvCxnSpPr/>
          <p:nvPr/>
        </p:nvCxnSpPr>
        <p:spPr>
          <a:xfrm flipH="1" flipV="1">
            <a:off x="1795320" y="368352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31" name="Connector 14"/>
          <p:cNvCxnSpPr/>
          <p:nvPr/>
        </p:nvCxnSpPr>
        <p:spPr>
          <a:xfrm flipV="1">
            <a:off x="1795320" y="206964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sp>
        <p:nvSpPr>
          <p:cNvPr id="332" name="Rounded Rectangle 15"/>
          <p:cNvSpPr/>
          <p:nvPr/>
        </p:nvSpPr>
        <p:spPr>
          <a:xfrm>
            <a:off x="2858040" y="2622240"/>
            <a:ext cx="44640" cy="224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Oval 16"/>
          <p:cNvSpPr/>
          <p:nvPr/>
        </p:nvSpPr>
        <p:spPr>
          <a:xfrm>
            <a:off x="2813040" y="2539800"/>
            <a:ext cx="134640" cy="13464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4" name="4-Point Star 17"/>
          <p:cNvSpPr/>
          <p:nvPr/>
        </p:nvSpPr>
        <p:spPr>
          <a:xfrm>
            <a:off x="2842920" y="2569680"/>
            <a:ext cx="74520" cy="7452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680" rIns="90000" bIns="-31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Rounded Rectangle 18"/>
          <p:cNvSpPr/>
          <p:nvPr/>
        </p:nvSpPr>
        <p:spPr>
          <a:xfrm>
            <a:off x="2453040" y="3072240"/>
            <a:ext cx="66960" cy="1645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Rounded Rectangle 19"/>
          <p:cNvSpPr/>
          <p:nvPr/>
        </p:nvSpPr>
        <p:spPr>
          <a:xfrm>
            <a:off x="3240360" y="3072240"/>
            <a:ext cx="66960" cy="1645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Rounded Rectangle 20"/>
          <p:cNvSpPr/>
          <p:nvPr/>
        </p:nvSpPr>
        <p:spPr>
          <a:xfrm>
            <a:off x="2505600" y="2832120"/>
            <a:ext cx="749520" cy="64440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Rounded Rectangle 21"/>
          <p:cNvSpPr/>
          <p:nvPr/>
        </p:nvSpPr>
        <p:spPr>
          <a:xfrm>
            <a:off x="2595600" y="2969640"/>
            <a:ext cx="569520" cy="3996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Oval 22"/>
          <p:cNvSpPr/>
          <p:nvPr/>
        </p:nvSpPr>
        <p:spPr>
          <a:xfrm>
            <a:off x="2704320" y="3087000"/>
            <a:ext cx="100800" cy="100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0" name="Oval 23"/>
          <p:cNvSpPr/>
          <p:nvPr/>
        </p:nvSpPr>
        <p:spPr>
          <a:xfrm>
            <a:off x="2732760" y="3121560"/>
            <a:ext cx="44280" cy="4428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3680" rIns="90000" bIns="-13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1" name="Oval 24"/>
          <p:cNvSpPr/>
          <p:nvPr/>
        </p:nvSpPr>
        <p:spPr>
          <a:xfrm>
            <a:off x="2727720" y="3110400"/>
            <a:ext cx="21960" cy="21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Oval 25"/>
          <p:cNvSpPr/>
          <p:nvPr/>
        </p:nvSpPr>
        <p:spPr>
          <a:xfrm>
            <a:off x="2955240" y="3087000"/>
            <a:ext cx="100800" cy="100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Oval 26"/>
          <p:cNvSpPr/>
          <p:nvPr/>
        </p:nvSpPr>
        <p:spPr>
          <a:xfrm>
            <a:off x="2983320" y="3121560"/>
            <a:ext cx="44280" cy="4428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3680" rIns="90000" bIns="-13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Oval 27"/>
          <p:cNvSpPr/>
          <p:nvPr/>
        </p:nvSpPr>
        <p:spPr>
          <a:xfrm>
            <a:off x="2978280" y="3110400"/>
            <a:ext cx="21960" cy="21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Oval 28"/>
          <p:cNvSpPr/>
          <p:nvPr/>
        </p:nvSpPr>
        <p:spPr>
          <a:xfrm>
            <a:off x="2693520" y="3192480"/>
            <a:ext cx="82080" cy="820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6" name="Oval 29"/>
          <p:cNvSpPr/>
          <p:nvPr/>
        </p:nvSpPr>
        <p:spPr>
          <a:xfrm>
            <a:off x="2984760" y="3192480"/>
            <a:ext cx="82080" cy="820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Arc 30"/>
          <p:cNvSpPr/>
          <p:nvPr/>
        </p:nvSpPr>
        <p:spPr>
          <a:xfrm>
            <a:off x="2768040" y="3139560"/>
            <a:ext cx="224640" cy="22464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3324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Oval 31"/>
          <p:cNvSpPr/>
          <p:nvPr/>
        </p:nvSpPr>
        <p:spPr>
          <a:xfrm>
            <a:off x="2432160" y="1334880"/>
            <a:ext cx="895680" cy="895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49" name="Picture 32" descr="lightbulb.png"/>
          <p:cNvPicPr/>
          <p:nvPr/>
        </p:nvPicPr>
        <p:blipFill>
          <a:blip r:embed="rId1"/>
          <a:stretch/>
        </p:blipFill>
        <p:spPr>
          <a:xfrm>
            <a:off x="2629440" y="153216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TextBox 33"/>
          <p:cNvSpPr/>
          <p:nvPr/>
        </p:nvSpPr>
        <p:spPr>
          <a:xfrm>
            <a:off x="2011680" y="225864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Take a guess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Oval 34"/>
          <p:cNvSpPr/>
          <p:nvPr/>
        </p:nvSpPr>
        <p:spPr>
          <a:xfrm>
            <a:off x="3803760" y="2706480"/>
            <a:ext cx="895680" cy="8956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2" name="Picture 35" descr="check-circle.png"/>
          <p:cNvPicPr/>
          <p:nvPr/>
        </p:nvPicPr>
        <p:blipFill>
          <a:blip r:embed="rId2"/>
          <a:stretch/>
        </p:blipFill>
        <p:spPr>
          <a:xfrm>
            <a:off x="4001040" y="290376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TextBox 36"/>
          <p:cNvSpPr/>
          <p:nvPr/>
        </p:nvSpPr>
        <p:spPr>
          <a:xfrm>
            <a:off x="3383280" y="363024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See if it's right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Oval 37"/>
          <p:cNvSpPr/>
          <p:nvPr/>
        </p:nvSpPr>
        <p:spPr>
          <a:xfrm>
            <a:off x="2432160" y="3877200"/>
            <a:ext cx="895680" cy="8956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5" name="Picture 38" descr="wrench.png"/>
          <p:cNvPicPr/>
          <p:nvPr/>
        </p:nvPicPr>
        <p:blipFill>
          <a:blip r:embed="rId3"/>
          <a:stretch/>
        </p:blipFill>
        <p:spPr>
          <a:xfrm>
            <a:off x="2629440" y="407412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TextBox 39"/>
          <p:cNvSpPr/>
          <p:nvPr/>
        </p:nvSpPr>
        <p:spPr>
          <a:xfrm>
            <a:off x="2011680" y="480060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Make it better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Oval 40"/>
          <p:cNvSpPr/>
          <p:nvPr/>
        </p:nvSpPr>
        <p:spPr>
          <a:xfrm>
            <a:off x="1060560" y="2706480"/>
            <a:ext cx="895680" cy="8956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8" name="Picture 41" descr="arrows-clockwise.png"/>
          <p:cNvPicPr/>
          <p:nvPr/>
        </p:nvPicPr>
        <p:blipFill>
          <a:blip r:embed="rId4"/>
          <a:stretch/>
        </p:blipFill>
        <p:spPr>
          <a:xfrm>
            <a:off x="1257840" y="290376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TextBox 42"/>
          <p:cNvSpPr/>
          <p:nvPr/>
        </p:nvSpPr>
        <p:spPr>
          <a:xfrm>
            <a:off x="640080" y="363024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Try again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ounded Rectangle 43"/>
          <p:cNvSpPr/>
          <p:nvPr/>
        </p:nvSpPr>
        <p:spPr>
          <a:xfrm>
            <a:off x="5074920" y="1965960"/>
            <a:ext cx="3565800" cy="2102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Oval 44"/>
          <p:cNvSpPr/>
          <p:nvPr/>
        </p:nvSpPr>
        <p:spPr>
          <a:xfrm>
            <a:off x="5257800" y="2185560"/>
            <a:ext cx="767880" cy="7678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62" name="Picture 45" descr="target.png"/>
          <p:cNvPicPr/>
          <p:nvPr/>
        </p:nvPicPr>
        <p:blipFill>
          <a:blip r:embed="rId5"/>
          <a:stretch/>
        </p:blipFill>
        <p:spPr>
          <a:xfrm>
            <a:off x="5426640" y="2354400"/>
            <a:ext cx="429840" cy="42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TextBox 46"/>
          <p:cNvSpPr/>
          <p:nvPr/>
        </p:nvSpPr>
        <p:spPr>
          <a:xfrm>
            <a:off x="6135480" y="2277000"/>
            <a:ext cx="237708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Just like riding a bike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47"/>
          <p:cNvSpPr/>
          <p:nvPr/>
        </p:nvSpPr>
        <p:spPr>
          <a:xfrm>
            <a:off x="6135480" y="264276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Wobbly and falling at first,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then steady with practice.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48"/>
          <p:cNvSpPr/>
          <p:nvPr/>
        </p:nvSpPr>
        <p:spPr>
          <a:xfrm>
            <a:off x="5385960" y="3337560"/>
            <a:ext cx="3108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2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does the same: guess, check,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fix, try again. Practice pays off.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9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0" name="Rounded Rectangle 5"/>
          <p:cNvSpPr/>
          <p:nvPr/>
        </p:nvSpPr>
        <p:spPr>
          <a:xfrm>
            <a:off x="567000" y="457200"/>
            <a:ext cx="3584160" cy="365400"/>
          </a:xfrm>
          <a:prstGeom prst="roundRect">
            <a:avLst>
              <a:gd name="adj" fmla="val 50000"/>
            </a:avLst>
          </a:prstGeom>
          <a:solidFill>
            <a:srgbClr val="E2F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TextBox 7"/>
          <p:cNvSpPr/>
          <p:nvPr/>
        </p:nvSpPr>
        <p:spPr>
          <a:xfrm>
            <a:off x="1005840" y="457200"/>
            <a:ext cx="358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FC79A"/>
                </a:solidFill>
                <a:effectLst/>
                <a:uFillTx/>
                <a:latin typeface="Arial Rounded MT Bold"/>
                <a:ea typeface="Hiragino Sans GB"/>
              </a:rPr>
              <a:t>③ What it's great at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Great memory, super fast, never tired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5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Rounded Rectangle 11"/>
          <p:cNvSpPr/>
          <p:nvPr/>
        </p:nvSpPr>
        <p:spPr>
          <a:xfrm>
            <a:off x="8343360" y="499680"/>
            <a:ext cx="46440" cy="2329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Oval 12"/>
          <p:cNvSpPr/>
          <p:nvPr/>
        </p:nvSpPr>
        <p:spPr>
          <a:xfrm>
            <a:off x="8296920" y="414360"/>
            <a:ext cx="139680" cy="139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4-Point Star 13"/>
          <p:cNvSpPr/>
          <p:nvPr/>
        </p:nvSpPr>
        <p:spPr>
          <a:xfrm>
            <a:off x="8327880" y="445320"/>
            <a:ext cx="77400" cy="77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Rounded Rectangle 14"/>
          <p:cNvSpPr/>
          <p:nvPr/>
        </p:nvSpPr>
        <p:spPr>
          <a:xfrm>
            <a:off x="792360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Rounded Rectangle 15"/>
          <p:cNvSpPr/>
          <p:nvPr/>
        </p:nvSpPr>
        <p:spPr>
          <a:xfrm>
            <a:off x="873972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1" name="Rounded Rectangle 16"/>
          <p:cNvSpPr/>
          <p:nvPr/>
        </p:nvSpPr>
        <p:spPr>
          <a:xfrm>
            <a:off x="7978320" y="717480"/>
            <a:ext cx="776880" cy="66816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Rounded Rectangle 17"/>
          <p:cNvSpPr/>
          <p:nvPr/>
        </p:nvSpPr>
        <p:spPr>
          <a:xfrm>
            <a:off x="8071560" y="860040"/>
            <a:ext cx="590400" cy="4140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Oval 18"/>
          <p:cNvSpPr/>
          <p:nvPr/>
        </p:nvSpPr>
        <p:spPr>
          <a:xfrm>
            <a:off x="818424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4" name="Oval 19"/>
          <p:cNvSpPr/>
          <p:nvPr/>
        </p:nvSpPr>
        <p:spPr>
          <a:xfrm>
            <a:off x="8205480" y="1008720"/>
            <a:ext cx="62640" cy="626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60" rIns="90000" bIns="-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5" name="Oval 20"/>
          <p:cNvSpPr/>
          <p:nvPr/>
        </p:nvSpPr>
        <p:spPr>
          <a:xfrm>
            <a:off x="820836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6" name="Oval 21"/>
          <p:cNvSpPr/>
          <p:nvPr/>
        </p:nvSpPr>
        <p:spPr>
          <a:xfrm>
            <a:off x="844416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7" name="Oval 22"/>
          <p:cNvSpPr/>
          <p:nvPr/>
        </p:nvSpPr>
        <p:spPr>
          <a:xfrm>
            <a:off x="8465400" y="1008720"/>
            <a:ext cx="62640" cy="626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60" rIns="90000" bIns="-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Oval 23"/>
          <p:cNvSpPr/>
          <p:nvPr/>
        </p:nvSpPr>
        <p:spPr>
          <a:xfrm>
            <a:off x="846828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9" name="Oval 24"/>
          <p:cNvSpPr/>
          <p:nvPr/>
        </p:nvSpPr>
        <p:spPr>
          <a:xfrm>
            <a:off x="817308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0" name="Oval 25"/>
          <p:cNvSpPr/>
          <p:nvPr/>
        </p:nvSpPr>
        <p:spPr>
          <a:xfrm>
            <a:off x="847512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1" name="Oval 26"/>
          <p:cNvSpPr/>
          <p:nvPr/>
        </p:nvSpPr>
        <p:spPr>
          <a:xfrm>
            <a:off x="8312400" y="1121400"/>
            <a:ext cx="108360" cy="10836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1680" rIns="90000" bIns="31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2" name="Oval 27"/>
          <p:cNvSpPr/>
          <p:nvPr/>
        </p:nvSpPr>
        <p:spPr>
          <a:xfrm>
            <a:off x="8339400" y="1148760"/>
            <a:ext cx="54000" cy="540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3" name="Rounded Rectangle 28"/>
          <p:cNvSpPr/>
          <p:nvPr/>
        </p:nvSpPr>
        <p:spPr>
          <a:xfrm>
            <a:off x="567000" y="187452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Rounded Rectangle 29"/>
          <p:cNvSpPr/>
          <p:nvPr/>
        </p:nvSpPr>
        <p:spPr>
          <a:xfrm>
            <a:off x="694800" y="202068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5" name="Oval 30"/>
          <p:cNvSpPr/>
          <p:nvPr/>
        </p:nvSpPr>
        <p:spPr>
          <a:xfrm>
            <a:off x="868680" y="205740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96" name="Picture 31" descr="brain.png"/>
          <p:cNvPicPr/>
          <p:nvPr/>
        </p:nvPicPr>
        <p:blipFill>
          <a:blip r:embed="rId1"/>
          <a:stretch/>
        </p:blipFill>
        <p:spPr>
          <a:xfrm>
            <a:off x="1049760" y="223848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Box 32"/>
          <p:cNvSpPr/>
          <p:nvPr/>
        </p:nvSpPr>
        <p:spPr>
          <a:xfrm>
            <a:off x="1774080" y="213048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Amazing memory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33"/>
          <p:cNvSpPr/>
          <p:nvPr/>
        </p:nvSpPr>
        <p:spPr>
          <a:xfrm>
            <a:off x="1774080" y="251460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Remembers everything it sees, even tons of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Rounded Rectangle 34"/>
          <p:cNvSpPr/>
          <p:nvPr/>
        </p:nvSpPr>
        <p:spPr>
          <a:xfrm>
            <a:off x="4773240" y="187452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0" name="Rounded Rectangle 35"/>
          <p:cNvSpPr/>
          <p:nvPr/>
        </p:nvSpPr>
        <p:spPr>
          <a:xfrm>
            <a:off x="4901040" y="202068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1" name="Oval 36"/>
          <p:cNvSpPr/>
          <p:nvPr/>
        </p:nvSpPr>
        <p:spPr>
          <a:xfrm>
            <a:off x="5074920" y="205740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02" name="Picture 37" descr="lightning.png"/>
          <p:cNvPicPr/>
          <p:nvPr/>
        </p:nvPicPr>
        <p:blipFill>
          <a:blip r:embed="rId2"/>
          <a:stretch/>
        </p:blipFill>
        <p:spPr>
          <a:xfrm>
            <a:off x="5256000" y="223848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TextBox 38"/>
          <p:cNvSpPr/>
          <p:nvPr/>
        </p:nvSpPr>
        <p:spPr>
          <a:xfrm>
            <a:off x="5980320" y="213048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Lightning fast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39"/>
          <p:cNvSpPr/>
          <p:nvPr/>
        </p:nvSpPr>
        <p:spPr>
          <a:xfrm>
            <a:off x="5980320" y="251460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Crunches through loads in the blink of an eye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Rounded Rectangle 40"/>
          <p:cNvSpPr/>
          <p:nvPr/>
        </p:nvSpPr>
        <p:spPr>
          <a:xfrm>
            <a:off x="567000" y="330084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6" name="Rounded Rectangle 41"/>
          <p:cNvSpPr/>
          <p:nvPr/>
        </p:nvSpPr>
        <p:spPr>
          <a:xfrm>
            <a:off x="694800" y="344736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7" name="Oval 42"/>
          <p:cNvSpPr/>
          <p:nvPr/>
        </p:nvSpPr>
        <p:spPr>
          <a:xfrm>
            <a:off x="868680" y="348372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08" name="Picture 43" descr="infinity.png"/>
          <p:cNvPicPr/>
          <p:nvPr/>
        </p:nvPicPr>
        <p:blipFill>
          <a:blip r:embed="rId3"/>
          <a:stretch/>
        </p:blipFill>
        <p:spPr>
          <a:xfrm>
            <a:off x="1049760" y="366480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Box 44"/>
          <p:cNvSpPr/>
          <p:nvPr/>
        </p:nvSpPr>
        <p:spPr>
          <a:xfrm>
            <a:off x="1774080" y="355716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Never gets tired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45"/>
          <p:cNvSpPr/>
          <p:nvPr/>
        </p:nvSpPr>
        <p:spPr>
          <a:xfrm>
            <a:off x="1774080" y="394092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Can repeat the same task 10,000 times, no complaints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ounded Rectangle 46"/>
          <p:cNvSpPr/>
          <p:nvPr/>
        </p:nvSpPr>
        <p:spPr>
          <a:xfrm>
            <a:off x="4773240" y="330084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Rounded Rectangle 47"/>
          <p:cNvSpPr/>
          <p:nvPr/>
        </p:nvSpPr>
        <p:spPr>
          <a:xfrm>
            <a:off x="4901040" y="344736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3" name="Oval 48"/>
          <p:cNvSpPr/>
          <p:nvPr/>
        </p:nvSpPr>
        <p:spPr>
          <a:xfrm>
            <a:off x="5074920" y="348372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14" name="Picture 49" descr="magnifying-glass.png"/>
          <p:cNvPicPr/>
          <p:nvPr/>
        </p:nvPicPr>
        <p:blipFill>
          <a:blip r:embed="rId4"/>
          <a:stretch/>
        </p:blipFill>
        <p:spPr>
          <a:xfrm>
            <a:off x="5256000" y="366480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TextBox 50"/>
          <p:cNvSpPr/>
          <p:nvPr/>
        </p:nvSpPr>
        <p:spPr>
          <a:xfrm>
            <a:off x="5980320" y="355716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Pattern pro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51"/>
          <p:cNvSpPr/>
          <p:nvPr/>
        </p:nvSpPr>
        <p:spPr>
          <a:xfrm>
            <a:off x="5980320" y="394092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Picks out the look-alikes in a huge pile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1" name="Rounded Rectangle 5"/>
          <p:cNvSpPr/>
          <p:nvPr/>
        </p:nvSpPr>
        <p:spPr>
          <a:xfrm>
            <a:off x="567000" y="457200"/>
            <a:ext cx="4169160" cy="36540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3" name="TextBox 7"/>
          <p:cNvSpPr/>
          <p:nvPr/>
        </p:nvSpPr>
        <p:spPr>
          <a:xfrm>
            <a:off x="1005840" y="457200"/>
            <a:ext cx="4169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What it's not so good at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It makes mistakes — and sounds very sure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7" name="Rounded Rectangle 11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8" name="Rectangle 12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Box 13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Remember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Think for yourself about what it says — when you're not sure, ask a grown-up.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Rounded Rectangle 14"/>
          <p:cNvSpPr/>
          <p:nvPr/>
        </p:nvSpPr>
        <p:spPr>
          <a:xfrm>
            <a:off x="906480" y="1897920"/>
            <a:ext cx="51840" cy="2602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1" name="Oval 15"/>
          <p:cNvSpPr/>
          <p:nvPr/>
        </p:nvSpPr>
        <p:spPr>
          <a:xfrm>
            <a:off x="854640" y="1802160"/>
            <a:ext cx="155880" cy="1558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2" name="4-Point Star 16"/>
          <p:cNvSpPr/>
          <p:nvPr/>
        </p:nvSpPr>
        <p:spPr>
          <a:xfrm>
            <a:off x="889200" y="1837080"/>
            <a:ext cx="86400" cy="86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880" rIns="90000" bIns="-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3" name="Rounded Rectangle 17"/>
          <p:cNvSpPr/>
          <p:nvPr/>
        </p:nvSpPr>
        <p:spPr>
          <a:xfrm>
            <a:off x="437400" y="2419200"/>
            <a:ext cx="77760" cy="190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4" name="Rounded Rectangle 18"/>
          <p:cNvSpPr/>
          <p:nvPr/>
        </p:nvSpPr>
        <p:spPr>
          <a:xfrm>
            <a:off x="1349640" y="2419200"/>
            <a:ext cx="77760" cy="190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5" name="Rounded Rectangle 19"/>
          <p:cNvSpPr/>
          <p:nvPr/>
        </p:nvSpPr>
        <p:spPr>
          <a:xfrm>
            <a:off x="498240" y="2140920"/>
            <a:ext cx="868320" cy="74664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6" name="Rounded Rectangle 20"/>
          <p:cNvSpPr/>
          <p:nvPr/>
        </p:nvSpPr>
        <p:spPr>
          <a:xfrm>
            <a:off x="602640" y="2300400"/>
            <a:ext cx="659880" cy="46296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7" name="Oval 21"/>
          <p:cNvSpPr/>
          <p:nvPr/>
        </p:nvSpPr>
        <p:spPr>
          <a:xfrm>
            <a:off x="728640" y="2436120"/>
            <a:ext cx="117000" cy="1170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8160" rIns="9000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8" name="Oval 22"/>
          <p:cNvSpPr/>
          <p:nvPr/>
        </p:nvSpPr>
        <p:spPr>
          <a:xfrm>
            <a:off x="761760" y="2476080"/>
            <a:ext cx="51120" cy="511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9" name="Oval 23"/>
          <p:cNvSpPr/>
          <p:nvPr/>
        </p:nvSpPr>
        <p:spPr>
          <a:xfrm>
            <a:off x="755640" y="2463120"/>
            <a:ext cx="25560" cy="25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0" name="Oval 24"/>
          <p:cNvSpPr/>
          <p:nvPr/>
        </p:nvSpPr>
        <p:spPr>
          <a:xfrm>
            <a:off x="1019160" y="2436120"/>
            <a:ext cx="117000" cy="1170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8160" rIns="9000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1" name="Oval 25"/>
          <p:cNvSpPr/>
          <p:nvPr/>
        </p:nvSpPr>
        <p:spPr>
          <a:xfrm>
            <a:off x="1052280" y="2476080"/>
            <a:ext cx="51120" cy="511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2" name="Oval 26"/>
          <p:cNvSpPr/>
          <p:nvPr/>
        </p:nvSpPr>
        <p:spPr>
          <a:xfrm>
            <a:off x="1046160" y="2463120"/>
            <a:ext cx="25560" cy="25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3" name="Oval 27"/>
          <p:cNvSpPr/>
          <p:nvPr/>
        </p:nvSpPr>
        <p:spPr>
          <a:xfrm>
            <a:off x="716040" y="2558520"/>
            <a:ext cx="95040" cy="95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2680" rIns="90000" bIns="22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4" name="Oval 28"/>
          <p:cNvSpPr/>
          <p:nvPr/>
        </p:nvSpPr>
        <p:spPr>
          <a:xfrm>
            <a:off x="1053720" y="2558520"/>
            <a:ext cx="95040" cy="95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2680" rIns="90000" bIns="22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5" name="Arc 29"/>
          <p:cNvSpPr/>
          <p:nvPr/>
        </p:nvSpPr>
        <p:spPr>
          <a:xfrm>
            <a:off x="802440" y="2497320"/>
            <a:ext cx="260280" cy="26028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8608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6" name="Rounded Rectangle 30"/>
          <p:cNvSpPr/>
          <p:nvPr/>
        </p:nvSpPr>
        <p:spPr>
          <a:xfrm>
            <a:off x="1508760" y="2020680"/>
            <a:ext cx="2932560" cy="868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cap="rnd" w="27940">
            <a:solidFill>
              <a:srgbClr val="FF6B6B"/>
            </a:solidFill>
            <a:round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7" name="Oval 31"/>
          <p:cNvSpPr/>
          <p:nvPr/>
        </p:nvSpPr>
        <p:spPr>
          <a:xfrm>
            <a:off x="1398960" y="2559240"/>
            <a:ext cx="145800" cy="14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8" name="Oval 32"/>
          <p:cNvSpPr/>
          <p:nvPr/>
        </p:nvSpPr>
        <p:spPr>
          <a:xfrm>
            <a:off x="1490400" y="2650680"/>
            <a:ext cx="91080" cy="91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9" name="TextBox 33"/>
          <p:cNvSpPr/>
          <p:nvPr/>
        </p:nvSpPr>
        <p:spPr>
          <a:xfrm>
            <a:off x="1710000" y="2112120"/>
            <a:ext cx="2530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“Dinosaurs still live in Antarctica!”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Oval 34"/>
          <p:cNvSpPr/>
          <p:nvPr/>
        </p:nvSpPr>
        <p:spPr>
          <a:xfrm>
            <a:off x="1545480" y="2615040"/>
            <a:ext cx="383760" cy="38376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51" name="Picture 35" descr="x.png"/>
          <p:cNvPicPr/>
          <p:nvPr/>
        </p:nvPicPr>
        <p:blipFill>
          <a:blip r:embed="rId1"/>
          <a:stretch/>
        </p:blipFill>
        <p:spPr>
          <a:xfrm>
            <a:off x="1629720" y="2699640"/>
            <a:ext cx="214560" cy="21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TextBox 36"/>
          <p:cNvSpPr/>
          <p:nvPr/>
        </p:nvSpPr>
        <p:spPr>
          <a:xfrm>
            <a:off x="502920" y="3337560"/>
            <a:ext cx="3938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25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It sounds so sure, but it's made up —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grown-ups call this “confidently wrong.”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Rounded Rectangle 37"/>
          <p:cNvSpPr/>
          <p:nvPr/>
        </p:nvSpPr>
        <p:spPr>
          <a:xfrm>
            <a:off x="4853160" y="187452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4" name="Oval 38"/>
          <p:cNvSpPr/>
          <p:nvPr/>
        </p:nvSpPr>
        <p:spPr>
          <a:xfrm>
            <a:off x="5045040" y="189288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55" name="Picture 39" descr="x-circle.png"/>
          <p:cNvPicPr/>
          <p:nvPr/>
        </p:nvPicPr>
        <p:blipFill>
          <a:blip r:embed="rId2"/>
          <a:stretch/>
        </p:blipFill>
        <p:spPr>
          <a:xfrm>
            <a:off x="5161680" y="200952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TextBox 40"/>
          <p:cNvSpPr/>
          <p:nvPr/>
        </p:nvSpPr>
        <p:spPr>
          <a:xfrm>
            <a:off x="5694120" y="1865520"/>
            <a:ext cx="299232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Doesn't “really get it”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41"/>
          <p:cNvSpPr/>
          <p:nvPr/>
        </p:nvSpPr>
        <p:spPr>
          <a:xfrm>
            <a:off x="5694120" y="218556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Matches patterns, doesn't get it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Rounded Rectangle 42"/>
          <p:cNvSpPr/>
          <p:nvPr/>
        </p:nvSpPr>
        <p:spPr>
          <a:xfrm>
            <a:off x="4853160" y="258768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9" name="Oval 43"/>
          <p:cNvSpPr/>
          <p:nvPr/>
        </p:nvSpPr>
        <p:spPr>
          <a:xfrm>
            <a:off x="5045040" y="260604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60" name="Picture 44" descr="x-circle.png"/>
          <p:cNvPicPr/>
          <p:nvPr/>
        </p:nvPicPr>
        <p:blipFill>
          <a:blip r:embed="rId3"/>
          <a:stretch/>
        </p:blipFill>
        <p:spPr>
          <a:xfrm>
            <a:off x="5161680" y="272268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Box 45"/>
          <p:cNvSpPr/>
          <p:nvPr/>
        </p:nvSpPr>
        <p:spPr>
          <a:xfrm>
            <a:off x="5694120" y="2578680"/>
            <a:ext cx="299232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Jumps to conclusions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Box 46"/>
          <p:cNvSpPr/>
          <p:nvPr/>
        </p:nvSpPr>
        <p:spPr>
          <a:xfrm>
            <a:off x="5694120" y="289872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New things trip it 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Rounded Rectangle 47"/>
          <p:cNvSpPr/>
          <p:nvPr/>
        </p:nvSpPr>
        <p:spPr>
          <a:xfrm>
            <a:off x="4853160" y="330084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4" name="Oval 48"/>
          <p:cNvSpPr/>
          <p:nvPr/>
        </p:nvSpPr>
        <p:spPr>
          <a:xfrm>
            <a:off x="5045040" y="331920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65" name="Picture 49" descr="x-circle.png"/>
          <p:cNvPicPr/>
          <p:nvPr/>
        </p:nvPicPr>
        <p:blipFill>
          <a:blip r:embed="rId4"/>
          <a:stretch/>
        </p:blipFill>
        <p:spPr>
          <a:xfrm>
            <a:off x="5161680" y="343584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Box 50"/>
          <p:cNvSpPr/>
          <p:nvPr/>
        </p:nvSpPr>
        <p:spPr>
          <a:xfrm>
            <a:off x="5694120" y="3291840"/>
            <a:ext cx="299232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No common sense or feelings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51"/>
          <p:cNvSpPr/>
          <p:nvPr/>
        </p:nvSpPr>
        <p:spPr>
          <a:xfrm>
            <a:off x="5694120" y="361188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Can't tell why you're sad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2" name="Rounded Rectangle 5"/>
          <p:cNvSpPr/>
          <p:nvPr/>
        </p:nvSpPr>
        <p:spPr>
          <a:xfrm>
            <a:off x="567000" y="457200"/>
            <a:ext cx="4608360" cy="365400"/>
          </a:xfrm>
          <a:prstGeom prst="roundRect">
            <a:avLst>
              <a:gd name="adj" fmla="val 50000"/>
            </a:avLst>
          </a:prstGeom>
          <a:solidFill>
            <a:srgbClr val="EFEA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4" name="TextBox 7"/>
          <p:cNvSpPr/>
          <p:nvPr/>
        </p:nvSpPr>
        <p:spPr>
          <a:xfrm>
            <a:off x="1005840" y="457200"/>
            <a:ext cx="4608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9B7EDE"/>
                </a:solidFill>
                <a:effectLst/>
                <a:uFillTx/>
                <a:latin typeface="Arial Rounded MT Bold"/>
                <a:ea typeface="Hiragino Sans GB"/>
              </a:rPr>
              <a:t>④ Tips for working together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Be clear, double-check, you decide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8" name="Rounded Rectangle 11"/>
          <p:cNvSpPr/>
          <p:nvPr/>
        </p:nvSpPr>
        <p:spPr>
          <a:xfrm>
            <a:off x="8296200" y="513000"/>
            <a:ext cx="48960" cy="2466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9" name="Oval 12"/>
          <p:cNvSpPr/>
          <p:nvPr/>
        </p:nvSpPr>
        <p:spPr>
          <a:xfrm>
            <a:off x="8246880" y="422280"/>
            <a:ext cx="147600" cy="1476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0" name="4-Point Star 13"/>
          <p:cNvSpPr/>
          <p:nvPr/>
        </p:nvSpPr>
        <p:spPr>
          <a:xfrm>
            <a:off x="8280000" y="455400"/>
            <a:ext cx="82080" cy="8208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600" rIns="90000" bIns="-30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1" name="Rounded Rectangle 14"/>
          <p:cNvSpPr/>
          <p:nvPr/>
        </p:nvSpPr>
        <p:spPr>
          <a:xfrm>
            <a:off x="7851960" y="1006920"/>
            <a:ext cx="7380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2" name="Rounded Rectangle 15"/>
          <p:cNvSpPr/>
          <p:nvPr/>
        </p:nvSpPr>
        <p:spPr>
          <a:xfrm>
            <a:off x="8715960" y="1006920"/>
            <a:ext cx="7380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3" name="Rounded Rectangle 16"/>
          <p:cNvSpPr/>
          <p:nvPr/>
        </p:nvSpPr>
        <p:spPr>
          <a:xfrm>
            <a:off x="7909560" y="743400"/>
            <a:ext cx="822600" cy="70740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4" name="Rounded Rectangle 17"/>
          <p:cNvSpPr/>
          <p:nvPr/>
        </p:nvSpPr>
        <p:spPr>
          <a:xfrm>
            <a:off x="8008200" y="894240"/>
            <a:ext cx="624960" cy="43848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5" name="Oval 18"/>
          <p:cNvSpPr/>
          <p:nvPr/>
        </p:nvSpPr>
        <p:spPr>
          <a:xfrm>
            <a:off x="8127720" y="1023120"/>
            <a:ext cx="110880" cy="1108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3480" rIns="90000" bIns="33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6" name="Oval 19"/>
          <p:cNvSpPr/>
          <p:nvPr/>
        </p:nvSpPr>
        <p:spPr>
          <a:xfrm>
            <a:off x="8159040" y="1060920"/>
            <a:ext cx="48600" cy="486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7" name="Oval 20"/>
          <p:cNvSpPr/>
          <p:nvPr/>
        </p:nvSpPr>
        <p:spPr>
          <a:xfrm>
            <a:off x="8153280" y="1048680"/>
            <a:ext cx="24120" cy="24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360" rIns="90000" bIns="-27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8" name="Oval 21"/>
          <p:cNvSpPr/>
          <p:nvPr/>
        </p:nvSpPr>
        <p:spPr>
          <a:xfrm>
            <a:off x="8403120" y="1023120"/>
            <a:ext cx="110880" cy="1108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3480" rIns="90000" bIns="33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9" name="Oval 22"/>
          <p:cNvSpPr/>
          <p:nvPr/>
        </p:nvSpPr>
        <p:spPr>
          <a:xfrm>
            <a:off x="8434080" y="1060920"/>
            <a:ext cx="48600" cy="486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0" name="Oval 23"/>
          <p:cNvSpPr/>
          <p:nvPr/>
        </p:nvSpPr>
        <p:spPr>
          <a:xfrm>
            <a:off x="8428680" y="1048680"/>
            <a:ext cx="24120" cy="24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360" rIns="90000" bIns="-27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1" name="Oval 24"/>
          <p:cNvSpPr/>
          <p:nvPr/>
        </p:nvSpPr>
        <p:spPr>
          <a:xfrm>
            <a:off x="8115840" y="1139040"/>
            <a:ext cx="90000" cy="9000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2" name="Oval 25"/>
          <p:cNvSpPr/>
          <p:nvPr/>
        </p:nvSpPr>
        <p:spPr>
          <a:xfrm>
            <a:off x="8435520" y="1139040"/>
            <a:ext cx="90000" cy="9000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3" name="Arc 26"/>
          <p:cNvSpPr/>
          <p:nvPr/>
        </p:nvSpPr>
        <p:spPr>
          <a:xfrm>
            <a:off x="8197560" y="1080720"/>
            <a:ext cx="246600" cy="2466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6576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4" name="Rounded Rectangle 27"/>
          <p:cNvSpPr/>
          <p:nvPr/>
        </p:nvSpPr>
        <p:spPr>
          <a:xfrm>
            <a:off x="603360" y="188352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5" name="Oval 28"/>
          <p:cNvSpPr/>
          <p:nvPr/>
        </p:nvSpPr>
        <p:spPr>
          <a:xfrm>
            <a:off x="758880" y="1956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TextBox 29"/>
          <p:cNvSpPr/>
          <p:nvPr/>
        </p:nvSpPr>
        <p:spPr>
          <a:xfrm>
            <a:off x="758880" y="188352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Oval 30"/>
          <p:cNvSpPr/>
          <p:nvPr/>
        </p:nvSpPr>
        <p:spPr>
          <a:xfrm>
            <a:off x="1380600" y="1956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98" name="Picture 31" descr="chat-text.png"/>
          <p:cNvPicPr/>
          <p:nvPr/>
        </p:nvPicPr>
        <p:blipFill>
          <a:blip r:embed="rId1"/>
          <a:stretch/>
        </p:blipFill>
        <p:spPr>
          <a:xfrm>
            <a:off x="1481400" y="20574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TextBox 32"/>
          <p:cNvSpPr/>
          <p:nvPr/>
        </p:nvSpPr>
        <p:spPr>
          <a:xfrm>
            <a:off x="2020680" y="188352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Ask clearly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Rounded Rectangle 33"/>
          <p:cNvSpPr/>
          <p:nvPr/>
        </p:nvSpPr>
        <p:spPr>
          <a:xfrm>
            <a:off x="3849480" y="203004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TextBox 34"/>
          <p:cNvSpPr/>
          <p:nvPr/>
        </p:nvSpPr>
        <p:spPr>
          <a:xfrm>
            <a:off x="4060080" y="188352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The clearer you are, the better it helps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Rounded Rectangle 35"/>
          <p:cNvSpPr/>
          <p:nvPr/>
        </p:nvSpPr>
        <p:spPr>
          <a:xfrm>
            <a:off x="603360" y="265176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Oval 36"/>
          <p:cNvSpPr/>
          <p:nvPr/>
        </p:nvSpPr>
        <p:spPr>
          <a:xfrm>
            <a:off x="758880" y="272484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4" name="TextBox 37"/>
          <p:cNvSpPr/>
          <p:nvPr/>
        </p:nvSpPr>
        <p:spPr>
          <a:xfrm>
            <a:off x="758880" y="265176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Oval 38"/>
          <p:cNvSpPr/>
          <p:nvPr/>
        </p:nvSpPr>
        <p:spPr>
          <a:xfrm>
            <a:off x="1380600" y="272484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06" name="Picture 39" descr="magnifying-glass.png"/>
          <p:cNvPicPr/>
          <p:nvPr/>
        </p:nvPicPr>
        <p:blipFill>
          <a:blip r:embed="rId2"/>
          <a:stretch/>
        </p:blipFill>
        <p:spPr>
          <a:xfrm>
            <a:off x="1481400" y="282564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TextBox 40"/>
          <p:cNvSpPr/>
          <p:nvPr/>
        </p:nvSpPr>
        <p:spPr>
          <a:xfrm>
            <a:off x="2020680" y="265176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Check the answers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Rounded Rectangle 41"/>
          <p:cNvSpPr/>
          <p:nvPr/>
        </p:nvSpPr>
        <p:spPr>
          <a:xfrm>
            <a:off x="3849480" y="279792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9" name="TextBox 42"/>
          <p:cNvSpPr/>
          <p:nvPr/>
        </p:nvSpPr>
        <p:spPr>
          <a:xfrm>
            <a:off x="4060080" y="265176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Use your head — don't just take it all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Rounded Rectangle 43"/>
          <p:cNvSpPr/>
          <p:nvPr/>
        </p:nvSpPr>
        <p:spPr>
          <a:xfrm>
            <a:off x="603360" y="342000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1" name="Oval 44"/>
          <p:cNvSpPr/>
          <p:nvPr/>
        </p:nvSpPr>
        <p:spPr>
          <a:xfrm>
            <a:off x="758880" y="34930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2" name="TextBox 45"/>
          <p:cNvSpPr/>
          <p:nvPr/>
        </p:nvSpPr>
        <p:spPr>
          <a:xfrm>
            <a:off x="758880" y="342000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Oval 46"/>
          <p:cNvSpPr/>
          <p:nvPr/>
        </p:nvSpPr>
        <p:spPr>
          <a:xfrm>
            <a:off x="1380600" y="34930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14" name="Picture 47" descr="users-three.png"/>
          <p:cNvPicPr/>
          <p:nvPr/>
        </p:nvPicPr>
        <p:blipFill>
          <a:blip r:embed="rId3"/>
          <a:stretch/>
        </p:blipFill>
        <p:spPr>
          <a:xfrm>
            <a:off x="1481400" y="35935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TextBox 48"/>
          <p:cNvSpPr/>
          <p:nvPr/>
        </p:nvSpPr>
        <p:spPr>
          <a:xfrm>
            <a:off x="2020680" y="342000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Ask a grown-up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Rounded Rectangle 49"/>
          <p:cNvSpPr/>
          <p:nvPr/>
        </p:nvSpPr>
        <p:spPr>
          <a:xfrm>
            <a:off x="3849480" y="356616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Box 50"/>
          <p:cNvSpPr/>
          <p:nvPr/>
        </p:nvSpPr>
        <p:spPr>
          <a:xfrm>
            <a:off x="4060080" y="342000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When unsure, ask teachers and parents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Rounded Rectangle 51"/>
          <p:cNvSpPr/>
          <p:nvPr/>
        </p:nvSpPr>
        <p:spPr>
          <a:xfrm>
            <a:off x="603360" y="418788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9" name="Oval 52"/>
          <p:cNvSpPr/>
          <p:nvPr/>
        </p:nvSpPr>
        <p:spPr>
          <a:xfrm>
            <a:off x="758880" y="4260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0" name="TextBox 53"/>
          <p:cNvSpPr/>
          <p:nvPr/>
        </p:nvSpPr>
        <p:spPr>
          <a:xfrm>
            <a:off x="758880" y="418788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Oval 54"/>
          <p:cNvSpPr/>
          <p:nvPr/>
        </p:nvSpPr>
        <p:spPr>
          <a:xfrm>
            <a:off x="1380600" y="4260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22" name="Picture 55" descr="crown.png"/>
          <p:cNvPicPr/>
          <p:nvPr/>
        </p:nvPicPr>
        <p:blipFill>
          <a:blip r:embed="rId4"/>
          <a:stretch/>
        </p:blipFill>
        <p:spPr>
          <a:xfrm>
            <a:off x="1481400" y="436176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TextBox 56"/>
          <p:cNvSpPr/>
          <p:nvPr/>
        </p:nvSpPr>
        <p:spPr>
          <a:xfrm>
            <a:off x="2020680" y="418788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You're the boss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Rounded Rectangle 57"/>
          <p:cNvSpPr/>
          <p:nvPr/>
        </p:nvSpPr>
        <p:spPr>
          <a:xfrm>
            <a:off x="3849480" y="433440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5" name="TextBox 58"/>
          <p:cNvSpPr/>
          <p:nvPr/>
        </p:nvSpPr>
        <p:spPr>
          <a:xfrm>
            <a:off x="4060080" y="418788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You make the final call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7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8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9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0" name="Rounded Rectangle 5"/>
          <p:cNvSpPr/>
          <p:nvPr/>
        </p:nvSpPr>
        <p:spPr>
          <a:xfrm>
            <a:off x="567000" y="457200"/>
            <a:ext cx="2706120" cy="36540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1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2" name="TextBox 7"/>
          <p:cNvSpPr/>
          <p:nvPr/>
        </p:nvSpPr>
        <p:spPr>
          <a:xfrm>
            <a:off x="1005840" y="457200"/>
            <a:ext cx="2706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⑤ Safety first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Keep secrets safe, and ask when unsure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5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6" name="Rounded Rectangle 11"/>
          <p:cNvSpPr/>
          <p:nvPr/>
        </p:nvSpPr>
        <p:spPr>
          <a:xfrm>
            <a:off x="365760" y="1883520"/>
            <a:ext cx="4023000" cy="2742840"/>
          </a:xfrm>
          <a:prstGeom prst="roundRect">
            <a:avLst>
              <a:gd name="adj" fmla="val 16000"/>
            </a:avLst>
          </a:prstGeom>
          <a:solidFill>
            <a:srgbClr val="E2F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7" name="Rounded Rectangle 12"/>
          <p:cNvSpPr/>
          <p:nvPr/>
        </p:nvSpPr>
        <p:spPr>
          <a:xfrm>
            <a:off x="548640" y="2066400"/>
            <a:ext cx="3657240" cy="45684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38" name="Picture 13" descr="check-fat.png"/>
          <p:cNvPicPr/>
          <p:nvPr/>
        </p:nvPicPr>
        <p:blipFill>
          <a:blip r:embed="rId1"/>
          <a:stretch/>
        </p:blipFill>
        <p:spPr>
          <a:xfrm>
            <a:off x="676800" y="21488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TextBox 14"/>
          <p:cNvSpPr/>
          <p:nvPr/>
        </p:nvSpPr>
        <p:spPr>
          <a:xfrm>
            <a:off x="1042560" y="206640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Safe to do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Oval 15"/>
          <p:cNvSpPr/>
          <p:nvPr/>
        </p:nvSpPr>
        <p:spPr>
          <a:xfrm>
            <a:off x="603360" y="277992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1" name="Picture 16" descr="check-fat.png"/>
          <p:cNvPicPr/>
          <p:nvPr/>
        </p:nvPicPr>
        <p:blipFill>
          <a:blip r:embed="rId2"/>
          <a:stretch/>
        </p:blipFill>
        <p:spPr>
          <a:xfrm>
            <a:off x="691920" y="28681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TextBox 17"/>
          <p:cNvSpPr/>
          <p:nvPr/>
        </p:nvSpPr>
        <p:spPr>
          <a:xfrm>
            <a:off x="1115640" y="27248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Use it to look things up, practice a language, spark ideas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Oval 18"/>
          <p:cNvSpPr/>
          <p:nvPr/>
        </p:nvSpPr>
        <p:spPr>
          <a:xfrm>
            <a:off x="603360" y="340164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4" name="Picture 19" descr="check-fat.png"/>
          <p:cNvPicPr/>
          <p:nvPr/>
        </p:nvPicPr>
        <p:blipFill>
          <a:blip r:embed="rId3"/>
          <a:stretch/>
        </p:blipFill>
        <p:spPr>
          <a:xfrm>
            <a:off x="691920" y="34902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Box 20"/>
          <p:cNvSpPr/>
          <p:nvPr/>
        </p:nvSpPr>
        <p:spPr>
          <a:xfrm>
            <a:off x="1115640" y="334656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See something upsetting? Tell a grown-up right away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Oval 21"/>
          <p:cNvSpPr/>
          <p:nvPr/>
        </p:nvSpPr>
        <p:spPr>
          <a:xfrm>
            <a:off x="603360" y="402336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7" name="Picture 22" descr="check-fat.png"/>
          <p:cNvPicPr/>
          <p:nvPr/>
        </p:nvPicPr>
        <p:blipFill>
          <a:blip r:embed="rId4"/>
          <a:stretch/>
        </p:blipFill>
        <p:spPr>
          <a:xfrm>
            <a:off x="691920" y="41119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8" name="TextBox 23"/>
          <p:cNvSpPr/>
          <p:nvPr/>
        </p:nvSpPr>
        <p:spPr>
          <a:xfrm>
            <a:off x="1115640" y="39686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Be polite — talk to it nicely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Rounded Rectangle 24"/>
          <p:cNvSpPr/>
          <p:nvPr/>
        </p:nvSpPr>
        <p:spPr>
          <a:xfrm>
            <a:off x="4754880" y="1883520"/>
            <a:ext cx="4023000" cy="2742840"/>
          </a:xfrm>
          <a:prstGeom prst="roundRect">
            <a:avLst>
              <a:gd name="adj" fmla="val 16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0" name="Rounded Rectangle 25"/>
          <p:cNvSpPr/>
          <p:nvPr/>
        </p:nvSpPr>
        <p:spPr>
          <a:xfrm>
            <a:off x="4937760" y="2066400"/>
            <a:ext cx="3657240" cy="45684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1" name="Picture 26" descr="x.png"/>
          <p:cNvPicPr/>
          <p:nvPr/>
        </p:nvPicPr>
        <p:blipFill>
          <a:blip r:embed="rId5"/>
          <a:stretch/>
        </p:blipFill>
        <p:spPr>
          <a:xfrm>
            <a:off x="5065920" y="21488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Box 27"/>
          <p:cNvSpPr/>
          <p:nvPr/>
        </p:nvSpPr>
        <p:spPr>
          <a:xfrm>
            <a:off x="5431680" y="206640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Be careful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Oval 28"/>
          <p:cNvSpPr/>
          <p:nvPr/>
        </p:nvSpPr>
        <p:spPr>
          <a:xfrm>
            <a:off x="4992480" y="277992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4" name="Picture 29" descr="x.png"/>
          <p:cNvPicPr/>
          <p:nvPr/>
        </p:nvPicPr>
        <p:blipFill>
          <a:blip r:embed="rId6"/>
          <a:stretch/>
        </p:blipFill>
        <p:spPr>
          <a:xfrm>
            <a:off x="5081040" y="28681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5" name="TextBox 30"/>
          <p:cNvSpPr/>
          <p:nvPr/>
        </p:nvSpPr>
        <p:spPr>
          <a:xfrm>
            <a:off x="5504760" y="27248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Don't share your real name, home address, or passwords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Oval 31"/>
          <p:cNvSpPr/>
          <p:nvPr/>
        </p:nvSpPr>
        <p:spPr>
          <a:xfrm>
            <a:off x="4992480" y="340164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7" name="Picture 32" descr="x.png"/>
          <p:cNvPicPr/>
          <p:nvPr/>
        </p:nvPicPr>
        <p:blipFill>
          <a:blip r:embed="rId7"/>
          <a:stretch/>
        </p:blipFill>
        <p:spPr>
          <a:xfrm>
            <a:off x="5081040" y="34902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TextBox 33"/>
          <p:cNvSpPr/>
          <p:nvPr/>
        </p:nvSpPr>
        <p:spPr>
          <a:xfrm>
            <a:off x="5504760" y="334656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Don't believe everything it says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Oval 34"/>
          <p:cNvSpPr/>
          <p:nvPr/>
        </p:nvSpPr>
        <p:spPr>
          <a:xfrm>
            <a:off x="4992480" y="402336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60" name="Picture 35" descr="x.png"/>
          <p:cNvPicPr/>
          <p:nvPr/>
        </p:nvPicPr>
        <p:blipFill>
          <a:blip r:embed="rId8"/>
          <a:stretch/>
        </p:blipFill>
        <p:spPr>
          <a:xfrm>
            <a:off x="5081040" y="41119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TextBox 36"/>
          <p:cNvSpPr/>
          <p:nvPr/>
        </p:nvSpPr>
        <p:spPr>
          <a:xfrm>
            <a:off x="5504760" y="39686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Don't make big decisions alone in secret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3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4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5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6" name="Rounded Rectangle 5"/>
          <p:cNvSpPr/>
          <p:nvPr/>
        </p:nvSpPr>
        <p:spPr>
          <a:xfrm>
            <a:off x="567000" y="457200"/>
            <a:ext cx="343764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7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Box 7"/>
          <p:cNvSpPr/>
          <p:nvPr/>
        </p:nvSpPr>
        <p:spPr>
          <a:xfrm>
            <a:off x="1005840" y="457200"/>
            <a:ext cx="343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Putting it together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Remember these 5 things and you'll get AI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1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2" name="Rounded Rectangle 11"/>
          <p:cNvSpPr/>
          <p:nvPr/>
        </p:nvSpPr>
        <p:spPr>
          <a:xfrm>
            <a:off x="56700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3" name="Rounded Rectangle 12"/>
          <p:cNvSpPr/>
          <p:nvPr/>
        </p:nvSpPr>
        <p:spPr>
          <a:xfrm>
            <a:off x="56700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4" name="Rounded Rectangle 13"/>
          <p:cNvSpPr/>
          <p:nvPr/>
        </p:nvSpPr>
        <p:spPr>
          <a:xfrm>
            <a:off x="56700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5" name="TextBox 14"/>
          <p:cNvSpPr/>
          <p:nvPr/>
        </p:nvSpPr>
        <p:spPr>
          <a:xfrm>
            <a:off x="56700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Oval 15"/>
          <p:cNvSpPr/>
          <p:nvPr/>
        </p:nvSpPr>
        <p:spPr>
          <a:xfrm>
            <a:off x="960120" y="2597040"/>
            <a:ext cx="785880" cy="7858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77" name="Picture 16" descr="map-pin.png"/>
          <p:cNvPicPr/>
          <p:nvPr/>
        </p:nvPicPr>
        <p:blipFill>
          <a:blip r:embed="rId1"/>
          <a:stretch/>
        </p:blipFill>
        <p:spPr>
          <a:xfrm>
            <a:off x="113328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TextBox 17"/>
          <p:cNvSpPr/>
          <p:nvPr/>
        </p:nvSpPr>
        <p:spPr>
          <a:xfrm>
            <a:off x="62172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All around us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Box 18"/>
          <p:cNvSpPr/>
          <p:nvPr/>
        </p:nvSpPr>
        <p:spPr>
          <a:xfrm>
            <a:off x="64008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Voice, picks, photos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Rounded Rectangle 19"/>
          <p:cNvSpPr/>
          <p:nvPr/>
        </p:nvSpPr>
        <p:spPr>
          <a:xfrm>
            <a:off x="227232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1" name="Rounded Rectangle 20"/>
          <p:cNvSpPr/>
          <p:nvPr/>
        </p:nvSpPr>
        <p:spPr>
          <a:xfrm>
            <a:off x="227232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2" name="Rounded Rectangle 21"/>
          <p:cNvSpPr/>
          <p:nvPr/>
        </p:nvSpPr>
        <p:spPr>
          <a:xfrm>
            <a:off x="227232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3" name="TextBox 22"/>
          <p:cNvSpPr/>
          <p:nvPr/>
        </p:nvSpPr>
        <p:spPr>
          <a:xfrm>
            <a:off x="227232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Oval 23"/>
          <p:cNvSpPr/>
          <p:nvPr/>
        </p:nvSpPr>
        <p:spPr>
          <a:xfrm>
            <a:off x="2665440" y="2597040"/>
            <a:ext cx="785880" cy="7858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85" name="Picture 24" descr="lightbulb.png"/>
          <p:cNvPicPr/>
          <p:nvPr/>
        </p:nvPicPr>
        <p:blipFill>
          <a:blip r:embed="rId2"/>
          <a:stretch/>
        </p:blipFill>
        <p:spPr>
          <a:xfrm>
            <a:off x="283860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6" name="TextBox 25"/>
          <p:cNvSpPr/>
          <p:nvPr/>
        </p:nvSpPr>
        <p:spPr>
          <a:xfrm>
            <a:off x="232704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Learns by example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Box 26"/>
          <p:cNvSpPr/>
          <p:nvPr/>
        </p:nvSpPr>
        <p:spPr>
          <a:xfrm>
            <a:off x="234540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More seen, more learned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Rounded Rectangle 27"/>
          <p:cNvSpPr/>
          <p:nvPr/>
        </p:nvSpPr>
        <p:spPr>
          <a:xfrm>
            <a:off x="397764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9" name="Rounded Rectangle 28"/>
          <p:cNvSpPr/>
          <p:nvPr/>
        </p:nvSpPr>
        <p:spPr>
          <a:xfrm>
            <a:off x="397764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0" name="Rounded Rectangle 29"/>
          <p:cNvSpPr/>
          <p:nvPr/>
        </p:nvSpPr>
        <p:spPr>
          <a:xfrm>
            <a:off x="397764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Box 30"/>
          <p:cNvSpPr/>
          <p:nvPr/>
        </p:nvSpPr>
        <p:spPr>
          <a:xfrm>
            <a:off x="397764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Oval 31"/>
          <p:cNvSpPr/>
          <p:nvPr/>
        </p:nvSpPr>
        <p:spPr>
          <a:xfrm>
            <a:off x="4370760" y="2597040"/>
            <a:ext cx="785880" cy="7858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93" name="Picture 32" descr="gauge.png"/>
          <p:cNvPicPr/>
          <p:nvPr/>
        </p:nvPicPr>
        <p:blipFill>
          <a:blip r:embed="rId3"/>
          <a:stretch/>
        </p:blipFill>
        <p:spPr>
          <a:xfrm>
            <a:off x="454392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4" name="TextBox 33"/>
          <p:cNvSpPr/>
          <p:nvPr/>
        </p:nvSpPr>
        <p:spPr>
          <a:xfrm>
            <a:off x="403236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Able but fallible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Box 34"/>
          <p:cNvSpPr/>
          <p:nvPr/>
        </p:nvSpPr>
        <p:spPr>
          <a:xfrm>
            <a:off x="405072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Great, but not always right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Rounded Rectangle 35"/>
          <p:cNvSpPr/>
          <p:nvPr/>
        </p:nvSpPr>
        <p:spPr>
          <a:xfrm>
            <a:off x="568296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7" name="Rounded Rectangle 36"/>
          <p:cNvSpPr/>
          <p:nvPr/>
        </p:nvSpPr>
        <p:spPr>
          <a:xfrm>
            <a:off x="568296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8" name="Rounded Rectangle 37"/>
          <p:cNvSpPr/>
          <p:nvPr/>
        </p:nvSpPr>
        <p:spPr>
          <a:xfrm>
            <a:off x="568296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9" name="TextBox 38"/>
          <p:cNvSpPr/>
          <p:nvPr/>
        </p:nvSpPr>
        <p:spPr>
          <a:xfrm>
            <a:off x="568296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Oval 39"/>
          <p:cNvSpPr/>
          <p:nvPr/>
        </p:nvSpPr>
        <p:spPr>
          <a:xfrm>
            <a:off x="6076080" y="2597040"/>
            <a:ext cx="785880" cy="7858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1" name="Picture 40" descr="chat-text.png"/>
          <p:cNvPicPr/>
          <p:nvPr/>
        </p:nvPicPr>
        <p:blipFill>
          <a:blip r:embed="rId4"/>
          <a:stretch/>
        </p:blipFill>
        <p:spPr>
          <a:xfrm>
            <a:off x="624924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Box 41"/>
          <p:cNvSpPr/>
          <p:nvPr/>
        </p:nvSpPr>
        <p:spPr>
          <a:xfrm>
            <a:off x="573768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 good helper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Box 42"/>
          <p:cNvSpPr/>
          <p:nvPr/>
        </p:nvSpPr>
        <p:spPr>
          <a:xfrm>
            <a:off x="575604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Be clear — you decide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Rounded Rectangle 43"/>
          <p:cNvSpPr/>
          <p:nvPr/>
        </p:nvSpPr>
        <p:spPr>
          <a:xfrm>
            <a:off x="738828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5" name="Rounded Rectangle 44"/>
          <p:cNvSpPr/>
          <p:nvPr/>
        </p:nvSpPr>
        <p:spPr>
          <a:xfrm>
            <a:off x="738828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6" name="Rounded Rectangle 45"/>
          <p:cNvSpPr/>
          <p:nvPr/>
        </p:nvSpPr>
        <p:spPr>
          <a:xfrm>
            <a:off x="738828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7" name="TextBox 46"/>
          <p:cNvSpPr/>
          <p:nvPr/>
        </p:nvSpPr>
        <p:spPr>
          <a:xfrm>
            <a:off x="738828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5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Oval 47"/>
          <p:cNvSpPr/>
          <p:nvPr/>
        </p:nvSpPr>
        <p:spPr>
          <a:xfrm>
            <a:off x="7781400" y="2597040"/>
            <a:ext cx="785880" cy="7858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9" name="Picture 48" descr="shield-check.png"/>
          <p:cNvPicPr/>
          <p:nvPr/>
        </p:nvPicPr>
        <p:blipFill>
          <a:blip r:embed="rId5"/>
          <a:stretch/>
        </p:blipFill>
        <p:spPr>
          <a:xfrm>
            <a:off x="795456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0" name="TextBox 49"/>
          <p:cNvSpPr/>
          <p:nvPr/>
        </p:nvSpPr>
        <p:spPr>
          <a:xfrm>
            <a:off x="744336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Guard secrets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Box 50"/>
          <p:cNvSpPr/>
          <p:nvPr/>
        </p:nvSpPr>
        <p:spPr>
          <a:xfrm>
            <a:off x="746136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Ask a grown-up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Rounded Rectangle 51"/>
          <p:cNvSpPr/>
          <p:nvPr/>
        </p:nvSpPr>
        <p:spPr>
          <a:xfrm>
            <a:off x="8116200" y="4052520"/>
            <a:ext cx="43560" cy="2192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3" name="Oval 52"/>
          <p:cNvSpPr/>
          <p:nvPr/>
        </p:nvSpPr>
        <p:spPr>
          <a:xfrm>
            <a:off x="8072280" y="3972240"/>
            <a:ext cx="131400" cy="1314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4" name="4-Point Star 53"/>
          <p:cNvSpPr/>
          <p:nvPr/>
        </p:nvSpPr>
        <p:spPr>
          <a:xfrm>
            <a:off x="8101440" y="4001400"/>
            <a:ext cx="72720" cy="7272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040" rIns="90000" bIns="-32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5" name="Rounded Rectangle 54"/>
          <p:cNvSpPr/>
          <p:nvPr/>
        </p:nvSpPr>
        <p:spPr>
          <a:xfrm>
            <a:off x="7721280" y="4491360"/>
            <a:ext cx="65520" cy="1605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6" name="Rounded Rectangle 55"/>
          <p:cNvSpPr/>
          <p:nvPr/>
        </p:nvSpPr>
        <p:spPr>
          <a:xfrm>
            <a:off x="8489160" y="4491360"/>
            <a:ext cx="65520" cy="1605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7" name="Rounded Rectangle 56"/>
          <p:cNvSpPr/>
          <p:nvPr/>
        </p:nvSpPr>
        <p:spPr>
          <a:xfrm>
            <a:off x="7772400" y="4257360"/>
            <a:ext cx="731160" cy="62892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8" name="Rounded Rectangle 57"/>
          <p:cNvSpPr/>
          <p:nvPr/>
        </p:nvSpPr>
        <p:spPr>
          <a:xfrm>
            <a:off x="7860240" y="4391640"/>
            <a:ext cx="555480" cy="38952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9" name="Oval 58"/>
          <p:cNvSpPr/>
          <p:nvPr/>
        </p:nvSpPr>
        <p:spPr>
          <a:xfrm>
            <a:off x="7966440" y="4506120"/>
            <a:ext cx="98280" cy="982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4480" rIns="90000" bIns="24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0" name="Oval 59"/>
          <p:cNvSpPr/>
          <p:nvPr/>
        </p:nvSpPr>
        <p:spPr>
          <a:xfrm>
            <a:off x="7994160" y="4539600"/>
            <a:ext cx="43200" cy="432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4040" rIns="90000" bIns="-14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1" name="Oval 60"/>
          <p:cNvSpPr/>
          <p:nvPr/>
        </p:nvSpPr>
        <p:spPr>
          <a:xfrm>
            <a:off x="7989120" y="4528800"/>
            <a:ext cx="21240" cy="21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2" name="Oval 61"/>
          <p:cNvSpPr/>
          <p:nvPr/>
        </p:nvSpPr>
        <p:spPr>
          <a:xfrm>
            <a:off x="8211240" y="4506120"/>
            <a:ext cx="98280" cy="982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4480" rIns="90000" bIns="24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3" name="Oval 62"/>
          <p:cNvSpPr/>
          <p:nvPr/>
        </p:nvSpPr>
        <p:spPr>
          <a:xfrm>
            <a:off x="8238600" y="4539600"/>
            <a:ext cx="43200" cy="432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4040" rIns="90000" bIns="-14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4" name="Oval 63"/>
          <p:cNvSpPr/>
          <p:nvPr/>
        </p:nvSpPr>
        <p:spPr>
          <a:xfrm>
            <a:off x="8233920" y="4528800"/>
            <a:ext cx="21240" cy="21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5" name="Oval 64"/>
          <p:cNvSpPr/>
          <p:nvPr/>
        </p:nvSpPr>
        <p:spPr>
          <a:xfrm>
            <a:off x="7956000" y="4609080"/>
            <a:ext cx="80280" cy="802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6" name="Oval 65"/>
          <p:cNvSpPr/>
          <p:nvPr/>
        </p:nvSpPr>
        <p:spPr>
          <a:xfrm>
            <a:off x="8240040" y="4609080"/>
            <a:ext cx="80280" cy="802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7" name="Arc 66"/>
          <p:cNvSpPr/>
          <p:nvPr/>
        </p:nvSpPr>
        <p:spPr>
          <a:xfrm>
            <a:off x="8028360" y="4557240"/>
            <a:ext cx="219240" cy="21924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2512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8" name="TextBox 67"/>
          <p:cNvSpPr/>
          <p:nvPr/>
        </p:nvSpPr>
        <p:spPr>
          <a:xfrm>
            <a:off x="567000" y="4590360"/>
            <a:ext cx="7131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You've got it all — you now understand AI better than a lot of grown-ups!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gradFill rotWithShape="0">
            <a:gsLst>
              <a:gs pos="0">
                <a:srgbClr val="FFE1C4"/>
              </a:gs>
              <a:gs pos="100000">
                <a:srgbClr val="FFF3E4"/>
              </a:gs>
            </a:gsLst>
            <a:lin ang="54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0" name="Cloud 2"/>
          <p:cNvSpPr/>
          <p:nvPr/>
        </p:nvSpPr>
        <p:spPr>
          <a:xfrm>
            <a:off x="640080" y="548640"/>
            <a:ext cx="1462680" cy="822600"/>
          </a:xfrm>
          <a:prstGeom prst="cloud">
            <a:avLst/>
          </a:prstGeom>
          <a:solidFill>
            <a:srgbClr val="FFFFFF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1" name="Sun 3"/>
          <p:cNvSpPr/>
          <p:nvPr/>
        </p:nvSpPr>
        <p:spPr>
          <a:xfrm>
            <a:off x="7795440" y="388800"/>
            <a:ext cx="868320" cy="868320"/>
          </a:xfrm>
          <a:prstGeom prst="sun">
            <a:avLst>
              <a:gd name="adj" fmla="val 25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2" name="5-Point Star 4"/>
          <p:cNvSpPr/>
          <p:nvPr/>
        </p:nvSpPr>
        <p:spPr>
          <a:xfrm>
            <a:off x="3163680" y="374760"/>
            <a:ext cx="255600" cy="2556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3" name="4-Point Star 5"/>
          <p:cNvSpPr/>
          <p:nvPr/>
        </p:nvSpPr>
        <p:spPr>
          <a:xfrm>
            <a:off x="4827960" y="758880"/>
            <a:ext cx="219240" cy="21924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480" rIns="90000" bIns="-6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4" name="Heart 6"/>
          <p:cNvSpPr/>
          <p:nvPr/>
        </p:nvSpPr>
        <p:spPr>
          <a:xfrm>
            <a:off x="6446520" y="320040"/>
            <a:ext cx="273960" cy="273960"/>
          </a:xfrm>
          <a:prstGeom prst="heart">
            <a:avLst/>
          </a:prstGeom>
          <a:solidFill>
            <a:srgbClr val="3FC79A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5" name="Oval 7"/>
          <p:cNvSpPr/>
          <p:nvPr/>
        </p:nvSpPr>
        <p:spPr>
          <a:xfrm>
            <a:off x="1755720" y="1207080"/>
            <a:ext cx="145800" cy="145800"/>
          </a:xfrm>
          <a:prstGeom prst="ellipse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6" name="4-Point Star 8"/>
          <p:cNvSpPr/>
          <p:nvPr/>
        </p:nvSpPr>
        <p:spPr>
          <a:xfrm>
            <a:off x="7397640" y="1454040"/>
            <a:ext cx="200880" cy="20088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7" name="Rounded Rectangle 9"/>
          <p:cNvSpPr/>
          <p:nvPr/>
        </p:nvSpPr>
        <p:spPr>
          <a:xfrm>
            <a:off x="0" y="4526280"/>
            <a:ext cx="9143640" cy="617040"/>
          </a:xfrm>
          <a:prstGeom prst="roundRect">
            <a:avLst>
              <a:gd name="adj" fmla="val 14000"/>
            </a:avLst>
          </a:prstGeom>
          <a:solidFill>
            <a:srgbClr val="FDEB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8" name="Rounded Rectangle 10"/>
          <p:cNvSpPr/>
          <p:nvPr/>
        </p:nvSpPr>
        <p:spPr>
          <a:xfrm>
            <a:off x="7026120" y="1635120"/>
            <a:ext cx="120240" cy="6030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9" name="Oval 11"/>
          <p:cNvSpPr/>
          <p:nvPr/>
        </p:nvSpPr>
        <p:spPr>
          <a:xfrm>
            <a:off x="6905520" y="1413720"/>
            <a:ext cx="361800" cy="361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0" name="4-Point Star 12"/>
          <p:cNvSpPr/>
          <p:nvPr/>
        </p:nvSpPr>
        <p:spPr>
          <a:xfrm>
            <a:off x="6986160" y="1494000"/>
            <a:ext cx="200880" cy="20088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1" name="Rounded Rectangle 13"/>
          <p:cNvSpPr/>
          <p:nvPr/>
        </p:nvSpPr>
        <p:spPr>
          <a:xfrm>
            <a:off x="5940000" y="2841840"/>
            <a:ext cx="180720" cy="4420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2" name="Rounded Rectangle 14"/>
          <p:cNvSpPr/>
          <p:nvPr/>
        </p:nvSpPr>
        <p:spPr>
          <a:xfrm>
            <a:off x="8052120" y="2841840"/>
            <a:ext cx="180720" cy="4420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3" name="Rounded Rectangle 15"/>
          <p:cNvSpPr/>
          <p:nvPr/>
        </p:nvSpPr>
        <p:spPr>
          <a:xfrm>
            <a:off x="6080760" y="2198160"/>
            <a:ext cx="2011320" cy="172980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4" name="Rounded Rectangle 16"/>
          <p:cNvSpPr/>
          <p:nvPr/>
        </p:nvSpPr>
        <p:spPr>
          <a:xfrm>
            <a:off x="6322320" y="2567160"/>
            <a:ext cx="1528560" cy="107244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5" name="Oval 17"/>
          <p:cNvSpPr/>
          <p:nvPr/>
        </p:nvSpPr>
        <p:spPr>
          <a:xfrm>
            <a:off x="6614280" y="2881800"/>
            <a:ext cx="271080" cy="2710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6" name="Oval 18"/>
          <p:cNvSpPr/>
          <p:nvPr/>
        </p:nvSpPr>
        <p:spPr>
          <a:xfrm>
            <a:off x="6690600" y="2974320"/>
            <a:ext cx="119160" cy="11916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9600" rIns="90000" bIns="39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7" name="Oval 19"/>
          <p:cNvSpPr/>
          <p:nvPr/>
        </p:nvSpPr>
        <p:spPr>
          <a:xfrm>
            <a:off x="6676920" y="2944440"/>
            <a:ext cx="59400" cy="59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8" name="Oval 20"/>
          <p:cNvSpPr/>
          <p:nvPr/>
        </p:nvSpPr>
        <p:spPr>
          <a:xfrm>
            <a:off x="7287120" y="2881800"/>
            <a:ext cx="271080" cy="2710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9" name="Oval 21"/>
          <p:cNvSpPr/>
          <p:nvPr/>
        </p:nvSpPr>
        <p:spPr>
          <a:xfrm>
            <a:off x="7363080" y="2974320"/>
            <a:ext cx="119160" cy="11916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9600" rIns="90000" bIns="39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0" name="Oval 22"/>
          <p:cNvSpPr/>
          <p:nvPr/>
        </p:nvSpPr>
        <p:spPr>
          <a:xfrm>
            <a:off x="7349760" y="2944440"/>
            <a:ext cx="59400" cy="59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1" name="Oval 23"/>
          <p:cNvSpPr/>
          <p:nvPr/>
        </p:nvSpPr>
        <p:spPr>
          <a:xfrm>
            <a:off x="6585120" y="3165120"/>
            <a:ext cx="221040" cy="221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2" name="Oval 24"/>
          <p:cNvSpPr/>
          <p:nvPr/>
        </p:nvSpPr>
        <p:spPr>
          <a:xfrm>
            <a:off x="7366680" y="3165120"/>
            <a:ext cx="221040" cy="221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3" name="Arc 25"/>
          <p:cNvSpPr/>
          <p:nvPr/>
        </p:nvSpPr>
        <p:spPr>
          <a:xfrm>
            <a:off x="6784920" y="3022920"/>
            <a:ext cx="603000" cy="6030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89408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4" name="Rounded Rectangle 26"/>
          <p:cNvSpPr/>
          <p:nvPr/>
        </p:nvSpPr>
        <p:spPr>
          <a:xfrm>
            <a:off x="6382440" y="3888000"/>
            <a:ext cx="1407960" cy="844560"/>
          </a:xfrm>
          <a:prstGeom prst="roundRect">
            <a:avLst>
              <a:gd name="adj" fmla="val 45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5" name="Rounded Rectangle 27"/>
          <p:cNvSpPr/>
          <p:nvPr/>
        </p:nvSpPr>
        <p:spPr>
          <a:xfrm rot="20400000">
            <a:off x="6060600" y="3927960"/>
            <a:ext cx="40212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6" name="Rounded Rectangle 28"/>
          <p:cNvSpPr/>
          <p:nvPr/>
        </p:nvSpPr>
        <p:spPr>
          <a:xfrm rot="2700000">
            <a:off x="7689960" y="3566160"/>
            <a:ext cx="40212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7" name="Heart 29"/>
          <p:cNvSpPr/>
          <p:nvPr/>
        </p:nvSpPr>
        <p:spPr>
          <a:xfrm>
            <a:off x="5696640" y="1947600"/>
            <a:ext cx="310680" cy="310680"/>
          </a:xfrm>
          <a:prstGeom prst="hear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8" name="Heart 30"/>
          <p:cNvSpPr/>
          <p:nvPr/>
        </p:nvSpPr>
        <p:spPr>
          <a:xfrm>
            <a:off x="8247960" y="2395800"/>
            <a:ext cx="237240" cy="237240"/>
          </a:xfrm>
          <a:prstGeom prst="heart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9" name="Rounded Rectangle 31"/>
          <p:cNvSpPr/>
          <p:nvPr/>
        </p:nvSpPr>
        <p:spPr>
          <a:xfrm>
            <a:off x="713160" y="1508760"/>
            <a:ext cx="2285640" cy="438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0" name="TextBox 32"/>
          <p:cNvSpPr/>
          <p:nvPr/>
        </p:nvSpPr>
        <p:spPr>
          <a:xfrm>
            <a:off x="713160" y="1508760"/>
            <a:ext cx="2285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274B0"/>
                </a:solidFill>
                <a:effectLst/>
                <a:uFillTx/>
                <a:latin typeface="Arial Rounded MT Bold"/>
                <a:ea typeface="Hiragino Sans GB"/>
              </a:rPr>
              <a:t>One last thing to remember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Box 33"/>
          <p:cNvSpPr/>
          <p:nvPr/>
        </p:nvSpPr>
        <p:spPr>
          <a:xfrm>
            <a:off x="658440" y="2148840"/>
            <a:ext cx="58518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5000"/>
              </a:lnSpc>
              <a:spcAft>
                <a:spcPts val="300"/>
              </a:spcAft>
            </a:pPr>
            <a:r>
              <a:rPr lang="en-US" sz="29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However smart the tool,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300"/>
              </a:spcAft>
            </a:pPr>
            <a:r>
              <a:rPr lang="en-US" sz="29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you're the one who decides.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34"/>
          <p:cNvSpPr/>
          <p:nvPr/>
        </p:nvSpPr>
        <p:spPr>
          <a:xfrm>
            <a:off x="749880" y="3703320"/>
            <a:ext cx="530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5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Stay curious, and go discover more amazing things!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Box 35"/>
          <p:cNvSpPr/>
          <p:nvPr/>
        </p:nvSpPr>
        <p:spPr>
          <a:xfrm>
            <a:off x="567000" y="48279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slide-maker · sample template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zh-CN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