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Welcome! Today we're going to meet AI — Artificial Intelligence. This is Pip, a friendly robot who'll help us explore. Ask the class: has anyone heard the words 'AI' before? Where?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 idea: AI is a computer helper that learns from LOTS of examples — a little like how we learn. 'Artificial' means made by people; 'intelligence' means it can learn and solve problems. Stress that it is not alive and does not think or feel the way we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is already part of everyday life. Walk through each example and ask the class where they've seen it: voice helpers, video/song suggestions, photo filters, maps, games, translation. Point: most of them have probably used AI today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does AI learn? By looking at tons of examples. Show it thousands of cat photos and it slowly learns what a cat looks like — like how you learned your friends' faces by seeing them many times. Teaching AI with lots of examples is called 'training'.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practises like we do: it makes a guess, checks if it was right, and adjusts a little — then repeats, super fast, a huge number of times. Use the free-throw analogy: shoot, look, adjust, try again. Every mistake helps it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has real superpowers: it's very fast, never gets tired, spots patterns we might miss, and knows a huge amount. Ask: what jobs would be great for a tireless, super-fast helper?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AI is not perfect. It doesn't truly understand — it guesses the most likely answer. It has no real feelings or common sense, and sometimes it says wrong things very confidently. That last one is important: we call it 'making things up'.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golden rule — say it together: AI can be wrong, so YOU are the checker. If an answer matters, ask: does this make sense? Is it true? Check with a book, a trusted website, or a grown-up. This is the most important idea of the whole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work WITH AI like a smart partner: ask clearly, check the answer, use it to help your OWN thinking (not replace it), and stay curious and kind. AI is a helper, not a substitute for your brain.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Staying safe: never share private information (name, address, school, passwords, photos). If anything feels weird or scary, tell a grown-up you trust. Remember AI is a tool, not a real friend — and be kind and honest (no using it to be mean or to skip your own work).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bring the things AI can't: big ideas, imagination, kindness, real feelings, and knowing right from wrong. AI brings speed and tireless help. Together you make a great team — with YOU as the boss.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recap the five big ideas together, then send them off: keep being curious! Invite a few questions, and encourage them to notice AI around them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6880859" y="114300"/>
            <a:ext cx="1965960" cy="1965960"/>
          </a:xfrm>
          <a:prstGeom prst="sun">
            <a:avLst/>
          </a:prstGeom>
          <a:solidFill>
            <a:srgbClr val="FCE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6830568" y="3310128"/>
            <a:ext cx="420624" cy="420624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58784" y="3849624"/>
            <a:ext cx="256032" cy="256032"/>
          </a:xfrm>
          <a:prstGeom prst="star4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6300216" y="3968496"/>
            <a:ext cx="292608" cy="292608"/>
          </a:xfrm>
          <a:prstGeom prst="star5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loud 7"/>
          <p:cNvSpPr/>
          <p:nvPr/>
        </p:nvSpPr>
        <p:spPr>
          <a:xfrm>
            <a:off x="5760720" y="457200"/>
            <a:ext cx="1371600" cy="868680"/>
          </a:xfrm>
          <a:prstGeom prst="cloud">
            <a:avLst/>
          </a:prstGeom>
          <a:solidFill>
            <a:srgbClr val="FFFFFF"/>
          </a:solidFill>
          <a:ln w="1524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02321" y="1828800"/>
            <a:ext cx="65836" cy="285292"/>
          </a:xfrm>
          <a:prstGeom prst="round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7448702" y="1620316"/>
            <a:ext cx="373075" cy="373075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65899" y="2092147"/>
            <a:ext cx="1338681" cy="1097280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23252" y="2531059"/>
            <a:ext cx="219456" cy="219456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7771" y="2531059"/>
            <a:ext cx="219456" cy="219456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83603" y="2591409"/>
            <a:ext cx="98755" cy="987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88121" y="2591409"/>
            <a:ext cx="98755" cy="987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19518" y="2256739"/>
            <a:ext cx="1031443" cy="768096"/>
          </a:xfrm>
          <a:prstGeom prst="roundRect">
            <a:avLst>
              <a:gd name="adj" fmla="val 40000"/>
            </a:avLst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65676" y="2436693"/>
            <a:ext cx="285292" cy="2852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97349" y="2502529"/>
            <a:ext cx="87782" cy="87782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19511" y="2436693"/>
            <a:ext cx="285292" cy="2852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51184" y="2502529"/>
            <a:ext cx="87782" cy="87782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07739" y="2721985"/>
            <a:ext cx="153619" cy="153619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09121" y="2721985"/>
            <a:ext cx="153619" cy="153619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15783" y="2765877"/>
            <a:ext cx="438912" cy="241401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97496" y="2747589"/>
            <a:ext cx="475488" cy="132770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59675" y="3167481"/>
            <a:ext cx="351129" cy="153619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59606" y="3277209"/>
            <a:ext cx="1151266" cy="548640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art 26"/>
          <p:cNvSpPr/>
          <p:nvPr/>
        </p:nvSpPr>
        <p:spPr>
          <a:xfrm>
            <a:off x="7481620" y="3386937"/>
            <a:ext cx="307238" cy="285292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60180" y="3760012"/>
            <a:ext cx="197510" cy="197510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812788" y="3760012"/>
            <a:ext cx="197510" cy="197510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8368" y="1133856"/>
            <a:ext cx="2434209" cy="329184"/>
          </a:xfrm>
          <a:prstGeom prst="roundRect">
            <a:avLst>
              <a:gd name="adj" fmla="val 50000"/>
            </a:avLst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133856"/>
            <a:ext cx="2434209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rebuchet MS"/>
              </a:rPr>
              <a:t>LET'S EXPLORE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1700784"/>
            <a:ext cx="5486400" cy="10058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39304F"/>
                </a:solidFill>
                <a:latin typeface="Trebuchet MS"/>
              </a:rPr>
              <a:t>What is AI?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" y="2670048"/>
            <a:ext cx="1417320" cy="109728"/>
          </a:xfrm>
          <a:prstGeom prst="roundRect">
            <a:avLst>
              <a:gd name="adj" fmla="val 50000"/>
            </a:avLst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2944368"/>
            <a:ext cx="521208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5A5170"/>
                </a:solidFill>
                <a:latin typeface="Trebuchet MS"/>
              </a:rPr>
              <a:t>A first look, for curious kids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66801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46980"/>
                </a:solidFill>
                <a:latin typeface="Trebuchet MS"/>
              </a:rPr>
              <a:t>A classroom explainer  ·  ages 8–11  ·  meet Pip the robot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2039112" cy="329184"/>
          </a:xfrm>
          <a:prstGeom prst="roundRect">
            <a:avLst>
              <a:gd name="adj" fmla="val 50000"/>
            </a:avLst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2039112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THE BIG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So… what exactly is AI?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074920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9304F"/>
                </a:solidFill>
                <a:latin typeface="Trebuchet MS"/>
              </a:rPr>
              <a:t>AI is a </a:t>
            </a:r>
            <a:r>
              <a:rPr sz="2200" b="1" i="0">
                <a:solidFill>
                  <a:srgbClr val="F5843C"/>
                </a:solidFill>
                <a:latin typeface="Trebuchet MS"/>
              </a:rPr>
              <a:t>smart computer helper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9304F"/>
                </a:solidFill>
                <a:latin typeface="Trebuchet MS"/>
              </a:rPr>
              <a:t>that </a:t>
            </a:r>
            <a:r>
              <a:rPr sz="2200" b="1" i="0">
                <a:solidFill>
                  <a:srgbClr val="1AA79E"/>
                </a:solidFill>
                <a:latin typeface="Trebuchet MS"/>
              </a:rPr>
              <a:t>learns from lots of examples</a:t>
            </a:r>
            <a:r>
              <a:rPr sz="2200" b="0" i="0">
                <a:solidFill>
                  <a:srgbClr val="39304F"/>
                </a:solidFill>
                <a:latin typeface="Trebuchet MS"/>
              </a:rPr>
              <a:t> 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9304F"/>
                </a:solidFill>
                <a:latin typeface="Trebuchet MS"/>
              </a:rPr>
              <a:t>a bit like how </a:t>
            </a:r>
            <a:r>
              <a:rPr sz="2200" b="1" i="0">
                <a:solidFill>
                  <a:srgbClr val="39304F"/>
                </a:solidFill>
                <a:latin typeface="Trebuchet MS"/>
              </a:rPr>
              <a:t>you</a:t>
            </a:r>
            <a:r>
              <a:rPr sz="2200" b="0" i="0">
                <a:solidFill>
                  <a:srgbClr val="39304F"/>
                </a:solidFill>
                <a:latin typeface="Trebuchet MS"/>
              </a:rPr>
              <a:t> learn new things.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" y="3419856"/>
            <a:ext cx="91440" cy="914400"/>
          </a:xfrm>
          <a:prstGeom prst="roundRect">
            <a:avLst>
              <a:gd name="adj" fmla="val 50000"/>
            </a:avLst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456432"/>
            <a:ext cx="4754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843C"/>
                </a:solidFill>
                <a:latin typeface="Trebuchet MS"/>
              </a:rPr>
              <a:t>AI</a:t>
            </a:r>
            <a:r>
              <a:rPr sz="1400" b="1" i="0">
                <a:solidFill>
                  <a:srgbClr val="39304F"/>
                </a:solidFill>
                <a:latin typeface="Trebuchet MS"/>
              </a:rPr>
              <a:t> = </a:t>
            </a:r>
            <a:r>
              <a:rPr sz="1400" b="1" i="0">
                <a:solidFill>
                  <a:srgbClr val="39304F"/>
                </a:solidFill>
                <a:latin typeface="Trebuchet MS"/>
              </a:rPr>
              <a:t>Artificial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03904"/>
            <a:ext cx="470916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39304F"/>
                </a:solidFill>
                <a:latin typeface="Trebuchet MS"/>
              </a:rPr>
              <a:t>Artificial</a:t>
            </a:r>
            <a:r>
              <a:rPr sz="1300" b="0" i="0">
                <a:solidFill>
                  <a:srgbClr val="5A5170"/>
                </a:solidFill>
                <a:latin typeface="Trebuchet MS"/>
              </a:rPr>
              <a:t> = made by people.   </a:t>
            </a:r>
            <a:r>
              <a:rPr sz="1300" b="1" i="0">
                <a:solidFill>
                  <a:srgbClr val="39304F"/>
                </a:solidFill>
                <a:latin typeface="Trebuchet MS"/>
              </a:rPr>
              <a:t>Intelligence</a:t>
            </a:r>
            <a:r>
              <a:rPr sz="1300" b="0" i="0">
                <a:solidFill>
                  <a:srgbClr val="5A5170"/>
                </a:solidFill>
                <a:latin typeface="Trebuchet MS"/>
              </a:rPr>
              <a:t> = able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to learn and solve problems.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259" y="2788920"/>
            <a:ext cx="55961" cy="242498"/>
          </a:xfrm>
          <a:prstGeom prst="round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4-Point Star 14"/>
          <p:cNvSpPr/>
          <p:nvPr/>
        </p:nvSpPr>
        <p:spPr>
          <a:xfrm>
            <a:off x="7476683" y="2611709"/>
            <a:ext cx="317113" cy="317113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66300" y="3012765"/>
            <a:ext cx="1137879" cy="932688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45050" y="3385840"/>
            <a:ext cx="186537" cy="186537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891" y="3385840"/>
            <a:ext cx="186537" cy="186537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96348" y="3437138"/>
            <a:ext cx="83941" cy="839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90189" y="3437138"/>
            <a:ext cx="83941" cy="839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96876" y="3152668"/>
            <a:ext cx="876726" cy="652881"/>
          </a:xfrm>
          <a:prstGeom prst="roundRect">
            <a:avLst>
              <a:gd name="adj" fmla="val 40000"/>
            </a:avLst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21110" y="3305629"/>
            <a:ext cx="242498" cy="2424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33033" y="3361590"/>
            <a:ext cx="74615" cy="74615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06870" y="3305629"/>
            <a:ext cx="242498" cy="2424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18792" y="3361590"/>
            <a:ext cx="74615" cy="74615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71864" y="3548128"/>
            <a:ext cx="130576" cy="130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68038" y="3548128"/>
            <a:ext cx="130576" cy="130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48702" y="3585435"/>
            <a:ext cx="373075" cy="205191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30414" y="3567147"/>
            <a:ext cx="409651" cy="112855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86009" y="3926799"/>
            <a:ext cx="298460" cy="130576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45951" y="4020068"/>
            <a:ext cx="978576" cy="466344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art 31"/>
          <p:cNvSpPr/>
          <p:nvPr/>
        </p:nvSpPr>
        <p:spPr>
          <a:xfrm>
            <a:off x="7504663" y="4113336"/>
            <a:ext cx="261152" cy="242498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6439" y="4430450"/>
            <a:ext cx="167883" cy="167883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86156" y="4430450"/>
            <a:ext cx="167883" cy="167883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25896" y="1426464"/>
            <a:ext cx="2788920" cy="1234440"/>
          </a:xfrm>
          <a:prstGeom prst="roundRect">
            <a:avLst>
              <a:gd name="adj" fmla="val 13333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989320" y="1371600"/>
            <a:ext cx="2788920" cy="12344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778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 rot="9600000">
            <a:off x="8010144" y="2587752"/>
            <a:ext cx="310896" cy="27432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08776" y="1525219"/>
            <a:ext cx="2350008" cy="92720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I'm not alive, and I don't really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think like you do — but I'm 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great at </a:t>
            </a:r>
            <a:r>
              <a:rPr sz="1300" b="1" i="0">
                <a:solidFill>
                  <a:srgbClr val="1AA79E"/>
                </a:solidFill>
                <a:latin typeface="Trebuchet MS"/>
              </a:rPr>
              <a:t>spotting patterns!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2181606" cy="329184"/>
          </a:xfrm>
          <a:prstGeom prst="roundRect">
            <a:avLst>
              <a:gd name="adj" fmla="val 5000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2181606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EVERYDAY LIFE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AI is already all around you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618488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20320">
            <a:solidFill>
              <a:srgbClr val="4C9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27631" y="1664207"/>
            <a:ext cx="493776" cy="493776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013" y="1792589"/>
            <a:ext cx="237012" cy="2370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6656" y="2139696"/>
            <a:ext cx="239572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Voice helpers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377440"/>
            <a:ext cx="239572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46980"/>
                </a:solidFill>
                <a:latin typeface="Trebuchet MS"/>
              </a:rPr>
              <a:t>they hear &amp; answer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3" y="1618488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554480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20320">
            <a:solidFill>
              <a:srgbClr val="F58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98848" y="1664207"/>
            <a:ext cx="493776" cy="493776"/>
          </a:xfrm>
          <a:prstGeom prst="ellipse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evice-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229" y="1792589"/>
            <a:ext cx="237012" cy="2370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47872" y="2139696"/>
            <a:ext cx="239572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Show &amp; song picks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377440"/>
            <a:ext cx="239572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46980"/>
                </a:solidFill>
                <a:latin typeface="Trebuchet MS"/>
              </a:rPr>
              <a:t>it suggests what's next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79" y="1618488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59" y="1554480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20320">
            <a:solidFill>
              <a:srgbClr val="8A7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70064" y="1664207"/>
            <a:ext cx="493776" cy="493776"/>
          </a:xfrm>
          <a:prstGeom prst="ellipse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445" y="1792589"/>
            <a:ext cx="237012" cy="2370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19088" y="2139696"/>
            <a:ext cx="239572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Photo magic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377440"/>
            <a:ext cx="239572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46980"/>
                </a:solidFill>
                <a:latin typeface="Trebuchet MS"/>
              </a:rPr>
              <a:t>filters &amp; finding faces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" y="2907791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2843784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20320">
            <a:solidFill>
              <a:srgbClr val="57A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27631" y="2953512"/>
            <a:ext cx="493776" cy="493776"/>
          </a:xfrm>
          <a:prstGeom prst="ellips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map-p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6013" y="3081893"/>
            <a:ext cx="237012" cy="2370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76656" y="3429000"/>
            <a:ext cx="239572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Maps &amp; directions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3666744"/>
            <a:ext cx="239572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46980"/>
                </a:solidFill>
                <a:latin typeface="Trebuchet MS"/>
              </a:rPr>
              <a:t>the quickest way there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83863" y="2907791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38144" y="2843784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20320">
            <a:solidFill>
              <a:srgbClr val="EC6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98848" y="2953512"/>
            <a:ext cx="493776" cy="4937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device-gamepad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7229" y="3081893"/>
            <a:ext cx="237012" cy="2370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547872" y="3429000"/>
            <a:ext cx="239572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Video games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666744"/>
            <a:ext cx="239572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46980"/>
                </a:solidFill>
                <a:latin typeface="Trebuchet MS"/>
              </a:rPr>
              <a:t>characters that react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79" y="2907791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309359" y="2843784"/>
            <a:ext cx="2615184" cy="1152144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20320">
            <a:solidFill>
              <a:srgbClr val="1AA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70064" y="2953512"/>
            <a:ext cx="493776" cy="493776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angu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445" y="3081893"/>
            <a:ext cx="237012" cy="2370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419088" y="3429000"/>
            <a:ext cx="239572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Translating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3666744"/>
            <a:ext cx="239572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46980"/>
                </a:solidFill>
                <a:latin typeface="Trebuchet MS"/>
              </a:rPr>
              <a:t>one language to another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160520"/>
            <a:ext cx="8010144" cy="512064"/>
          </a:xfrm>
          <a:prstGeom prst="roundRect">
            <a:avLst>
              <a:gd name="adj" fmla="val 25000"/>
            </a:avLst>
          </a:prstGeom>
          <a:solidFill>
            <a:srgbClr val="FCEED9"/>
          </a:solidFill>
          <a:ln w="17780">
            <a:solidFill>
              <a:srgbClr val="4C9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4-Point Star 46"/>
          <p:cNvSpPr/>
          <p:nvPr/>
        </p:nvSpPr>
        <p:spPr>
          <a:xfrm>
            <a:off x="731519" y="4270248"/>
            <a:ext cx="292608" cy="292608"/>
          </a:xfrm>
          <a:prstGeom prst="star4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33856" y="4251960"/>
            <a:ext cx="1469136" cy="329184"/>
          </a:xfrm>
          <a:prstGeom prst="roundRect">
            <a:avLst>
              <a:gd name="adj" fmla="val 5000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33856" y="4251960"/>
            <a:ext cx="1469136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FUN FACT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4160" y="4160520"/>
            <a:ext cx="5571744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You probably used AI today without even noticing it!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2751582" cy="329184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2751582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HOW AI LEARNS ·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AI learns by looking at LOTS of examples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572768"/>
            <a:ext cx="283464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46980"/>
                </a:solidFill>
                <a:latin typeface="Trebuchet MS"/>
              </a:rPr>
              <a:t>Thousands of cat photos…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" y="1883664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5216" y="1819656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2032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760780" y="1947672"/>
            <a:ext cx="124358" cy="146304"/>
          </a:xfrm>
          <a:prstGeom prst="triangl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>
            <a:off x="943660" y="1947672"/>
            <a:ext cx="124358" cy="146304"/>
          </a:xfrm>
          <a:prstGeom prst="triangl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947672"/>
            <a:ext cx="365760" cy="365760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" y="20903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5606" y="20903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6112" y="2156155"/>
            <a:ext cx="36576" cy="36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08176" y="1883664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62456" y="1819656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2032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>
            <a:off x="1538020" y="1947672"/>
            <a:ext cx="124358" cy="146304"/>
          </a:xfrm>
          <a:prstGeom prst="triangle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1720900" y="1947672"/>
            <a:ext cx="124358" cy="146304"/>
          </a:xfrm>
          <a:prstGeom prst="triangle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08760" y="1947672"/>
            <a:ext cx="365760" cy="365760"/>
          </a:xfrm>
          <a:prstGeom prst="ellipse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596542" y="20903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42846" y="20903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73352" y="2156155"/>
            <a:ext cx="36576" cy="36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1883664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39696" y="1819656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2032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2315260" y="1947672"/>
            <a:ext cx="124358" cy="146304"/>
          </a:xfrm>
          <a:prstGeom prst="triangle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2498140" y="1947672"/>
            <a:ext cx="124358" cy="146304"/>
          </a:xfrm>
          <a:prstGeom prst="triangle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286000" y="1947672"/>
            <a:ext cx="365760" cy="365760"/>
          </a:xfrm>
          <a:prstGeom prst="ellipse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373782" y="20903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520086" y="20903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50592" y="2156155"/>
            <a:ext cx="36576" cy="36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0936" y="2798064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" y="2734056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2032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>
            <a:off x="760780" y="2862072"/>
            <a:ext cx="124358" cy="146304"/>
          </a:xfrm>
          <a:prstGeom prst="triangl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43660" y="2862072"/>
            <a:ext cx="124358" cy="146304"/>
          </a:xfrm>
          <a:prstGeom prst="triangl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2862072"/>
            <a:ext cx="365760" cy="36576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9302" y="30047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65606" y="30047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96112" y="3070555"/>
            <a:ext cx="36576" cy="36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408176" y="2798064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62456" y="2734056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2032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1538020" y="2862072"/>
            <a:ext cx="124358" cy="146304"/>
          </a:xfrm>
          <a:prstGeom prst="triangl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1720900" y="2862072"/>
            <a:ext cx="124358" cy="146304"/>
          </a:xfrm>
          <a:prstGeom prst="triangl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08760" y="2862072"/>
            <a:ext cx="365760" cy="365760"/>
          </a:xfrm>
          <a:prstGeom prst="ellips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596542" y="30047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742846" y="30047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673352" y="3070555"/>
            <a:ext cx="36576" cy="36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185416" y="2798064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139696" y="2734056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2032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>
            <a:off x="2315260" y="2862072"/>
            <a:ext cx="124358" cy="146304"/>
          </a:xfrm>
          <a:prstGeom prst="triangl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Isosceles Triangle 53"/>
          <p:cNvSpPr/>
          <p:nvPr/>
        </p:nvSpPr>
        <p:spPr>
          <a:xfrm>
            <a:off x="2498140" y="2862072"/>
            <a:ext cx="124358" cy="146304"/>
          </a:xfrm>
          <a:prstGeom prst="triangl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286000" y="2862072"/>
            <a:ext cx="365760" cy="365760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373782" y="30047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520086" y="3004718"/>
            <a:ext cx="43891" cy="4389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450592" y="3070555"/>
            <a:ext cx="36576" cy="3657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3675887"/>
            <a:ext cx="2377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46980"/>
                </a:solidFill>
                <a:latin typeface="Trebuchet MS"/>
              </a:rPr>
              <a:t>examples (we call this data)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3063240" y="2331720"/>
            <a:ext cx="777240" cy="457200"/>
          </a:xfrm>
          <a:prstGeom prst="rightArrow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866802" y="1874519"/>
            <a:ext cx="50474" cy="218724"/>
          </a:xfrm>
          <a:prstGeom prst="round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4-Point Star 61"/>
          <p:cNvSpPr/>
          <p:nvPr/>
        </p:nvSpPr>
        <p:spPr>
          <a:xfrm>
            <a:off x="4749027" y="1714682"/>
            <a:ext cx="286024" cy="286024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78878" y="2076419"/>
            <a:ext cx="1026322" cy="841248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69516" y="2412918"/>
            <a:ext cx="168249" cy="168249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346313" y="2412918"/>
            <a:ext cx="168249" cy="168249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315785" y="2459187"/>
            <a:ext cx="75712" cy="757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92582" y="2459187"/>
            <a:ext cx="75712" cy="757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496653" y="2202606"/>
            <a:ext cx="790773" cy="588873"/>
          </a:xfrm>
          <a:prstGeom prst="roundRect">
            <a:avLst>
              <a:gd name="adj" fmla="val 40000"/>
            </a:avLst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608707" y="2340571"/>
            <a:ext cx="218724" cy="2187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09657" y="2391046"/>
            <a:ext cx="67299" cy="67299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56647" y="2340571"/>
            <a:ext cx="218724" cy="2187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57597" y="2391046"/>
            <a:ext cx="67299" cy="67299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64289" y="2559295"/>
            <a:ext cx="117774" cy="117774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102015" y="2559295"/>
            <a:ext cx="117774" cy="117774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723790" y="2592945"/>
            <a:ext cx="336499" cy="185074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05502" y="2574657"/>
            <a:ext cx="373075" cy="101791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757440" y="2900842"/>
            <a:ext cx="269199" cy="117774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450721" y="2984967"/>
            <a:ext cx="882637" cy="420624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Heart 78"/>
          <p:cNvSpPr/>
          <p:nvPr/>
        </p:nvSpPr>
        <p:spPr>
          <a:xfrm>
            <a:off x="4774265" y="3069092"/>
            <a:ext cx="235549" cy="218724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604494" y="3355116"/>
            <a:ext cx="151424" cy="151424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028160" y="3355116"/>
            <a:ext cx="151424" cy="151424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989320" y="2331720"/>
            <a:ext cx="777240" cy="457200"/>
          </a:xfrm>
          <a:prstGeom prst="rightArrow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940296" y="1929384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903720" y="1874519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778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Isosceles Triangle 84"/>
          <p:cNvSpPr/>
          <p:nvPr/>
        </p:nvSpPr>
        <p:spPr>
          <a:xfrm rot="12000000">
            <a:off x="7360920" y="2770632"/>
            <a:ext cx="310896" cy="27432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23176" y="2028139"/>
            <a:ext cx="1389888" cy="60716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A5170"/>
                </a:solidFill>
                <a:latin typeface="Trebuchet MS"/>
              </a:rPr>
              <a:t>That's 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1AA79E"/>
                </a:solidFill>
                <a:latin typeface="Trebuchet MS"/>
              </a:rPr>
              <a:t>cat!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4160520"/>
            <a:ext cx="8010144" cy="512064"/>
          </a:xfrm>
          <a:prstGeom prst="roundRect">
            <a:avLst>
              <a:gd name="adj" fmla="val 25000"/>
            </a:avLst>
          </a:prstGeom>
          <a:solidFill>
            <a:srgbClr val="FCEED9"/>
          </a:solidFill>
          <a:ln w="17780">
            <a:solidFill>
              <a:srgbClr val="1AA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4-Point Star 87"/>
          <p:cNvSpPr/>
          <p:nvPr/>
        </p:nvSpPr>
        <p:spPr>
          <a:xfrm>
            <a:off x="731519" y="4270248"/>
            <a:ext cx="292608" cy="292608"/>
          </a:xfrm>
          <a:prstGeom prst="star4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1133856" y="4251960"/>
            <a:ext cx="1469136" cy="329184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3856" y="4251960"/>
            <a:ext cx="1469136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KEY IDEA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04160" y="4160520"/>
            <a:ext cx="5571744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More examples → better learning. We call this training.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2751582" cy="329184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2751582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HOW AI LEARNS ·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It practises, checks, and tries again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14600" y="1508760"/>
            <a:ext cx="3931920" cy="1554480"/>
          </a:xfrm>
          <a:prstGeom prst="ellipse">
            <a:avLst/>
          </a:prstGeom>
          <a:noFill/>
          <a:ln w="2540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799531" y="1897379"/>
            <a:ext cx="1430160" cy="0"/>
          </a:xfrm>
          <a:prstGeom prst="line">
            <a:avLst/>
          </a:prstGeom>
          <a:ln w="19050">
            <a:solidFill>
              <a:srgbClr val="F584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957279" y="2247138"/>
            <a:ext cx="715080" cy="489661"/>
          </a:xfrm>
          <a:prstGeom prst="line">
            <a:avLst/>
          </a:prstGeom>
          <a:ln w="19050">
            <a:solidFill>
              <a:srgbClr val="F584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254708" y="2223820"/>
            <a:ext cx="715080" cy="489662"/>
          </a:xfrm>
          <a:prstGeom prst="line">
            <a:avLst/>
          </a:prstGeom>
          <a:ln w="19050">
            <a:solidFill>
              <a:srgbClr val="F584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48220" y="1467611"/>
            <a:ext cx="859536" cy="859536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 w="17780">
            <a:solidFill>
              <a:srgbClr val="1AA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532" y="1630923"/>
            <a:ext cx="532912" cy="532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3156" y="1659635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9304F"/>
                </a:solidFill>
                <a:latin typeface="Trebuchet MS"/>
              </a:rPr>
              <a:t>GUESS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56" y="1933955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170"/>
                </a:solidFill>
                <a:latin typeface="Trebuchet MS"/>
              </a:rPr>
              <a:t>make a best 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53363" y="1467611"/>
            <a:ext cx="859536" cy="859536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 w="17780">
            <a:solidFill>
              <a:srgbClr val="1AA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y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675" y="1630923"/>
            <a:ext cx="532912" cy="532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13483" y="1659635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9304F"/>
                </a:solidFill>
                <a:latin typeface="Trebuchet MS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3483" y="1933955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170"/>
                </a:solidFill>
                <a:latin typeface="Trebuchet MS"/>
              </a:rPr>
              <a:t>right or wrong?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50792" y="2633472"/>
            <a:ext cx="859536" cy="859536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 w="17780">
            <a:solidFill>
              <a:srgbClr val="1AA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ee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103" y="2796783"/>
            <a:ext cx="532912" cy="532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03320" y="3602736"/>
            <a:ext cx="15544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9304F"/>
                </a:solidFill>
                <a:latin typeface="Trebuchet MS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877056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170"/>
                </a:solidFill>
                <a:latin typeface="Trebuchet MS"/>
              </a:rPr>
              <a:t>adjust a little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112264"/>
            <a:ext cx="1371600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843C"/>
                </a:solidFill>
                <a:latin typeface="Trebuchet MS"/>
              </a:rPr>
              <a:t>do it
again!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60520"/>
            <a:ext cx="8010144" cy="512064"/>
          </a:xfrm>
          <a:prstGeom prst="roundRect">
            <a:avLst>
              <a:gd name="adj" fmla="val 25000"/>
            </a:avLst>
          </a:prstGeom>
          <a:solidFill>
            <a:srgbClr val="FCEED9"/>
          </a:solidFill>
          <a:ln w="17780">
            <a:solidFill>
              <a:srgbClr val="1AA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4-Point Star 27"/>
          <p:cNvSpPr/>
          <p:nvPr/>
        </p:nvSpPr>
        <p:spPr>
          <a:xfrm>
            <a:off x="731519" y="4270248"/>
            <a:ext cx="292608" cy="292608"/>
          </a:xfrm>
          <a:prstGeom prst="star4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33856" y="4251960"/>
            <a:ext cx="1469136" cy="329184"/>
          </a:xfrm>
          <a:prstGeom prst="roundRect">
            <a:avLst>
              <a:gd name="adj" fmla="val 50000"/>
            </a:avLst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4251960"/>
            <a:ext cx="1469136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KEY IDEA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4160" y="4160520"/>
            <a:ext cx="5571744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It guesses, checks, and adjusts — over and over, super fast.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1896618" cy="329184"/>
          </a:xfrm>
          <a:prstGeom prst="roundRect">
            <a:avLst>
              <a:gd name="adj" fmla="val 50000"/>
            </a:avLst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189661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SUPERPOWERS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What AI is really good 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636776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572768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20320">
            <a:solidFill>
              <a:srgbClr val="57A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66928" y="1572768"/>
            <a:ext cx="1993392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9576" y="1847088"/>
            <a:ext cx="768096" cy="768096"/>
          </a:xfrm>
          <a:prstGeom prst="ellips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280" y="2046792"/>
            <a:ext cx="368686" cy="36868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2724912"/>
            <a:ext cx="162763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Super 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072384"/>
            <a:ext cx="1627632" cy="8412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170"/>
                </a:solidFill>
                <a:latin typeface="Trebuchet MS"/>
              </a:rPr>
              <a:t>Sorts huge amounts of information in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1636776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43200" y="1572768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20320">
            <a:solidFill>
              <a:srgbClr val="57A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2743200" y="1572768"/>
            <a:ext cx="1993392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55848" y="1847088"/>
            <a:ext cx="768096" cy="768096"/>
          </a:xfrm>
          <a:prstGeom prst="ellips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attery-charg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552" y="2046792"/>
            <a:ext cx="368686" cy="36868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26080" y="2724912"/>
            <a:ext cx="162763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Never gets tired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072384"/>
            <a:ext cx="1627632" cy="8412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170"/>
                </a:solidFill>
                <a:latin typeface="Trebuchet MS"/>
              </a:rPr>
              <a:t>Keeps helping all day and night, no breaks.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65192" y="1636776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19472" y="1572768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20320">
            <a:solidFill>
              <a:srgbClr val="57A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4919472" y="1572768"/>
            <a:ext cx="1993392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32120" y="1847088"/>
            <a:ext cx="768096" cy="768096"/>
          </a:xfrm>
          <a:prstGeom prst="ellips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uzzl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1824" y="2046792"/>
            <a:ext cx="368686" cy="36868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02352" y="2724912"/>
            <a:ext cx="162763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Spots patterns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2" y="3072384"/>
            <a:ext cx="1627632" cy="8412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170"/>
                </a:solidFill>
                <a:latin typeface="Trebuchet MS"/>
              </a:rPr>
              <a:t>Notices tiny details people might miss.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1464" y="1636776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095744" y="1572768"/>
            <a:ext cx="1993392" cy="2395728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20320">
            <a:solidFill>
              <a:srgbClr val="57A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7095744" y="1572768"/>
            <a:ext cx="1993392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08392" y="1847088"/>
            <a:ext cx="768096" cy="768096"/>
          </a:xfrm>
          <a:prstGeom prst="ellips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or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096" y="2046792"/>
            <a:ext cx="368686" cy="36868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278624" y="2724912"/>
            <a:ext cx="162763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Knows a LOT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3072384"/>
            <a:ext cx="1627632" cy="8412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170"/>
                </a:solidFill>
                <a:latin typeface="Trebuchet MS"/>
              </a:rPr>
              <a:t>Has read tons of text; helps in many languages.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279392"/>
            <a:ext cx="801014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C8C48"/>
                </a:solidFill>
                <a:latin typeface="Trebuchet MS"/>
              </a:rPr>
              <a:t>So AI is a fantastic helper for big, do-it-again jobs.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1896618" cy="329184"/>
          </a:xfrm>
          <a:prstGeom prst="roundRect">
            <a:avLst>
              <a:gd name="adj" fmla="val 50000"/>
            </a:avLst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189661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TRICKY BITS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But AI is not perfect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9928" y="2103120"/>
            <a:ext cx="54864" cy="237744"/>
          </a:xfrm>
          <a:prstGeom prst="round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1581912" y="1929384"/>
            <a:ext cx="310896" cy="310896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79576" y="2322576"/>
            <a:ext cx="1115568" cy="914400"/>
          </a:xfrm>
          <a:prstGeom prst="roundRect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2688336"/>
            <a:ext cx="182880" cy="182880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31135" y="2688336"/>
            <a:ext cx="182880" cy="182880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0996" y="273862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1427" y="273862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07592" y="2459736"/>
            <a:ext cx="859536" cy="640080"/>
          </a:xfrm>
          <a:prstGeom prst="roundRect">
            <a:avLst>
              <a:gd name="adj" fmla="val 40000"/>
            </a:avLst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9390" y="2609697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39118" y="2664561"/>
            <a:ext cx="73152" cy="73152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07585" y="2609697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17313" y="2664561"/>
            <a:ext cx="73152" cy="73152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81109" y="2847441"/>
            <a:ext cx="128016" cy="12801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65594" y="2847441"/>
            <a:ext cx="128016" cy="128016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554480" y="2884017"/>
            <a:ext cx="365760" cy="201168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36192" y="2865729"/>
            <a:ext cx="402336" cy="110642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91056" y="3218688"/>
            <a:ext cx="292608" cy="128016"/>
          </a:xfrm>
          <a:prstGeom prst="roundRect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57665" y="3310128"/>
            <a:ext cx="959388" cy="457200"/>
          </a:xfrm>
          <a:prstGeom prst="roundRect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art 27"/>
          <p:cNvSpPr/>
          <p:nvPr/>
        </p:nvSpPr>
        <p:spPr>
          <a:xfrm>
            <a:off x="1609343" y="3401568"/>
            <a:ext cx="256032" cy="237744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24810" y="3712464"/>
            <a:ext cx="164592" cy="164592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85317" y="3712464"/>
            <a:ext cx="164592" cy="164592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loud 30"/>
          <p:cNvSpPr/>
          <p:nvPr/>
        </p:nvSpPr>
        <p:spPr>
          <a:xfrm>
            <a:off x="2331720" y="1517904"/>
            <a:ext cx="960120" cy="603504"/>
          </a:xfrm>
          <a:prstGeom prst="cloud">
            <a:avLst/>
          </a:prstGeom>
          <a:solidFill>
            <a:srgbClr val="FFFFFF"/>
          </a:solidFill>
          <a:ln w="15240">
            <a:solidFill>
              <a:srgbClr val="EAD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1517904"/>
            <a:ext cx="96012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6588"/>
                </a:solidFill>
                <a:latin typeface="Trebuchet MS"/>
              </a:rPr>
              <a:t>?</a:t>
            </a:r>
          </a:p>
        </p:txBody>
      </p:sp>
      <p:sp>
        <p:nvSpPr>
          <p:cNvPr id="33" name="Oval 32"/>
          <p:cNvSpPr/>
          <p:nvPr/>
        </p:nvSpPr>
        <p:spPr>
          <a:xfrm>
            <a:off x="3429000" y="1600200"/>
            <a:ext cx="603504" cy="603504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help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911" y="1757111"/>
            <a:ext cx="289681" cy="28968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215384" y="1627632"/>
            <a:ext cx="434340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It doesn't truly understand.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15384" y="1956816"/>
            <a:ext cx="43434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It just guesses the answer that seems most likely.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15384" y="2340864"/>
            <a:ext cx="4343400" cy="16459"/>
          </a:xfrm>
          <a:prstGeom prst="rect">
            <a:avLst/>
          </a:prstGeom>
          <a:solidFill>
            <a:srgbClr val="EAD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429000" y="2459736"/>
            <a:ext cx="603504" cy="603504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mood-emp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911" y="2616647"/>
            <a:ext cx="289681" cy="28968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215384" y="2487168"/>
            <a:ext cx="434340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It has no real feelings.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5384" y="2816352"/>
            <a:ext cx="43434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And no common sense the way you naturally do.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15384" y="3200400"/>
            <a:ext cx="4343400" cy="16459"/>
          </a:xfrm>
          <a:prstGeom prst="rect">
            <a:avLst/>
          </a:prstGeom>
          <a:solidFill>
            <a:srgbClr val="EAD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429000" y="3319271"/>
            <a:ext cx="603504" cy="603504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911" y="3476183"/>
            <a:ext cx="289681" cy="28968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215384" y="3346703"/>
            <a:ext cx="434340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It can make things up.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15384" y="3675887"/>
            <a:ext cx="43434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Sometimes it says wrong things — with total confidence.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4160520"/>
            <a:ext cx="8010144" cy="512064"/>
          </a:xfrm>
          <a:prstGeom prst="roundRect">
            <a:avLst>
              <a:gd name="adj" fmla="val 25000"/>
            </a:avLst>
          </a:prstGeom>
          <a:solidFill>
            <a:srgbClr val="FCEED9"/>
          </a:solidFill>
          <a:ln w="17780">
            <a:solidFill>
              <a:srgbClr val="EC6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4-Point Star 47"/>
          <p:cNvSpPr/>
          <p:nvPr/>
        </p:nvSpPr>
        <p:spPr>
          <a:xfrm>
            <a:off x="731519" y="4270248"/>
            <a:ext cx="292608" cy="292608"/>
          </a:xfrm>
          <a:prstGeom prst="star4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33856" y="4251960"/>
            <a:ext cx="1469136" cy="329184"/>
          </a:xfrm>
          <a:prstGeom prst="roundRect">
            <a:avLst>
              <a:gd name="adj" fmla="val 50000"/>
            </a:avLst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33856" y="4251960"/>
            <a:ext cx="1469136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REMEMBER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4160" y="4160520"/>
            <a:ext cx="5571744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AI can be confidently wrong — so we ALWAYS double-check!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205739" y="68579"/>
            <a:ext cx="1417320" cy="1417320"/>
          </a:xfrm>
          <a:prstGeom prst="sun">
            <a:avLst/>
          </a:prstGeom>
          <a:solidFill>
            <a:srgbClr val="4A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n 3"/>
          <p:cNvSpPr/>
          <p:nvPr/>
        </p:nvSpPr>
        <p:spPr>
          <a:xfrm>
            <a:off x="7292340" y="3268980"/>
            <a:ext cx="1234440" cy="1234440"/>
          </a:xfrm>
          <a:prstGeom prst="sun">
            <a:avLst/>
          </a:prstGeom>
          <a:solidFill>
            <a:srgbClr val="4A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225296" y="3785615"/>
            <a:ext cx="384048" cy="384048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7799831" y="896111"/>
            <a:ext cx="310896" cy="310896"/>
          </a:xfrm>
          <a:prstGeom prst="star4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7516367" y="566928"/>
            <a:ext cx="237744" cy="237744"/>
          </a:xfrm>
          <a:prstGeom prst="star5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44393" y="749808"/>
            <a:ext cx="2855214" cy="329184"/>
          </a:xfrm>
          <a:prstGeom prst="roundRect">
            <a:avLst>
              <a:gd name="adj" fmla="val 50000"/>
            </a:avLst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4393" y="749808"/>
            <a:ext cx="2855214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rebuchet MS"/>
              </a:rPr>
              <a:t>THE GOLDEN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36192"/>
            <a:ext cx="768096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500" b="1" i="0">
                <a:solidFill>
                  <a:srgbClr val="FFF7EA"/>
                </a:solidFill>
                <a:latin typeface="Trebuchet MS"/>
              </a:rPr>
              <a:t>AI can be wrong.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500" b="1" i="0">
                <a:solidFill>
                  <a:srgbClr val="F6B93B"/>
                </a:solidFill>
                <a:latin typeface="Trebuchet MS"/>
              </a:rPr>
              <a:t>YOU</a:t>
            </a:r>
            <a:r>
              <a:rPr sz="4500" b="1" i="0">
                <a:solidFill>
                  <a:srgbClr val="FFFFFF"/>
                </a:solidFill>
                <a:latin typeface="Trebuchet MS"/>
              </a:rPr>
              <a:t> are the checker.</a:t>
            </a:r>
          </a:p>
        </p:txBody>
      </p:sp>
      <p:sp>
        <p:nvSpPr>
          <p:cNvPr id="11" name="Oval 10"/>
          <p:cNvSpPr/>
          <p:nvPr/>
        </p:nvSpPr>
        <p:spPr>
          <a:xfrm>
            <a:off x="1572768" y="3374136"/>
            <a:ext cx="786384" cy="786384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227" y="3578595"/>
            <a:ext cx="377464" cy="3774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155545" y="3200400"/>
            <a:ext cx="44988" cy="194950"/>
          </a:xfrm>
          <a:prstGeom prst="round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4-Point Star 13"/>
          <p:cNvSpPr/>
          <p:nvPr/>
        </p:nvSpPr>
        <p:spPr>
          <a:xfrm>
            <a:off x="7050572" y="3057936"/>
            <a:ext cx="254934" cy="254934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0657" y="3380353"/>
            <a:ext cx="914765" cy="749808"/>
          </a:xfrm>
          <a:prstGeom prst="roundRect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23182" y="3680277"/>
            <a:ext cx="149961" cy="149961"/>
          </a:xfrm>
          <a:prstGeom prst="ellipse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82936" y="3680277"/>
            <a:ext cx="149961" cy="149961"/>
          </a:xfrm>
          <a:prstGeom prst="ellipse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64421" y="3721516"/>
            <a:ext cx="67482" cy="67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24175" y="3721516"/>
            <a:ext cx="67482" cy="67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25630" y="3492825"/>
            <a:ext cx="704819" cy="524865"/>
          </a:xfrm>
          <a:prstGeom prst="roundRect">
            <a:avLst>
              <a:gd name="adj" fmla="val 40000"/>
            </a:avLst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25504" y="3615793"/>
            <a:ext cx="194950" cy="1949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15481" y="3660782"/>
            <a:ext cx="59984" cy="59984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35625" y="3615793"/>
            <a:ext cx="194950" cy="1949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25602" y="3660782"/>
            <a:ext cx="59984" cy="59984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85914" y="3810743"/>
            <a:ext cx="104973" cy="104973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65192" y="3810743"/>
            <a:ext cx="104973" cy="104973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28078" y="3840736"/>
            <a:ext cx="299923" cy="164957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09790" y="3822448"/>
            <a:ext cx="336499" cy="90726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58070" y="4115165"/>
            <a:ext cx="239938" cy="104973"/>
          </a:xfrm>
          <a:prstGeom prst="roundRect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784690" y="4190146"/>
            <a:ext cx="786698" cy="374904"/>
          </a:xfrm>
          <a:prstGeom prst="roundRect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art 30"/>
          <p:cNvSpPr/>
          <p:nvPr/>
        </p:nvSpPr>
        <p:spPr>
          <a:xfrm>
            <a:off x="7073066" y="4265127"/>
            <a:ext cx="209946" cy="19495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21749" y="4520062"/>
            <a:ext cx="134965" cy="134965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299364" y="4520062"/>
            <a:ext cx="134965" cy="134965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1760" y="3474720"/>
            <a:ext cx="365760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FFF7EA"/>
                </a:solidFill>
                <a:latin typeface="Trebuchet MS"/>
              </a:rPr>
              <a:t>Ask yourself: does this make sense? Is it true?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D8CEBE"/>
                </a:solidFill>
                <a:latin typeface="Trebuchet MS"/>
              </a:rPr>
              <a:t>Check with a book, a trusted website, or a grown-up.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479A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7EA"/>
                </a:solidFill>
                <a:latin typeface="Trebuchet M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1326642" cy="329184"/>
          </a:xfrm>
          <a:prstGeom prst="roundRect">
            <a:avLst>
              <a:gd name="adj" fmla="val 5000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1326642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TEAM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How to be a smart AI partner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636776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572768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4C9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66928" y="1572768"/>
            <a:ext cx="2011680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1792223"/>
            <a:ext cx="548640" cy="54864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1847088"/>
            <a:ext cx="5486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847088" y="1837943"/>
            <a:ext cx="457200" cy="45720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ess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1956815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2542032"/>
            <a:ext cx="164592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9304F"/>
                </a:solidFill>
                <a:latin typeface="Trebuchet MS"/>
              </a:rPr>
              <a:t>Ask clearly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017520"/>
            <a:ext cx="1645920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Say exactly what you want. Clear questions work best.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8920" y="1636776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43200" y="1572768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4C9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2743200" y="1572768"/>
            <a:ext cx="2011680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26080" y="1792223"/>
            <a:ext cx="548640" cy="54864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1847088"/>
            <a:ext cx="5486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4023360" y="1837943"/>
            <a:ext cx="457200" cy="45720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1956815"/>
            <a:ext cx="219456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926080" y="2542032"/>
            <a:ext cx="164592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9304F"/>
                </a:solidFill>
                <a:latin typeface="Trebuchet MS"/>
              </a:rPr>
              <a:t>Check the answer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017520"/>
            <a:ext cx="1645920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Don't just trust it — check that it's actually right.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65192" y="1636776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919472" y="1572768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4C9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4919472" y="1572768"/>
            <a:ext cx="2011680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02352" y="1792223"/>
            <a:ext cx="548640" cy="54864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1847088"/>
            <a:ext cx="5486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33" name="Oval 32"/>
          <p:cNvSpPr/>
          <p:nvPr/>
        </p:nvSpPr>
        <p:spPr>
          <a:xfrm>
            <a:off x="6199632" y="1837943"/>
            <a:ext cx="457200" cy="45720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1956815"/>
            <a:ext cx="219456" cy="2194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02352" y="2542032"/>
            <a:ext cx="164592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9304F"/>
                </a:solidFill>
                <a:latin typeface="Trebuchet MS"/>
              </a:rPr>
              <a:t>Use it to help YOU think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02352" y="3017520"/>
            <a:ext cx="1645920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Let it spark ideas, but keep thinking for yourself.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41464" y="1636776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95744" y="1572768"/>
            <a:ext cx="2011680" cy="2432304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4C9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7095744" y="1572768"/>
            <a:ext cx="2011680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278624" y="1792223"/>
            <a:ext cx="548640" cy="54864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1847088"/>
            <a:ext cx="5486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8375904" y="1837943"/>
            <a:ext cx="457200" cy="45720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h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1956815"/>
            <a:ext cx="219456" cy="21945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78624" y="2542032"/>
            <a:ext cx="1645920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9304F"/>
                </a:solidFill>
                <a:latin typeface="Trebuchet MS"/>
              </a:rPr>
              <a:t>Stay curious &amp; kind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78624" y="3017520"/>
            <a:ext cx="1645920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170"/>
                </a:solidFill>
                <a:latin typeface="Trebuchet MS"/>
              </a:rPr>
              <a:t>Keep asking "why?", try things, and be polite.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FBE"/>
                </a:solidFill>
                <a:latin typeface="Trebuchet MS"/>
              </a:rPr>
              <a:t>AI is a helper — never a replacement for your own wonderful brain.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1611630" cy="329184"/>
          </a:xfrm>
          <a:prstGeom prst="roundRect">
            <a:avLst>
              <a:gd name="adj" fmla="val 50000"/>
            </a:avLst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1611630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STAY SAFE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Staying safe and smart with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527048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63040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20320">
            <a:solidFill>
              <a:srgbClr val="EC6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00200"/>
            <a:ext cx="109728" cy="1005839"/>
          </a:xfrm>
          <a:prstGeom prst="rect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5528" y="1728216"/>
            <a:ext cx="749808" cy="749808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478" y="1923166"/>
            <a:ext cx="359907" cy="35990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64207" y="1682496"/>
            <a:ext cx="2743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Keep secrets secret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7" y="2066544"/>
            <a:ext cx="27432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170"/>
                </a:solidFill>
                <a:latin typeface="Trebuchet MS"/>
              </a:rPr>
              <a:t>Never share your name, address, school, passwords, or photos.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18888" y="1527048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73168" y="1463040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20320">
            <a:solidFill>
              <a:srgbClr val="EC6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73168" y="1600200"/>
            <a:ext cx="109728" cy="1005839"/>
          </a:xfrm>
          <a:prstGeom prst="rect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01768" y="1728216"/>
            <a:ext cx="749808" cy="749808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ri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718" y="1923166"/>
            <a:ext cx="359907" cy="35990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870448" y="1682496"/>
            <a:ext cx="2743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Ask a grown-up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2066544"/>
            <a:ext cx="27432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170"/>
                </a:solidFill>
                <a:latin typeface="Trebuchet MS"/>
              </a:rPr>
              <a:t>If something feels weird or scary, tell an adult you trust.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" y="2935224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2871216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20320">
            <a:solidFill>
              <a:srgbClr val="EC6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08376"/>
            <a:ext cx="109728" cy="1005839"/>
          </a:xfrm>
          <a:prstGeom prst="rect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528" y="3136391"/>
            <a:ext cx="749808" cy="749808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478" y="3331342"/>
            <a:ext cx="359907" cy="35990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64207" y="3090672"/>
            <a:ext cx="2743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It's a tool, not a friend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7" y="3474720"/>
            <a:ext cx="27432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170"/>
                </a:solidFill>
                <a:latin typeface="Trebuchet MS"/>
              </a:rPr>
              <a:t>AI is a clever helper — not a real person or a real friend.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18888" y="2935224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73168" y="2871216"/>
            <a:ext cx="402336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20320">
            <a:solidFill>
              <a:srgbClr val="EC6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73168" y="3008376"/>
            <a:ext cx="109728" cy="1005839"/>
          </a:xfrm>
          <a:prstGeom prst="rect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01768" y="3136391"/>
            <a:ext cx="749808" cy="749808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ood-k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6718" y="3331342"/>
            <a:ext cx="359907" cy="35990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870448" y="3090672"/>
            <a:ext cx="2743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9304F"/>
                </a:solidFill>
                <a:latin typeface="Trebuchet MS"/>
              </a:rPr>
              <a:t>Be kind &amp; honest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0448" y="3474720"/>
            <a:ext cx="27432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170"/>
                </a:solidFill>
                <a:latin typeface="Trebuchet MS"/>
              </a:rPr>
              <a:t>Don't use AI to be mean, or to do your own homework for you.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160520"/>
            <a:ext cx="8010144" cy="512064"/>
          </a:xfrm>
          <a:prstGeom prst="roundRect">
            <a:avLst>
              <a:gd name="adj" fmla="val 25000"/>
            </a:avLst>
          </a:prstGeom>
          <a:solidFill>
            <a:srgbClr val="FCEED9"/>
          </a:solidFill>
          <a:ln w="17780">
            <a:solidFill>
              <a:srgbClr val="EC6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4-Point Star 38"/>
          <p:cNvSpPr/>
          <p:nvPr/>
        </p:nvSpPr>
        <p:spPr>
          <a:xfrm>
            <a:off x="731519" y="4270248"/>
            <a:ext cx="292608" cy="292608"/>
          </a:xfrm>
          <a:prstGeom prst="star4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" y="4251960"/>
            <a:ext cx="2039112" cy="329184"/>
          </a:xfrm>
          <a:prstGeom prst="roundRect">
            <a:avLst>
              <a:gd name="adj" fmla="val 50000"/>
            </a:avLst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33856" y="4251960"/>
            <a:ext cx="2039112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SAFETY FIRST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4136" y="4160520"/>
            <a:ext cx="5001768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9304F"/>
                </a:solidFill>
                <a:latin typeface="Trebuchet MS"/>
              </a:rPr>
              <a:t>When in doubt — ask a grown-up. Always.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2609088" cy="329184"/>
          </a:xfrm>
          <a:prstGeom prst="roundRect">
            <a:avLst>
              <a:gd name="adj" fmla="val 50000"/>
            </a:avLst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2609088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YOU'RE IN CHARGE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You bring the things AI can't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636776"/>
            <a:ext cx="3840480" cy="2395728"/>
          </a:xfrm>
          <a:prstGeom prst="roundRect">
            <a:avLst>
              <a:gd name="adj" fmla="val 6106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572768"/>
            <a:ext cx="3840480" cy="2395728"/>
          </a:xfrm>
          <a:prstGeom prst="roundRect">
            <a:avLst>
              <a:gd name="adj" fmla="val 6106"/>
            </a:avLst>
          </a:prstGeom>
          <a:solidFill>
            <a:srgbClr val="FFFFFF"/>
          </a:solidFill>
          <a:ln w="20320">
            <a:solidFill>
              <a:srgbClr val="8A7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66928" y="1572768"/>
            <a:ext cx="3840480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93976" y="1783080"/>
            <a:ext cx="786384" cy="786384"/>
          </a:xfrm>
          <a:prstGeom prst="ellipse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ood-k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435" y="1987539"/>
            <a:ext cx="377464" cy="377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2706624"/>
            <a:ext cx="384048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72D0"/>
                </a:solidFill>
                <a:latin typeface="Trebuchet MS"/>
              </a:rPr>
              <a:t>YOU bring…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90672"/>
            <a:ext cx="29260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9304F"/>
                </a:solidFill>
                <a:latin typeface="Trebuchet MS"/>
              </a:rPr>
              <a:t>Big ideas &amp; imagination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9304F"/>
                </a:solidFill>
                <a:latin typeface="Trebuchet MS"/>
              </a:rPr>
              <a:t>Kindness &amp; real feelings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9304F"/>
                </a:solidFill>
                <a:latin typeface="Trebuchet MS"/>
              </a:rPr>
              <a:t>Knowing right from wrong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82312" y="1636776"/>
            <a:ext cx="3840480" cy="2395728"/>
          </a:xfrm>
          <a:prstGeom prst="roundRect">
            <a:avLst>
              <a:gd name="adj" fmla="val 6106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36592" y="1572768"/>
            <a:ext cx="3840480" cy="2395728"/>
          </a:xfrm>
          <a:prstGeom prst="roundRect">
            <a:avLst>
              <a:gd name="adj" fmla="val 6106"/>
            </a:avLst>
          </a:prstGeom>
          <a:solidFill>
            <a:srgbClr val="FFFFFF"/>
          </a:solidFill>
          <a:ln w="20320">
            <a:solidFill>
              <a:srgbClr val="1AA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4736592" y="1572768"/>
            <a:ext cx="3840480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44761" y="1792224"/>
            <a:ext cx="24140" cy="104607"/>
          </a:xfrm>
          <a:prstGeom prst="round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4-Point Star 20"/>
          <p:cNvSpPr/>
          <p:nvPr/>
        </p:nvSpPr>
        <p:spPr>
          <a:xfrm>
            <a:off x="6588434" y="1715780"/>
            <a:ext cx="136794" cy="136794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11407" y="1888784"/>
            <a:ext cx="490849" cy="402336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59103" y="2049719"/>
            <a:ext cx="80467" cy="80467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74093" y="2049719"/>
            <a:ext cx="80467" cy="80467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81231" y="2071847"/>
            <a:ext cx="36210" cy="362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96221" y="2071847"/>
            <a:ext cx="36210" cy="362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67734" y="1949135"/>
            <a:ext cx="378195" cy="281635"/>
          </a:xfrm>
          <a:prstGeom prst="roundRect">
            <a:avLst>
              <a:gd name="adj" fmla="val 40000"/>
            </a:avLst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21325" y="2015118"/>
            <a:ext cx="104607" cy="10460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69605" y="2039258"/>
            <a:ext cx="32186" cy="32186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87731" y="2015118"/>
            <a:ext cx="104607" cy="10460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36011" y="2039258"/>
            <a:ext cx="32186" cy="32186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00081" y="2119725"/>
            <a:ext cx="56327" cy="56327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57255" y="2119725"/>
            <a:ext cx="56327" cy="56327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76364" y="2135818"/>
            <a:ext cx="160934" cy="88513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58076" y="2117530"/>
            <a:ext cx="197510" cy="48682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92458" y="2283073"/>
            <a:ext cx="128747" cy="56327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45766" y="2323307"/>
            <a:ext cx="422130" cy="201168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art 37"/>
          <p:cNvSpPr/>
          <p:nvPr/>
        </p:nvSpPr>
        <p:spPr>
          <a:xfrm>
            <a:off x="6600504" y="2363541"/>
            <a:ext cx="112654" cy="104607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19310" y="2500335"/>
            <a:ext cx="72420" cy="72420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21933" y="2500335"/>
            <a:ext cx="72420" cy="72420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6592" y="2706624"/>
            <a:ext cx="384048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A79E"/>
                </a:solidFill>
                <a:latin typeface="Trebuchet MS"/>
              </a:rPr>
              <a:t>AI brings…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93792" y="3090672"/>
            <a:ext cx="29260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9304F"/>
                </a:solidFill>
                <a:latin typeface="Trebuchet MS"/>
              </a:rPr>
              <a:t>Fast answers &amp; quick help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9304F"/>
                </a:solidFill>
                <a:latin typeface="Trebuchet MS"/>
              </a:rPr>
              <a:t>Tireless, patient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9304F"/>
                </a:solidFill>
                <a:latin typeface="Trebuchet MS"/>
              </a:rPr>
              <a:t>Loads of facts to look up</a:t>
            </a:r>
          </a:p>
        </p:txBody>
      </p:sp>
      <p:sp>
        <p:nvSpPr>
          <p:cNvPr id="43" name="Oval 42"/>
          <p:cNvSpPr/>
          <p:nvPr/>
        </p:nvSpPr>
        <p:spPr>
          <a:xfrm>
            <a:off x="4297680" y="2496312"/>
            <a:ext cx="548640" cy="548640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2496312"/>
            <a:ext cx="54864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261104"/>
            <a:ext cx="8010144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9304F"/>
                </a:solidFill>
                <a:latin typeface="Trebuchet MS"/>
              </a:rPr>
              <a:t>Together you're a great team — with </a:t>
            </a:r>
            <a:r>
              <a:rPr sz="1450" b="1" i="0">
                <a:solidFill>
                  <a:srgbClr val="6E58B8"/>
                </a:solidFill>
                <a:latin typeface="Trebuchet MS"/>
              </a:rPr>
              <a:t>YOU</a:t>
            </a:r>
            <a:r>
              <a:rPr sz="1450" b="0" i="0">
                <a:solidFill>
                  <a:srgbClr val="39304F"/>
                </a:solidFill>
                <a:latin typeface="Trebuchet MS"/>
              </a:rPr>
              <a:t> as the boss.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7808975" y="54863"/>
            <a:ext cx="1024128" cy="1024128"/>
          </a:xfrm>
          <a:prstGeom prst="sun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320040" y="4197096"/>
            <a:ext cx="274320" cy="274320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8586216" y="4288536"/>
            <a:ext cx="201168" cy="201168"/>
          </a:xfrm>
          <a:prstGeom prst="star4">
            <a:avLst/>
          </a:prstGeom>
          <a:solidFill>
            <a:srgbClr val="FCE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2336"/>
            <a:ext cx="1469136" cy="329184"/>
          </a:xfrm>
          <a:prstGeom prst="roundRect">
            <a:avLst>
              <a:gd name="adj" fmla="val 50000"/>
            </a:avLst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2336"/>
            <a:ext cx="1469136" cy="3291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rebuchet MS"/>
              </a:rPr>
              <a:t>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59536"/>
            <a:ext cx="777240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9304F"/>
                </a:solidFill>
                <a:latin typeface="Trebuchet MS"/>
              </a:rPr>
              <a:t>5 things to remember about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63040"/>
            <a:ext cx="822960" cy="82296"/>
          </a:xfrm>
          <a:prstGeom prst="roundRect">
            <a:avLst>
              <a:gd name="adj" fmla="val 50000"/>
            </a:avLst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36776"/>
            <a:ext cx="457200" cy="457200"/>
          </a:xfrm>
          <a:prstGeom prst="ellipse">
            <a:avLst/>
          </a:prstGeom>
          <a:solidFill>
            <a:srgbClr val="F5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45720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5" y="1645920"/>
            <a:ext cx="539496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9304F"/>
                </a:solidFill>
                <a:latin typeface="Trebuchet MS"/>
              </a:rPr>
              <a:t>AI is a computer that learns from lots of examples.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2167128"/>
            <a:ext cx="457200" cy="457200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176272"/>
            <a:ext cx="45720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5" y="2176272"/>
            <a:ext cx="539496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9304F"/>
                </a:solidFill>
                <a:latin typeface="Trebuchet MS"/>
              </a:rPr>
              <a:t>It's already all around you, every single day.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2697480"/>
            <a:ext cx="457200" cy="457200"/>
          </a:xfrm>
          <a:prstGeom prst="ellipse">
            <a:avLst/>
          </a:prstGeom>
          <a:solidFill>
            <a:srgbClr val="57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06624"/>
            <a:ext cx="45720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5" y="2706624"/>
            <a:ext cx="539496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9304F"/>
                </a:solidFill>
                <a:latin typeface="Trebuchet MS"/>
              </a:rPr>
              <a:t>It's fast and clever — but has no feelings and can be wrong.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3227832"/>
            <a:ext cx="457200" cy="457200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236976"/>
            <a:ext cx="45720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5" y="3236976"/>
            <a:ext cx="539496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9304F"/>
                </a:solidFill>
                <a:latin typeface="Trebuchet MS"/>
              </a:rPr>
              <a:t>Always check what it tells you.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3758184"/>
            <a:ext cx="457200" cy="457200"/>
          </a:xfrm>
          <a:prstGeom prst="ellipse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67328"/>
            <a:ext cx="45720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5" y="3767328"/>
            <a:ext cx="539496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9304F"/>
                </a:solidFill>
                <a:latin typeface="Trebuchet MS"/>
              </a:rPr>
              <a:t>Stay safe, be kind, and remember: YOU are in charge.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636776"/>
            <a:ext cx="2331720" cy="2487168"/>
          </a:xfrm>
          <a:prstGeom prst="roundRect">
            <a:avLst>
              <a:gd name="adj" fmla="val 7058"/>
            </a:avLst>
          </a:prstGeom>
          <a:solidFill>
            <a:srgbClr val="E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46520" y="1572768"/>
            <a:ext cx="2331720" cy="2487168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20320">
            <a:solidFill>
              <a:srgbClr val="F6B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 Same Side Corner Rectangle 26"/>
          <p:cNvSpPr/>
          <p:nvPr/>
        </p:nvSpPr>
        <p:spPr>
          <a:xfrm>
            <a:off x="6446520" y="1572768"/>
            <a:ext cx="2331720" cy="1371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86411" y="1874519"/>
            <a:ext cx="42793" cy="185440"/>
          </a:xfrm>
          <a:prstGeom prst="round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4-Point Star 28"/>
          <p:cNvSpPr/>
          <p:nvPr/>
        </p:nvSpPr>
        <p:spPr>
          <a:xfrm>
            <a:off x="7486558" y="1739005"/>
            <a:ext cx="242498" cy="242498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72736" y="2045695"/>
            <a:ext cx="870143" cy="713232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80016" y="2330988"/>
            <a:ext cx="142646" cy="142646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2953" y="2330988"/>
            <a:ext cx="142646" cy="142646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19244" y="2370216"/>
            <a:ext cx="64190" cy="641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32181" y="2370216"/>
            <a:ext cx="64190" cy="641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272588" y="2152680"/>
            <a:ext cx="670438" cy="499262"/>
          </a:xfrm>
          <a:prstGeom prst="roundRect">
            <a:avLst>
              <a:gd name="adj" fmla="val 40000"/>
            </a:avLst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67591" y="2269650"/>
            <a:ext cx="185440" cy="185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453179" y="2312444"/>
            <a:ext cx="57058" cy="57058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62584" y="2269650"/>
            <a:ext cx="185440" cy="185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48172" y="2312444"/>
            <a:ext cx="57058" cy="57058"/>
          </a:xfrm>
          <a:prstGeom prst="ellipse">
            <a:avLst/>
          </a:prstGeom>
          <a:solidFill>
            <a:srgbClr val="4C9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29932" y="2455090"/>
            <a:ext cx="99852" cy="99852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85830" y="2455090"/>
            <a:ext cx="99852" cy="99852"/>
          </a:xfrm>
          <a:prstGeom prst="ellipse">
            <a:avLst/>
          </a:prstGeom>
          <a:solidFill>
            <a:srgbClr val="EC6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65161" y="2483620"/>
            <a:ext cx="285292" cy="156911"/>
          </a:xfrm>
          <a:prstGeom prst="ellipse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46873" y="2465332"/>
            <a:ext cx="321868" cy="86301"/>
          </a:xfrm>
          <a:prstGeom prst="rect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493690" y="2744663"/>
            <a:ext cx="228234" cy="99852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33646" y="2815986"/>
            <a:ext cx="748323" cy="356616"/>
          </a:xfrm>
          <a:prstGeom prst="roundRect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Heart 45"/>
          <p:cNvSpPr/>
          <p:nvPr/>
        </p:nvSpPr>
        <p:spPr>
          <a:xfrm>
            <a:off x="7507955" y="2887309"/>
            <a:ext cx="199704" cy="18544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364019" y="3129808"/>
            <a:ext cx="128381" cy="12838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723214" y="3129808"/>
            <a:ext cx="128381" cy="128381"/>
          </a:xfrm>
          <a:prstGeom prst="ellipse">
            <a:avLst/>
          </a:prstGeom>
          <a:solidFill>
            <a:srgbClr val="39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19529" y="2801721"/>
            <a:ext cx="142646" cy="142646"/>
          </a:xfrm>
          <a:prstGeom prst="ellipse">
            <a:avLst/>
          </a:prstGeom>
          <a:solidFill>
            <a:srgbClr val="1AA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3456432"/>
            <a:ext cx="2148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5170"/>
                </a:solidFill>
                <a:latin typeface="Trebuchet MS"/>
              </a:rPr>
              <a:t>Keep being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843C"/>
                </a:solidFill>
                <a:latin typeface="Trebuchet MS"/>
              </a:rPr>
              <a:t>curious!</a:t>
            </a:r>
          </a:p>
        </p:txBody>
      </p:sp>
      <p:sp>
        <p:nvSpPr>
          <p:cNvPr id="51" name="4-Point Star 50"/>
          <p:cNvSpPr/>
          <p:nvPr/>
        </p:nvSpPr>
        <p:spPr>
          <a:xfrm>
            <a:off x="6720840" y="1691640"/>
            <a:ext cx="274320" cy="274320"/>
          </a:xfrm>
          <a:prstGeom prst="star4">
            <a:avLst/>
          </a:prstGeom>
          <a:solidFill>
            <a:srgbClr val="F6B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4-Point Star 51"/>
          <p:cNvSpPr/>
          <p:nvPr/>
        </p:nvSpPr>
        <p:spPr>
          <a:xfrm>
            <a:off x="8257032" y="2039112"/>
            <a:ext cx="219456" cy="219456"/>
          </a:xfrm>
          <a:prstGeom prst="star4">
            <a:avLst/>
          </a:prstGeom>
          <a:solidFill>
            <a:srgbClr val="8A7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47777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35870"/>
                </a:solidFill>
                <a:latin typeface="Trebuchet MS"/>
              </a:rPr>
              <a:t>What is AI?  ·  a first look for curious kids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777740"/>
            <a:ext cx="502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35870"/>
                </a:solidFill>
                <a:latin typeface="Trebuchet M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