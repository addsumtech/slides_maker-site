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Today we're going to meet a friend you talk to almost every day, but might never have noticed. Its name is AI, short for artificial intelligence. Ready? Let's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First, let's see how AI is already all around you. In a moment, count how many AI helpers you can spot in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ask what AI is, here's a secret: it's already all around you. You tell your phone to play a song and it understands; you open a video app and it guesses what you like; your phone looks at your face and unlocks; it turns Chinese into English in a second. All these little helpers are powered by AI working quietly behind the scenes.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exactly is AI? In one sentence: it lets a computer do things the way we do. It can see, hear, think, and even learn on its own. Kind of like a clever little buddy, right?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does it get so clever? Nobody teaches it every rule one by one. Instead, we show it lots and lots of examples, and it finds the pattern all by itself. Just like seeing many cat and dog photos helps you tell them apart, AI learns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try an example. To teach a computer to spot a cat: first, show it thousands of cat photos; second, it discovers what cats have in common, like pointy ears, whiskers, and round eyes; third, show it a cat it's never seen, and it still knows. Words, faces, it's all the same: the more it sees, the better it learns.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AI doesn't just recognize things: it can chat, draw, tell stories, and make music. Let's see how playful it can be!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can even chat with you. Ask it why the sky is blue, and it answers. It's really playing a giant word-chain game: after reading huge amounts of text, it guesses the best next word, one word at a time. ChatGPT and Doubao both work this 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cooler: you say one sentence, and it can draw a picture, write a story, or compose a tune. Pretty amazing, right? That's creative AI.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But even this clever AI has things it can't do and gets wrong. Next, we'll learn to use it wisely and safely.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here's something important: AI looks smart, yet it doesn't truly understand. It's really just guessing with numbers, with no real understanding and no feelings. Sometimes it even makes things up and says them like they're true. So we can't believe everything it says.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remember: AI is a helper, not a magician. It gives us ideas, but whether they're right or good is for us to judge, and we make the final call. Important things always need a human to check.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become good friends with AI? Four tips: ask it why; don't just trust it, think for yourself; never share secrets like your real name, address, or passwords; and when you're unsure, use it with a grown-up. Remember, you're the boss, it's the helper.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Finally, let's imagine together: when you grow up, how many amazing things could AI help us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when you grow up, AI could help doctors find problems sooner, help scientists explore space, and be there to help you learn anything, anytime. But never forget, the real boss is you!</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remember these three things: one, AI is all around us, helping every day; two, AI learns by looking at many examples; three, AI is clever, but we keep it in check. Stay curious, keep asking, and be a good friend to AI! That's all for today. Thank you, everyone!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image" Target="../media/image24.png"/><Relationship Id="rId5" Type="http://schemas.openxmlformats.org/officeDocument/2006/relationships/image" Target="../media/image14.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22.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4" name="Rounded Rectangle 3"/>
          <p:cNvSpPr/>
          <p:nvPr/>
        </p:nvSpPr>
        <p:spPr>
          <a:xfrm>
            <a:off x="411480" y="1755648"/>
            <a:ext cx="4114800" cy="1828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5" name="Rounded Rectangle 4"/>
          <p:cNvSpPr/>
          <p:nvPr/>
        </p:nvSpPr>
        <p:spPr>
          <a:xfrm>
            <a:off x="658368" y="1920240"/>
            <a:ext cx="2034539" cy="402336"/>
          </a:xfrm>
          <a:prstGeom prst="roundRect">
            <a:avLst>
              <a:gd name="adj" fmla="val 5000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6" name="TextBox 5"/>
          <p:cNvSpPr txBox="1"/>
          <p:nvPr/>
        </p:nvSpPr>
        <p:spPr>
          <a:xfrm>
            <a:off x="658368" y="1920240"/>
            <a:ext cx="2034539" cy="402336"/>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980" b="1" i="0">
                <a:solidFill>
                  <a:srgbClr val="FFFFFF"/>
                </a:solidFill>
                <a:latin typeface="Trebuchet MS"/>
                <a:ea typeface="Trebuchet MS"/>
              </a:rPr>
              <a:t>AI for Kids</a:t>
            </a:r>
          </a:p>
        </p:txBody>
      </p:sp>
      <p:sp>
        <p:nvSpPr>
          <p:cNvPr id="7" name="TextBox 6"/>
          <p:cNvSpPr txBox="1"/>
          <p:nvPr/>
        </p:nvSpPr>
        <p:spPr>
          <a:xfrm>
            <a:off x="658368" y="2377440"/>
            <a:ext cx="3657600" cy="914400"/>
          </a:xfrm>
          <a:prstGeom prst="rect">
            <a:avLst/>
          </a:prstGeom>
          <a:noFill/>
          <a:ln/>
        </p:spPr>
        <p:txBody>
          <a:bodyPr wrap="square" anchor="ctr" lIns="36576" rIns="36576" tIns="27432" bIns="27432">
            <a:spAutoFit/>
          </a:bodyPr>
          <a:lstStyle/>
          <a:p>
            <a:pPr algn="l">
              <a:lnSpc>
                <a:spcPct val="104000"/>
              </a:lnSpc>
              <a:spcBef>
                <a:spcPts val="0"/>
              </a:spcBef>
              <a:spcAft>
                <a:spcPts val="0"/>
              </a:spcAft>
            </a:pPr>
            <a:r>
              <a:rPr sz="3600" b="1" i="0">
                <a:solidFill>
                  <a:srgbClr val="063355"/>
                </a:solidFill>
                <a:latin typeface="Trebuchet MS"/>
                <a:ea typeface="Trebuchet MS"/>
              </a:rPr>
              <a:t>What Is AI?</a:t>
            </a:r>
          </a:p>
        </p:txBody>
      </p:sp>
      <p:sp>
        <p:nvSpPr>
          <p:cNvPr id="8" name="TextBox 7"/>
          <p:cNvSpPr txBox="1"/>
          <p:nvPr/>
        </p:nvSpPr>
        <p:spPr>
          <a:xfrm>
            <a:off x="676656" y="3108960"/>
            <a:ext cx="3703320" cy="548640"/>
          </a:xfrm>
          <a:prstGeom prst="rect">
            <a:avLst/>
          </a:prstGeom>
          <a:noFill/>
          <a:ln/>
        </p:spPr>
        <p:txBody>
          <a:bodyPr wrap="square" anchor="ctr" lIns="36576" rIns="36576" tIns="27432" bIns="27432">
            <a:spAutoFit/>
          </a:bodyPr>
          <a:lstStyle/>
          <a:p>
            <a:pPr algn="l">
              <a:lnSpc>
                <a:spcPct val="110000"/>
              </a:lnSpc>
              <a:spcBef>
                <a:spcPts val="0"/>
              </a:spcBef>
              <a:spcAft>
                <a:spcPts val="0"/>
              </a:spcAft>
            </a:pPr>
            <a:r>
              <a:rPr sz="1300" b="0" i="0">
                <a:solidFill>
                  <a:srgbClr val="2B4255"/>
                </a:solidFill>
                <a:latin typeface="Trebuchet MS"/>
                <a:ea typeface="Trebuchet MS"/>
              </a:rPr>
              <a:t>Making friends with smart computers</a:t>
            </a:r>
          </a:p>
        </p:txBody>
      </p:sp>
    </p:spTree>
  </p:cSld>
  <p:clrMapOvr>
    <a:masterClrMapping/>
  </p:clrMapOvr>
  <p:transition xmlns:p14="http://schemas.microsoft.com/office/powerpoint/2010/main" spd="med" p14:dur="5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4" name="Rounded Rectangle 3"/>
          <p:cNvSpPr/>
          <p:nvPr/>
        </p:nvSpPr>
        <p:spPr>
          <a:xfrm>
            <a:off x="1554480" y="3529584"/>
            <a:ext cx="6035040" cy="1078992"/>
          </a:xfrm>
          <a:prstGeom prst="roundRect">
            <a:avLst>
              <a:gd name="adj" fmla="val 1694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5" name="Rounded Rectangle 4"/>
          <p:cNvSpPr/>
          <p:nvPr/>
        </p:nvSpPr>
        <p:spPr>
          <a:xfrm>
            <a:off x="4011168" y="3675887"/>
            <a:ext cx="1121664" cy="310896"/>
          </a:xfrm>
          <a:prstGeom prst="roundRect">
            <a:avLst>
              <a:gd name="adj" fmla="val 5000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6" name="TextBox 5"/>
          <p:cNvSpPr txBox="1"/>
          <p:nvPr/>
        </p:nvSpPr>
        <p:spPr>
          <a:xfrm>
            <a:off x="4011168" y="3675887"/>
            <a:ext cx="1121664" cy="310896"/>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200" b="1" i="0">
                <a:solidFill>
                  <a:srgbClr val="FFFFFF"/>
                </a:solidFill>
                <a:latin typeface="Trebuchet MS"/>
                <a:ea typeface="Trebuchet MS"/>
              </a:rPr>
              <a:t>Let's go</a:t>
            </a:r>
          </a:p>
        </p:txBody>
      </p:sp>
      <p:sp>
        <p:nvSpPr>
          <p:cNvPr id="7" name="TextBox 6"/>
          <p:cNvSpPr txBox="1"/>
          <p:nvPr/>
        </p:nvSpPr>
        <p:spPr>
          <a:xfrm>
            <a:off x="1783080" y="4059935"/>
            <a:ext cx="5577840" cy="56692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50" b="1" i="0">
                <a:solidFill>
                  <a:srgbClr val="063355"/>
                </a:solidFill>
                <a:latin typeface="Trebuchet MS"/>
                <a:ea typeface="Trebuchet MS"/>
              </a:rPr>
              <a:t>AI Is All Around You</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2</a:t>
            </a:r>
          </a:p>
        </p:txBody>
      </p:sp>
    </p:spTree>
  </p:cSld>
  <p:clrMapOvr>
    <a:masterClrMapping/>
  </p:clrMapOvr>
  <p:transition xmlns:p14="http://schemas.microsoft.com/office/powerpoint/2010/main" spd="med" p14:dur="500">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3" name="Rounded Rectangle 2"/>
          <p:cNvSpPr/>
          <p:nvPr/>
        </p:nvSpPr>
        <p:spPr>
          <a:xfrm>
            <a:off x="566928" y="384048"/>
            <a:ext cx="2727959" cy="384048"/>
          </a:xfrm>
          <a:prstGeom prst="roundRect">
            <a:avLst>
              <a:gd name="adj" fmla="val 5000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4" name="TextBox 3"/>
          <p:cNvSpPr txBox="1"/>
          <p:nvPr/>
        </p:nvSpPr>
        <p:spPr>
          <a:xfrm>
            <a:off x="566928" y="384048"/>
            <a:ext cx="2727959" cy="38404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80" b="1" i="0">
                <a:solidFill>
                  <a:srgbClr val="FFFFFF"/>
                </a:solidFill>
                <a:latin typeface="Trebuchet MS"/>
                <a:ea typeface="Trebuchet MS"/>
              </a:rPr>
              <a:t>Part 1 · Meet AI</a:t>
            </a:r>
          </a:p>
        </p:txBody>
      </p:sp>
      <p:sp>
        <p:nvSpPr>
          <p:cNvPr id="5" name="TextBox 4"/>
          <p:cNvSpPr txBox="1"/>
          <p:nvPr/>
        </p:nvSpPr>
        <p:spPr>
          <a:xfrm>
            <a:off x="566928" y="841248"/>
            <a:ext cx="8010144" cy="65836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2300" b="1" i="0">
                <a:solidFill>
                  <a:srgbClr val="063355"/>
                </a:solidFill>
                <a:latin typeface="Trebuchet MS"/>
                <a:ea typeface="Trebuchet MS"/>
              </a:rPr>
              <a:t>AI Is Already All Around You</a:t>
            </a:r>
          </a:p>
        </p:txBody>
      </p:sp>
      <p:sp>
        <p:nvSpPr>
          <p:cNvPr id="6" name="Rounded Rectangle 5"/>
          <p:cNvSpPr/>
          <p:nvPr/>
        </p:nvSpPr>
        <p:spPr>
          <a:xfrm>
            <a:off x="585216" y="1408176"/>
            <a:ext cx="1005840" cy="64008"/>
          </a:xfrm>
          <a:prstGeom prst="roundRect">
            <a:avLst>
              <a:gd name="adj" fmla="val 5000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7" name="TextBox 6"/>
          <p:cNvSpPr txBox="1"/>
          <p:nvPr/>
        </p:nvSpPr>
        <p:spPr>
          <a:xfrm>
            <a:off x="566928" y="4759452"/>
            <a:ext cx="5486400" cy="274320"/>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900" b="0" i="0">
                <a:solidFill>
                  <a:srgbClr val="4A5C6A"/>
                </a:solidFill>
                <a:latin typeface="Trebuchet MS"/>
                <a:ea typeface="Trebuchet MS"/>
              </a:rPr>
              <a:t>What Is AI?  ·  A first AI lesson for kids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3</a:t>
            </a:r>
          </a:p>
        </p:txBody>
      </p:sp>
      <p:sp>
        <p:nvSpPr>
          <p:cNvPr id="10" name="Rounded Rectangle 9"/>
          <p:cNvSpPr/>
          <p:nvPr/>
        </p:nvSpPr>
        <p:spPr>
          <a:xfrm>
            <a:off x="365760" y="1572768"/>
            <a:ext cx="1897379" cy="2011680"/>
          </a:xfrm>
          <a:prstGeom prst="roundRect">
            <a:avLst>
              <a:gd name="adj" fmla="val 7710"/>
            </a:avLst>
          </a:prstGeom>
          <a:solidFill>
            <a:srgbClr val="FFFFFF"/>
          </a:solidFill>
          <a:ln w="20320">
            <a:solidFill>
              <a:srgbClr val="2E9BD6"/>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1" name="Round Same Side Corner Rectangle 10"/>
          <p:cNvSpPr/>
          <p:nvPr/>
        </p:nvSpPr>
        <p:spPr>
          <a:xfrm>
            <a:off x="365760" y="1572768"/>
            <a:ext cx="1897379" cy="146304"/>
          </a:xfrm>
          <a:prstGeom prst="round2SameRect">
            <a:avLst>
              <a:gd name="adj1" fmla="val 50000"/>
              <a:gd name="adj2" fmla="val 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2" name="Oval 11"/>
          <p:cNvSpPr/>
          <p:nvPr/>
        </p:nvSpPr>
        <p:spPr>
          <a:xfrm>
            <a:off x="930402" y="1755648"/>
            <a:ext cx="768096" cy="768096"/>
          </a:xfrm>
          <a:prstGeom prst="ellipse">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13" name="Picture 12" descr="mic.png"/>
          <p:cNvPicPr>
            <a:picLocks noChangeAspect="1"/>
          </p:cNvPicPr>
          <p:nvPr/>
        </p:nvPicPr>
        <p:blipFill>
          <a:blip r:embed="rId3"/>
          <a:stretch>
            <a:fillRect/>
          </a:stretch>
        </p:blipFill>
        <p:spPr>
          <a:xfrm>
            <a:off x="1099383" y="1924629"/>
            <a:ext cx="430133" cy="430133"/>
          </a:xfrm>
          <a:prstGeom prst="rect">
            <a:avLst/>
          </a:prstGeom>
        </p:spPr>
      </p:pic>
      <p:sp>
        <p:nvSpPr>
          <p:cNvPr id="14" name="TextBox 13"/>
          <p:cNvSpPr txBox="1"/>
          <p:nvPr/>
        </p:nvSpPr>
        <p:spPr>
          <a:xfrm>
            <a:off x="457200" y="2633472"/>
            <a:ext cx="171449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Voice helpers</a:t>
            </a:r>
          </a:p>
        </p:txBody>
      </p:sp>
      <p:sp>
        <p:nvSpPr>
          <p:cNvPr id="15" name="TextBox 14"/>
          <p:cNvSpPr txBox="1"/>
          <p:nvPr/>
        </p:nvSpPr>
        <p:spPr>
          <a:xfrm>
            <a:off x="512064" y="2962656"/>
            <a:ext cx="1604771"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You speak, it</a:t>
            </a:r>
          </a:p>
          <a:p>
            <a:pPr algn="ctr">
              <a:lnSpc>
                <a:spcPct val="114000"/>
              </a:lnSpc>
              <a:spcBef>
                <a:spcPts val="0"/>
              </a:spcBef>
              <a:spcAft>
                <a:spcPts val="200"/>
              </a:spcAft>
            </a:pPr>
            <a:r>
              <a:rPr sz="1130" b="0" i="0">
                <a:solidFill>
                  <a:srgbClr val="2B4255"/>
                </a:solidFill>
                <a:latin typeface="Trebuchet MS"/>
                <a:ea typeface="Trebuchet MS"/>
              </a:rPr>
              <a:t>understands you</a:t>
            </a:r>
          </a:p>
        </p:txBody>
      </p:sp>
      <p:sp>
        <p:nvSpPr>
          <p:cNvPr id="17" name="Rounded Rectangle 16"/>
          <p:cNvSpPr/>
          <p:nvPr/>
        </p:nvSpPr>
        <p:spPr>
          <a:xfrm>
            <a:off x="2537459" y="1572768"/>
            <a:ext cx="1897379" cy="2011680"/>
          </a:xfrm>
          <a:prstGeom prst="roundRect">
            <a:avLst>
              <a:gd name="adj" fmla="val 7710"/>
            </a:avLst>
          </a:prstGeom>
          <a:solidFill>
            <a:srgbClr val="FFFFFF"/>
          </a:solidFill>
          <a:ln w="20320">
            <a:solidFill>
              <a:srgbClr val="E86B73"/>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8" name="Round Same Side Corner Rectangle 17"/>
          <p:cNvSpPr/>
          <p:nvPr/>
        </p:nvSpPr>
        <p:spPr>
          <a:xfrm>
            <a:off x="2537459" y="1572768"/>
            <a:ext cx="1897379" cy="146304"/>
          </a:xfrm>
          <a:prstGeom prst="round2SameRect">
            <a:avLst>
              <a:gd name="adj1" fmla="val 50000"/>
              <a:gd name="adj2" fmla="val 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9" name="Oval 18"/>
          <p:cNvSpPr/>
          <p:nvPr/>
        </p:nvSpPr>
        <p:spPr>
          <a:xfrm>
            <a:off x="3102101" y="1755648"/>
            <a:ext cx="768096" cy="768096"/>
          </a:xfrm>
          <a:prstGeom prst="ellipse">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0" name="Picture 19" descr="video.png"/>
          <p:cNvPicPr>
            <a:picLocks noChangeAspect="1"/>
          </p:cNvPicPr>
          <p:nvPr/>
        </p:nvPicPr>
        <p:blipFill>
          <a:blip r:embed="rId4"/>
          <a:stretch>
            <a:fillRect/>
          </a:stretch>
        </p:blipFill>
        <p:spPr>
          <a:xfrm>
            <a:off x="3271083" y="1924629"/>
            <a:ext cx="430133" cy="430133"/>
          </a:xfrm>
          <a:prstGeom prst="rect">
            <a:avLst/>
          </a:prstGeom>
        </p:spPr>
      </p:pic>
      <p:sp>
        <p:nvSpPr>
          <p:cNvPr id="21" name="TextBox 20"/>
          <p:cNvSpPr txBox="1"/>
          <p:nvPr/>
        </p:nvSpPr>
        <p:spPr>
          <a:xfrm>
            <a:off x="2628899" y="2633472"/>
            <a:ext cx="171449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Video feeds</a:t>
            </a:r>
          </a:p>
        </p:txBody>
      </p:sp>
      <p:sp>
        <p:nvSpPr>
          <p:cNvPr id="22" name="TextBox 21"/>
          <p:cNvSpPr txBox="1"/>
          <p:nvPr/>
        </p:nvSpPr>
        <p:spPr>
          <a:xfrm>
            <a:off x="2683763" y="2962656"/>
            <a:ext cx="1604771"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Guesses what you</a:t>
            </a:r>
          </a:p>
          <a:p>
            <a:pPr algn="ctr">
              <a:lnSpc>
                <a:spcPct val="114000"/>
              </a:lnSpc>
              <a:spcBef>
                <a:spcPts val="0"/>
              </a:spcBef>
              <a:spcAft>
                <a:spcPts val="200"/>
              </a:spcAft>
            </a:pPr>
            <a:r>
              <a:rPr sz="1130" b="0" i="0">
                <a:solidFill>
                  <a:srgbClr val="2B4255"/>
                </a:solidFill>
                <a:latin typeface="Trebuchet MS"/>
                <a:ea typeface="Trebuchet MS"/>
              </a:rPr>
              <a:t>like, shows more</a:t>
            </a:r>
          </a:p>
        </p:txBody>
      </p:sp>
      <p:sp>
        <p:nvSpPr>
          <p:cNvPr id="24" name="Rounded Rectangle 23"/>
          <p:cNvSpPr/>
          <p:nvPr/>
        </p:nvSpPr>
        <p:spPr>
          <a:xfrm>
            <a:off x="4709159" y="1572768"/>
            <a:ext cx="1897379" cy="2011680"/>
          </a:xfrm>
          <a:prstGeom prst="roundRect">
            <a:avLst>
              <a:gd name="adj" fmla="val 7710"/>
            </a:avLst>
          </a:prstGeom>
          <a:solidFill>
            <a:srgbClr val="FFFFFF"/>
          </a:solidFill>
          <a:ln w="20320">
            <a:solidFill>
              <a:srgbClr val="3FA882"/>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5" name="Round Same Side Corner Rectangle 24"/>
          <p:cNvSpPr/>
          <p:nvPr/>
        </p:nvSpPr>
        <p:spPr>
          <a:xfrm>
            <a:off x="4709159" y="1572768"/>
            <a:ext cx="1897379" cy="146304"/>
          </a:xfrm>
          <a:prstGeom prst="round2SameRect">
            <a:avLst>
              <a:gd name="adj1" fmla="val 50000"/>
              <a:gd name="adj2" fmla="val 0"/>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6" name="Oval 25"/>
          <p:cNvSpPr/>
          <p:nvPr/>
        </p:nvSpPr>
        <p:spPr>
          <a:xfrm>
            <a:off x="5273801" y="1755648"/>
            <a:ext cx="768096" cy="768096"/>
          </a:xfrm>
          <a:prstGeom prst="ellipse">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7" name="Picture 26" descr="face.png"/>
          <p:cNvPicPr>
            <a:picLocks noChangeAspect="1"/>
          </p:cNvPicPr>
          <p:nvPr/>
        </p:nvPicPr>
        <p:blipFill>
          <a:blip r:embed="rId5"/>
          <a:stretch>
            <a:fillRect/>
          </a:stretch>
        </p:blipFill>
        <p:spPr>
          <a:xfrm>
            <a:off x="5442783" y="1924629"/>
            <a:ext cx="430133" cy="430133"/>
          </a:xfrm>
          <a:prstGeom prst="rect">
            <a:avLst/>
          </a:prstGeom>
        </p:spPr>
      </p:pic>
      <p:sp>
        <p:nvSpPr>
          <p:cNvPr id="28" name="TextBox 27"/>
          <p:cNvSpPr txBox="1"/>
          <p:nvPr/>
        </p:nvSpPr>
        <p:spPr>
          <a:xfrm>
            <a:off x="4800599" y="2633472"/>
            <a:ext cx="171449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Face unlock</a:t>
            </a:r>
          </a:p>
        </p:txBody>
      </p:sp>
      <p:sp>
        <p:nvSpPr>
          <p:cNvPr id="29" name="TextBox 28"/>
          <p:cNvSpPr txBox="1"/>
          <p:nvPr/>
        </p:nvSpPr>
        <p:spPr>
          <a:xfrm>
            <a:off x="4855464" y="2962656"/>
            <a:ext cx="1604771"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One look and it</a:t>
            </a:r>
          </a:p>
          <a:p>
            <a:pPr algn="ctr">
              <a:lnSpc>
                <a:spcPct val="114000"/>
              </a:lnSpc>
              <a:spcBef>
                <a:spcPts val="0"/>
              </a:spcBef>
              <a:spcAft>
                <a:spcPts val="200"/>
              </a:spcAft>
            </a:pPr>
            <a:r>
              <a:rPr sz="1130" b="0" i="0">
                <a:solidFill>
                  <a:srgbClr val="2B4255"/>
                </a:solidFill>
                <a:latin typeface="Trebuchet MS"/>
                <a:ea typeface="Trebuchet MS"/>
              </a:rPr>
              <a:t>knows it's you</a:t>
            </a:r>
          </a:p>
        </p:txBody>
      </p:sp>
      <p:sp>
        <p:nvSpPr>
          <p:cNvPr id="31" name="Rounded Rectangle 30"/>
          <p:cNvSpPr/>
          <p:nvPr/>
        </p:nvSpPr>
        <p:spPr>
          <a:xfrm>
            <a:off x="6880859" y="1572768"/>
            <a:ext cx="1897379" cy="2011680"/>
          </a:xfrm>
          <a:prstGeom prst="roundRect">
            <a:avLst>
              <a:gd name="adj" fmla="val 7710"/>
            </a:avLst>
          </a:prstGeom>
          <a:solidFill>
            <a:srgbClr val="FFFFFF"/>
          </a:solidFill>
          <a:ln w="20320">
            <a:solidFill>
              <a:srgbClr val="7C77C9"/>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2" name="Round Same Side Corner Rectangle 31"/>
          <p:cNvSpPr/>
          <p:nvPr/>
        </p:nvSpPr>
        <p:spPr>
          <a:xfrm>
            <a:off x="6880859" y="1572768"/>
            <a:ext cx="1897379" cy="146304"/>
          </a:xfrm>
          <a:prstGeom prst="round2SameRect">
            <a:avLst>
              <a:gd name="adj1" fmla="val 50000"/>
              <a:gd name="adj2" fmla="val 0"/>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3" name="Oval 32"/>
          <p:cNvSpPr/>
          <p:nvPr/>
        </p:nvSpPr>
        <p:spPr>
          <a:xfrm>
            <a:off x="7445501" y="1755648"/>
            <a:ext cx="768096" cy="768096"/>
          </a:xfrm>
          <a:prstGeom prst="ellipse">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34" name="Picture 33" descr="lang.png"/>
          <p:cNvPicPr>
            <a:picLocks noChangeAspect="1"/>
          </p:cNvPicPr>
          <p:nvPr/>
        </p:nvPicPr>
        <p:blipFill>
          <a:blip r:embed="rId6"/>
          <a:stretch>
            <a:fillRect/>
          </a:stretch>
        </p:blipFill>
        <p:spPr>
          <a:xfrm>
            <a:off x="7614483" y="1924629"/>
            <a:ext cx="430133" cy="430133"/>
          </a:xfrm>
          <a:prstGeom prst="rect">
            <a:avLst/>
          </a:prstGeom>
        </p:spPr>
      </p:pic>
      <p:sp>
        <p:nvSpPr>
          <p:cNvPr id="35" name="TextBox 34"/>
          <p:cNvSpPr txBox="1"/>
          <p:nvPr/>
        </p:nvSpPr>
        <p:spPr>
          <a:xfrm>
            <a:off x="6972299" y="2633472"/>
            <a:ext cx="171449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Translation</a:t>
            </a:r>
          </a:p>
        </p:txBody>
      </p:sp>
      <p:sp>
        <p:nvSpPr>
          <p:cNvPr id="36" name="TextBox 35"/>
          <p:cNvSpPr txBox="1"/>
          <p:nvPr/>
        </p:nvSpPr>
        <p:spPr>
          <a:xfrm>
            <a:off x="7027163" y="2962656"/>
            <a:ext cx="1604771"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Chinese ↔ English</a:t>
            </a:r>
          </a:p>
          <a:p>
            <a:pPr algn="ctr">
              <a:lnSpc>
                <a:spcPct val="114000"/>
              </a:lnSpc>
              <a:spcBef>
                <a:spcPts val="0"/>
              </a:spcBef>
              <a:spcAft>
                <a:spcPts val="200"/>
              </a:spcAft>
            </a:pPr>
            <a:r>
              <a:rPr sz="1130" b="0" i="0">
                <a:solidFill>
                  <a:srgbClr val="2B4255"/>
                </a:solidFill>
                <a:latin typeface="Trebuchet MS"/>
                <a:ea typeface="Trebuchet MS"/>
              </a:rPr>
              <a:t>in one second</a:t>
            </a:r>
          </a:p>
        </p:txBody>
      </p:sp>
      <p:sp>
        <p:nvSpPr>
          <p:cNvPr id="37" name="Rounded Rectangle 36"/>
          <p:cNvSpPr/>
          <p:nvPr/>
        </p:nvSpPr>
        <p:spPr>
          <a:xfrm>
            <a:off x="566928" y="4050791"/>
            <a:ext cx="8010144"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8" name="Rectangle 37"/>
          <p:cNvSpPr/>
          <p:nvPr/>
        </p:nvSpPr>
        <p:spPr>
          <a:xfrm>
            <a:off x="566928" y="4090659"/>
            <a:ext cx="64008" cy="566928"/>
          </a:xfrm>
          <a:prstGeom prst="rect">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9" name="TextBox 38"/>
          <p:cNvSpPr txBox="1"/>
          <p:nvPr/>
        </p:nvSpPr>
        <p:spPr>
          <a:xfrm>
            <a:off x="786384" y="4050791"/>
            <a:ext cx="7607808" cy="566928"/>
          </a:xfrm>
          <a:prstGeom prst="rect">
            <a:avLst/>
          </a:prstGeom>
          <a:noFill/>
          <a:ln/>
        </p:spPr>
        <p:txBody>
          <a:bodyPr wrap="square" anchor="ctr" lIns="36576" rIns="36576" tIns="27432" bIns="27432">
            <a:spAutoFit/>
          </a:bodyPr>
          <a:lstStyle/>
          <a:p>
            <a:pPr algn="l">
              <a:lnSpc>
                <a:spcPct val="108000"/>
              </a:lnSpc>
              <a:spcBef>
                <a:spcPts val="0"/>
              </a:spcBef>
              <a:spcAft>
                <a:spcPts val="0"/>
              </a:spcAft>
            </a:pPr>
            <a:r>
              <a:rPr sz="1050" b="1" i="0">
                <a:solidFill>
                  <a:srgbClr val="E86B73"/>
                </a:solidFill>
                <a:latin typeface="Trebuchet MS"/>
                <a:ea typeface="Trebuchet MS"/>
              </a:rPr>
              <a:t>Think about it  </a:t>
            </a:r>
            <a:r>
              <a:rPr sz="1050" b="0" i="0">
                <a:solidFill>
                  <a:srgbClr val="063355"/>
                </a:solidFill>
                <a:latin typeface="Trebuchet MS"/>
                <a:ea typeface="Trebuchet MS"/>
              </a:rPr>
              <a:t>All these everyday helpers are powered by AI working quietly behind the scenes!</a:t>
            </a:r>
          </a:p>
        </p:txBody>
      </p:sp>
    </p:spTree>
  </p:cSld>
  <p:clrMapOvr>
    <a:masterClrMapping/>
  </p:clrMapOvr>
  <p:transition xmlns:p14="http://schemas.microsoft.com/office/powerpoint/2010/main" spd="med" p14:dur="500">
    <p:fade/>
  </p:transition>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3" name="Rounded Rectangle 2"/>
          <p:cNvSpPr/>
          <p:nvPr/>
        </p:nvSpPr>
        <p:spPr>
          <a:xfrm>
            <a:off x="566928" y="384048"/>
            <a:ext cx="3341369" cy="384048"/>
          </a:xfrm>
          <a:prstGeom prst="roundRect">
            <a:avLst>
              <a:gd name="adj" fmla="val 5000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4" name="TextBox 3"/>
          <p:cNvSpPr txBox="1"/>
          <p:nvPr/>
        </p:nvSpPr>
        <p:spPr>
          <a:xfrm>
            <a:off x="566928" y="384048"/>
            <a:ext cx="3341369" cy="38404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80" b="1" i="0">
                <a:solidFill>
                  <a:srgbClr val="FFFFFF"/>
                </a:solidFill>
                <a:latin typeface="Trebuchet MS"/>
                <a:ea typeface="Trebuchet MS"/>
              </a:rPr>
              <a:t>Part 1 · In one line</a:t>
            </a:r>
          </a:p>
        </p:txBody>
      </p:sp>
      <p:sp>
        <p:nvSpPr>
          <p:cNvPr id="5" name="TextBox 4"/>
          <p:cNvSpPr txBox="1"/>
          <p:nvPr/>
        </p:nvSpPr>
        <p:spPr>
          <a:xfrm>
            <a:off x="566928" y="841248"/>
            <a:ext cx="8010144" cy="65836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2300" b="1" i="0">
                <a:solidFill>
                  <a:srgbClr val="063355"/>
                </a:solidFill>
                <a:latin typeface="Trebuchet MS"/>
                <a:ea typeface="Trebuchet MS"/>
              </a:rPr>
              <a:t>So… What Exactly Is AI?</a:t>
            </a:r>
          </a:p>
        </p:txBody>
      </p:sp>
      <p:sp>
        <p:nvSpPr>
          <p:cNvPr id="6" name="Rounded Rectangle 5"/>
          <p:cNvSpPr/>
          <p:nvPr/>
        </p:nvSpPr>
        <p:spPr>
          <a:xfrm>
            <a:off x="585216" y="1408176"/>
            <a:ext cx="1005840" cy="64008"/>
          </a:xfrm>
          <a:prstGeom prst="roundRect">
            <a:avLst>
              <a:gd name="adj" fmla="val 5000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7" name="TextBox 6"/>
          <p:cNvSpPr txBox="1"/>
          <p:nvPr/>
        </p:nvSpPr>
        <p:spPr>
          <a:xfrm>
            <a:off x="566928" y="4759452"/>
            <a:ext cx="5486400" cy="274320"/>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900" b="0" i="0">
                <a:solidFill>
                  <a:srgbClr val="4A5C6A"/>
                </a:solidFill>
                <a:latin typeface="Trebuchet MS"/>
                <a:ea typeface="Trebuchet MS"/>
              </a:rPr>
              <a:t>What Is AI?  ·  A first AI lesson for kids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4</a:t>
            </a:r>
          </a:p>
        </p:txBody>
      </p:sp>
      <p:sp>
        <p:nvSpPr>
          <p:cNvPr id="9" name="TextBox 8"/>
          <p:cNvSpPr txBox="1"/>
          <p:nvPr/>
        </p:nvSpPr>
        <p:spPr>
          <a:xfrm>
            <a:off x="640080" y="1572768"/>
            <a:ext cx="7863840" cy="548640"/>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900" b="1" i="0">
                <a:solidFill>
                  <a:srgbClr val="063355"/>
                </a:solidFill>
                <a:latin typeface="Trebuchet MS"/>
                <a:ea typeface="Trebuchet MS"/>
              </a:rPr>
              <a:t>In short, AI lets a computer do things the way people can:</a:t>
            </a:r>
          </a:p>
        </p:txBody>
      </p:sp>
      <p:sp>
        <p:nvSpPr>
          <p:cNvPr id="11" name="Rounded Rectangle 10"/>
          <p:cNvSpPr/>
          <p:nvPr/>
        </p:nvSpPr>
        <p:spPr>
          <a:xfrm>
            <a:off x="365760" y="2240280"/>
            <a:ext cx="1897379" cy="2263139"/>
          </a:xfrm>
          <a:prstGeom prst="roundRect">
            <a:avLst>
              <a:gd name="adj" fmla="val 7710"/>
            </a:avLst>
          </a:prstGeom>
          <a:solidFill>
            <a:srgbClr val="FFFFFF"/>
          </a:solidFill>
          <a:ln w="20320">
            <a:solidFill>
              <a:srgbClr val="2E9BD6"/>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2" name="Round Same Side Corner Rectangle 11"/>
          <p:cNvSpPr/>
          <p:nvPr/>
        </p:nvSpPr>
        <p:spPr>
          <a:xfrm>
            <a:off x="365760" y="2240280"/>
            <a:ext cx="1897379" cy="146304"/>
          </a:xfrm>
          <a:prstGeom prst="round2SameRect">
            <a:avLst>
              <a:gd name="adj1" fmla="val 50000"/>
              <a:gd name="adj2" fmla="val 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3" name="Oval 12"/>
          <p:cNvSpPr/>
          <p:nvPr/>
        </p:nvSpPr>
        <p:spPr>
          <a:xfrm>
            <a:off x="930402" y="2423160"/>
            <a:ext cx="768096" cy="768096"/>
          </a:xfrm>
          <a:prstGeom prst="ellipse">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14" name="Picture 13" descr="eye.png"/>
          <p:cNvPicPr>
            <a:picLocks noChangeAspect="1"/>
          </p:cNvPicPr>
          <p:nvPr/>
        </p:nvPicPr>
        <p:blipFill>
          <a:blip r:embed="rId3"/>
          <a:stretch>
            <a:fillRect/>
          </a:stretch>
        </p:blipFill>
        <p:spPr>
          <a:xfrm>
            <a:off x="1099383" y="2592141"/>
            <a:ext cx="430133" cy="430133"/>
          </a:xfrm>
          <a:prstGeom prst="rect">
            <a:avLst/>
          </a:prstGeom>
        </p:spPr>
      </p:pic>
      <p:sp>
        <p:nvSpPr>
          <p:cNvPr id="15" name="TextBox 14"/>
          <p:cNvSpPr txBox="1"/>
          <p:nvPr/>
        </p:nvSpPr>
        <p:spPr>
          <a:xfrm>
            <a:off x="457200" y="3300984"/>
            <a:ext cx="1714499" cy="365760"/>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800" b="1" i="0">
                <a:solidFill>
                  <a:srgbClr val="063355"/>
                </a:solidFill>
                <a:latin typeface="Trebuchet MS"/>
                <a:ea typeface="Trebuchet MS"/>
              </a:rPr>
              <a:t>See</a:t>
            </a:r>
          </a:p>
        </p:txBody>
      </p:sp>
      <p:sp>
        <p:nvSpPr>
          <p:cNvPr id="16" name="TextBox 15"/>
          <p:cNvSpPr txBox="1"/>
          <p:nvPr/>
        </p:nvSpPr>
        <p:spPr>
          <a:xfrm>
            <a:off x="512064" y="3721608"/>
            <a:ext cx="1604771" cy="672083"/>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300" b="0" i="0">
                <a:solidFill>
                  <a:srgbClr val="2B4255"/>
                </a:solidFill>
                <a:latin typeface="Trebuchet MS"/>
                <a:ea typeface="Trebuchet MS"/>
              </a:rPr>
              <a:t>Spot what is</a:t>
            </a:r>
          </a:p>
          <a:p>
            <a:pPr algn="ctr">
              <a:lnSpc>
                <a:spcPct val="114000"/>
              </a:lnSpc>
              <a:spcBef>
                <a:spcPts val="0"/>
              </a:spcBef>
              <a:spcAft>
                <a:spcPts val="200"/>
              </a:spcAft>
            </a:pPr>
            <a:r>
              <a:rPr sz="1300" b="0" i="0">
                <a:solidFill>
                  <a:srgbClr val="2B4255"/>
                </a:solidFill>
                <a:latin typeface="Trebuchet MS"/>
                <a:ea typeface="Trebuchet MS"/>
              </a:rPr>
              <a:t>in a photo</a:t>
            </a:r>
          </a:p>
        </p:txBody>
      </p:sp>
      <p:sp>
        <p:nvSpPr>
          <p:cNvPr id="18" name="Rounded Rectangle 17"/>
          <p:cNvSpPr/>
          <p:nvPr/>
        </p:nvSpPr>
        <p:spPr>
          <a:xfrm>
            <a:off x="2537459" y="2240280"/>
            <a:ext cx="1897379" cy="2263139"/>
          </a:xfrm>
          <a:prstGeom prst="roundRect">
            <a:avLst>
              <a:gd name="adj" fmla="val 7710"/>
            </a:avLst>
          </a:prstGeom>
          <a:solidFill>
            <a:srgbClr val="FFFFFF"/>
          </a:solidFill>
          <a:ln w="20320">
            <a:solidFill>
              <a:srgbClr val="E86B73"/>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9" name="Round Same Side Corner Rectangle 18"/>
          <p:cNvSpPr/>
          <p:nvPr/>
        </p:nvSpPr>
        <p:spPr>
          <a:xfrm>
            <a:off x="2537459" y="2240280"/>
            <a:ext cx="1897379" cy="146304"/>
          </a:xfrm>
          <a:prstGeom prst="round2SameRect">
            <a:avLst>
              <a:gd name="adj1" fmla="val 50000"/>
              <a:gd name="adj2" fmla="val 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0" name="Oval 19"/>
          <p:cNvSpPr/>
          <p:nvPr/>
        </p:nvSpPr>
        <p:spPr>
          <a:xfrm>
            <a:off x="3102101" y="2423160"/>
            <a:ext cx="768096" cy="768096"/>
          </a:xfrm>
          <a:prstGeom prst="ellipse">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1" name="Picture 20" descr="ear.png"/>
          <p:cNvPicPr>
            <a:picLocks noChangeAspect="1"/>
          </p:cNvPicPr>
          <p:nvPr/>
        </p:nvPicPr>
        <p:blipFill>
          <a:blip r:embed="rId4"/>
          <a:stretch>
            <a:fillRect/>
          </a:stretch>
        </p:blipFill>
        <p:spPr>
          <a:xfrm>
            <a:off x="3271083" y="2592141"/>
            <a:ext cx="430133" cy="430133"/>
          </a:xfrm>
          <a:prstGeom prst="rect">
            <a:avLst/>
          </a:prstGeom>
        </p:spPr>
      </p:pic>
      <p:sp>
        <p:nvSpPr>
          <p:cNvPr id="22" name="TextBox 21"/>
          <p:cNvSpPr txBox="1"/>
          <p:nvPr/>
        </p:nvSpPr>
        <p:spPr>
          <a:xfrm>
            <a:off x="2628899" y="3300984"/>
            <a:ext cx="1714499" cy="365760"/>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800" b="1" i="0">
                <a:solidFill>
                  <a:srgbClr val="063355"/>
                </a:solidFill>
                <a:latin typeface="Trebuchet MS"/>
                <a:ea typeface="Trebuchet MS"/>
              </a:rPr>
              <a:t>Hear</a:t>
            </a:r>
          </a:p>
        </p:txBody>
      </p:sp>
      <p:sp>
        <p:nvSpPr>
          <p:cNvPr id="23" name="TextBox 22"/>
          <p:cNvSpPr txBox="1"/>
          <p:nvPr/>
        </p:nvSpPr>
        <p:spPr>
          <a:xfrm>
            <a:off x="2683763" y="3721608"/>
            <a:ext cx="1604771" cy="672083"/>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300" b="0" i="0">
                <a:solidFill>
                  <a:srgbClr val="2B4255"/>
                </a:solidFill>
                <a:latin typeface="Trebuchet MS"/>
                <a:ea typeface="Trebuchet MS"/>
              </a:rPr>
              <a:t>Understand</a:t>
            </a:r>
          </a:p>
          <a:p>
            <a:pPr algn="ctr">
              <a:lnSpc>
                <a:spcPct val="114000"/>
              </a:lnSpc>
              <a:spcBef>
                <a:spcPts val="0"/>
              </a:spcBef>
              <a:spcAft>
                <a:spcPts val="200"/>
              </a:spcAft>
            </a:pPr>
            <a:r>
              <a:rPr sz="1300" b="0" i="0">
                <a:solidFill>
                  <a:srgbClr val="2B4255"/>
                </a:solidFill>
                <a:latin typeface="Trebuchet MS"/>
                <a:ea typeface="Trebuchet MS"/>
              </a:rPr>
              <a:t>what you say</a:t>
            </a:r>
          </a:p>
        </p:txBody>
      </p:sp>
      <p:sp>
        <p:nvSpPr>
          <p:cNvPr id="25" name="Rounded Rectangle 24"/>
          <p:cNvSpPr/>
          <p:nvPr/>
        </p:nvSpPr>
        <p:spPr>
          <a:xfrm>
            <a:off x="4709159" y="2240280"/>
            <a:ext cx="1897379" cy="2263139"/>
          </a:xfrm>
          <a:prstGeom prst="roundRect">
            <a:avLst>
              <a:gd name="adj" fmla="val 7710"/>
            </a:avLst>
          </a:prstGeom>
          <a:solidFill>
            <a:srgbClr val="FFFFFF"/>
          </a:solidFill>
          <a:ln w="20320">
            <a:solidFill>
              <a:srgbClr val="3FA882"/>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6" name="Round Same Side Corner Rectangle 25"/>
          <p:cNvSpPr/>
          <p:nvPr/>
        </p:nvSpPr>
        <p:spPr>
          <a:xfrm>
            <a:off x="4709159" y="2240280"/>
            <a:ext cx="1897379" cy="146304"/>
          </a:xfrm>
          <a:prstGeom prst="round2SameRect">
            <a:avLst>
              <a:gd name="adj1" fmla="val 50000"/>
              <a:gd name="adj2" fmla="val 0"/>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7" name="Oval 26"/>
          <p:cNvSpPr/>
          <p:nvPr/>
        </p:nvSpPr>
        <p:spPr>
          <a:xfrm>
            <a:off x="5273801" y="2423160"/>
            <a:ext cx="768096" cy="768096"/>
          </a:xfrm>
          <a:prstGeom prst="ellipse">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8" name="Picture 27" descr="brain.png"/>
          <p:cNvPicPr>
            <a:picLocks noChangeAspect="1"/>
          </p:cNvPicPr>
          <p:nvPr/>
        </p:nvPicPr>
        <p:blipFill>
          <a:blip r:embed="rId5"/>
          <a:stretch>
            <a:fillRect/>
          </a:stretch>
        </p:blipFill>
        <p:spPr>
          <a:xfrm>
            <a:off x="5442783" y="2592141"/>
            <a:ext cx="430133" cy="430133"/>
          </a:xfrm>
          <a:prstGeom prst="rect">
            <a:avLst/>
          </a:prstGeom>
        </p:spPr>
      </p:pic>
      <p:sp>
        <p:nvSpPr>
          <p:cNvPr id="29" name="TextBox 28"/>
          <p:cNvSpPr txBox="1"/>
          <p:nvPr/>
        </p:nvSpPr>
        <p:spPr>
          <a:xfrm>
            <a:off x="4800599" y="3300984"/>
            <a:ext cx="1714499" cy="365760"/>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800" b="1" i="0">
                <a:solidFill>
                  <a:srgbClr val="063355"/>
                </a:solidFill>
                <a:latin typeface="Trebuchet MS"/>
                <a:ea typeface="Trebuchet MS"/>
              </a:rPr>
              <a:t>Think</a:t>
            </a:r>
          </a:p>
        </p:txBody>
      </p:sp>
      <p:sp>
        <p:nvSpPr>
          <p:cNvPr id="30" name="TextBox 29"/>
          <p:cNvSpPr txBox="1"/>
          <p:nvPr/>
        </p:nvSpPr>
        <p:spPr>
          <a:xfrm>
            <a:off x="4855464" y="3721608"/>
            <a:ext cx="1604771" cy="672083"/>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300" b="0" i="0">
                <a:solidFill>
                  <a:srgbClr val="2B4255"/>
                </a:solidFill>
                <a:latin typeface="Trebuchet MS"/>
                <a:ea typeface="Trebuchet MS"/>
              </a:rPr>
              <a:t>Work out how</a:t>
            </a:r>
          </a:p>
          <a:p>
            <a:pPr algn="ctr">
              <a:lnSpc>
                <a:spcPct val="114000"/>
              </a:lnSpc>
              <a:spcBef>
                <a:spcPts val="0"/>
              </a:spcBef>
              <a:spcAft>
                <a:spcPts val="200"/>
              </a:spcAft>
            </a:pPr>
            <a:r>
              <a:rPr sz="1300" b="0" i="0">
                <a:solidFill>
                  <a:srgbClr val="2B4255"/>
                </a:solidFill>
                <a:latin typeface="Trebuchet MS"/>
                <a:ea typeface="Trebuchet MS"/>
              </a:rPr>
              <a:t>to solve things</a:t>
            </a:r>
          </a:p>
        </p:txBody>
      </p:sp>
      <p:sp>
        <p:nvSpPr>
          <p:cNvPr id="32" name="Rounded Rectangle 31"/>
          <p:cNvSpPr/>
          <p:nvPr/>
        </p:nvSpPr>
        <p:spPr>
          <a:xfrm>
            <a:off x="6880859" y="2240280"/>
            <a:ext cx="1897379" cy="2263139"/>
          </a:xfrm>
          <a:prstGeom prst="roundRect">
            <a:avLst>
              <a:gd name="adj" fmla="val 7710"/>
            </a:avLst>
          </a:prstGeom>
          <a:solidFill>
            <a:srgbClr val="FFFFFF"/>
          </a:solidFill>
          <a:ln w="20320">
            <a:solidFill>
              <a:srgbClr val="7C77C9"/>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3" name="Round Same Side Corner Rectangle 32"/>
          <p:cNvSpPr/>
          <p:nvPr/>
        </p:nvSpPr>
        <p:spPr>
          <a:xfrm>
            <a:off x="6880859" y="2240280"/>
            <a:ext cx="1897379" cy="146304"/>
          </a:xfrm>
          <a:prstGeom prst="round2SameRect">
            <a:avLst>
              <a:gd name="adj1" fmla="val 50000"/>
              <a:gd name="adj2" fmla="val 0"/>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4" name="Oval 33"/>
          <p:cNvSpPr/>
          <p:nvPr/>
        </p:nvSpPr>
        <p:spPr>
          <a:xfrm>
            <a:off x="7445501" y="2423160"/>
            <a:ext cx="768096" cy="768096"/>
          </a:xfrm>
          <a:prstGeom prst="ellipse">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35" name="Picture 34" descr="learn.png"/>
          <p:cNvPicPr>
            <a:picLocks noChangeAspect="1"/>
          </p:cNvPicPr>
          <p:nvPr/>
        </p:nvPicPr>
        <p:blipFill>
          <a:blip r:embed="rId6"/>
          <a:stretch>
            <a:fillRect/>
          </a:stretch>
        </p:blipFill>
        <p:spPr>
          <a:xfrm>
            <a:off x="7614483" y="2592141"/>
            <a:ext cx="430133" cy="430133"/>
          </a:xfrm>
          <a:prstGeom prst="rect">
            <a:avLst/>
          </a:prstGeom>
        </p:spPr>
      </p:pic>
      <p:sp>
        <p:nvSpPr>
          <p:cNvPr id="36" name="TextBox 35"/>
          <p:cNvSpPr txBox="1"/>
          <p:nvPr/>
        </p:nvSpPr>
        <p:spPr>
          <a:xfrm>
            <a:off x="6972299" y="3300984"/>
            <a:ext cx="1714499" cy="365760"/>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800" b="1" i="0">
                <a:solidFill>
                  <a:srgbClr val="063355"/>
                </a:solidFill>
                <a:latin typeface="Trebuchet MS"/>
                <a:ea typeface="Trebuchet MS"/>
              </a:rPr>
              <a:t>Learn</a:t>
            </a:r>
          </a:p>
        </p:txBody>
      </p:sp>
      <p:sp>
        <p:nvSpPr>
          <p:cNvPr id="37" name="TextBox 36"/>
          <p:cNvSpPr txBox="1"/>
          <p:nvPr/>
        </p:nvSpPr>
        <p:spPr>
          <a:xfrm>
            <a:off x="7027163" y="3721608"/>
            <a:ext cx="1604771" cy="672083"/>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300" b="0" i="0">
                <a:solidFill>
                  <a:srgbClr val="2B4255"/>
                </a:solidFill>
                <a:latin typeface="Trebuchet MS"/>
                <a:ea typeface="Trebuchet MS"/>
              </a:rPr>
              <a:t>The more it sees,</a:t>
            </a:r>
          </a:p>
          <a:p>
            <a:pPr algn="ctr">
              <a:lnSpc>
                <a:spcPct val="114000"/>
              </a:lnSpc>
              <a:spcBef>
                <a:spcPts val="0"/>
              </a:spcBef>
              <a:spcAft>
                <a:spcPts val="200"/>
              </a:spcAft>
            </a:pPr>
            <a:r>
              <a:rPr sz="1300" b="0" i="0">
                <a:solidFill>
                  <a:srgbClr val="2B4255"/>
                </a:solidFill>
                <a:latin typeface="Trebuchet MS"/>
                <a:ea typeface="Trebuchet MS"/>
              </a:rPr>
              <a:t>the smarter it gets</a:t>
            </a:r>
          </a:p>
        </p:txBody>
      </p:sp>
    </p:spTree>
  </p:cSld>
  <p:clrMapOvr>
    <a:masterClrMapping/>
  </p:clrMapOvr>
  <p:transition xmlns:p14="http://schemas.microsoft.com/office/powerpoint/2010/main" spd="med" p14:dur="500">
    <p:fade/>
  </p:transition>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3" name="Rounded Rectangle 2"/>
          <p:cNvSpPr/>
          <p:nvPr/>
        </p:nvSpPr>
        <p:spPr>
          <a:xfrm>
            <a:off x="566928" y="384048"/>
            <a:ext cx="3034664" cy="384048"/>
          </a:xfrm>
          <a:prstGeom prst="roundRect">
            <a:avLst>
              <a:gd name="adj" fmla="val 50000"/>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4" name="TextBox 3"/>
          <p:cNvSpPr txBox="1"/>
          <p:nvPr/>
        </p:nvSpPr>
        <p:spPr>
          <a:xfrm>
            <a:off x="566928" y="384048"/>
            <a:ext cx="3034664" cy="38404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80" b="1" i="0">
                <a:solidFill>
                  <a:srgbClr val="FFFFFF"/>
                </a:solidFill>
                <a:latin typeface="Trebuchet MS"/>
                <a:ea typeface="Trebuchet MS"/>
              </a:rPr>
              <a:t>Part 2 · It learns</a:t>
            </a:r>
          </a:p>
        </p:txBody>
      </p:sp>
      <p:sp>
        <p:nvSpPr>
          <p:cNvPr id="5" name="TextBox 4"/>
          <p:cNvSpPr txBox="1"/>
          <p:nvPr/>
        </p:nvSpPr>
        <p:spPr>
          <a:xfrm>
            <a:off x="566928" y="841248"/>
            <a:ext cx="8010144" cy="65836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2300" b="1" i="0">
                <a:solidFill>
                  <a:srgbClr val="063355"/>
                </a:solidFill>
                <a:latin typeface="Trebuchet MS"/>
                <a:ea typeface="Trebuchet MS"/>
              </a:rPr>
              <a:t>How Does AI Learn Its Skills?</a:t>
            </a:r>
          </a:p>
        </p:txBody>
      </p:sp>
      <p:sp>
        <p:nvSpPr>
          <p:cNvPr id="6" name="Rounded Rectangle 5"/>
          <p:cNvSpPr/>
          <p:nvPr/>
        </p:nvSpPr>
        <p:spPr>
          <a:xfrm>
            <a:off x="585216" y="1408176"/>
            <a:ext cx="1005840" cy="64008"/>
          </a:xfrm>
          <a:prstGeom prst="roundRect">
            <a:avLst>
              <a:gd name="adj" fmla="val 50000"/>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7" name="TextBox 6"/>
          <p:cNvSpPr txBox="1"/>
          <p:nvPr/>
        </p:nvSpPr>
        <p:spPr>
          <a:xfrm>
            <a:off x="566928" y="4759452"/>
            <a:ext cx="5486400" cy="274320"/>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900" b="0" i="0">
                <a:solidFill>
                  <a:srgbClr val="4A5C6A"/>
                </a:solidFill>
                <a:latin typeface="Trebuchet MS"/>
                <a:ea typeface="Trebuchet MS"/>
              </a:rPr>
              <a:t>What Is AI?  ·  A first AI lesson for kids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5</a:t>
            </a:r>
          </a:p>
        </p:txBody>
      </p:sp>
      <p:sp>
        <p:nvSpPr>
          <p:cNvPr id="10" name="Rounded Rectangle 9"/>
          <p:cNvSpPr/>
          <p:nvPr/>
        </p:nvSpPr>
        <p:spPr>
          <a:xfrm>
            <a:off x="365760" y="1572768"/>
            <a:ext cx="2365248" cy="2011680"/>
          </a:xfrm>
          <a:prstGeom prst="roundRect">
            <a:avLst>
              <a:gd name="adj" fmla="val 7272"/>
            </a:avLst>
          </a:prstGeom>
          <a:solidFill>
            <a:srgbClr val="FFFFFF"/>
          </a:solidFill>
          <a:ln w="20320">
            <a:solidFill>
              <a:srgbClr val="2E9BD6"/>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1" name="Round Same Side Corner Rectangle 10"/>
          <p:cNvSpPr/>
          <p:nvPr/>
        </p:nvSpPr>
        <p:spPr>
          <a:xfrm>
            <a:off x="365760" y="1572768"/>
            <a:ext cx="2365248" cy="146304"/>
          </a:xfrm>
          <a:prstGeom prst="round2SameRect">
            <a:avLst>
              <a:gd name="adj1" fmla="val 50000"/>
              <a:gd name="adj2" fmla="val 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2" name="Oval 11"/>
          <p:cNvSpPr/>
          <p:nvPr/>
        </p:nvSpPr>
        <p:spPr>
          <a:xfrm>
            <a:off x="1164336" y="1755648"/>
            <a:ext cx="768096" cy="768096"/>
          </a:xfrm>
          <a:prstGeom prst="ellipse">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13" name="Picture 12" descr="photo.png"/>
          <p:cNvPicPr>
            <a:picLocks noChangeAspect="1"/>
          </p:cNvPicPr>
          <p:nvPr/>
        </p:nvPicPr>
        <p:blipFill>
          <a:blip r:embed="rId3"/>
          <a:stretch>
            <a:fillRect/>
          </a:stretch>
        </p:blipFill>
        <p:spPr>
          <a:xfrm>
            <a:off x="1333317" y="1924629"/>
            <a:ext cx="430133" cy="430133"/>
          </a:xfrm>
          <a:prstGeom prst="rect">
            <a:avLst/>
          </a:prstGeom>
        </p:spPr>
      </p:pic>
      <p:sp>
        <p:nvSpPr>
          <p:cNvPr id="14" name="TextBox 13"/>
          <p:cNvSpPr txBox="1"/>
          <p:nvPr/>
        </p:nvSpPr>
        <p:spPr>
          <a:xfrm>
            <a:off x="457200" y="2633472"/>
            <a:ext cx="2182367"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See many examples</a:t>
            </a:r>
          </a:p>
        </p:txBody>
      </p:sp>
      <p:sp>
        <p:nvSpPr>
          <p:cNvPr id="15" name="TextBox 14"/>
          <p:cNvSpPr txBox="1"/>
          <p:nvPr/>
        </p:nvSpPr>
        <p:spPr>
          <a:xfrm>
            <a:off x="512064" y="2962656"/>
            <a:ext cx="2072640"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Show it thousands</a:t>
            </a:r>
          </a:p>
          <a:p>
            <a:pPr algn="ctr">
              <a:lnSpc>
                <a:spcPct val="114000"/>
              </a:lnSpc>
              <a:spcBef>
                <a:spcPts val="0"/>
              </a:spcBef>
              <a:spcAft>
                <a:spcPts val="200"/>
              </a:spcAft>
            </a:pPr>
            <a:r>
              <a:rPr sz="1130" b="0" i="0">
                <a:solidFill>
                  <a:srgbClr val="2B4255"/>
                </a:solidFill>
                <a:latin typeface="Trebuchet MS"/>
                <a:ea typeface="Trebuchet MS"/>
              </a:rPr>
              <a:t>of examples</a:t>
            </a:r>
          </a:p>
        </p:txBody>
      </p:sp>
      <p:sp>
        <p:nvSpPr>
          <p:cNvPr id="16" name="Right Arrow 15"/>
          <p:cNvSpPr/>
          <p:nvPr/>
        </p:nvSpPr>
        <p:spPr>
          <a:xfrm>
            <a:off x="2840736" y="2432304"/>
            <a:ext cx="438912" cy="292608"/>
          </a:xfrm>
          <a:prstGeom prst="rightArrow">
            <a:avLst>
              <a:gd name="adj1" fmla="val 55000"/>
              <a:gd name="adj2" fmla="val 55000"/>
            </a:avLst>
          </a:prstGeom>
          <a:solidFill>
            <a:srgbClr val="9FB2C0"/>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8" name="Rounded Rectangle 17"/>
          <p:cNvSpPr/>
          <p:nvPr/>
        </p:nvSpPr>
        <p:spPr>
          <a:xfrm>
            <a:off x="3389376" y="1572768"/>
            <a:ext cx="2365248" cy="2011680"/>
          </a:xfrm>
          <a:prstGeom prst="roundRect">
            <a:avLst>
              <a:gd name="adj" fmla="val 7272"/>
            </a:avLst>
          </a:prstGeom>
          <a:solidFill>
            <a:srgbClr val="FFFFFF"/>
          </a:solidFill>
          <a:ln w="20320">
            <a:solidFill>
              <a:srgbClr val="7C77C9"/>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9" name="Round Same Side Corner Rectangle 18"/>
          <p:cNvSpPr/>
          <p:nvPr/>
        </p:nvSpPr>
        <p:spPr>
          <a:xfrm>
            <a:off x="3389376" y="1572768"/>
            <a:ext cx="2365248" cy="146304"/>
          </a:xfrm>
          <a:prstGeom prst="round2SameRect">
            <a:avLst>
              <a:gd name="adj1" fmla="val 50000"/>
              <a:gd name="adj2" fmla="val 0"/>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0" name="Oval 19"/>
          <p:cNvSpPr/>
          <p:nvPr/>
        </p:nvSpPr>
        <p:spPr>
          <a:xfrm>
            <a:off x="4187952" y="1755648"/>
            <a:ext cx="768096" cy="768096"/>
          </a:xfrm>
          <a:prstGeom prst="ellipse">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1" name="Picture 20" descr="search.png"/>
          <p:cNvPicPr>
            <a:picLocks noChangeAspect="1"/>
          </p:cNvPicPr>
          <p:nvPr/>
        </p:nvPicPr>
        <p:blipFill>
          <a:blip r:embed="rId4"/>
          <a:stretch>
            <a:fillRect/>
          </a:stretch>
        </p:blipFill>
        <p:spPr>
          <a:xfrm>
            <a:off x="4356933" y="1924629"/>
            <a:ext cx="430133" cy="430133"/>
          </a:xfrm>
          <a:prstGeom prst="rect">
            <a:avLst/>
          </a:prstGeom>
        </p:spPr>
      </p:pic>
      <p:sp>
        <p:nvSpPr>
          <p:cNvPr id="22" name="TextBox 21"/>
          <p:cNvSpPr txBox="1"/>
          <p:nvPr/>
        </p:nvSpPr>
        <p:spPr>
          <a:xfrm>
            <a:off x="3480816" y="2633472"/>
            <a:ext cx="2182367"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Find the pattern</a:t>
            </a:r>
          </a:p>
        </p:txBody>
      </p:sp>
      <p:sp>
        <p:nvSpPr>
          <p:cNvPr id="23" name="TextBox 22"/>
          <p:cNvSpPr txBox="1"/>
          <p:nvPr/>
        </p:nvSpPr>
        <p:spPr>
          <a:xfrm>
            <a:off x="3535680" y="2962656"/>
            <a:ext cx="2072640"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It spots what they</a:t>
            </a:r>
          </a:p>
          <a:p>
            <a:pPr algn="ctr">
              <a:lnSpc>
                <a:spcPct val="114000"/>
              </a:lnSpc>
              <a:spcBef>
                <a:spcPts val="0"/>
              </a:spcBef>
              <a:spcAft>
                <a:spcPts val="200"/>
              </a:spcAft>
            </a:pPr>
            <a:r>
              <a:rPr sz="1130" b="0" i="0">
                <a:solidFill>
                  <a:srgbClr val="2B4255"/>
                </a:solidFill>
                <a:latin typeface="Trebuchet MS"/>
                <a:ea typeface="Trebuchet MS"/>
              </a:rPr>
              <a:t>have in common</a:t>
            </a:r>
          </a:p>
        </p:txBody>
      </p:sp>
      <p:sp>
        <p:nvSpPr>
          <p:cNvPr id="24" name="Right Arrow 23"/>
          <p:cNvSpPr/>
          <p:nvPr/>
        </p:nvSpPr>
        <p:spPr>
          <a:xfrm>
            <a:off x="5864352" y="2432304"/>
            <a:ext cx="438912" cy="292608"/>
          </a:xfrm>
          <a:prstGeom prst="rightArrow">
            <a:avLst>
              <a:gd name="adj1" fmla="val 55000"/>
              <a:gd name="adj2" fmla="val 55000"/>
            </a:avLst>
          </a:prstGeom>
          <a:solidFill>
            <a:srgbClr val="9FB2C0"/>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6" name="Rounded Rectangle 25"/>
          <p:cNvSpPr/>
          <p:nvPr/>
        </p:nvSpPr>
        <p:spPr>
          <a:xfrm>
            <a:off x="6412992" y="1572768"/>
            <a:ext cx="2365248" cy="2011680"/>
          </a:xfrm>
          <a:prstGeom prst="roundRect">
            <a:avLst>
              <a:gd name="adj" fmla="val 7272"/>
            </a:avLst>
          </a:prstGeom>
          <a:solidFill>
            <a:srgbClr val="1E7B57"/>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7" name="Oval 26"/>
          <p:cNvSpPr/>
          <p:nvPr/>
        </p:nvSpPr>
        <p:spPr>
          <a:xfrm>
            <a:off x="7211568" y="1755648"/>
            <a:ext cx="768096" cy="768096"/>
          </a:xfrm>
          <a:prstGeom prst="ellipse">
            <a:avLst/>
          </a:prstGeom>
          <a:noFill/>
          <a:ln w="330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8" name="Picture 27" descr="check.png"/>
          <p:cNvPicPr>
            <a:picLocks noChangeAspect="1"/>
          </p:cNvPicPr>
          <p:nvPr/>
        </p:nvPicPr>
        <p:blipFill>
          <a:blip r:embed="rId5"/>
          <a:stretch>
            <a:fillRect/>
          </a:stretch>
        </p:blipFill>
        <p:spPr>
          <a:xfrm>
            <a:off x="7380549" y="1924629"/>
            <a:ext cx="430133" cy="430133"/>
          </a:xfrm>
          <a:prstGeom prst="rect">
            <a:avLst/>
          </a:prstGeom>
        </p:spPr>
      </p:pic>
      <p:sp>
        <p:nvSpPr>
          <p:cNvPr id="29" name="TextBox 28"/>
          <p:cNvSpPr txBox="1"/>
          <p:nvPr/>
        </p:nvSpPr>
        <p:spPr>
          <a:xfrm>
            <a:off x="6504432" y="2633472"/>
            <a:ext cx="2182367"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FFFFFF"/>
                </a:solidFill>
                <a:latin typeface="Trebuchet MS"/>
                <a:ea typeface="Trebuchet MS"/>
              </a:rPr>
              <a:t>Now it has learned!</a:t>
            </a:r>
          </a:p>
        </p:txBody>
      </p:sp>
      <p:sp>
        <p:nvSpPr>
          <p:cNvPr id="30" name="TextBox 29"/>
          <p:cNvSpPr txBox="1"/>
          <p:nvPr/>
        </p:nvSpPr>
        <p:spPr>
          <a:xfrm>
            <a:off x="6559296" y="2962656"/>
            <a:ext cx="2072640"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1" i="0">
                <a:solidFill>
                  <a:srgbClr val="FFFFFF"/>
                </a:solidFill>
                <a:latin typeface="Trebuchet MS"/>
                <a:ea typeface="Trebuchet MS"/>
              </a:rPr>
              <a:t>It handles new</a:t>
            </a:r>
          </a:p>
          <a:p>
            <a:pPr algn="ctr">
              <a:lnSpc>
                <a:spcPct val="114000"/>
              </a:lnSpc>
              <a:spcBef>
                <a:spcPts val="0"/>
              </a:spcBef>
              <a:spcAft>
                <a:spcPts val="200"/>
              </a:spcAft>
            </a:pPr>
            <a:r>
              <a:rPr sz="1130" b="1" i="0">
                <a:solidFill>
                  <a:srgbClr val="FFFFFF"/>
                </a:solidFill>
                <a:latin typeface="Trebuchet MS"/>
                <a:ea typeface="Trebuchet MS"/>
              </a:rPr>
              <a:t>things too</a:t>
            </a:r>
          </a:p>
        </p:txBody>
      </p:sp>
      <p:sp>
        <p:nvSpPr>
          <p:cNvPr id="31" name="Rounded Rectangle 30"/>
          <p:cNvSpPr/>
          <p:nvPr/>
        </p:nvSpPr>
        <p:spPr>
          <a:xfrm>
            <a:off x="566928" y="3826763"/>
            <a:ext cx="8010144" cy="72237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2" name="Rectangle 31"/>
          <p:cNvSpPr/>
          <p:nvPr/>
        </p:nvSpPr>
        <p:spPr>
          <a:xfrm>
            <a:off x="566928" y="3884554"/>
            <a:ext cx="64008" cy="606795"/>
          </a:xfrm>
          <a:prstGeom prst="rect">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3" name="TextBox 32"/>
          <p:cNvSpPr txBox="1"/>
          <p:nvPr/>
        </p:nvSpPr>
        <p:spPr>
          <a:xfrm>
            <a:off x="786384" y="3826763"/>
            <a:ext cx="7607808" cy="722376"/>
          </a:xfrm>
          <a:prstGeom prst="rect">
            <a:avLst/>
          </a:prstGeom>
          <a:noFill/>
          <a:ln/>
        </p:spPr>
        <p:txBody>
          <a:bodyPr wrap="square" anchor="ctr" lIns="36576" rIns="36576" tIns="27432" bIns="27432">
            <a:spAutoFit/>
          </a:bodyPr>
          <a:lstStyle/>
          <a:p>
            <a:pPr algn="l">
              <a:lnSpc>
                <a:spcPct val="108000"/>
              </a:lnSpc>
              <a:spcBef>
                <a:spcPts val="0"/>
              </a:spcBef>
              <a:spcAft>
                <a:spcPts val="0"/>
              </a:spcAft>
            </a:pPr>
            <a:r>
              <a:rPr sz="1100" b="1" i="0">
                <a:solidFill>
                  <a:srgbClr val="3FA882"/>
                </a:solidFill>
                <a:latin typeface="Trebuchet MS"/>
                <a:ea typeface="Trebuchet MS"/>
              </a:rPr>
              <a:t>Here is an analogy  </a:t>
            </a:r>
            <a:r>
              <a:rPr sz="1250" b="0" i="0">
                <a:solidFill>
                  <a:srgbClr val="063355"/>
                </a:solidFill>
                <a:latin typeface="Trebuchet MS"/>
                <a:ea typeface="Trebuchet MS"/>
              </a:rPr>
              <a:t>Just like seeing lots of cat and dog photos helps you tell them apart — AI learns the same way.</a:t>
            </a:r>
          </a:p>
        </p:txBody>
      </p:sp>
    </p:spTree>
  </p:cSld>
  <p:clrMapOvr>
    <a:masterClrMapping/>
  </p:clrMapOvr>
  <p:transition xmlns:p14="http://schemas.microsoft.com/office/powerpoint/2010/main" spd="med" p14:dur="500">
    <p:fade/>
  </p:transition>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3" name="Rounded Rectangle 2"/>
          <p:cNvSpPr/>
          <p:nvPr/>
        </p:nvSpPr>
        <p:spPr>
          <a:xfrm>
            <a:off x="566928" y="384048"/>
            <a:ext cx="3188017" cy="384048"/>
          </a:xfrm>
          <a:prstGeom prst="roundRect">
            <a:avLst>
              <a:gd name="adj" fmla="val 50000"/>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4" name="TextBox 3"/>
          <p:cNvSpPr txBox="1"/>
          <p:nvPr/>
        </p:nvSpPr>
        <p:spPr>
          <a:xfrm>
            <a:off x="566928" y="384048"/>
            <a:ext cx="3188017" cy="38404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80" b="1" i="0">
                <a:solidFill>
                  <a:srgbClr val="FFFFFF"/>
                </a:solidFill>
                <a:latin typeface="Trebuchet MS"/>
                <a:ea typeface="Trebuchet MS"/>
              </a:rPr>
              <a:t>Part 2 · An example</a:t>
            </a:r>
          </a:p>
        </p:txBody>
      </p:sp>
      <p:sp>
        <p:nvSpPr>
          <p:cNvPr id="5" name="TextBox 4"/>
          <p:cNvSpPr txBox="1"/>
          <p:nvPr/>
        </p:nvSpPr>
        <p:spPr>
          <a:xfrm>
            <a:off x="566928" y="841248"/>
            <a:ext cx="8010144" cy="65836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2300" b="1" i="0">
                <a:solidFill>
                  <a:srgbClr val="063355"/>
                </a:solidFill>
                <a:latin typeface="Trebuchet MS"/>
                <a:ea typeface="Trebuchet MS"/>
              </a:rPr>
              <a:t>How Do We Teach a Computer to Spot a Cat?</a:t>
            </a:r>
          </a:p>
        </p:txBody>
      </p:sp>
      <p:sp>
        <p:nvSpPr>
          <p:cNvPr id="6" name="Rounded Rectangle 5"/>
          <p:cNvSpPr/>
          <p:nvPr/>
        </p:nvSpPr>
        <p:spPr>
          <a:xfrm>
            <a:off x="585216" y="1408176"/>
            <a:ext cx="1005840" cy="64008"/>
          </a:xfrm>
          <a:prstGeom prst="roundRect">
            <a:avLst>
              <a:gd name="adj" fmla="val 50000"/>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7" name="TextBox 6"/>
          <p:cNvSpPr txBox="1"/>
          <p:nvPr/>
        </p:nvSpPr>
        <p:spPr>
          <a:xfrm>
            <a:off x="566928" y="4759452"/>
            <a:ext cx="5486400" cy="274320"/>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900" b="0" i="0">
                <a:solidFill>
                  <a:srgbClr val="4A5C6A"/>
                </a:solidFill>
                <a:latin typeface="Trebuchet MS"/>
                <a:ea typeface="Trebuchet MS"/>
              </a:rPr>
              <a:t>What Is AI?  ·  A first AI lesson for kids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6</a:t>
            </a:r>
          </a:p>
        </p:txBody>
      </p:sp>
      <p:sp>
        <p:nvSpPr>
          <p:cNvPr id="10" name="Rounded Rectangle 9"/>
          <p:cNvSpPr/>
          <p:nvPr/>
        </p:nvSpPr>
        <p:spPr>
          <a:xfrm>
            <a:off x="365760" y="1572768"/>
            <a:ext cx="2365248" cy="2011680"/>
          </a:xfrm>
          <a:prstGeom prst="roundRect">
            <a:avLst>
              <a:gd name="adj" fmla="val 7272"/>
            </a:avLst>
          </a:prstGeom>
          <a:solidFill>
            <a:srgbClr val="FFFFFF"/>
          </a:solidFill>
          <a:ln w="20320">
            <a:solidFill>
              <a:srgbClr val="2E9BD6"/>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1" name="Round Same Side Corner Rectangle 10"/>
          <p:cNvSpPr/>
          <p:nvPr/>
        </p:nvSpPr>
        <p:spPr>
          <a:xfrm>
            <a:off x="365760" y="1572768"/>
            <a:ext cx="2365248" cy="146304"/>
          </a:xfrm>
          <a:prstGeom prst="round2SameRect">
            <a:avLst>
              <a:gd name="adj1" fmla="val 50000"/>
              <a:gd name="adj2" fmla="val 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2" name="Oval 11"/>
          <p:cNvSpPr/>
          <p:nvPr/>
        </p:nvSpPr>
        <p:spPr>
          <a:xfrm>
            <a:off x="1164336" y="1755648"/>
            <a:ext cx="768096" cy="768096"/>
          </a:xfrm>
          <a:prstGeom prst="ellipse">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13" name="Picture 12" descr="photo.png"/>
          <p:cNvPicPr>
            <a:picLocks noChangeAspect="1"/>
          </p:cNvPicPr>
          <p:nvPr/>
        </p:nvPicPr>
        <p:blipFill>
          <a:blip r:embed="rId3"/>
          <a:stretch>
            <a:fillRect/>
          </a:stretch>
        </p:blipFill>
        <p:spPr>
          <a:xfrm>
            <a:off x="1333317" y="1924629"/>
            <a:ext cx="430133" cy="430133"/>
          </a:xfrm>
          <a:prstGeom prst="rect">
            <a:avLst/>
          </a:prstGeom>
        </p:spPr>
      </p:pic>
      <p:sp>
        <p:nvSpPr>
          <p:cNvPr id="14" name="TextBox 13"/>
          <p:cNvSpPr txBox="1"/>
          <p:nvPr/>
        </p:nvSpPr>
        <p:spPr>
          <a:xfrm>
            <a:off x="457200" y="2633472"/>
            <a:ext cx="2182367"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Look at many cats</a:t>
            </a:r>
          </a:p>
        </p:txBody>
      </p:sp>
      <p:sp>
        <p:nvSpPr>
          <p:cNvPr id="15" name="TextBox 14"/>
          <p:cNvSpPr txBox="1"/>
          <p:nvPr/>
        </p:nvSpPr>
        <p:spPr>
          <a:xfrm>
            <a:off x="512064" y="2962656"/>
            <a:ext cx="2072640"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Show it thousands</a:t>
            </a:r>
          </a:p>
          <a:p>
            <a:pPr algn="ctr">
              <a:lnSpc>
                <a:spcPct val="114000"/>
              </a:lnSpc>
              <a:spcBef>
                <a:spcPts val="0"/>
              </a:spcBef>
              <a:spcAft>
                <a:spcPts val="200"/>
              </a:spcAft>
            </a:pPr>
            <a:r>
              <a:rPr sz="1130" b="0" i="0">
                <a:solidFill>
                  <a:srgbClr val="2B4255"/>
                </a:solidFill>
                <a:latin typeface="Trebuchet MS"/>
                <a:ea typeface="Trebuchet MS"/>
              </a:rPr>
              <a:t>of cat photos</a:t>
            </a:r>
          </a:p>
        </p:txBody>
      </p:sp>
      <p:sp>
        <p:nvSpPr>
          <p:cNvPr id="16" name="Right Arrow 15"/>
          <p:cNvSpPr/>
          <p:nvPr/>
        </p:nvSpPr>
        <p:spPr>
          <a:xfrm>
            <a:off x="2840736" y="2432304"/>
            <a:ext cx="438912" cy="292608"/>
          </a:xfrm>
          <a:prstGeom prst="rightArrow">
            <a:avLst>
              <a:gd name="adj1" fmla="val 55000"/>
              <a:gd name="adj2" fmla="val 55000"/>
            </a:avLst>
          </a:prstGeom>
          <a:solidFill>
            <a:srgbClr val="9FB2C0"/>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8" name="Rounded Rectangle 17"/>
          <p:cNvSpPr/>
          <p:nvPr/>
        </p:nvSpPr>
        <p:spPr>
          <a:xfrm>
            <a:off x="3389376" y="1572768"/>
            <a:ext cx="2365248" cy="2011680"/>
          </a:xfrm>
          <a:prstGeom prst="roundRect">
            <a:avLst>
              <a:gd name="adj" fmla="val 7272"/>
            </a:avLst>
          </a:prstGeom>
          <a:solidFill>
            <a:srgbClr val="FFFFFF"/>
          </a:solidFill>
          <a:ln w="20320">
            <a:solidFill>
              <a:srgbClr val="7C77C9"/>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9" name="Round Same Side Corner Rectangle 18"/>
          <p:cNvSpPr/>
          <p:nvPr/>
        </p:nvSpPr>
        <p:spPr>
          <a:xfrm>
            <a:off x="3389376" y="1572768"/>
            <a:ext cx="2365248" cy="146304"/>
          </a:xfrm>
          <a:prstGeom prst="round2SameRect">
            <a:avLst>
              <a:gd name="adj1" fmla="val 50000"/>
              <a:gd name="adj2" fmla="val 0"/>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0" name="Oval 19"/>
          <p:cNvSpPr/>
          <p:nvPr/>
        </p:nvSpPr>
        <p:spPr>
          <a:xfrm>
            <a:off x="4187952" y="1755648"/>
            <a:ext cx="768096" cy="768096"/>
          </a:xfrm>
          <a:prstGeom prst="ellipse">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1" name="Picture 20" descr="search.png"/>
          <p:cNvPicPr>
            <a:picLocks noChangeAspect="1"/>
          </p:cNvPicPr>
          <p:nvPr/>
        </p:nvPicPr>
        <p:blipFill>
          <a:blip r:embed="rId4"/>
          <a:stretch>
            <a:fillRect/>
          </a:stretch>
        </p:blipFill>
        <p:spPr>
          <a:xfrm>
            <a:off x="4356933" y="1924629"/>
            <a:ext cx="430133" cy="430133"/>
          </a:xfrm>
          <a:prstGeom prst="rect">
            <a:avLst/>
          </a:prstGeom>
        </p:spPr>
      </p:pic>
      <p:sp>
        <p:nvSpPr>
          <p:cNvPr id="22" name="TextBox 21"/>
          <p:cNvSpPr txBox="1"/>
          <p:nvPr/>
        </p:nvSpPr>
        <p:spPr>
          <a:xfrm>
            <a:off x="3480816" y="2633472"/>
            <a:ext cx="2182367"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Find a cat's traits</a:t>
            </a:r>
          </a:p>
        </p:txBody>
      </p:sp>
      <p:sp>
        <p:nvSpPr>
          <p:cNvPr id="23" name="TextBox 22"/>
          <p:cNvSpPr txBox="1"/>
          <p:nvPr/>
        </p:nvSpPr>
        <p:spPr>
          <a:xfrm>
            <a:off x="3535680" y="2962656"/>
            <a:ext cx="2072640"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Pointy ears, whiskers,</a:t>
            </a:r>
          </a:p>
          <a:p>
            <a:pPr algn="ctr">
              <a:lnSpc>
                <a:spcPct val="114000"/>
              </a:lnSpc>
              <a:spcBef>
                <a:spcPts val="0"/>
              </a:spcBef>
              <a:spcAft>
                <a:spcPts val="200"/>
              </a:spcAft>
            </a:pPr>
            <a:r>
              <a:rPr sz="1130" b="0" i="0">
                <a:solidFill>
                  <a:srgbClr val="2B4255"/>
                </a:solidFill>
                <a:latin typeface="Trebuchet MS"/>
                <a:ea typeface="Trebuchet MS"/>
              </a:rPr>
              <a:t>round eyes</a:t>
            </a:r>
          </a:p>
        </p:txBody>
      </p:sp>
      <p:sp>
        <p:nvSpPr>
          <p:cNvPr id="24" name="Right Arrow 23"/>
          <p:cNvSpPr/>
          <p:nvPr/>
        </p:nvSpPr>
        <p:spPr>
          <a:xfrm>
            <a:off x="5864352" y="2432304"/>
            <a:ext cx="438912" cy="292608"/>
          </a:xfrm>
          <a:prstGeom prst="rightArrow">
            <a:avLst>
              <a:gd name="adj1" fmla="val 55000"/>
              <a:gd name="adj2" fmla="val 55000"/>
            </a:avLst>
          </a:prstGeom>
          <a:solidFill>
            <a:srgbClr val="9FB2C0"/>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6" name="Rounded Rectangle 25"/>
          <p:cNvSpPr/>
          <p:nvPr/>
        </p:nvSpPr>
        <p:spPr>
          <a:xfrm>
            <a:off x="6412992" y="1572768"/>
            <a:ext cx="2365248" cy="2011680"/>
          </a:xfrm>
          <a:prstGeom prst="roundRect">
            <a:avLst>
              <a:gd name="adj" fmla="val 7272"/>
            </a:avLst>
          </a:prstGeom>
          <a:solidFill>
            <a:srgbClr val="FFFFFF"/>
          </a:solidFill>
          <a:ln w="20320">
            <a:solidFill>
              <a:srgbClr val="3FA882"/>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7" name="Round Same Side Corner Rectangle 26"/>
          <p:cNvSpPr/>
          <p:nvPr/>
        </p:nvSpPr>
        <p:spPr>
          <a:xfrm>
            <a:off x="6412992" y="1572768"/>
            <a:ext cx="2365248" cy="146304"/>
          </a:xfrm>
          <a:prstGeom prst="round2SameRect">
            <a:avLst>
              <a:gd name="adj1" fmla="val 50000"/>
              <a:gd name="adj2" fmla="val 0"/>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8" name="Oval 27"/>
          <p:cNvSpPr/>
          <p:nvPr/>
        </p:nvSpPr>
        <p:spPr>
          <a:xfrm>
            <a:off x="7211568" y="1755648"/>
            <a:ext cx="768096" cy="768096"/>
          </a:xfrm>
          <a:prstGeom prst="ellipse">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9" name="Picture 28" descr="check.png"/>
          <p:cNvPicPr>
            <a:picLocks noChangeAspect="1"/>
          </p:cNvPicPr>
          <p:nvPr/>
        </p:nvPicPr>
        <p:blipFill>
          <a:blip r:embed="rId5"/>
          <a:stretch>
            <a:fillRect/>
          </a:stretch>
        </p:blipFill>
        <p:spPr>
          <a:xfrm>
            <a:off x="7380549" y="1924629"/>
            <a:ext cx="430133" cy="430133"/>
          </a:xfrm>
          <a:prstGeom prst="rect">
            <a:avLst/>
          </a:prstGeom>
        </p:spPr>
      </p:pic>
      <p:sp>
        <p:nvSpPr>
          <p:cNvPr id="30" name="TextBox 29"/>
          <p:cNvSpPr txBox="1"/>
          <p:nvPr/>
        </p:nvSpPr>
        <p:spPr>
          <a:xfrm>
            <a:off x="6504432" y="2633472"/>
            <a:ext cx="2182367"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Spot a brand-new cat</a:t>
            </a:r>
          </a:p>
        </p:txBody>
      </p:sp>
      <p:sp>
        <p:nvSpPr>
          <p:cNvPr id="31" name="TextBox 30"/>
          <p:cNvSpPr txBox="1"/>
          <p:nvPr/>
        </p:nvSpPr>
        <p:spPr>
          <a:xfrm>
            <a:off x="6559296" y="2962656"/>
            <a:ext cx="2072640"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It knows cats it</a:t>
            </a:r>
          </a:p>
          <a:p>
            <a:pPr algn="ctr">
              <a:lnSpc>
                <a:spcPct val="114000"/>
              </a:lnSpc>
              <a:spcBef>
                <a:spcPts val="0"/>
              </a:spcBef>
              <a:spcAft>
                <a:spcPts val="200"/>
              </a:spcAft>
            </a:pPr>
            <a:r>
              <a:rPr sz="1130" b="0" i="0">
                <a:solidFill>
                  <a:srgbClr val="2B4255"/>
                </a:solidFill>
                <a:latin typeface="Trebuchet MS"/>
                <a:ea typeface="Trebuchet MS"/>
              </a:rPr>
              <a:t>has never seen</a:t>
            </a:r>
          </a:p>
        </p:txBody>
      </p:sp>
      <p:sp>
        <p:nvSpPr>
          <p:cNvPr id="32" name="Rounded Rectangle 31"/>
          <p:cNvSpPr/>
          <p:nvPr/>
        </p:nvSpPr>
        <p:spPr>
          <a:xfrm>
            <a:off x="566928" y="4050791"/>
            <a:ext cx="8010144"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3" name="Rectangle 32"/>
          <p:cNvSpPr/>
          <p:nvPr/>
        </p:nvSpPr>
        <p:spPr>
          <a:xfrm>
            <a:off x="566928" y="4090659"/>
            <a:ext cx="64008" cy="566928"/>
          </a:xfrm>
          <a:prstGeom prst="rect">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4" name="TextBox 33"/>
          <p:cNvSpPr txBox="1"/>
          <p:nvPr/>
        </p:nvSpPr>
        <p:spPr>
          <a:xfrm>
            <a:off x="786384" y="4050791"/>
            <a:ext cx="7607808" cy="566928"/>
          </a:xfrm>
          <a:prstGeom prst="rect">
            <a:avLst/>
          </a:prstGeom>
          <a:noFill/>
          <a:ln/>
        </p:spPr>
        <p:txBody>
          <a:bodyPr wrap="square" anchor="ctr" lIns="36576" rIns="36576" tIns="27432" bIns="27432">
            <a:spAutoFit/>
          </a:bodyPr>
          <a:lstStyle/>
          <a:p>
            <a:pPr algn="l">
              <a:lnSpc>
                <a:spcPct val="108000"/>
              </a:lnSpc>
              <a:spcBef>
                <a:spcPts val="0"/>
              </a:spcBef>
              <a:spcAft>
                <a:spcPts val="0"/>
              </a:spcAft>
            </a:pPr>
            <a:r>
              <a:rPr sz="1050" b="1" i="0">
                <a:solidFill>
                  <a:srgbClr val="2E9BD6"/>
                </a:solidFill>
                <a:latin typeface="Trebuchet MS"/>
                <a:ea typeface="Trebuchet MS"/>
              </a:rPr>
              <a:t>Same idea everywhere  </a:t>
            </a:r>
            <a:r>
              <a:rPr sz="1050" b="0" i="0">
                <a:solidFill>
                  <a:srgbClr val="063355"/>
                </a:solidFill>
                <a:latin typeface="Trebuchet MS"/>
                <a:ea typeface="Trebuchet MS"/>
              </a:rPr>
              <a:t>Cats, words, faces… it is all the same: the more AI sees, the better it learns.</a:t>
            </a:r>
          </a:p>
        </p:txBody>
      </p:sp>
    </p:spTree>
  </p:cSld>
  <p:clrMapOvr>
    <a:masterClrMapping/>
  </p:clrMapOvr>
  <p:transition xmlns:p14="http://schemas.microsoft.com/office/powerpoint/2010/main" spd="med" p14:dur="500">
    <p:fade/>
  </p:transition>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4" name="Rounded Rectangle 3"/>
          <p:cNvSpPr/>
          <p:nvPr/>
        </p:nvSpPr>
        <p:spPr>
          <a:xfrm>
            <a:off x="1554480" y="3529584"/>
            <a:ext cx="6035040" cy="1078992"/>
          </a:xfrm>
          <a:prstGeom prst="roundRect">
            <a:avLst>
              <a:gd name="adj" fmla="val 1694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5" name="Rounded Rectangle 4"/>
          <p:cNvSpPr/>
          <p:nvPr/>
        </p:nvSpPr>
        <p:spPr>
          <a:xfrm>
            <a:off x="3869436" y="3675887"/>
            <a:ext cx="1405128" cy="310896"/>
          </a:xfrm>
          <a:prstGeom prst="roundRect">
            <a:avLst>
              <a:gd name="adj" fmla="val 5000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6" name="TextBox 5"/>
          <p:cNvSpPr txBox="1"/>
          <p:nvPr/>
        </p:nvSpPr>
        <p:spPr>
          <a:xfrm>
            <a:off x="3869436" y="3675887"/>
            <a:ext cx="1405128" cy="310896"/>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200" b="1" i="0">
                <a:solidFill>
                  <a:srgbClr val="FFFFFF"/>
                </a:solidFill>
                <a:latin typeface="Trebuchet MS"/>
                <a:ea typeface="Trebuchet MS"/>
              </a:rPr>
              <a:t>Even cooler</a:t>
            </a:r>
          </a:p>
        </p:txBody>
      </p:sp>
      <p:sp>
        <p:nvSpPr>
          <p:cNvPr id="7" name="TextBox 6"/>
          <p:cNvSpPr txBox="1"/>
          <p:nvPr/>
        </p:nvSpPr>
        <p:spPr>
          <a:xfrm>
            <a:off x="1783080" y="4059935"/>
            <a:ext cx="5577840" cy="56692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50" b="1" i="0">
                <a:solidFill>
                  <a:srgbClr val="063355"/>
                </a:solidFill>
                <a:latin typeface="Trebuchet MS"/>
                <a:ea typeface="Trebuchet MS"/>
              </a:rPr>
              <a:t>It Talks and Creates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7</a:t>
            </a:r>
          </a:p>
        </p:txBody>
      </p:sp>
    </p:spTree>
  </p:cSld>
  <p:clrMapOvr>
    <a:masterClrMapping/>
  </p:clrMapOvr>
  <p:transition xmlns:p14="http://schemas.microsoft.com/office/powerpoint/2010/main" spd="med" p14:dur="500">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3" name="Rounded Rectangle 2"/>
          <p:cNvSpPr/>
          <p:nvPr/>
        </p:nvSpPr>
        <p:spPr>
          <a:xfrm>
            <a:off x="566928" y="384048"/>
            <a:ext cx="2881312" cy="384048"/>
          </a:xfrm>
          <a:prstGeom prst="roundRect">
            <a:avLst>
              <a:gd name="adj" fmla="val 5000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4" name="TextBox 3"/>
          <p:cNvSpPr txBox="1"/>
          <p:nvPr/>
        </p:nvSpPr>
        <p:spPr>
          <a:xfrm>
            <a:off x="566928" y="384048"/>
            <a:ext cx="2881312" cy="38404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80" b="1" i="0">
                <a:solidFill>
                  <a:srgbClr val="FFFFFF"/>
                </a:solidFill>
                <a:latin typeface="Trebuchet MS"/>
                <a:ea typeface="Trebuchet MS"/>
              </a:rPr>
              <a:t>Part 3 · It talks</a:t>
            </a:r>
          </a:p>
        </p:txBody>
      </p:sp>
      <p:sp>
        <p:nvSpPr>
          <p:cNvPr id="5" name="TextBox 4"/>
          <p:cNvSpPr txBox="1"/>
          <p:nvPr/>
        </p:nvSpPr>
        <p:spPr>
          <a:xfrm>
            <a:off x="566928" y="841248"/>
            <a:ext cx="8010144" cy="65836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2300" b="1" i="0">
                <a:solidFill>
                  <a:srgbClr val="063355"/>
                </a:solidFill>
                <a:latin typeface="Trebuchet MS"/>
                <a:ea typeface="Trebuchet MS"/>
              </a:rPr>
              <a:t>AI Can Even Chat With You</a:t>
            </a:r>
          </a:p>
        </p:txBody>
      </p:sp>
      <p:sp>
        <p:nvSpPr>
          <p:cNvPr id="6" name="Rounded Rectangle 5"/>
          <p:cNvSpPr/>
          <p:nvPr/>
        </p:nvSpPr>
        <p:spPr>
          <a:xfrm>
            <a:off x="585216" y="1408176"/>
            <a:ext cx="1005840" cy="64008"/>
          </a:xfrm>
          <a:prstGeom prst="roundRect">
            <a:avLst>
              <a:gd name="adj" fmla="val 5000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7" name="TextBox 6"/>
          <p:cNvSpPr txBox="1"/>
          <p:nvPr/>
        </p:nvSpPr>
        <p:spPr>
          <a:xfrm>
            <a:off x="566928" y="4759452"/>
            <a:ext cx="5486400" cy="274320"/>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900" b="0" i="0">
                <a:solidFill>
                  <a:srgbClr val="4A5C6A"/>
                </a:solidFill>
                <a:latin typeface="Trebuchet MS"/>
                <a:ea typeface="Trebuchet MS"/>
              </a:rPr>
              <a:t>What Is AI?  ·  A first AI lesson for kids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8</a:t>
            </a:r>
          </a:p>
        </p:txBody>
      </p:sp>
      <p:sp>
        <p:nvSpPr>
          <p:cNvPr id="9" name="Oval 8"/>
          <p:cNvSpPr/>
          <p:nvPr/>
        </p:nvSpPr>
        <p:spPr>
          <a:xfrm>
            <a:off x="694943" y="1627631"/>
            <a:ext cx="713232" cy="713232"/>
          </a:xfrm>
          <a:prstGeom prst="ellipse">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10" name="Picture 9" descr="ask.png"/>
          <p:cNvPicPr>
            <a:picLocks noChangeAspect="1"/>
          </p:cNvPicPr>
          <p:nvPr/>
        </p:nvPicPr>
        <p:blipFill>
          <a:blip r:embed="rId3"/>
          <a:stretch>
            <a:fillRect/>
          </a:stretch>
        </p:blipFill>
        <p:spPr>
          <a:xfrm>
            <a:off x="851855" y="1784543"/>
            <a:ext cx="399409" cy="399409"/>
          </a:xfrm>
          <a:prstGeom prst="rect">
            <a:avLst/>
          </a:prstGeom>
        </p:spPr>
      </p:pic>
      <p:sp>
        <p:nvSpPr>
          <p:cNvPr id="12" name="Rounded Rectangle 11"/>
          <p:cNvSpPr/>
          <p:nvPr/>
        </p:nvSpPr>
        <p:spPr>
          <a:xfrm>
            <a:off x="1554480" y="1627632"/>
            <a:ext cx="5669280" cy="749808"/>
          </a:xfrm>
          <a:prstGeom prst="roundRect">
            <a:avLst>
              <a:gd name="adj" fmla="val 21951"/>
            </a:avLst>
          </a:prstGeom>
          <a:solidFill>
            <a:srgbClr val="FFFFFF"/>
          </a:solidFill>
          <a:ln w="20320">
            <a:solidFill>
              <a:srgbClr val="E86B73"/>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3" name="TextBox 12"/>
          <p:cNvSpPr txBox="1"/>
          <p:nvPr/>
        </p:nvSpPr>
        <p:spPr>
          <a:xfrm>
            <a:off x="1737360" y="1627632"/>
            <a:ext cx="5394960" cy="74980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1400" b="1" i="0">
                <a:solidFill>
                  <a:srgbClr val="E86B73"/>
                </a:solidFill>
                <a:latin typeface="Trebuchet MS"/>
                <a:ea typeface="Trebuchet MS"/>
              </a:rPr>
              <a:t>You:  </a:t>
            </a:r>
            <a:r>
              <a:rPr sz="1500" b="0" i="0">
                <a:solidFill>
                  <a:srgbClr val="063355"/>
                </a:solidFill>
                <a:latin typeface="Trebuchet MS"/>
                <a:ea typeface="Trebuchet MS"/>
              </a:rPr>
              <a:t>Why is the sky blue?</a:t>
            </a:r>
          </a:p>
        </p:txBody>
      </p:sp>
      <p:sp>
        <p:nvSpPr>
          <p:cNvPr id="14" name="Oval 13"/>
          <p:cNvSpPr/>
          <p:nvPr/>
        </p:nvSpPr>
        <p:spPr>
          <a:xfrm>
            <a:off x="7781544" y="2633472"/>
            <a:ext cx="713232" cy="713232"/>
          </a:xfrm>
          <a:prstGeom prst="ellipse">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15" name="Picture 14" descr="chat.png"/>
          <p:cNvPicPr>
            <a:picLocks noChangeAspect="1"/>
          </p:cNvPicPr>
          <p:nvPr/>
        </p:nvPicPr>
        <p:blipFill>
          <a:blip r:embed="rId4"/>
          <a:stretch>
            <a:fillRect/>
          </a:stretch>
        </p:blipFill>
        <p:spPr>
          <a:xfrm>
            <a:off x="7938455" y="2790383"/>
            <a:ext cx="399409" cy="399409"/>
          </a:xfrm>
          <a:prstGeom prst="rect">
            <a:avLst/>
          </a:prstGeom>
        </p:spPr>
      </p:pic>
      <p:sp>
        <p:nvSpPr>
          <p:cNvPr id="17" name="Rounded Rectangle 16"/>
          <p:cNvSpPr/>
          <p:nvPr/>
        </p:nvSpPr>
        <p:spPr>
          <a:xfrm>
            <a:off x="2240280" y="2633472"/>
            <a:ext cx="5394960" cy="749808"/>
          </a:xfrm>
          <a:prstGeom prst="roundRect">
            <a:avLst>
              <a:gd name="adj" fmla="val 21951"/>
            </a:avLst>
          </a:prstGeom>
          <a:solidFill>
            <a:srgbClr val="FFFFFF"/>
          </a:solidFill>
          <a:ln w="20320">
            <a:solidFill>
              <a:srgbClr val="2E9BD6"/>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8" name="TextBox 17"/>
          <p:cNvSpPr txBox="1"/>
          <p:nvPr/>
        </p:nvSpPr>
        <p:spPr>
          <a:xfrm>
            <a:off x="2423160" y="2633472"/>
            <a:ext cx="5029200" cy="74980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1400" b="1" i="0">
                <a:solidFill>
                  <a:srgbClr val="2E9BD6"/>
                </a:solidFill>
                <a:latin typeface="Trebuchet MS"/>
                <a:ea typeface="Trebuchet MS"/>
              </a:rPr>
              <a:t>AI:  </a:t>
            </a:r>
            <a:r>
              <a:rPr sz="1400" b="0" i="0">
                <a:solidFill>
                  <a:srgbClr val="063355"/>
                </a:solidFill>
                <a:latin typeface="Trebuchet MS"/>
                <a:ea typeface="Trebuchet MS"/>
              </a:rPr>
              <a:t>Sunlight's blue light scatters in the air!</a:t>
            </a:r>
          </a:p>
        </p:txBody>
      </p:sp>
      <p:sp>
        <p:nvSpPr>
          <p:cNvPr id="19" name="Rounded Rectangle 18"/>
          <p:cNvSpPr/>
          <p:nvPr/>
        </p:nvSpPr>
        <p:spPr>
          <a:xfrm>
            <a:off x="566928" y="3826763"/>
            <a:ext cx="8010144" cy="72237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0" name="Rectangle 19"/>
          <p:cNvSpPr/>
          <p:nvPr/>
        </p:nvSpPr>
        <p:spPr>
          <a:xfrm>
            <a:off x="566928" y="3884554"/>
            <a:ext cx="64008" cy="606795"/>
          </a:xfrm>
          <a:prstGeom prst="rect">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1" name="TextBox 20"/>
          <p:cNvSpPr txBox="1"/>
          <p:nvPr/>
        </p:nvSpPr>
        <p:spPr>
          <a:xfrm>
            <a:off x="786384" y="3826763"/>
            <a:ext cx="7607808" cy="722376"/>
          </a:xfrm>
          <a:prstGeom prst="rect">
            <a:avLst/>
          </a:prstGeom>
          <a:noFill/>
          <a:ln/>
        </p:spPr>
        <p:txBody>
          <a:bodyPr wrap="square" anchor="ctr" lIns="36576" rIns="36576" tIns="27432" bIns="27432">
            <a:spAutoFit/>
          </a:bodyPr>
          <a:lstStyle/>
          <a:p>
            <a:pPr algn="l">
              <a:lnSpc>
                <a:spcPct val="108000"/>
              </a:lnSpc>
              <a:spcBef>
                <a:spcPts val="0"/>
              </a:spcBef>
              <a:spcAft>
                <a:spcPts val="0"/>
              </a:spcAft>
            </a:pPr>
            <a:r>
              <a:rPr sz="1100" b="1" i="0">
                <a:solidFill>
                  <a:srgbClr val="E86B73"/>
                </a:solidFill>
                <a:latin typeface="Trebuchet MS"/>
                <a:ea typeface="Trebuchet MS"/>
              </a:rPr>
              <a:t>It is really playing word-chain  </a:t>
            </a:r>
            <a:r>
              <a:rPr sz="1250" b="0" i="0">
                <a:solidFill>
                  <a:srgbClr val="063355"/>
                </a:solidFill>
                <a:latin typeface="Trebuchet MS"/>
                <a:ea typeface="Trebuchet MS"/>
              </a:rPr>
              <a:t>AI has read huge amounts of text, so it guesses the best next word, one word at a time. ChatGPT and Doubao work this way.</a:t>
            </a:r>
          </a:p>
        </p:txBody>
      </p:sp>
    </p:spTree>
  </p:cSld>
  <p:clrMapOvr>
    <a:masterClrMapping/>
  </p:clrMapOvr>
  <p:transition xmlns:p14="http://schemas.microsoft.com/office/powerpoint/2010/main" spd="med" p14:dur="500">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3" name="Rounded Rectangle 2"/>
          <p:cNvSpPr/>
          <p:nvPr/>
        </p:nvSpPr>
        <p:spPr>
          <a:xfrm>
            <a:off x="566928" y="384048"/>
            <a:ext cx="3188017" cy="384048"/>
          </a:xfrm>
          <a:prstGeom prst="roundRect">
            <a:avLst>
              <a:gd name="adj" fmla="val 5000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4" name="TextBox 3"/>
          <p:cNvSpPr txBox="1"/>
          <p:nvPr/>
        </p:nvSpPr>
        <p:spPr>
          <a:xfrm>
            <a:off x="566928" y="384048"/>
            <a:ext cx="3188017" cy="38404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80" b="1" i="0">
                <a:solidFill>
                  <a:srgbClr val="FFFFFF"/>
                </a:solidFill>
                <a:latin typeface="Trebuchet MS"/>
                <a:ea typeface="Trebuchet MS"/>
              </a:rPr>
              <a:t>Part 3 · It creates</a:t>
            </a:r>
          </a:p>
        </p:txBody>
      </p:sp>
      <p:sp>
        <p:nvSpPr>
          <p:cNvPr id="5" name="TextBox 4"/>
          <p:cNvSpPr txBox="1"/>
          <p:nvPr/>
        </p:nvSpPr>
        <p:spPr>
          <a:xfrm>
            <a:off x="566928" y="841248"/>
            <a:ext cx="8010144" cy="65836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2300" b="1" i="0">
                <a:solidFill>
                  <a:srgbClr val="063355"/>
                </a:solidFill>
                <a:latin typeface="Trebuchet MS"/>
                <a:ea typeface="Trebuchet MS"/>
              </a:rPr>
              <a:t>AI Can Draw, Write Stories, and Compose!</a:t>
            </a:r>
          </a:p>
        </p:txBody>
      </p:sp>
      <p:sp>
        <p:nvSpPr>
          <p:cNvPr id="6" name="Rounded Rectangle 5"/>
          <p:cNvSpPr/>
          <p:nvPr/>
        </p:nvSpPr>
        <p:spPr>
          <a:xfrm>
            <a:off x="585216" y="1408176"/>
            <a:ext cx="1005840" cy="64008"/>
          </a:xfrm>
          <a:prstGeom prst="roundRect">
            <a:avLst>
              <a:gd name="adj" fmla="val 5000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7" name="TextBox 6"/>
          <p:cNvSpPr txBox="1"/>
          <p:nvPr/>
        </p:nvSpPr>
        <p:spPr>
          <a:xfrm>
            <a:off x="566928" y="4759452"/>
            <a:ext cx="5486400" cy="274320"/>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900" b="0" i="0">
                <a:solidFill>
                  <a:srgbClr val="4A5C6A"/>
                </a:solidFill>
                <a:latin typeface="Trebuchet MS"/>
                <a:ea typeface="Trebuchet MS"/>
              </a:rPr>
              <a:t>What Is AI?  ·  A first AI lesson for kids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9</a:t>
            </a:r>
          </a:p>
        </p:txBody>
      </p:sp>
      <p:sp>
        <p:nvSpPr>
          <p:cNvPr id="10" name="Rounded Rectangle 9"/>
          <p:cNvSpPr/>
          <p:nvPr/>
        </p:nvSpPr>
        <p:spPr>
          <a:xfrm>
            <a:off x="3108960" y="1572768"/>
            <a:ext cx="2926080" cy="566928"/>
          </a:xfrm>
          <a:prstGeom prst="roundRect">
            <a:avLst>
              <a:gd name="adj" fmla="val 48387"/>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1" name="TextBox 10"/>
          <p:cNvSpPr txBox="1"/>
          <p:nvPr/>
        </p:nvSpPr>
        <p:spPr>
          <a:xfrm>
            <a:off x="3108960" y="1572768"/>
            <a:ext cx="2926080" cy="56692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00" b="1" i="0">
                <a:solidFill>
                  <a:srgbClr val="FFFFFF"/>
                </a:solidFill>
                <a:latin typeface="Trebuchet MS"/>
                <a:ea typeface="Trebuchet MS"/>
              </a:rPr>
              <a:t>You say one sentence…</a:t>
            </a:r>
          </a:p>
        </p:txBody>
      </p:sp>
      <p:cxnSp>
        <p:nvCxnSpPr>
          <p:cNvPr id="12" name="Connector 11"/>
          <p:cNvCxnSpPr/>
          <p:nvPr/>
        </p:nvCxnSpPr>
        <p:spPr>
          <a:xfrm flipH="1">
            <a:off x="1615440" y="2139696"/>
            <a:ext cx="2956560" cy="347472"/>
          </a:xfrm>
          <a:prstGeom prst="line">
            <a:avLst/>
          </a:prstGeom>
          <a:ln w="20320">
            <a:solidFill>
              <a:srgbClr val="9FB2C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65760" y="2487168"/>
            <a:ext cx="2499359" cy="2052827"/>
          </a:xfrm>
          <a:prstGeom prst="roundRect">
            <a:avLst>
              <a:gd name="adj" fmla="val 7126"/>
            </a:avLst>
          </a:prstGeom>
          <a:solidFill>
            <a:srgbClr val="FFFFFF"/>
          </a:solidFill>
          <a:ln w="20320">
            <a:solidFill>
              <a:srgbClr val="E86B73"/>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5" name="Round Same Side Corner Rectangle 14"/>
          <p:cNvSpPr/>
          <p:nvPr/>
        </p:nvSpPr>
        <p:spPr>
          <a:xfrm>
            <a:off x="365760" y="2487168"/>
            <a:ext cx="2499359" cy="146304"/>
          </a:xfrm>
          <a:prstGeom prst="round2SameRect">
            <a:avLst>
              <a:gd name="adj1" fmla="val 50000"/>
              <a:gd name="adj2" fmla="val 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6" name="Oval 15"/>
          <p:cNvSpPr/>
          <p:nvPr/>
        </p:nvSpPr>
        <p:spPr>
          <a:xfrm>
            <a:off x="1231392" y="2670048"/>
            <a:ext cx="768096" cy="768096"/>
          </a:xfrm>
          <a:prstGeom prst="ellipse">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17" name="Picture 16" descr="paint.png"/>
          <p:cNvPicPr>
            <a:picLocks noChangeAspect="1"/>
          </p:cNvPicPr>
          <p:nvPr/>
        </p:nvPicPr>
        <p:blipFill>
          <a:blip r:embed="rId3"/>
          <a:stretch>
            <a:fillRect/>
          </a:stretch>
        </p:blipFill>
        <p:spPr>
          <a:xfrm>
            <a:off x="1400373" y="2839029"/>
            <a:ext cx="430133" cy="430133"/>
          </a:xfrm>
          <a:prstGeom prst="rect">
            <a:avLst/>
          </a:prstGeom>
        </p:spPr>
      </p:pic>
      <p:sp>
        <p:nvSpPr>
          <p:cNvPr id="18" name="TextBox 17"/>
          <p:cNvSpPr txBox="1"/>
          <p:nvPr/>
        </p:nvSpPr>
        <p:spPr>
          <a:xfrm>
            <a:off x="457200" y="3547872"/>
            <a:ext cx="2316479" cy="365760"/>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00" b="1" i="0">
                <a:solidFill>
                  <a:srgbClr val="063355"/>
                </a:solidFill>
                <a:latin typeface="Trebuchet MS"/>
                <a:ea typeface="Trebuchet MS"/>
              </a:rPr>
              <a:t>Draw a picture</a:t>
            </a:r>
          </a:p>
        </p:txBody>
      </p:sp>
      <p:sp>
        <p:nvSpPr>
          <p:cNvPr id="19" name="TextBox 18"/>
          <p:cNvSpPr txBox="1"/>
          <p:nvPr/>
        </p:nvSpPr>
        <p:spPr>
          <a:xfrm>
            <a:off x="512064" y="3968496"/>
            <a:ext cx="2206752" cy="461772"/>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200" b="0" i="0">
                <a:solidFill>
                  <a:srgbClr val="2B4255"/>
                </a:solidFill>
                <a:latin typeface="Trebuchet MS"/>
                <a:ea typeface="Trebuchet MS"/>
              </a:rPr>
              <a:t>It paints the</a:t>
            </a:r>
          </a:p>
          <a:p>
            <a:pPr algn="ctr">
              <a:lnSpc>
                <a:spcPct val="114000"/>
              </a:lnSpc>
              <a:spcBef>
                <a:spcPts val="0"/>
              </a:spcBef>
              <a:spcAft>
                <a:spcPts val="200"/>
              </a:spcAft>
            </a:pPr>
            <a:r>
              <a:rPr sz="1200" b="0" i="0">
                <a:solidFill>
                  <a:srgbClr val="2B4255"/>
                </a:solidFill>
                <a:latin typeface="Trebuchet MS"/>
                <a:ea typeface="Trebuchet MS"/>
              </a:rPr>
              <a:t>scene you want</a:t>
            </a:r>
          </a:p>
        </p:txBody>
      </p:sp>
      <p:cxnSp>
        <p:nvCxnSpPr>
          <p:cNvPr id="20" name="Connector 19"/>
          <p:cNvCxnSpPr/>
          <p:nvPr/>
        </p:nvCxnSpPr>
        <p:spPr>
          <a:xfrm flipH="1">
            <a:off x="4571999" y="2139696"/>
            <a:ext cx="1" cy="347472"/>
          </a:xfrm>
          <a:prstGeom prst="line">
            <a:avLst/>
          </a:prstGeom>
          <a:ln w="20320">
            <a:solidFill>
              <a:srgbClr val="9FB2C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322319" y="2487168"/>
            <a:ext cx="2499359" cy="2052827"/>
          </a:xfrm>
          <a:prstGeom prst="roundRect">
            <a:avLst>
              <a:gd name="adj" fmla="val 7126"/>
            </a:avLst>
          </a:prstGeom>
          <a:solidFill>
            <a:srgbClr val="FFFFFF"/>
          </a:solidFill>
          <a:ln w="20320">
            <a:solidFill>
              <a:srgbClr val="2E9BD6"/>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3" name="Round Same Side Corner Rectangle 22"/>
          <p:cNvSpPr/>
          <p:nvPr/>
        </p:nvSpPr>
        <p:spPr>
          <a:xfrm>
            <a:off x="3322319" y="2487168"/>
            <a:ext cx="2499359" cy="146304"/>
          </a:xfrm>
          <a:prstGeom prst="round2SameRect">
            <a:avLst>
              <a:gd name="adj1" fmla="val 50000"/>
              <a:gd name="adj2" fmla="val 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4" name="Oval 23"/>
          <p:cNvSpPr/>
          <p:nvPr/>
        </p:nvSpPr>
        <p:spPr>
          <a:xfrm>
            <a:off x="4187951" y="2670048"/>
            <a:ext cx="768096" cy="768096"/>
          </a:xfrm>
          <a:prstGeom prst="ellipse">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5" name="Picture 24" descr="book.png"/>
          <p:cNvPicPr>
            <a:picLocks noChangeAspect="1"/>
          </p:cNvPicPr>
          <p:nvPr/>
        </p:nvPicPr>
        <p:blipFill>
          <a:blip r:embed="rId4"/>
          <a:stretch>
            <a:fillRect/>
          </a:stretch>
        </p:blipFill>
        <p:spPr>
          <a:xfrm>
            <a:off x="4356933" y="2839029"/>
            <a:ext cx="430133" cy="430133"/>
          </a:xfrm>
          <a:prstGeom prst="rect">
            <a:avLst/>
          </a:prstGeom>
        </p:spPr>
      </p:pic>
      <p:sp>
        <p:nvSpPr>
          <p:cNvPr id="26" name="TextBox 25"/>
          <p:cNvSpPr txBox="1"/>
          <p:nvPr/>
        </p:nvSpPr>
        <p:spPr>
          <a:xfrm>
            <a:off x="3413759" y="3547872"/>
            <a:ext cx="2316479" cy="365760"/>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00" b="1" i="0">
                <a:solidFill>
                  <a:srgbClr val="063355"/>
                </a:solidFill>
                <a:latin typeface="Trebuchet MS"/>
                <a:ea typeface="Trebuchet MS"/>
              </a:rPr>
              <a:t>Write a story</a:t>
            </a:r>
          </a:p>
        </p:txBody>
      </p:sp>
      <p:sp>
        <p:nvSpPr>
          <p:cNvPr id="27" name="TextBox 26"/>
          <p:cNvSpPr txBox="1"/>
          <p:nvPr/>
        </p:nvSpPr>
        <p:spPr>
          <a:xfrm>
            <a:off x="3468623" y="3968496"/>
            <a:ext cx="2206752" cy="461772"/>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200" b="0" i="0">
                <a:solidFill>
                  <a:srgbClr val="2B4255"/>
                </a:solidFill>
                <a:latin typeface="Trebuchet MS"/>
                <a:ea typeface="Trebuchet MS"/>
              </a:rPr>
              <a:t>Give a start,</a:t>
            </a:r>
          </a:p>
          <a:p>
            <a:pPr algn="ctr">
              <a:lnSpc>
                <a:spcPct val="114000"/>
              </a:lnSpc>
              <a:spcBef>
                <a:spcPts val="0"/>
              </a:spcBef>
              <a:spcAft>
                <a:spcPts val="200"/>
              </a:spcAft>
            </a:pPr>
            <a:r>
              <a:rPr sz="1200" b="0" i="0">
                <a:solidFill>
                  <a:srgbClr val="2B4255"/>
                </a:solidFill>
                <a:latin typeface="Trebuchet MS"/>
                <a:ea typeface="Trebuchet MS"/>
              </a:rPr>
              <a:t>it carries on</a:t>
            </a:r>
          </a:p>
        </p:txBody>
      </p:sp>
      <p:cxnSp>
        <p:nvCxnSpPr>
          <p:cNvPr id="28" name="Connector 27"/>
          <p:cNvCxnSpPr/>
          <p:nvPr/>
        </p:nvCxnSpPr>
        <p:spPr>
          <a:xfrm>
            <a:off x="4572000" y="2139696"/>
            <a:ext cx="2956559" cy="347472"/>
          </a:xfrm>
          <a:prstGeom prst="line">
            <a:avLst/>
          </a:prstGeom>
          <a:ln w="20320">
            <a:solidFill>
              <a:srgbClr val="9FB2C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278880" y="2487168"/>
            <a:ext cx="2499359" cy="2052827"/>
          </a:xfrm>
          <a:prstGeom prst="roundRect">
            <a:avLst>
              <a:gd name="adj" fmla="val 7126"/>
            </a:avLst>
          </a:prstGeom>
          <a:solidFill>
            <a:srgbClr val="FFFFFF"/>
          </a:solidFill>
          <a:ln w="20320">
            <a:solidFill>
              <a:srgbClr val="E89B1E"/>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1" name="Round Same Side Corner Rectangle 30"/>
          <p:cNvSpPr/>
          <p:nvPr/>
        </p:nvSpPr>
        <p:spPr>
          <a:xfrm>
            <a:off x="6278880" y="2487168"/>
            <a:ext cx="2499359" cy="146304"/>
          </a:xfrm>
          <a:prstGeom prst="round2SameRect">
            <a:avLst>
              <a:gd name="adj1" fmla="val 50000"/>
              <a:gd name="adj2" fmla="val 0"/>
            </a:avLst>
          </a:prstGeom>
          <a:solidFill>
            <a:srgbClr val="E89B1E"/>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2" name="Oval 31"/>
          <p:cNvSpPr/>
          <p:nvPr/>
        </p:nvSpPr>
        <p:spPr>
          <a:xfrm>
            <a:off x="7144511" y="2670048"/>
            <a:ext cx="768096" cy="768096"/>
          </a:xfrm>
          <a:prstGeom prst="ellipse">
            <a:avLst/>
          </a:prstGeom>
          <a:solidFill>
            <a:srgbClr val="E89B1E"/>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33" name="Picture 32" descr="music.png"/>
          <p:cNvPicPr>
            <a:picLocks noChangeAspect="1"/>
          </p:cNvPicPr>
          <p:nvPr/>
        </p:nvPicPr>
        <p:blipFill>
          <a:blip r:embed="rId5"/>
          <a:stretch>
            <a:fillRect/>
          </a:stretch>
        </p:blipFill>
        <p:spPr>
          <a:xfrm>
            <a:off x="7313493" y="2839029"/>
            <a:ext cx="430133" cy="430133"/>
          </a:xfrm>
          <a:prstGeom prst="rect">
            <a:avLst/>
          </a:prstGeom>
        </p:spPr>
      </p:pic>
      <p:sp>
        <p:nvSpPr>
          <p:cNvPr id="34" name="TextBox 33"/>
          <p:cNvSpPr txBox="1"/>
          <p:nvPr/>
        </p:nvSpPr>
        <p:spPr>
          <a:xfrm>
            <a:off x="6370319" y="3547872"/>
            <a:ext cx="2316479" cy="365760"/>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00" b="1" i="0">
                <a:solidFill>
                  <a:srgbClr val="063355"/>
                </a:solidFill>
                <a:latin typeface="Trebuchet MS"/>
                <a:ea typeface="Trebuchet MS"/>
              </a:rPr>
              <a:t>Compose a tune</a:t>
            </a:r>
          </a:p>
        </p:txBody>
      </p:sp>
      <p:sp>
        <p:nvSpPr>
          <p:cNvPr id="35" name="TextBox 34"/>
          <p:cNvSpPr txBox="1"/>
          <p:nvPr/>
        </p:nvSpPr>
        <p:spPr>
          <a:xfrm>
            <a:off x="6425184" y="3968496"/>
            <a:ext cx="2206752" cy="461772"/>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200" b="0" i="0">
                <a:solidFill>
                  <a:srgbClr val="2B4255"/>
                </a:solidFill>
                <a:latin typeface="Trebuchet MS"/>
                <a:ea typeface="Trebuchet MS"/>
              </a:rPr>
              <a:t>Share a mood,</a:t>
            </a:r>
          </a:p>
          <a:p>
            <a:pPr algn="ctr">
              <a:lnSpc>
                <a:spcPct val="114000"/>
              </a:lnSpc>
              <a:spcBef>
                <a:spcPts val="0"/>
              </a:spcBef>
              <a:spcAft>
                <a:spcPts val="200"/>
              </a:spcAft>
            </a:pPr>
            <a:r>
              <a:rPr sz="1200" b="0" i="0">
                <a:solidFill>
                  <a:srgbClr val="2B4255"/>
                </a:solidFill>
                <a:latin typeface="Trebuchet MS"/>
                <a:ea typeface="Trebuchet MS"/>
              </a:rPr>
              <a:t>it makes music</a:t>
            </a:r>
          </a:p>
        </p:txBody>
      </p:sp>
    </p:spTree>
  </p:cSld>
  <p:clrMapOvr>
    <a:masterClrMapping/>
  </p:clrMapOvr>
  <p:transition xmlns:p14="http://schemas.microsoft.com/office/powerpoint/2010/main" spd="med" p14:dur="500">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4" name="Rounded Rectangle 3"/>
          <p:cNvSpPr/>
          <p:nvPr/>
        </p:nvSpPr>
        <p:spPr>
          <a:xfrm>
            <a:off x="1554480" y="3529584"/>
            <a:ext cx="6035040" cy="1078992"/>
          </a:xfrm>
          <a:prstGeom prst="roundRect">
            <a:avLst>
              <a:gd name="adj" fmla="val 1694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5" name="Rounded Rectangle 4"/>
          <p:cNvSpPr/>
          <p:nvPr/>
        </p:nvSpPr>
        <p:spPr>
          <a:xfrm>
            <a:off x="4058412" y="3675887"/>
            <a:ext cx="1027176" cy="310896"/>
          </a:xfrm>
          <a:prstGeom prst="roundRect">
            <a:avLst>
              <a:gd name="adj" fmla="val 50000"/>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6" name="TextBox 5"/>
          <p:cNvSpPr txBox="1"/>
          <p:nvPr/>
        </p:nvSpPr>
        <p:spPr>
          <a:xfrm>
            <a:off x="4058412" y="3675887"/>
            <a:ext cx="1027176" cy="310896"/>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200" b="1" i="0">
                <a:solidFill>
                  <a:srgbClr val="FFFFFF"/>
                </a:solidFill>
                <a:latin typeface="Trebuchet MS"/>
                <a:ea typeface="Trebuchet MS"/>
              </a:rPr>
              <a:t>Careful</a:t>
            </a:r>
          </a:p>
        </p:txBody>
      </p:sp>
      <p:sp>
        <p:nvSpPr>
          <p:cNvPr id="7" name="TextBox 6"/>
          <p:cNvSpPr txBox="1"/>
          <p:nvPr/>
        </p:nvSpPr>
        <p:spPr>
          <a:xfrm>
            <a:off x="1783080" y="4059935"/>
            <a:ext cx="5577840" cy="56692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50" b="1" i="0">
                <a:solidFill>
                  <a:srgbClr val="063355"/>
                </a:solidFill>
                <a:latin typeface="Trebuchet MS"/>
                <a:ea typeface="Trebuchet MS"/>
              </a:rPr>
              <a:t>What AI Can't Do</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10</a:t>
            </a:r>
          </a:p>
        </p:txBody>
      </p:sp>
    </p:spTree>
  </p:cSld>
  <p:clrMapOvr>
    <a:masterClrMapping/>
  </p:clrMapOvr>
  <p:transition xmlns:p14="http://schemas.microsoft.com/office/powerpoint/2010/main" spd="med" p14:dur="500">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3" name="Rounded Rectangle 2"/>
          <p:cNvSpPr/>
          <p:nvPr/>
        </p:nvSpPr>
        <p:spPr>
          <a:xfrm>
            <a:off x="566928" y="384048"/>
            <a:ext cx="3188017" cy="384048"/>
          </a:xfrm>
          <a:prstGeom prst="roundRect">
            <a:avLst>
              <a:gd name="adj" fmla="val 50000"/>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4" name="TextBox 3"/>
          <p:cNvSpPr txBox="1"/>
          <p:nvPr/>
        </p:nvSpPr>
        <p:spPr>
          <a:xfrm>
            <a:off x="566928" y="384048"/>
            <a:ext cx="3188017" cy="38404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80" b="1" i="0">
                <a:solidFill>
                  <a:srgbClr val="FFFFFF"/>
                </a:solidFill>
                <a:latin typeface="Trebuchet MS"/>
                <a:ea typeface="Trebuchet MS"/>
              </a:rPr>
              <a:t>Part 4 · Its limits</a:t>
            </a:r>
          </a:p>
        </p:txBody>
      </p:sp>
      <p:sp>
        <p:nvSpPr>
          <p:cNvPr id="5" name="TextBox 4"/>
          <p:cNvSpPr txBox="1"/>
          <p:nvPr/>
        </p:nvSpPr>
        <p:spPr>
          <a:xfrm>
            <a:off x="566928" y="841248"/>
            <a:ext cx="8010144" cy="65836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2300" b="1" i="0">
                <a:solidFill>
                  <a:srgbClr val="063355"/>
                </a:solidFill>
                <a:latin typeface="Trebuchet MS"/>
                <a:ea typeface="Trebuchet MS"/>
              </a:rPr>
              <a:t>But AI Does Not Really Understand</a:t>
            </a:r>
          </a:p>
        </p:txBody>
      </p:sp>
      <p:sp>
        <p:nvSpPr>
          <p:cNvPr id="6" name="Rounded Rectangle 5"/>
          <p:cNvSpPr/>
          <p:nvPr/>
        </p:nvSpPr>
        <p:spPr>
          <a:xfrm>
            <a:off x="585216" y="1408176"/>
            <a:ext cx="1005840" cy="64008"/>
          </a:xfrm>
          <a:prstGeom prst="roundRect">
            <a:avLst>
              <a:gd name="adj" fmla="val 50000"/>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7" name="TextBox 6"/>
          <p:cNvSpPr txBox="1"/>
          <p:nvPr/>
        </p:nvSpPr>
        <p:spPr>
          <a:xfrm>
            <a:off x="566928" y="4759452"/>
            <a:ext cx="5486400" cy="274320"/>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900" b="0" i="0">
                <a:solidFill>
                  <a:srgbClr val="4A5C6A"/>
                </a:solidFill>
                <a:latin typeface="Trebuchet MS"/>
                <a:ea typeface="Trebuchet MS"/>
              </a:rPr>
              <a:t>What Is AI?  ·  A first AI lesson for kids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11</a:t>
            </a:r>
          </a:p>
        </p:txBody>
      </p:sp>
      <p:sp>
        <p:nvSpPr>
          <p:cNvPr id="10" name="Rounded Rectangle 9"/>
          <p:cNvSpPr/>
          <p:nvPr/>
        </p:nvSpPr>
        <p:spPr>
          <a:xfrm>
            <a:off x="365760" y="1572768"/>
            <a:ext cx="3977639" cy="2011680"/>
          </a:xfrm>
          <a:prstGeom prst="roundRect">
            <a:avLst>
              <a:gd name="adj" fmla="val 7272"/>
            </a:avLst>
          </a:prstGeom>
          <a:solidFill>
            <a:srgbClr val="FFFFFF"/>
          </a:solidFill>
          <a:ln w="20320">
            <a:solidFill>
              <a:srgbClr val="2E9BD6"/>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1" name="Round Same Side Corner Rectangle 10"/>
          <p:cNvSpPr/>
          <p:nvPr/>
        </p:nvSpPr>
        <p:spPr>
          <a:xfrm>
            <a:off x="365760" y="1572768"/>
            <a:ext cx="3977639" cy="146304"/>
          </a:xfrm>
          <a:prstGeom prst="round2SameRect">
            <a:avLst>
              <a:gd name="adj1" fmla="val 50000"/>
              <a:gd name="adj2" fmla="val 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2" name="Oval 11"/>
          <p:cNvSpPr/>
          <p:nvPr/>
        </p:nvSpPr>
        <p:spPr>
          <a:xfrm>
            <a:off x="1970531" y="1755648"/>
            <a:ext cx="768096" cy="768096"/>
          </a:xfrm>
          <a:prstGeom prst="ellipse">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13" name="Picture 12" descr="star.png"/>
          <p:cNvPicPr>
            <a:picLocks noChangeAspect="1"/>
          </p:cNvPicPr>
          <p:nvPr/>
        </p:nvPicPr>
        <p:blipFill>
          <a:blip r:embed="rId3"/>
          <a:stretch>
            <a:fillRect/>
          </a:stretch>
        </p:blipFill>
        <p:spPr>
          <a:xfrm>
            <a:off x="2139513" y="1924629"/>
            <a:ext cx="430133" cy="430133"/>
          </a:xfrm>
          <a:prstGeom prst="rect">
            <a:avLst/>
          </a:prstGeom>
        </p:spPr>
      </p:pic>
      <p:sp>
        <p:nvSpPr>
          <p:cNvPr id="14" name="TextBox 13"/>
          <p:cNvSpPr txBox="1"/>
          <p:nvPr/>
        </p:nvSpPr>
        <p:spPr>
          <a:xfrm>
            <a:off x="457200" y="2633472"/>
            <a:ext cx="379475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Looks really smart</a:t>
            </a:r>
          </a:p>
        </p:txBody>
      </p:sp>
      <p:sp>
        <p:nvSpPr>
          <p:cNvPr id="15" name="TextBox 14"/>
          <p:cNvSpPr txBox="1"/>
          <p:nvPr/>
        </p:nvSpPr>
        <p:spPr>
          <a:xfrm>
            <a:off x="512064" y="2962656"/>
            <a:ext cx="3685031"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Answers fast and smoothly,</a:t>
            </a:r>
          </a:p>
          <a:p>
            <a:pPr algn="ctr">
              <a:lnSpc>
                <a:spcPct val="114000"/>
              </a:lnSpc>
              <a:spcBef>
                <a:spcPts val="0"/>
              </a:spcBef>
              <a:spcAft>
                <a:spcPts val="200"/>
              </a:spcAft>
            </a:pPr>
            <a:r>
              <a:rPr sz="1130" b="0" i="0">
                <a:solidFill>
                  <a:srgbClr val="2B4255"/>
                </a:solidFill>
                <a:latin typeface="Trebuchet MS"/>
                <a:ea typeface="Trebuchet MS"/>
              </a:rPr>
              <a:t>as if it knows it all.</a:t>
            </a:r>
          </a:p>
        </p:txBody>
      </p:sp>
      <p:sp>
        <p:nvSpPr>
          <p:cNvPr id="17" name="Rounded Rectangle 16"/>
          <p:cNvSpPr/>
          <p:nvPr/>
        </p:nvSpPr>
        <p:spPr>
          <a:xfrm>
            <a:off x="4800600" y="1572768"/>
            <a:ext cx="3977639" cy="2011680"/>
          </a:xfrm>
          <a:prstGeom prst="roundRect">
            <a:avLst>
              <a:gd name="adj" fmla="val 7272"/>
            </a:avLst>
          </a:prstGeom>
          <a:solidFill>
            <a:srgbClr val="FFFFFF"/>
          </a:solidFill>
          <a:ln w="20320">
            <a:solidFill>
              <a:srgbClr val="E86B73"/>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8" name="Round Same Side Corner Rectangle 17"/>
          <p:cNvSpPr/>
          <p:nvPr/>
        </p:nvSpPr>
        <p:spPr>
          <a:xfrm>
            <a:off x="4800600" y="1572768"/>
            <a:ext cx="3977639" cy="146304"/>
          </a:xfrm>
          <a:prstGeom prst="round2SameRect">
            <a:avLst>
              <a:gd name="adj1" fmla="val 50000"/>
              <a:gd name="adj2" fmla="val 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9" name="Oval 18"/>
          <p:cNvSpPr/>
          <p:nvPr/>
        </p:nvSpPr>
        <p:spPr>
          <a:xfrm>
            <a:off x="6405372" y="1755648"/>
            <a:ext cx="768096" cy="768096"/>
          </a:xfrm>
          <a:prstGeom prst="ellipse">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0" name="Picture 19" descr="x.png"/>
          <p:cNvPicPr>
            <a:picLocks noChangeAspect="1"/>
          </p:cNvPicPr>
          <p:nvPr/>
        </p:nvPicPr>
        <p:blipFill>
          <a:blip r:embed="rId4"/>
          <a:stretch>
            <a:fillRect/>
          </a:stretch>
        </p:blipFill>
        <p:spPr>
          <a:xfrm>
            <a:off x="6574353" y="1924629"/>
            <a:ext cx="430133" cy="430133"/>
          </a:xfrm>
          <a:prstGeom prst="rect">
            <a:avLst/>
          </a:prstGeom>
        </p:spPr>
      </p:pic>
      <p:sp>
        <p:nvSpPr>
          <p:cNvPr id="21" name="TextBox 20"/>
          <p:cNvSpPr txBox="1"/>
          <p:nvPr/>
        </p:nvSpPr>
        <p:spPr>
          <a:xfrm>
            <a:off x="4892040" y="2633472"/>
            <a:ext cx="379475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But it does not get it</a:t>
            </a:r>
          </a:p>
        </p:txBody>
      </p:sp>
      <p:sp>
        <p:nvSpPr>
          <p:cNvPr id="22" name="TextBox 21"/>
          <p:cNvSpPr txBox="1"/>
          <p:nvPr/>
        </p:nvSpPr>
        <p:spPr>
          <a:xfrm>
            <a:off x="4946904" y="2962656"/>
            <a:ext cx="3685031"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It's really just guessing —</a:t>
            </a:r>
          </a:p>
          <a:p>
            <a:pPr algn="ctr">
              <a:lnSpc>
                <a:spcPct val="114000"/>
              </a:lnSpc>
              <a:spcBef>
                <a:spcPts val="0"/>
              </a:spcBef>
              <a:spcAft>
                <a:spcPts val="200"/>
              </a:spcAft>
            </a:pPr>
            <a:r>
              <a:rPr sz="1130" b="0" i="0">
                <a:solidFill>
                  <a:srgbClr val="2B4255"/>
                </a:solidFill>
                <a:latin typeface="Trebuchet MS"/>
                <a:ea typeface="Trebuchet MS"/>
              </a:rPr>
              <a:t>no understanding, no feelings.</a:t>
            </a:r>
          </a:p>
        </p:txBody>
      </p:sp>
      <p:sp>
        <p:nvSpPr>
          <p:cNvPr id="23" name="Rounded Rectangle 22"/>
          <p:cNvSpPr/>
          <p:nvPr/>
        </p:nvSpPr>
        <p:spPr>
          <a:xfrm>
            <a:off x="566928" y="3826763"/>
            <a:ext cx="8010144" cy="72237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4" name="Rectangle 23"/>
          <p:cNvSpPr/>
          <p:nvPr/>
        </p:nvSpPr>
        <p:spPr>
          <a:xfrm>
            <a:off x="566928" y="3884554"/>
            <a:ext cx="64008" cy="606795"/>
          </a:xfrm>
          <a:prstGeom prst="rect">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5" name="TextBox 24"/>
          <p:cNvSpPr txBox="1"/>
          <p:nvPr/>
        </p:nvSpPr>
        <p:spPr>
          <a:xfrm>
            <a:off x="786384" y="3826763"/>
            <a:ext cx="7607808" cy="722376"/>
          </a:xfrm>
          <a:prstGeom prst="rect">
            <a:avLst/>
          </a:prstGeom>
          <a:noFill/>
          <a:ln/>
        </p:spPr>
        <p:txBody>
          <a:bodyPr wrap="square" anchor="ctr" lIns="36576" rIns="36576" tIns="27432" bIns="27432">
            <a:spAutoFit/>
          </a:bodyPr>
          <a:lstStyle/>
          <a:p>
            <a:pPr algn="l">
              <a:lnSpc>
                <a:spcPct val="108000"/>
              </a:lnSpc>
              <a:spcBef>
                <a:spcPts val="0"/>
              </a:spcBef>
              <a:spcAft>
                <a:spcPts val="0"/>
              </a:spcAft>
            </a:pPr>
            <a:r>
              <a:rPr sz="1100" b="1" i="0">
                <a:solidFill>
                  <a:srgbClr val="E86B73"/>
                </a:solidFill>
                <a:latin typeface="Trebuchet MS"/>
                <a:ea typeface="Trebuchet MS"/>
              </a:rPr>
              <a:t>Be careful  </a:t>
            </a:r>
            <a:r>
              <a:rPr sz="1250" b="0" i="0">
                <a:solidFill>
                  <a:srgbClr val="063355"/>
                </a:solidFill>
                <a:latin typeface="Trebuchet MS"/>
                <a:ea typeface="Trebuchet MS"/>
              </a:rPr>
              <a:t>AI sometimes makes things up and says them like they're true — so don't believe everything it says.</a:t>
            </a:r>
          </a:p>
        </p:txBody>
      </p:sp>
    </p:spTree>
  </p:cSld>
  <p:clrMapOvr>
    <a:masterClrMapping/>
  </p:clrMapOvr>
  <p:transition xmlns:p14="http://schemas.microsoft.com/office/powerpoint/2010/main" spd="med" p14:dur="500">
    <p:fade/>
  </p:transition>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3" name="Rounded Rectangle 2"/>
          <p:cNvSpPr/>
          <p:nvPr/>
        </p:nvSpPr>
        <p:spPr>
          <a:xfrm>
            <a:off x="566928" y="384048"/>
            <a:ext cx="3341369" cy="384048"/>
          </a:xfrm>
          <a:prstGeom prst="roundRect">
            <a:avLst>
              <a:gd name="adj" fmla="val 50000"/>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4" name="TextBox 3"/>
          <p:cNvSpPr txBox="1"/>
          <p:nvPr/>
        </p:nvSpPr>
        <p:spPr>
          <a:xfrm>
            <a:off x="566928" y="384048"/>
            <a:ext cx="3341369" cy="38404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80" b="1" i="0">
                <a:solidFill>
                  <a:srgbClr val="FFFFFF"/>
                </a:solidFill>
                <a:latin typeface="Trebuchet MS"/>
                <a:ea typeface="Trebuchet MS"/>
              </a:rPr>
              <a:t>Part 4 · Who decides</a:t>
            </a:r>
          </a:p>
        </p:txBody>
      </p:sp>
      <p:sp>
        <p:nvSpPr>
          <p:cNvPr id="5" name="TextBox 4"/>
          <p:cNvSpPr txBox="1"/>
          <p:nvPr/>
        </p:nvSpPr>
        <p:spPr>
          <a:xfrm>
            <a:off x="566928" y="841248"/>
            <a:ext cx="8010144" cy="65836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2300" b="1" i="0">
                <a:solidFill>
                  <a:srgbClr val="063355"/>
                </a:solidFill>
                <a:latin typeface="Trebuchet MS"/>
                <a:ea typeface="Trebuchet MS"/>
              </a:rPr>
              <a:t>AI Is a Helper, Not a Magician</a:t>
            </a:r>
          </a:p>
        </p:txBody>
      </p:sp>
      <p:sp>
        <p:nvSpPr>
          <p:cNvPr id="6" name="Rounded Rectangle 5"/>
          <p:cNvSpPr/>
          <p:nvPr/>
        </p:nvSpPr>
        <p:spPr>
          <a:xfrm>
            <a:off x="585216" y="1408176"/>
            <a:ext cx="1005840" cy="64008"/>
          </a:xfrm>
          <a:prstGeom prst="roundRect">
            <a:avLst>
              <a:gd name="adj" fmla="val 50000"/>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7" name="TextBox 6"/>
          <p:cNvSpPr txBox="1"/>
          <p:nvPr/>
        </p:nvSpPr>
        <p:spPr>
          <a:xfrm>
            <a:off x="566928" y="4759452"/>
            <a:ext cx="5486400" cy="274320"/>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900" b="0" i="0">
                <a:solidFill>
                  <a:srgbClr val="4A5C6A"/>
                </a:solidFill>
                <a:latin typeface="Trebuchet MS"/>
                <a:ea typeface="Trebuchet MS"/>
              </a:rPr>
              <a:t>What Is AI?  ·  A first AI lesson for kids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12</a:t>
            </a:r>
          </a:p>
        </p:txBody>
      </p:sp>
      <p:sp>
        <p:nvSpPr>
          <p:cNvPr id="10" name="Rounded Rectangle 9"/>
          <p:cNvSpPr/>
          <p:nvPr/>
        </p:nvSpPr>
        <p:spPr>
          <a:xfrm>
            <a:off x="365760" y="1572768"/>
            <a:ext cx="2365248" cy="2011680"/>
          </a:xfrm>
          <a:prstGeom prst="roundRect">
            <a:avLst>
              <a:gd name="adj" fmla="val 7272"/>
            </a:avLst>
          </a:prstGeom>
          <a:solidFill>
            <a:srgbClr val="FFFFFF"/>
          </a:solidFill>
          <a:ln w="20320">
            <a:solidFill>
              <a:srgbClr val="2E9BD6"/>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1" name="Round Same Side Corner Rectangle 10"/>
          <p:cNvSpPr/>
          <p:nvPr/>
        </p:nvSpPr>
        <p:spPr>
          <a:xfrm>
            <a:off x="365760" y="1572768"/>
            <a:ext cx="2365248" cy="146304"/>
          </a:xfrm>
          <a:prstGeom prst="round2SameRect">
            <a:avLst>
              <a:gd name="adj1" fmla="val 50000"/>
              <a:gd name="adj2" fmla="val 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2" name="Oval 11"/>
          <p:cNvSpPr/>
          <p:nvPr/>
        </p:nvSpPr>
        <p:spPr>
          <a:xfrm>
            <a:off x="1164336" y="1755648"/>
            <a:ext cx="768096" cy="768096"/>
          </a:xfrm>
          <a:prstGeom prst="ellipse">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13" name="Picture 12" descr="chat.png"/>
          <p:cNvPicPr>
            <a:picLocks noChangeAspect="1"/>
          </p:cNvPicPr>
          <p:nvPr/>
        </p:nvPicPr>
        <p:blipFill>
          <a:blip r:embed="rId3"/>
          <a:stretch>
            <a:fillRect/>
          </a:stretch>
        </p:blipFill>
        <p:spPr>
          <a:xfrm>
            <a:off x="1333317" y="1924629"/>
            <a:ext cx="430133" cy="430133"/>
          </a:xfrm>
          <a:prstGeom prst="rect">
            <a:avLst/>
          </a:prstGeom>
        </p:spPr>
      </p:pic>
      <p:sp>
        <p:nvSpPr>
          <p:cNvPr id="14" name="TextBox 13"/>
          <p:cNvSpPr txBox="1"/>
          <p:nvPr/>
        </p:nvSpPr>
        <p:spPr>
          <a:xfrm>
            <a:off x="457200" y="2633472"/>
            <a:ext cx="2182367"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AI suggests</a:t>
            </a:r>
          </a:p>
        </p:txBody>
      </p:sp>
      <p:sp>
        <p:nvSpPr>
          <p:cNvPr id="15" name="TextBox 14"/>
          <p:cNvSpPr txBox="1"/>
          <p:nvPr/>
        </p:nvSpPr>
        <p:spPr>
          <a:xfrm>
            <a:off x="512064" y="2962656"/>
            <a:ext cx="2072640"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It gives ideas</a:t>
            </a:r>
          </a:p>
          <a:p>
            <a:pPr algn="ctr">
              <a:lnSpc>
                <a:spcPct val="114000"/>
              </a:lnSpc>
              <a:spcBef>
                <a:spcPts val="0"/>
              </a:spcBef>
              <a:spcAft>
                <a:spcPts val="200"/>
              </a:spcAft>
            </a:pPr>
            <a:r>
              <a:rPr sz="1130" b="0" i="0">
                <a:solidFill>
                  <a:srgbClr val="2B4255"/>
                </a:solidFill>
                <a:latin typeface="Trebuchet MS"/>
                <a:ea typeface="Trebuchet MS"/>
              </a:rPr>
              <a:t>and answers</a:t>
            </a:r>
          </a:p>
        </p:txBody>
      </p:sp>
      <p:sp>
        <p:nvSpPr>
          <p:cNvPr id="16" name="Right Arrow 15"/>
          <p:cNvSpPr/>
          <p:nvPr/>
        </p:nvSpPr>
        <p:spPr>
          <a:xfrm>
            <a:off x="2840736" y="2432304"/>
            <a:ext cx="438912" cy="292608"/>
          </a:xfrm>
          <a:prstGeom prst="rightArrow">
            <a:avLst>
              <a:gd name="adj1" fmla="val 55000"/>
              <a:gd name="adj2" fmla="val 55000"/>
            </a:avLst>
          </a:prstGeom>
          <a:solidFill>
            <a:srgbClr val="9FB2C0"/>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8" name="Rounded Rectangle 17"/>
          <p:cNvSpPr/>
          <p:nvPr/>
        </p:nvSpPr>
        <p:spPr>
          <a:xfrm>
            <a:off x="3389376" y="1572768"/>
            <a:ext cx="2365248" cy="2011680"/>
          </a:xfrm>
          <a:prstGeom prst="roundRect">
            <a:avLst>
              <a:gd name="adj" fmla="val 7272"/>
            </a:avLst>
          </a:prstGeom>
          <a:solidFill>
            <a:srgbClr val="C2434C"/>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9" name="Oval 18"/>
          <p:cNvSpPr/>
          <p:nvPr/>
        </p:nvSpPr>
        <p:spPr>
          <a:xfrm>
            <a:off x="4187952" y="1755648"/>
            <a:ext cx="768096" cy="768096"/>
          </a:xfrm>
          <a:prstGeom prst="ellipse">
            <a:avLst/>
          </a:prstGeom>
          <a:noFill/>
          <a:ln w="330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0" name="Picture 19" descr="balance.png"/>
          <p:cNvPicPr>
            <a:picLocks noChangeAspect="1"/>
          </p:cNvPicPr>
          <p:nvPr/>
        </p:nvPicPr>
        <p:blipFill>
          <a:blip r:embed="rId4"/>
          <a:stretch>
            <a:fillRect/>
          </a:stretch>
        </p:blipFill>
        <p:spPr>
          <a:xfrm>
            <a:off x="4356933" y="1924629"/>
            <a:ext cx="430133" cy="430133"/>
          </a:xfrm>
          <a:prstGeom prst="rect">
            <a:avLst/>
          </a:prstGeom>
        </p:spPr>
      </p:pic>
      <p:sp>
        <p:nvSpPr>
          <p:cNvPr id="21" name="TextBox 20"/>
          <p:cNvSpPr txBox="1"/>
          <p:nvPr/>
        </p:nvSpPr>
        <p:spPr>
          <a:xfrm>
            <a:off x="3480816" y="2633472"/>
            <a:ext cx="2182367"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FFFFFF"/>
                </a:solidFill>
                <a:latin typeface="Trebuchet MS"/>
                <a:ea typeface="Trebuchet MS"/>
              </a:rPr>
              <a:t>We check it</a:t>
            </a:r>
          </a:p>
        </p:txBody>
      </p:sp>
      <p:sp>
        <p:nvSpPr>
          <p:cNvPr id="22" name="TextBox 21"/>
          <p:cNvSpPr txBox="1"/>
          <p:nvPr/>
        </p:nvSpPr>
        <p:spPr>
          <a:xfrm>
            <a:off x="3535680" y="2962656"/>
            <a:ext cx="2072640"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1" i="0">
                <a:solidFill>
                  <a:srgbClr val="FFFFFF"/>
                </a:solidFill>
                <a:latin typeface="Trebuchet MS"/>
                <a:ea typeface="Trebuchet MS"/>
              </a:rPr>
              <a:t>Is it right?</a:t>
            </a:r>
          </a:p>
          <a:p>
            <a:pPr algn="ctr">
              <a:lnSpc>
                <a:spcPct val="114000"/>
              </a:lnSpc>
              <a:spcBef>
                <a:spcPts val="0"/>
              </a:spcBef>
              <a:spcAft>
                <a:spcPts val="200"/>
              </a:spcAft>
            </a:pPr>
            <a:r>
              <a:rPr sz="1130" b="1" i="0">
                <a:solidFill>
                  <a:srgbClr val="FFFFFF"/>
                </a:solidFill>
                <a:latin typeface="Trebuchet MS"/>
                <a:ea typeface="Trebuchet MS"/>
              </a:rPr>
              <a:t>Is it good?</a:t>
            </a:r>
          </a:p>
        </p:txBody>
      </p:sp>
      <p:sp>
        <p:nvSpPr>
          <p:cNvPr id="23" name="Right Arrow 22"/>
          <p:cNvSpPr/>
          <p:nvPr/>
        </p:nvSpPr>
        <p:spPr>
          <a:xfrm>
            <a:off x="5864352" y="2432304"/>
            <a:ext cx="438912" cy="292608"/>
          </a:xfrm>
          <a:prstGeom prst="rightArrow">
            <a:avLst>
              <a:gd name="adj1" fmla="val 55000"/>
              <a:gd name="adj2" fmla="val 55000"/>
            </a:avLst>
          </a:prstGeom>
          <a:solidFill>
            <a:srgbClr val="9FB2C0"/>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5" name="Rounded Rectangle 24"/>
          <p:cNvSpPr/>
          <p:nvPr/>
        </p:nvSpPr>
        <p:spPr>
          <a:xfrm>
            <a:off x="6412992" y="1572768"/>
            <a:ext cx="2365248" cy="2011680"/>
          </a:xfrm>
          <a:prstGeom prst="roundRect">
            <a:avLst>
              <a:gd name="adj" fmla="val 7272"/>
            </a:avLst>
          </a:prstGeom>
          <a:solidFill>
            <a:srgbClr val="FFFFFF"/>
          </a:solidFill>
          <a:ln w="20320">
            <a:solidFill>
              <a:srgbClr val="3FA882"/>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6" name="Round Same Side Corner Rectangle 25"/>
          <p:cNvSpPr/>
          <p:nvPr/>
        </p:nvSpPr>
        <p:spPr>
          <a:xfrm>
            <a:off x="6412992" y="1572768"/>
            <a:ext cx="2365248" cy="146304"/>
          </a:xfrm>
          <a:prstGeom prst="round2SameRect">
            <a:avLst>
              <a:gd name="adj1" fmla="val 50000"/>
              <a:gd name="adj2" fmla="val 0"/>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7" name="Oval 26"/>
          <p:cNvSpPr/>
          <p:nvPr/>
        </p:nvSpPr>
        <p:spPr>
          <a:xfrm>
            <a:off x="7211568" y="1755648"/>
            <a:ext cx="768096" cy="768096"/>
          </a:xfrm>
          <a:prstGeom prst="ellipse">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8" name="Picture 27" descr="check.png"/>
          <p:cNvPicPr>
            <a:picLocks noChangeAspect="1"/>
          </p:cNvPicPr>
          <p:nvPr/>
        </p:nvPicPr>
        <p:blipFill>
          <a:blip r:embed="rId5"/>
          <a:stretch>
            <a:fillRect/>
          </a:stretch>
        </p:blipFill>
        <p:spPr>
          <a:xfrm>
            <a:off x="7380549" y="1924629"/>
            <a:ext cx="430133" cy="430133"/>
          </a:xfrm>
          <a:prstGeom prst="rect">
            <a:avLst/>
          </a:prstGeom>
        </p:spPr>
      </p:pic>
      <p:sp>
        <p:nvSpPr>
          <p:cNvPr id="29" name="TextBox 28"/>
          <p:cNvSpPr txBox="1"/>
          <p:nvPr/>
        </p:nvSpPr>
        <p:spPr>
          <a:xfrm>
            <a:off x="6504432" y="2633472"/>
            <a:ext cx="2182367"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We decide</a:t>
            </a:r>
          </a:p>
        </p:txBody>
      </p:sp>
      <p:sp>
        <p:nvSpPr>
          <p:cNvPr id="30" name="TextBox 29"/>
          <p:cNvSpPr txBox="1"/>
          <p:nvPr/>
        </p:nvSpPr>
        <p:spPr>
          <a:xfrm>
            <a:off x="6559296" y="2962656"/>
            <a:ext cx="2072640" cy="58521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130" b="0" i="0">
                <a:solidFill>
                  <a:srgbClr val="2B4255"/>
                </a:solidFill>
                <a:latin typeface="Trebuchet MS"/>
                <a:ea typeface="Trebuchet MS"/>
              </a:rPr>
              <a:t>In the end, we</a:t>
            </a:r>
          </a:p>
          <a:p>
            <a:pPr algn="ctr">
              <a:lnSpc>
                <a:spcPct val="114000"/>
              </a:lnSpc>
              <a:spcBef>
                <a:spcPts val="0"/>
              </a:spcBef>
              <a:spcAft>
                <a:spcPts val="200"/>
              </a:spcAft>
            </a:pPr>
            <a:r>
              <a:rPr sz="1130" b="0" i="0">
                <a:solidFill>
                  <a:srgbClr val="2B4255"/>
                </a:solidFill>
                <a:latin typeface="Trebuchet MS"/>
                <a:ea typeface="Trebuchet MS"/>
              </a:rPr>
              <a:t>make the call</a:t>
            </a:r>
          </a:p>
        </p:txBody>
      </p:sp>
      <p:sp>
        <p:nvSpPr>
          <p:cNvPr id="31" name="Rounded Rectangle 30"/>
          <p:cNvSpPr/>
          <p:nvPr/>
        </p:nvSpPr>
        <p:spPr>
          <a:xfrm>
            <a:off x="566928" y="4050791"/>
            <a:ext cx="8010144"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2" name="Rectangle 31"/>
          <p:cNvSpPr/>
          <p:nvPr/>
        </p:nvSpPr>
        <p:spPr>
          <a:xfrm>
            <a:off x="566928" y="4090659"/>
            <a:ext cx="64008" cy="566928"/>
          </a:xfrm>
          <a:prstGeom prst="rect">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3" name="TextBox 32"/>
          <p:cNvSpPr txBox="1"/>
          <p:nvPr/>
        </p:nvSpPr>
        <p:spPr>
          <a:xfrm>
            <a:off x="786384" y="4050791"/>
            <a:ext cx="7607808" cy="566928"/>
          </a:xfrm>
          <a:prstGeom prst="rect">
            <a:avLst/>
          </a:prstGeom>
          <a:noFill/>
          <a:ln/>
        </p:spPr>
        <p:txBody>
          <a:bodyPr wrap="square" anchor="ctr" lIns="36576" rIns="36576" tIns="27432" bIns="27432">
            <a:spAutoFit/>
          </a:bodyPr>
          <a:lstStyle/>
          <a:p>
            <a:pPr algn="l">
              <a:lnSpc>
                <a:spcPct val="108000"/>
              </a:lnSpc>
              <a:spcBef>
                <a:spcPts val="0"/>
              </a:spcBef>
              <a:spcAft>
                <a:spcPts val="0"/>
              </a:spcAft>
            </a:pPr>
            <a:r>
              <a:rPr sz="1050" b="1" i="0">
                <a:solidFill>
                  <a:srgbClr val="2E9BD6"/>
                </a:solidFill>
                <a:latin typeface="Trebuchet MS"/>
                <a:ea typeface="Trebuchet MS"/>
              </a:rPr>
              <a:t>Remember  </a:t>
            </a:r>
            <a:r>
              <a:rPr sz="1050" b="0" i="0">
                <a:solidFill>
                  <a:srgbClr val="063355"/>
                </a:solidFill>
                <a:latin typeface="Trebuchet MS"/>
                <a:ea typeface="Trebuchet MS"/>
              </a:rPr>
              <a:t>Important things need a human to check — AI only helps; we make the final call.</a:t>
            </a:r>
          </a:p>
        </p:txBody>
      </p:sp>
    </p:spTree>
  </p:cSld>
  <p:clrMapOvr>
    <a:masterClrMapping/>
  </p:clrMapOvr>
  <p:transition xmlns:p14="http://schemas.microsoft.com/office/powerpoint/2010/main" spd="med" p14:dur="500">
    <p:fade/>
  </p:transition>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3" name="Rounded Rectangle 2"/>
          <p:cNvSpPr/>
          <p:nvPr/>
        </p:nvSpPr>
        <p:spPr>
          <a:xfrm>
            <a:off x="566928" y="384048"/>
            <a:ext cx="2267902" cy="384048"/>
          </a:xfrm>
          <a:prstGeom prst="roundRect">
            <a:avLst>
              <a:gd name="adj" fmla="val 50000"/>
            </a:avLst>
          </a:prstGeom>
          <a:solidFill>
            <a:srgbClr val="E89B1E"/>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4" name="TextBox 3"/>
          <p:cNvSpPr txBox="1"/>
          <p:nvPr/>
        </p:nvSpPr>
        <p:spPr>
          <a:xfrm>
            <a:off x="566928" y="384048"/>
            <a:ext cx="2267902" cy="38404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80" b="1" i="0">
                <a:solidFill>
                  <a:srgbClr val="FFFFFF"/>
                </a:solidFill>
                <a:latin typeface="Trebuchet MS"/>
                <a:ea typeface="Trebuchet MS"/>
              </a:rPr>
              <a:t>Part 5 · Tips</a:t>
            </a:r>
          </a:p>
        </p:txBody>
      </p:sp>
      <p:sp>
        <p:nvSpPr>
          <p:cNvPr id="5" name="TextBox 4"/>
          <p:cNvSpPr txBox="1"/>
          <p:nvPr/>
        </p:nvSpPr>
        <p:spPr>
          <a:xfrm>
            <a:off x="566928" y="841248"/>
            <a:ext cx="8010144" cy="65836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2300" b="1" i="0">
                <a:solidFill>
                  <a:srgbClr val="063355"/>
                </a:solidFill>
                <a:latin typeface="Trebuchet MS"/>
                <a:ea typeface="Trebuchet MS"/>
              </a:rPr>
              <a:t>How to Be Good Friends With AI?</a:t>
            </a:r>
          </a:p>
        </p:txBody>
      </p:sp>
      <p:sp>
        <p:nvSpPr>
          <p:cNvPr id="6" name="Rounded Rectangle 5"/>
          <p:cNvSpPr/>
          <p:nvPr/>
        </p:nvSpPr>
        <p:spPr>
          <a:xfrm>
            <a:off x="585216" y="1408176"/>
            <a:ext cx="1005840" cy="64008"/>
          </a:xfrm>
          <a:prstGeom prst="roundRect">
            <a:avLst>
              <a:gd name="adj" fmla="val 50000"/>
            </a:avLst>
          </a:prstGeom>
          <a:solidFill>
            <a:srgbClr val="E89B1E"/>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7" name="TextBox 6"/>
          <p:cNvSpPr txBox="1"/>
          <p:nvPr/>
        </p:nvSpPr>
        <p:spPr>
          <a:xfrm>
            <a:off x="566928" y="4759452"/>
            <a:ext cx="5486400" cy="274320"/>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900" b="0" i="0">
                <a:solidFill>
                  <a:srgbClr val="4A5C6A"/>
                </a:solidFill>
                <a:latin typeface="Trebuchet MS"/>
                <a:ea typeface="Trebuchet MS"/>
              </a:rPr>
              <a:t>What Is AI?  ·  A first AI lesson for kids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13</a:t>
            </a:r>
          </a:p>
        </p:txBody>
      </p:sp>
      <p:sp>
        <p:nvSpPr>
          <p:cNvPr id="10" name="Rounded Rectangle 9"/>
          <p:cNvSpPr/>
          <p:nvPr/>
        </p:nvSpPr>
        <p:spPr>
          <a:xfrm>
            <a:off x="365760" y="1572768"/>
            <a:ext cx="1897379" cy="2011680"/>
          </a:xfrm>
          <a:prstGeom prst="roundRect">
            <a:avLst>
              <a:gd name="adj" fmla="val 7710"/>
            </a:avLst>
          </a:prstGeom>
          <a:solidFill>
            <a:srgbClr val="FFFFFF"/>
          </a:solidFill>
          <a:ln w="20320">
            <a:solidFill>
              <a:srgbClr val="2E9BD6"/>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1" name="Round Same Side Corner Rectangle 10"/>
          <p:cNvSpPr/>
          <p:nvPr/>
        </p:nvSpPr>
        <p:spPr>
          <a:xfrm>
            <a:off x="365760" y="1572768"/>
            <a:ext cx="1897379" cy="146304"/>
          </a:xfrm>
          <a:prstGeom prst="round2SameRect">
            <a:avLst>
              <a:gd name="adj1" fmla="val 50000"/>
              <a:gd name="adj2" fmla="val 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2" name="Oval 11"/>
          <p:cNvSpPr/>
          <p:nvPr/>
        </p:nvSpPr>
        <p:spPr>
          <a:xfrm>
            <a:off x="930402" y="1755648"/>
            <a:ext cx="768096" cy="768096"/>
          </a:xfrm>
          <a:prstGeom prst="ellipse">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13" name="Picture 12" descr="ask.png"/>
          <p:cNvPicPr>
            <a:picLocks noChangeAspect="1"/>
          </p:cNvPicPr>
          <p:nvPr/>
        </p:nvPicPr>
        <p:blipFill>
          <a:blip r:embed="rId3"/>
          <a:stretch>
            <a:fillRect/>
          </a:stretch>
        </p:blipFill>
        <p:spPr>
          <a:xfrm>
            <a:off x="1099383" y="1924629"/>
            <a:ext cx="430133" cy="430133"/>
          </a:xfrm>
          <a:prstGeom prst="rect">
            <a:avLst/>
          </a:prstGeom>
        </p:spPr>
      </p:pic>
      <p:sp>
        <p:nvSpPr>
          <p:cNvPr id="14" name="TextBox 13"/>
          <p:cNvSpPr txBox="1"/>
          <p:nvPr/>
        </p:nvSpPr>
        <p:spPr>
          <a:xfrm>
            <a:off x="457200" y="2633472"/>
            <a:ext cx="171449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Ask why</a:t>
            </a:r>
          </a:p>
        </p:txBody>
      </p:sp>
      <p:sp>
        <p:nvSpPr>
          <p:cNvPr id="15" name="TextBox 14"/>
          <p:cNvSpPr txBox="1"/>
          <p:nvPr/>
        </p:nvSpPr>
        <p:spPr>
          <a:xfrm>
            <a:off x="512064" y="2962656"/>
            <a:ext cx="1604771" cy="585216"/>
          </a:xfrm>
          <a:prstGeom prst="rect">
            <a:avLst/>
          </a:prstGeom>
          <a:noFill/>
          <a:ln/>
        </p:spPr>
        <p:txBody>
          <a:bodyPr wrap="square" anchor="ctr" lIns="36576" rIns="36576" tIns="27432" bIns="27432">
            <a:spAutoFit/>
          </a:bodyPr>
          <a:lstStyle/>
          <a:p>
            <a:r>
              <a:rPr sz="1150"/>
              <a:t>Ask it to explain, not just answer</a:t>
            </a:r>
          </a:p>
        </p:txBody>
      </p:sp>
      <p:sp>
        <p:nvSpPr>
          <p:cNvPr id="17" name="Rounded Rectangle 16"/>
          <p:cNvSpPr/>
          <p:nvPr/>
        </p:nvSpPr>
        <p:spPr>
          <a:xfrm>
            <a:off x="2537459" y="1572768"/>
            <a:ext cx="1897379" cy="2011680"/>
          </a:xfrm>
          <a:prstGeom prst="roundRect">
            <a:avLst>
              <a:gd name="adj" fmla="val 7710"/>
            </a:avLst>
          </a:prstGeom>
          <a:solidFill>
            <a:srgbClr val="FFFFFF"/>
          </a:solidFill>
          <a:ln w="20320">
            <a:solidFill>
              <a:srgbClr val="E86B73"/>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8" name="Round Same Side Corner Rectangle 17"/>
          <p:cNvSpPr/>
          <p:nvPr/>
        </p:nvSpPr>
        <p:spPr>
          <a:xfrm>
            <a:off x="2537459" y="1572768"/>
            <a:ext cx="1897379" cy="146304"/>
          </a:xfrm>
          <a:prstGeom prst="round2SameRect">
            <a:avLst>
              <a:gd name="adj1" fmla="val 50000"/>
              <a:gd name="adj2" fmla="val 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9" name="Oval 18"/>
          <p:cNvSpPr/>
          <p:nvPr/>
        </p:nvSpPr>
        <p:spPr>
          <a:xfrm>
            <a:off x="3102101" y="1755648"/>
            <a:ext cx="768096" cy="768096"/>
          </a:xfrm>
          <a:prstGeom prst="ellipse">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0" name="Picture 19" descr="brain.png"/>
          <p:cNvPicPr>
            <a:picLocks noChangeAspect="1"/>
          </p:cNvPicPr>
          <p:nvPr/>
        </p:nvPicPr>
        <p:blipFill>
          <a:blip r:embed="rId4"/>
          <a:stretch>
            <a:fillRect/>
          </a:stretch>
        </p:blipFill>
        <p:spPr>
          <a:xfrm>
            <a:off x="3271083" y="1924629"/>
            <a:ext cx="430133" cy="430133"/>
          </a:xfrm>
          <a:prstGeom prst="rect">
            <a:avLst/>
          </a:prstGeom>
        </p:spPr>
      </p:pic>
      <p:sp>
        <p:nvSpPr>
          <p:cNvPr id="21" name="TextBox 20"/>
          <p:cNvSpPr txBox="1"/>
          <p:nvPr/>
        </p:nvSpPr>
        <p:spPr>
          <a:xfrm>
            <a:off x="2628899" y="2633472"/>
            <a:ext cx="171449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Think it through</a:t>
            </a:r>
          </a:p>
        </p:txBody>
      </p:sp>
      <p:sp>
        <p:nvSpPr>
          <p:cNvPr id="22" name="TextBox 21"/>
          <p:cNvSpPr txBox="1"/>
          <p:nvPr/>
        </p:nvSpPr>
        <p:spPr>
          <a:xfrm>
            <a:off x="2683763" y="2962656"/>
            <a:ext cx="1604771" cy="585216"/>
          </a:xfrm>
          <a:prstGeom prst="rect">
            <a:avLst/>
          </a:prstGeom>
          <a:noFill/>
          <a:ln/>
        </p:spPr>
        <p:txBody>
          <a:bodyPr wrap="square" anchor="ctr" lIns="36576" rIns="36576" tIns="27432" bIns="27432">
            <a:spAutoFit/>
          </a:bodyPr>
          <a:lstStyle/>
          <a:p>
            <a:r>
              <a:rPr sz="1150"/>
              <a:t>AI can be wrong — use judgment</a:t>
            </a:r>
          </a:p>
        </p:txBody>
      </p:sp>
      <p:sp>
        <p:nvSpPr>
          <p:cNvPr id="24" name="Rounded Rectangle 23"/>
          <p:cNvSpPr/>
          <p:nvPr/>
        </p:nvSpPr>
        <p:spPr>
          <a:xfrm>
            <a:off x="4709159" y="1572768"/>
            <a:ext cx="1897379" cy="2011680"/>
          </a:xfrm>
          <a:prstGeom prst="roundRect">
            <a:avLst>
              <a:gd name="adj" fmla="val 7710"/>
            </a:avLst>
          </a:prstGeom>
          <a:solidFill>
            <a:srgbClr val="FFFFFF"/>
          </a:solidFill>
          <a:ln w="20320">
            <a:solidFill>
              <a:srgbClr val="3FA882"/>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5" name="Round Same Side Corner Rectangle 24"/>
          <p:cNvSpPr/>
          <p:nvPr/>
        </p:nvSpPr>
        <p:spPr>
          <a:xfrm>
            <a:off x="4709159" y="1572768"/>
            <a:ext cx="1897379" cy="146304"/>
          </a:xfrm>
          <a:prstGeom prst="round2SameRect">
            <a:avLst>
              <a:gd name="adj1" fmla="val 50000"/>
              <a:gd name="adj2" fmla="val 0"/>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6" name="Oval 25"/>
          <p:cNvSpPr/>
          <p:nvPr/>
        </p:nvSpPr>
        <p:spPr>
          <a:xfrm>
            <a:off x="5273801" y="1755648"/>
            <a:ext cx="768096" cy="768096"/>
          </a:xfrm>
          <a:prstGeom prst="ellipse">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7" name="Picture 26" descr="privacy.png"/>
          <p:cNvPicPr>
            <a:picLocks noChangeAspect="1"/>
          </p:cNvPicPr>
          <p:nvPr/>
        </p:nvPicPr>
        <p:blipFill>
          <a:blip r:embed="rId5"/>
          <a:stretch>
            <a:fillRect/>
          </a:stretch>
        </p:blipFill>
        <p:spPr>
          <a:xfrm>
            <a:off x="5442783" y="1924629"/>
            <a:ext cx="430133" cy="430133"/>
          </a:xfrm>
          <a:prstGeom prst="rect">
            <a:avLst/>
          </a:prstGeom>
        </p:spPr>
      </p:pic>
      <p:sp>
        <p:nvSpPr>
          <p:cNvPr id="28" name="TextBox 27"/>
          <p:cNvSpPr txBox="1"/>
          <p:nvPr/>
        </p:nvSpPr>
        <p:spPr>
          <a:xfrm>
            <a:off x="4800599" y="2633472"/>
            <a:ext cx="171449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Keep secrets safe</a:t>
            </a:r>
          </a:p>
        </p:txBody>
      </p:sp>
      <p:sp>
        <p:nvSpPr>
          <p:cNvPr id="29" name="TextBox 28"/>
          <p:cNvSpPr txBox="1"/>
          <p:nvPr/>
        </p:nvSpPr>
        <p:spPr>
          <a:xfrm>
            <a:off x="4855464" y="2962656"/>
            <a:ext cx="1604771" cy="585216"/>
          </a:xfrm>
          <a:prstGeom prst="rect">
            <a:avLst/>
          </a:prstGeom>
          <a:noFill/>
          <a:ln/>
        </p:spPr>
        <p:txBody>
          <a:bodyPr wrap="square" anchor="ctr" lIns="36576" rIns="36576" tIns="27432" bIns="27432">
            <a:spAutoFit/>
          </a:bodyPr>
          <a:lstStyle/>
          <a:p>
            <a:r>
              <a:rPr sz="1150"/>
              <a:t>No names or passwords</a:t>
            </a:r>
          </a:p>
        </p:txBody>
      </p:sp>
      <p:sp>
        <p:nvSpPr>
          <p:cNvPr id="31" name="Rounded Rectangle 30"/>
          <p:cNvSpPr/>
          <p:nvPr/>
        </p:nvSpPr>
        <p:spPr>
          <a:xfrm>
            <a:off x="6880859" y="1572768"/>
            <a:ext cx="1897379" cy="2011680"/>
          </a:xfrm>
          <a:prstGeom prst="roundRect">
            <a:avLst>
              <a:gd name="adj" fmla="val 7710"/>
            </a:avLst>
          </a:prstGeom>
          <a:solidFill>
            <a:srgbClr val="FFFFFF"/>
          </a:solidFill>
          <a:ln w="20320">
            <a:solidFill>
              <a:srgbClr val="7C77C9"/>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2" name="Round Same Side Corner Rectangle 31"/>
          <p:cNvSpPr/>
          <p:nvPr/>
        </p:nvSpPr>
        <p:spPr>
          <a:xfrm>
            <a:off x="6880859" y="1572768"/>
            <a:ext cx="1897379" cy="146304"/>
          </a:xfrm>
          <a:prstGeom prst="round2SameRect">
            <a:avLst>
              <a:gd name="adj1" fmla="val 50000"/>
              <a:gd name="adj2" fmla="val 0"/>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3" name="Oval 32"/>
          <p:cNvSpPr/>
          <p:nvPr/>
        </p:nvSpPr>
        <p:spPr>
          <a:xfrm>
            <a:off x="7445501" y="1755648"/>
            <a:ext cx="768096" cy="768096"/>
          </a:xfrm>
          <a:prstGeom prst="ellipse">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34" name="Picture 33" descr="adult.png"/>
          <p:cNvPicPr>
            <a:picLocks noChangeAspect="1"/>
          </p:cNvPicPr>
          <p:nvPr/>
        </p:nvPicPr>
        <p:blipFill>
          <a:blip r:embed="rId6"/>
          <a:stretch>
            <a:fillRect/>
          </a:stretch>
        </p:blipFill>
        <p:spPr>
          <a:xfrm>
            <a:off x="7614483" y="1924629"/>
            <a:ext cx="430133" cy="430133"/>
          </a:xfrm>
          <a:prstGeom prst="rect">
            <a:avLst/>
          </a:prstGeom>
        </p:spPr>
      </p:pic>
      <p:sp>
        <p:nvSpPr>
          <p:cNvPr id="35" name="TextBox 34"/>
          <p:cNvSpPr txBox="1"/>
          <p:nvPr/>
        </p:nvSpPr>
        <p:spPr>
          <a:xfrm>
            <a:off x="6972299" y="2633472"/>
            <a:ext cx="171449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Ask a grown-up</a:t>
            </a:r>
          </a:p>
        </p:txBody>
      </p:sp>
      <p:sp>
        <p:nvSpPr>
          <p:cNvPr id="36" name="TextBox 35"/>
          <p:cNvSpPr txBox="1"/>
          <p:nvPr/>
        </p:nvSpPr>
        <p:spPr>
          <a:xfrm>
            <a:off x="7027163" y="2962656"/>
            <a:ext cx="1604771" cy="585216"/>
          </a:xfrm>
          <a:prstGeom prst="rect">
            <a:avLst/>
          </a:prstGeom>
          <a:noFill/>
          <a:ln/>
        </p:spPr>
        <p:txBody>
          <a:bodyPr wrap="square" anchor="ctr" lIns="36576" rIns="36576" tIns="27432" bIns="27432">
            <a:spAutoFit/>
          </a:bodyPr>
          <a:lstStyle/>
          <a:p>
            <a:r>
              <a:rPr sz="1150"/>
              <a:t>When unsure, ask a grown-up</a:t>
            </a:r>
          </a:p>
        </p:txBody>
      </p:sp>
      <p:sp>
        <p:nvSpPr>
          <p:cNvPr id="37" name="Rounded Rectangle 36"/>
          <p:cNvSpPr/>
          <p:nvPr/>
        </p:nvSpPr>
        <p:spPr>
          <a:xfrm>
            <a:off x="566928" y="4050791"/>
            <a:ext cx="8010144"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8" name="Rectangle 37"/>
          <p:cNvSpPr/>
          <p:nvPr/>
        </p:nvSpPr>
        <p:spPr>
          <a:xfrm>
            <a:off x="566928" y="4090659"/>
            <a:ext cx="64008" cy="566928"/>
          </a:xfrm>
          <a:prstGeom prst="rect">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39" name="TextBox 38"/>
          <p:cNvSpPr txBox="1"/>
          <p:nvPr/>
        </p:nvSpPr>
        <p:spPr>
          <a:xfrm>
            <a:off x="786384" y="4050791"/>
            <a:ext cx="7607808" cy="566928"/>
          </a:xfrm>
          <a:prstGeom prst="rect">
            <a:avLst/>
          </a:prstGeom>
          <a:noFill/>
          <a:ln/>
        </p:spPr>
        <p:txBody>
          <a:bodyPr wrap="square" anchor="ctr" lIns="36576" rIns="36576" tIns="27432" bIns="27432">
            <a:spAutoFit/>
          </a:bodyPr>
          <a:lstStyle/>
          <a:p>
            <a:pPr algn="l">
              <a:lnSpc>
                <a:spcPct val="108000"/>
              </a:lnSpc>
              <a:spcBef>
                <a:spcPts val="0"/>
              </a:spcBef>
              <a:spcAft>
                <a:spcPts val="0"/>
              </a:spcAft>
            </a:pPr>
            <a:r>
              <a:rPr sz="1050" b="1" i="0">
                <a:solidFill>
                  <a:srgbClr val="3FA882"/>
                </a:solidFill>
                <a:latin typeface="Trebuchet MS"/>
                <a:ea typeface="Trebuchet MS"/>
              </a:rPr>
              <a:t>Do not forget  </a:t>
            </a:r>
            <a:r>
              <a:rPr sz="1050" b="0" i="0">
                <a:solidFill>
                  <a:srgbClr val="063355"/>
                </a:solidFill>
                <a:latin typeface="Trebuchet MS"/>
                <a:ea typeface="Trebuchet MS"/>
              </a:rPr>
              <a:t>You are the boss, AI is the helper — use it happily and safely!</a:t>
            </a:r>
          </a:p>
        </p:txBody>
      </p:sp>
    </p:spTree>
  </p:cSld>
  <p:clrMapOvr>
    <a:masterClrMapping/>
  </p:clrMapOvr>
  <p:transition xmlns:p14="http://schemas.microsoft.com/office/powerpoint/2010/main" spd="med" p14:dur="500">
    <p:fade/>
  </p:transition>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4" name="Rounded Rectangle 3"/>
          <p:cNvSpPr/>
          <p:nvPr/>
        </p:nvSpPr>
        <p:spPr>
          <a:xfrm>
            <a:off x="1554480" y="3529584"/>
            <a:ext cx="6035040" cy="1078992"/>
          </a:xfrm>
          <a:prstGeom prst="roundRect">
            <a:avLst>
              <a:gd name="adj" fmla="val 1694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5" name="Rounded Rectangle 4"/>
          <p:cNvSpPr/>
          <p:nvPr/>
        </p:nvSpPr>
        <p:spPr>
          <a:xfrm>
            <a:off x="4058412" y="3675887"/>
            <a:ext cx="1027176" cy="310896"/>
          </a:xfrm>
          <a:prstGeom prst="roundRect">
            <a:avLst>
              <a:gd name="adj" fmla="val 50000"/>
            </a:avLst>
          </a:prstGeom>
          <a:solidFill>
            <a:srgbClr val="E89B1E"/>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6" name="TextBox 5"/>
          <p:cNvSpPr txBox="1"/>
          <p:nvPr/>
        </p:nvSpPr>
        <p:spPr>
          <a:xfrm>
            <a:off x="4058412" y="3675887"/>
            <a:ext cx="1027176" cy="310896"/>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200" b="1" i="0">
                <a:solidFill>
                  <a:srgbClr val="FFFFFF"/>
                </a:solidFill>
                <a:latin typeface="Trebuchet MS"/>
                <a:ea typeface="Trebuchet MS"/>
              </a:rPr>
              <a:t>Finally</a:t>
            </a:r>
          </a:p>
        </p:txBody>
      </p:sp>
      <p:sp>
        <p:nvSpPr>
          <p:cNvPr id="7" name="TextBox 6"/>
          <p:cNvSpPr txBox="1"/>
          <p:nvPr/>
        </p:nvSpPr>
        <p:spPr>
          <a:xfrm>
            <a:off x="1783080" y="4059935"/>
            <a:ext cx="5577840" cy="56692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50" b="1" i="0">
                <a:solidFill>
                  <a:srgbClr val="063355"/>
                </a:solidFill>
                <a:latin typeface="Trebuchet MS"/>
                <a:ea typeface="Trebuchet MS"/>
              </a:rPr>
              <a:t>The Future Is Yours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14</a:t>
            </a:r>
          </a:p>
        </p:txBody>
      </p:sp>
    </p:spTree>
  </p:cSld>
  <p:clrMapOvr>
    <a:masterClrMapping/>
  </p:clrMapOvr>
  <p:transition xmlns:p14="http://schemas.microsoft.com/office/powerpoint/2010/main" spd="med" p14:dur="500">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3" name="Rounded Rectangle 2"/>
          <p:cNvSpPr/>
          <p:nvPr/>
        </p:nvSpPr>
        <p:spPr>
          <a:xfrm>
            <a:off x="566928" y="384048"/>
            <a:ext cx="3801427" cy="384048"/>
          </a:xfrm>
          <a:prstGeom prst="roundRect">
            <a:avLst>
              <a:gd name="adj" fmla="val 5000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4" name="TextBox 3"/>
          <p:cNvSpPr txBox="1"/>
          <p:nvPr/>
        </p:nvSpPr>
        <p:spPr>
          <a:xfrm>
            <a:off x="566928" y="384048"/>
            <a:ext cx="3801427" cy="38404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80" b="1" i="0">
                <a:solidFill>
                  <a:srgbClr val="FFFFFF"/>
                </a:solidFill>
                <a:latin typeface="Trebuchet MS"/>
                <a:ea typeface="Trebuchet MS"/>
              </a:rPr>
              <a:t>Imagine · Looking ahead</a:t>
            </a:r>
          </a:p>
        </p:txBody>
      </p:sp>
      <p:sp>
        <p:nvSpPr>
          <p:cNvPr id="5" name="TextBox 4"/>
          <p:cNvSpPr txBox="1"/>
          <p:nvPr/>
        </p:nvSpPr>
        <p:spPr>
          <a:xfrm>
            <a:off x="566928" y="841248"/>
            <a:ext cx="8010144" cy="65836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2300" b="1" i="0">
                <a:solidFill>
                  <a:srgbClr val="063355"/>
                </a:solidFill>
                <a:latin typeface="Trebuchet MS"/>
                <a:ea typeface="Trebuchet MS"/>
              </a:rPr>
              <a:t>What Could You Do With AI Someday?</a:t>
            </a:r>
          </a:p>
        </p:txBody>
      </p:sp>
      <p:sp>
        <p:nvSpPr>
          <p:cNvPr id="6" name="Rounded Rectangle 5"/>
          <p:cNvSpPr/>
          <p:nvPr/>
        </p:nvSpPr>
        <p:spPr>
          <a:xfrm>
            <a:off x="585216" y="1408176"/>
            <a:ext cx="1005840" cy="64008"/>
          </a:xfrm>
          <a:prstGeom prst="roundRect">
            <a:avLst>
              <a:gd name="adj" fmla="val 5000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7" name="TextBox 6"/>
          <p:cNvSpPr txBox="1"/>
          <p:nvPr/>
        </p:nvSpPr>
        <p:spPr>
          <a:xfrm>
            <a:off x="566928" y="4759452"/>
            <a:ext cx="5486400" cy="274320"/>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900" b="0" i="0">
                <a:solidFill>
                  <a:srgbClr val="4A5C6A"/>
                </a:solidFill>
                <a:latin typeface="Trebuchet MS"/>
                <a:ea typeface="Trebuchet MS"/>
              </a:rPr>
              <a:t>What Is AI?  ·  A first AI lesson for kids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15</a:t>
            </a:r>
          </a:p>
        </p:txBody>
      </p:sp>
      <p:sp>
        <p:nvSpPr>
          <p:cNvPr id="10" name="Rounded Rectangle 9"/>
          <p:cNvSpPr/>
          <p:nvPr/>
        </p:nvSpPr>
        <p:spPr>
          <a:xfrm>
            <a:off x="365760" y="1572768"/>
            <a:ext cx="2499359" cy="2130552"/>
          </a:xfrm>
          <a:prstGeom prst="roundRect">
            <a:avLst>
              <a:gd name="adj" fmla="val 6866"/>
            </a:avLst>
          </a:prstGeom>
          <a:solidFill>
            <a:srgbClr val="FFFFFF"/>
          </a:solidFill>
          <a:ln w="20320">
            <a:solidFill>
              <a:srgbClr val="2E9BD6"/>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1" name="Round Same Side Corner Rectangle 10"/>
          <p:cNvSpPr/>
          <p:nvPr/>
        </p:nvSpPr>
        <p:spPr>
          <a:xfrm>
            <a:off x="365760" y="1572768"/>
            <a:ext cx="2499359" cy="146304"/>
          </a:xfrm>
          <a:prstGeom prst="round2SameRect">
            <a:avLst>
              <a:gd name="adj1" fmla="val 50000"/>
              <a:gd name="adj2" fmla="val 0"/>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2" name="Oval 11"/>
          <p:cNvSpPr/>
          <p:nvPr/>
        </p:nvSpPr>
        <p:spPr>
          <a:xfrm>
            <a:off x="1231392" y="1755648"/>
            <a:ext cx="768096" cy="768096"/>
          </a:xfrm>
          <a:prstGeom prst="ellipse">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13" name="Picture 12" descr="med.png"/>
          <p:cNvPicPr>
            <a:picLocks noChangeAspect="1"/>
          </p:cNvPicPr>
          <p:nvPr/>
        </p:nvPicPr>
        <p:blipFill>
          <a:blip r:embed="rId3"/>
          <a:stretch>
            <a:fillRect/>
          </a:stretch>
        </p:blipFill>
        <p:spPr>
          <a:xfrm>
            <a:off x="1400373" y="1924629"/>
            <a:ext cx="430133" cy="430133"/>
          </a:xfrm>
          <a:prstGeom prst="rect">
            <a:avLst/>
          </a:prstGeom>
        </p:spPr>
      </p:pic>
      <p:sp>
        <p:nvSpPr>
          <p:cNvPr id="14" name="TextBox 13"/>
          <p:cNvSpPr txBox="1"/>
          <p:nvPr/>
        </p:nvSpPr>
        <p:spPr>
          <a:xfrm>
            <a:off x="457200" y="2633472"/>
            <a:ext cx="231647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Help doctors</a:t>
            </a:r>
          </a:p>
        </p:txBody>
      </p:sp>
      <p:sp>
        <p:nvSpPr>
          <p:cNvPr id="15" name="TextBox 14"/>
          <p:cNvSpPr txBox="1"/>
          <p:nvPr/>
        </p:nvSpPr>
        <p:spPr>
          <a:xfrm>
            <a:off x="512064" y="3054096"/>
            <a:ext cx="2206752" cy="53949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250" b="0" i="0">
                <a:solidFill>
                  <a:srgbClr val="2B4255"/>
                </a:solidFill>
                <a:latin typeface="Trebuchet MS"/>
                <a:ea typeface="Trebuchet MS"/>
              </a:rPr>
              <a:t>Spot health</a:t>
            </a:r>
          </a:p>
          <a:p>
            <a:pPr algn="ctr">
              <a:lnSpc>
                <a:spcPct val="114000"/>
              </a:lnSpc>
              <a:spcBef>
                <a:spcPts val="0"/>
              </a:spcBef>
              <a:spcAft>
                <a:spcPts val="200"/>
              </a:spcAft>
            </a:pPr>
            <a:r>
              <a:rPr sz="1250" b="0" i="0">
                <a:solidFill>
                  <a:srgbClr val="2B4255"/>
                </a:solidFill>
                <a:latin typeface="Trebuchet MS"/>
                <a:ea typeface="Trebuchet MS"/>
              </a:rPr>
              <a:t>problems sooner</a:t>
            </a:r>
          </a:p>
        </p:txBody>
      </p:sp>
      <p:sp>
        <p:nvSpPr>
          <p:cNvPr id="17" name="Rounded Rectangle 16"/>
          <p:cNvSpPr/>
          <p:nvPr/>
        </p:nvSpPr>
        <p:spPr>
          <a:xfrm>
            <a:off x="3322319" y="1572768"/>
            <a:ext cx="2499359" cy="2130552"/>
          </a:xfrm>
          <a:prstGeom prst="roundRect">
            <a:avLst>
              <a:gd name="adj" fmla="val 6866"/>
            </a:avLst>
          </a:prstGeom>
          <a:solidFill>
            <a:srgbClr val="FFFFFF"/>
          </a:solidFill>
          <a:ln w="20320">
            <a:solidFill>
              <a:srgbClr val="7C77C9"/>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8" name="Round Same Side Corner Rectangle 17"/>
          <p:cNvSpPr/>
          <p:nvPr/>
        </p:nvSpPr>
        <p:spPr>
          <a:xfrm>
            <a:off x="3322319" y="1572768"/>
            <a:ext cx="2499359" cy="146304"/>
          </a:xfrm>
          <a:prstGeom prst="round2SameRect">
            <a:avLst>
              <a:gd name="adj1" fmla="val 50000"/>
              <a:gd name="adj2" fmla="val 0"/>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9" name="Oval 18"/>
          <p:cNvSpPr/>
          <p:nvPr/>
        </p:nvSpPr>
        <p:spPr>
          <a:xfrm>
            <a:off x="4187951" y="1755648"/>
            <a:ext cx="768096" cy="768096"/>
          </a:xfrm>
          <a:prstGeom prst="ellipse">
            <a:avLst/>
          </a:prstGeom>
          <a:solidFill>
            <a:srgbClr val="7C77C9"/>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0" name="Picture 19" descr="rocket.png"/>
          <p:cNvPicPr>
            <a:picLocks noChangeAspect="1"/>
          </p:cNvPicPr>
          <p:nvPr/>
        </p:nvPicPr>
        <p:blipFill>
          <a:blip r:embed="rId4"/>
          <a:stretch>
            <a:fillRect/>
          </a:stretch>
        </p:blipFill>
        <p:spPr>
          <a:xfrm>
            <a:off x="4356933" y="1924629"/>
            <a:ext cx="430133" cy="430133"/>
          </a:xfrm>
          <a:prstGeom prst="rect">
            <a:avLst/>
          </a:prstGeom>
        </p:spPr>
      </p:pic>
      <p:sp>
        <p:nvSpPr>
          <p:cNvPr id="21" name="TextBox 20"/>
          <p:cNvSpPr txBox="1"/>
          <p:nvPr/>
        </p:nvSpPr>
        <p:spPr>
          <a:xfrm>
            <a:off x="3413759" y="2633472"/>
            <a:ext cx="231647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Explore space</a:t>
            </a:r>
          </a:p>
        </p:txBody>
      </p:sp>
      <p:sp>
        <p:nvSpPr>
          <p:cNvPr id="22" name="TextBox 21"/>
          <p:cNvSpPr txBox="1"/>
          <p:nvPr/>
        </p:nvSpPr>
        <p:spPr>
          <a:xfrm>
            <a:off x="3468623" y="3054096"/>
            <a:ext cx="2206752" cy="53949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250" b="0" i="0">
                <a:solidFill>
                  <a:srgbClr val="2B4255"/>
                </a:solidFill>
                <a:latin typeface="Trebuchet MS"/>
                <a:ea typeface="Trebuchet MS"/>
              </a:rPr>
              <a:t>Visit far-off</a:t>
            </a:r>
          </a:p>
          <a:p>
            <a:pPr algn="ctr">
              <a:lnSpc>
                <a:spcPct val="114000"/>
              </a:lnSpc>
              <a:spcBef>
                <a:spcPts val="0"/>
              </a:spcBef>
              <a:spcAft>
                <a:spcPts val="200"/>
              </a:spcAft>
            </a:pPr>
            <a:r>
              <a:rPr sz="1250" b="0" i="0">
                <a:solidFill>
                  <a:srgbClr val="2B4255"/>
                </a:solidFill>
                <a:latin typeface="Trebuchet MS"/>
                <a:ea typeface="Trebuchet MS"/>
              </a:rPr>
              <a:t>worlds with us</a:t>
            </a:r>
          </a:p>
        </p:txBody>
      </p:sp>
      <p:sp>
        <p:nvSpPr>
          <p:cNvPr id="24" name="Rounded Rectangle 23"/>
          <p:cNvSpPr/>
          <p:nvPr/>
        </p:nvSpPr>
        <p:spPr>
          <a:xfrm>
            <a:off x="6278880" y="1572768"/>
            <a:ext cx="2499359" cy="2130552"/>
          </a:xfrm>
          <a:prstGeom prst="roundRect">
            <a:avLst>
              <a:gd name="adj" fmla="val 6866"/>
            </a:avLst>
          </a:prstGeom>
          <a:solidFill>
            <a:srgbClr val="FFFFFF"/>
          </a:solidFill>
          <a:ln w="20320">
            <a:solidFill>
              <a:srgbClr val="E89B1E"/>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5" name="Round Same Side Corner Rectangle 24"/>
          <p:cNvSpPr/>
          <p:nvPr/>
        </p:nvSpPr>
        <p:spPr>
          <a:xfrm>
            <a:off x="6278880" y="1572768"/>
            <a:ext cx="2499359" cy="146304"/>
          </a:xfrm>
          <a:prstGeom prst="round2SameRect">
            <a:avLst>
              <a:gd name="adj1" fmla="val 50000"/>
              <a:gd name="adj2" fmla="val 0"/>
            </a:avLst>
          </a:prstGeom>
          <a:solidFill>
            <a:srgbClr val="E89B1E"/>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6" name="Oval 25"/>
          <p:cNvSpPr/>
          <p:nvPr/>
        </p:nvSpPr>
        <p:spPr>
          <a:xfrm>
            <a:off x="7144511" y="1755648"/>
            <a:ext cx="768096" cy="768096"/>
          </a:xfrm>
          <a:prstGeom prst="ellipse">
            <a:avLst/>
          </a:prstGeom>
          <a:solidFill>
            <a:srgbClr val="E89B1E"/>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pic>
        <p:nvPicPr>
          <p:cNvPr id="27" name="Picture 26" descr="star.png"/>
          <p:cNvPicPr>
            <a:picLocks noChangeAspect="1"/>
          </p:cNvPicPr>
          <p:nvPr/>
        </p:nvPicPr>
        <p:blipFill>
          <a:blip r:embed="rId5"/>
          <a:stretch>
            <a:fillRect/>
          </a:stretch>
        </p:blipFill>
        <p:spPr>
          <a:xfrm>
            <a:off x="7313493" y="1924629"/>
            <a:ext cx="430133" cy="430133"/>
          </a:xfrm>
          <a:prstGeom prst="rect">
            <a:avLst/>
          </a:prstGeom>
        </p:spPr>
      </p:pic>
      <p:sp>
        <p:nvSpPr>
          <p:cNvPr id="28" name="TextBox 27"/>
          <p:cNvSpPr txBox="1"/>
          <p:nvPr/>
        </p:nvSpPr>
        <p:spPr>
          <a:xfrm>
            <a:off x="6370319" y="2633472"/>
            <a:ext cx="2316479" cy="438912"/>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520" b="1" i="0">
                <a:solidFill>
                  <a:srgbClr val="063355"/>
                </a:solidFill>
                <a:latin typeface="Trebuchet MS"/>
                <a:ea typeface="Trebuchet MS"/>
              </a:rPr>
              <a:t>Learn anything</a:t>
            </a:r>
          </a:p>
        </p:txBody>
      </p:sp>
      <p:sp>
        <p:nvSpPr>
          <p:cNvPr id="29" name="TextBox 28"/>
          <p:cNvSpPr txBox="1"/>
          <p:nvPr/>
        </p:nvSpPr>
        <p:spPr>
          <a:xfrm>
            <a:off x="6425184" y="3054096"/>
            <a:ext cx="2206752" cy="539496"/>
          </a:xfrm>
          <a:prstGeom prst="rect">
            <a:avLst/>
          </a:prstGeom>
          <a:noFill/>
          <a:ln/>
        </p:spPr>
        <p:txBody>
          <a:bodyPr wrap="square" anchor="ctr" lIns="36576" rIns="36576" tIns="27432" bIns="27432">
            <a:spAutoFit/>
          </a:bodyPr>
          <a:lstStyle/>
          <a:p>
            <a:pPr algn="ctr">
              <a:lnSpc>
                <a:spcPct val="114000"/>
              </a:lnSpc>
              <a:spcBef>
                <a:spcPts val="0"/>
              </a:spcBef>
              <a:spcAft>
                <a:spcPts val="200"/>
              </a:spcAft>
            </a:pPr>
            <a:r>
              <a:rPr sz="1250" b="0" i="0">
                <a:solidFill>
                  <a:srgbClr val="2B4255"/>
                </a:solidFill>
                <a:latin typeface="Trebuchet MS"/>
                <a:ea typeface="Trebuchet MS"/>
              </a:rPr>
              <a:t>Always there to</a:t>
            </a:r>
          </a:p>
          <a:p>
            <a:pPr algn="ctr">
              <a:lnSpc>
                <a:spcPct val="114000"/>
              </a:lnSpc>
              <a:spcBef>
                <a:spcPts val="0"/>
              </a:spcBef>
              <a:spcAft>
                <a:spcPts val="200"/>
              </a:spcAft>
            </a:pPr>
            <a:r>
              <a:rPr sz="1250" b="0" i="0">
                <a:solidFill>
                  <a:srgbClr val="2B4255"/>
                </a:solidFill>
                <a:latin typeface="Trebuchet MS"/>
                <a:ea typeface="Trebuchet MS"/>
              </a:rPr>
              <a:t>learn with you</a:t>
            </a:r>
          </a:p>
        </p:txBody>
      </p:sp>
      <p:sp>
        <p:nvSpPr>
          <p:cNvPr id="30" name="TextBox 29"/>
          <p:cNvSpPr txBox="1"/>
          <p:nvPr/>
        </p:nvSpPr>
        <p:spPr>
          <a:xfrm>
            <a:off x="640080" y="3950208"/>
            <a:ext cx="7863840" cy="640080"/>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2100" b="1" i="0">
                <a:solidFill>
                  <a:srgbClr val="564FB0"/>
                </a:solidFill>
                <a:latin typeface="Trebuchet MS"/>
                <a:ea typeface="Trebuchet MS"/>
              </a:rPr>
              <a:t>And you — you are the real boss of AI!</a:t>
            </a:r>
          </a:p>
        </p:txBody>
      </p:sp>
    </p:spTree>
  </p:cSld>
  <p:clrMapOvr>
    <a:masterClrMapping/>
  </p:clrMapOvr>
  <p:transition xmlns:p14="http://schemas.microsoft.com/office/powerpoint/2010/main" spd="med" p14:dur="500">
    <p:fade/>
  </p:transition>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title=""/>
          <p:cNvPicPr>
            <a:picLocks noChangeAspect="1"/>
          </p:cNvPicPr>
          <p:nvPr/>
        </p:nvPicPr>
        <p:blipFill>
          <a:blip r:embed="rId2"/>
          <a:srcRect t="27" b="27"/>
          <a:stretch>
            <a:fillRect/>
          </a:stretch>
        </p:blipFill>
        <p:spPr>
          <a:xfrm>
            <a:off x="0" y="0"/>
            <a:ext cx="9144000" cy="5143500"/>
          </a:xfrm>
          <a:prstGeom prst="rect">
            <a:avLst/>
          </a:prstGeom>
        </p:spPr>
      </p:pic>
      <p:sp>
        <p:nvSpPr>
          <p:cNvPr id="3" name="Rounded Rectangle 2"/>
          <p:cNvSpPr/>
          <p:nvPr/>
        </p:nvSpPr>
        <p:spPr>
          <a:xfrm>
            <a:off x="566928" y="384048"/>
            <a:ext cx="2574607" cy="384048"/>
          </a:xfrm>
          <a:prstGeom prst="roundRect">
            <a:avLst>
              <a:gd name="adj" fmla="val 5000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4" name="TextBox 3"/>
          <p:cNvSpPr txBox="1"/>
          <p:nvPr/>
        </p:nvSpPr>
        <p:spPr>
          <a:xfrm>
            <a:off x="566928" y="384048"/>
            <a:ext cx="2574607" cy="38404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80" b="1" i="0">
                <a:solidFill>
                  <a:srgbClr val="FFFFFF"/>
                </a:solidFill>
                <a:latin typeface="Trebuchet MS"/>
                <a:ea typeface="Trebuchet MS"/>
              </a:rPr>
              <a:t>Recap · Wrap-up</a:t>
            </a:r>
          </a:p>
        </p:txBody>
      </p:sp>
      <p:sp>
        <p:nvSpPr>
          <p:cNvPr id="5" name="TextBox 4"/>
          <p:cNvSpPr txBox="1"/>
          <p:nvPr/>
        </p:nvSpPr>
        <p:spPr>
          <a:xfrm>
            <a:off x="566928" y="841248"/>
            <a:ext cx="8010144" cy="658368"/>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2300" b="1" i="0">
                <a:solidFill>
                  <a:srgbClr val="063355"/>
                </a:solidFill>
                <a:latin typeface="Trebuchet MS"/>
                <a:ea typeface="Trebuchet MS"/>
              </a:rPr>
              <a:t>Remember These Three Things</a:t>
            </a:r>
          </a:p>
        </p:txBody>
      </p:sp>
      <p:sp>
        <p:nvSpPr>
          <p:cNvPr id="6" name="Rounded Rectangle 5"/>
          <p:cNvSpPr/>
          <p:nvPr/>
        </p:nvSpPr>
        <p:spPr>
          <a:xfrm>
            <a:off x="585216" y="1408176"/>
            <a:ext cx="1005840" cy="64008"/>
          </a:xfrm>
          <a:prstGeom prst="roundRect">
            <a:avLst>
              <a:gd name="adj" fmla="val 50000"/>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7" name="TextBox 6"/>
          <p:cNvSpPr txBox="1"/>
          <p:nvPr/>
        </p:nvSpPr>
        <p:spPr>
          <a:xfrm>
            <a:off x="566928" y="4759452"/>
            <a:ext cx="5486400" cy="274320"/>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900" b="0" i="0">
                <a:solidFill>
                  <a:srgbClr val="4A5C6A"/>
                </a:solidFill>
                <a:latin typeface="Trebuchet MS"/>
                <a:ea typeface="Trebuchet MS"/>
              </a:rPr>
              <a:t>What Is AI?  ·  A first AI lesson for kids</a:t>
            </a:r>
          </a:p>
        </p:txBody>
      </p:sp>
      <p:sp>
        <p:nvSpPr>
          <p:cNvPr id="8" name="TextBox 7"/>
          <p:cNvSpPr txBox="1"/>
          <p:nvPr/>
        </p:nvSpPr>
        <p:spPr>
          <a:xfrm>
            <a:off x="8183879" y="4759452"/>
            <a:ext cx="548640" cy="274320"/>
          </a:xfrm>
          <a:prstGeom prst="rect">
            <a:avLst/>
          </a:prstGeom>
          <a:noFill/>
          <a:ln/>
        </p:spPr>
        <p:txBody>
          <a:bodyPr wrap="square" anchor="ctr" lIns="36576" rIns="36576" tIns="27432" bIns="27432">
            <a:spAutoFit/>
          </a:bodyPr>
          <a:lstStyle/>
          <a:p>
            <a:pPr algn="r">
              <a:lnSpc>
                <a:spcPct val="100000"/>
              </a:lnSpc>
              <a:spcBef>
                <a:spcPts val="0"/>
              </a:spcBef>
              <a:spcAft>
                <a:spcPts val="0"/>
              </a:spcAft>
            </a:pPr>
            <a:r>
              <a:rPr sz="1000" b="1" i="0">
                <a:solidFill>
                  <a:srgbClr val="4A5C6A"/>
                </a:solidFill>
                <a:latin typeface="Trebuchet MS"/>
                <a:ea typeface="Trebuchet MS"/>
              </a:rPr>
              <a:t>16</a:t>
            </a:r>
          </a:p>
        </p:txBody>
      </p:sp>
      <p:sp>
        <p:nvSpPr>
          <p:cNvPr id="10" name="Rounded Rectangle 9"/>
          <p:cNvSpPr/>
          <p:nvPr/>
        </p:nvSpPr>
        <p:spPr>
          <a:xfrm>
            <a:off x="365760" y="1572768"/>
            <a:ext cx="8412480" cy="656844"/>
          </a:xfrm>
          <a:prstGeom prst="roundRect">
            <a:avLst>
              <a:gd name="adj" fmla="val 19489"/>
            </a:avLst>
          </a:prstGeom>
          <a:solidFill>
            <a:srgbClr val="FFFFFF"/>
          </a:solidFill>
          <a:ln w="20320">
            <a:solidFill>
              <a:srgbClr val="2E9BD6"/>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1" name="Oval 10"/>
          <p:cNvSpPr/>
          <p:nvPr/>
        </p:nvSpPr>
        <p:spPr>
          <a:xfrm>
            <a:off x="548640" y="1626870"/>
            <a:ext cx="548640" cy="548640"/>
          </a:xfrm>
          <a:prstGeom prst="ellipse">
            <a:avLst/>
          </a:prstGeom>
          <a:solidFill>
            <a:srgbClr val="2E9BD6"/>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2" name="TextBox 11"/>
          <p:cNvSpPr txBox="1"/>
          <p:nvPr/>
        </p:nvSpPr>
        <p:spPr>
          <a:xfrm>
            <a:off x="548640" y="1626870"/>
            <a:ext cx="548640" cy="548640"/>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2000" b="1" i="0">
                <a:solidFill>
                  <a:srgbClr val="FFFFFF"/>
                </a:solidFill>
                <a:latin typeface="Trebuchet MS"/>
                <a:ea typeface="Trebuchet MS"/>
              </a:rPr>
              <a:t>1</a:t>
            </a:r>
          </a:p>
        </p:txBody>
      </p:sp>
      <p:sp>
        <p:nvSpPr>
          <p:cNvPr id="13" name="TextBox 12"/>
          <p:cNvSpPr txBox="1"/>
          <p:nvPr/>
        </p:nvSpPr>
        <p:spPr>
          <a:xfrm>
            <a:off x="1280160" y="1572768"/>
            <a:ext cx="7315199" cy="656844"/>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1700" b="1" i="0">
                <a:solidFill>
                  <a:srgbClr val="063355"/>
                </a:solidFill>
                <a:latin typeface="Trebuchet MS"/>
                <a:ea typeface="Trebuchet MS"/>
              </a:rPr>
              <a:t>AI is all around us, helping us every day</a:t>
            </a:r>
          </a:p>
        </p:txBody>
      </p:sp>
      <p:sp>
        <p:nvSpPr>
          <p:cNvPr id="15" name="Rounded Rectangle 14"/>
          <p:cNvSpPr/>
          <p:nvPr/>
        </p:nvSpPr>
        <p:spPr>
          <a:xfrm>
            <a:off x="365760" y="2412492"/>
            <a:ext cx="8412480" cy="656844"/>
          </a:xfrm>
          <a:prstGeom prst="roundRect">
            <a:avLst>
              <a:gd name="adj" fmla="val 19489"/>
            </a:avLst>
          </a:prstGeom>
          <a:solidFill>
            <a:srgbClr val="FFFFFF"/>
          </a:solidFill>
          <a:ln w="20320">
            <a:solidFill>
              <a:srgbClr val="3FA882"/>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6" name="Oval 15"/>
          <p:cNvSpPr/>
          <p:nvPr/>
        </p:nvSpPr>
        <p:spPr>
          <a:xfrm>
            <a:off x="548640" y="2466594"/>
            <a:ext cx="548640" cy="548640"/>
          </a:xfrm>
          <a:prstGeom prst="ellipse">
            <a:avLst/>
          </a:prstGeom>
          <a:solidFill>
            <a:srgbClr val="3FA882"/>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17" name="TextBox 16"/>
          <p:cNvSpPr txBox="1"/>
          <p:nvPr/>
        </p:nvSpPr>
        <p:spPr>
          <a:xfrm>
            <a:off x="548640" y="2466594"/>
            <a:ext cx="548640" cy="548640"/>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2000" b="1" i="0">
                <a:solidFill>
                  <a:srgbClr val="FFFFFF"/>
                </a:solidFill>
                <a:latin typeface="Trebuchet MS"/>
                <a:ea typeface="Trebuchet MS"/>
              </a:rPr>
              <a:t>2</a:t>
            </a:r>
          </a:p>
        </p:txBody>
      </p:sp>
      <p:sp>
        <p:nvSpPr>
          <p:cNvPr id="18" name="TextBox 17"/>
          <p:cNvSpPr txBox="1"/>
          <p:nvPr/>
        </p:nvSpPr>
        <p:spPr>
          <a:xfrm>
            <a:off x="1280160" y="2412492"/>
            <a:ext cx="7315199" cy="656844"/>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1700" b="1" i="0">
                <a:solidFill>
                  <a:srgbClr val="063355"/>
                </a:solidFill>
                <a:latin typeface="Trebuchet MS"/>
                <a:ea typeface="Trebuchet MS"/>
              </a:rPr>
              <a:t>AI learns by looking at many examples</a:t>
            </a:r>
          </a:p>
        </p:txBody>
      </p:sp>
      <p:sp>
        <p:nvSpPr>
          <p:cNvPr id="20" name="Rounded Rectangle 19"/>
          <p:cNvSpPr/>
          <p:nvPr/>
        </p:nvSpPr>
        <p:spPr>
          <a:xfrm>
            <a:off x="365760" y="3252216"/>
            <a:ext cx="8412480" cy="656844"/>
          </a:xfrm>
          <a:prstGeom prst="roundRect">
            <a:avLst>
              <a:gd name="adj" fmla="val 19489"/>
            </a:avLst>
          </a:prstGeom>
          <a:solidFill>
            <a:srgbClr val="FFFFFF"/>
          </a:solidFill>
          <a:ln w="20320">
            <a:solidFill>
              <a:srgbClr val="E86B73"/>
            </a:solid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1" name="Oval 20"/>
          <p:cNvSpPr/>
          <p:nvPr/>
        </p:nvSpPr>
        <p:spPr>
          <a:xfrm>
            <a:off x="548640" y="3306318"/>
            <a:ext cx="548640" cy="548640"/>
          </a:xfrm>
          <a:prstGeom prst="ellipse">
            <a:avLst/>
          </a:prstGeom>
          <a:solidFill>
            <a:srgbClr val="E86B73"/>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lIns="36576" rIns="36576"/>
          <a:lstStyle/>
          <a:p>
            <a:pPr algn="ctr"/>
          </a:p>
        </p:txBody>
      </p:sp>
      <p:sp>
        <p:nvSpPr>
          <p:cNvPr id="22" name="TextBox 21"/>
          <p:cNvSpPr txBox="1"/>
          <p:nvPr/>
        </p:nvSpPr>
        <p:spPr>
          <a:xfrm>
            <a:off x="548640" y="3306318"/>
            <a:ext cx="548640" cy="548640"/>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2000" b="1" i="0">
                <a:solidFill>
                  <a:srgbClr val="FFFFFF"/>
                </a:solidFill>
                <a:latin typeface="Trebuchet MS"/>
                <a:ea typeface="Trebuchet MS"/>
              </a:rPr>
              <a:t>3</a:t>
            </a:r>
          </a:p>
        </p:txBody>
      </p:sp>
      <p:sp>
        <p:nvSpPr>
          <p:cNvPr id="23" name="TextBox 22"/>
          <p:cNvSpPr txBox="1"/>
          <p:nvPr/>
        </p:nvSpPr>
        <p:spPr>
          <a:xfrm>
            <a:off x="1280160" y="3252216"/>
            <a:ext cx="7315199" cy="656844"/>
          </a:xfrm>
          <a:prstGeom prst="rect">
            <a:avLst/>
          </a:prstGeom>
          <a:noFill/>
          <a:ln/>
        </p:spPr>
        <p:txBody>
          <a:bodyPr wrap="square" anchor="ctr" lIns="36576" rIns="36576" tIns="27432" bIns="27432">
            <a:spAutoFit/>
          </a:bodyPr>
          <a:lstStyle/>
          <a:p>
            <a:pPr algn="l">
              <a:lnSpc>
                <a:spcPct val="100000"/>
              </a:lnSpc>
              <a:spcBef>
                <a:spcPts val="0"/>
              </a:spcBef>
              <a:spcAft>
                <a:spcPts val="0"/>
              </a:spcAft>
            </a:pPr>
            <a:r>
              <a:rPr sz="1700" b="1" i="0">
                <a:solidFill>
                  <a:srgbClr val="063355"/>
                </a:solidFill>
                <a:latin typeface="Trebuchet MS"/>
                <a:ea typeface="Trebuchet MS"/>
              </a:rPr>
              <a:t>AI is clever, but we keep it in check</a:t>
            </a:r>
          </a:p>
        </p:txBody>
      </p:sp>
      <p:sp>
        <p:nvSpPr>
          <p:cNvPr id="24" name="TextBox 23"/>
          <p:cNvSpPr txBox="1"/>
          <p:nvPr/>
        </p:nvSpPr>
        <p:spPr>
          <a:xfrm>
            <a:off x="640080" y="4091939"/>
            <a:ext cx="7863840" cy="566928"/>
          </a:xfrm>
          <a:prstGeom prst="rect">
            <a:avLst/>
          </a:prstGeom>
          <a:noFill/>
          <a:ln/>
        </p:spPr>
        <p:txBody>
          <a:bodyPr wrap="square" anchor="ctr" lIns="36576" rIns="36576" tIns="27432" bIns="27432">
            <a:spAutoFit/>
          </a:bodyPr>
          <a:lstStyle/>
          <a:p>
            <a:pPr algn="ctr">
              <a:lnSpc>
                <a:spcPct val="100000"/>
              </a:lnSpc>
              <a:spcBef>
                <a:spcPts val="0"/>
              </a:spcBef>
              <a:spcAft>
                <a:spcPts val="0"/>
              </a:spcAft>
            </a:pPr>
            <a:r>
              <a:rPr sz="1050" b="1" i="0">
                <a:solidFill>
                  <a:srgbClr val="E86B73"/>
                </a:solidFill>
                <a:latin typeface="Trebuchet MS"/>
                <a:ea typeface="Trebuchet MS"/>
              </a:rPr>
              <a:t>Stay curious, keep asking, and be a good friend to AI!</a:t>
            </a:r>
          </a:p>
        </p:txBody>
      </p:sp>
    </p:spTree>
  </p:cSld>
  <p:clrMapOvr>
    <a:masterClrMapping/>
  </p:clrMapOvr>
  <p:transition xmlns:p14="http://schemas.microsoft.com/office/powerpoint/2010/main" spd="med" p14:dur="500">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