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Hi everyone! Today we're going to meet a new friend called AI. Don't worry about memorizing a definition yet — let's just play and figure it out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here are the five stops on today's trip: where AI hides, how it learns, what it can and can't do, how we work with it, and some safety tips. Let's set off with little AI!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since this morning, what have you used? A smart speaker, short videos, the camera, translation, games, maps — every one of these has AI inside. It's actually all around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is AI, really? It's a kind of computer program. Unlike a calculator that only does fixed sums, it can look at lots of examples, find patterns on its own, and learn a skill. Remember the three steps: see examples, find patterns, learn a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comparison: how did you learn what a 'cat' is when you were little? You saw lots and lots of cats and slowly remembered what a cat looks like. AI is the same — it looks at thousands of cat photos and learns to recognize cats on its own. Nobody told it cats have whiskers and tails!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'practices': it takes a guess, someone tells it whether it's right, it fixes things, and tries again. Just like learning to ride a bike — the more you practice, the steadier you get. The more AI practices, the better it gets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has lots of superpowers: an amazing memory, lightning-fast calculation, never getting tired even after 10,000 repeats, and spotting patterns in a huge pile of things. At these, it's way better than we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it has weak spots too: it makes mistakes, and it can say wrong things with total confidence — like 'dinosaurs live in Antarctica,' which sounds real but is made up. So we always have to think for ourselves about what it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work with it? One, ask your question clearly. Two, check the answers yourself. Three, when you're unsure, ask your teachers and parents. Four, you're the boss — you make the final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matters most: you can use it to look things up, practice a language, and spark ideas; but don't tell it your real name, home address, or passwords; if you see something upsetting, tell a grown-up right away; and never make big decisions alone in secret.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tie today together: AI lives all around us, learns from examples, is very capable but also makes mistakes, should be a good helper while you stay in charge, and you need to guard your own little secrets. You've got it all!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last thought to leave you with: however smart the tool is, you're the one who decides. Stay curious, and go discover more amazing things!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FE1C4">
                  <a:alpha val="100000"/>
                </a:srgbClr>
              </a:gs>
              <a:gs pos="100000">
                <a:srgbClr val="FFF3E4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 2"/>
          <p:cNvSpPr/>
          <p:nvPr/>
        </p:nvSpPr>
        <p:spPr>
          <a:xfrm>
            <a:off x="594359" y="411479"/>
            <a:ext cx="914400" cy="914400"/>
          </a:xfrm>
          <a:prstGeom prst="sun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5669280" y="502920"/>
            <a:ext cx="1554480" cy="868680"/>
          </a:xfrm>
          <a:prstGeom prst="cloud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680960" y="1371600"/>
            <a:ext cx="1371600" cy="777240"/>
          </a:xfrm>
          <a:prstGeom prst="cloud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2807208" y="338328"/>
            <a:ext cx="237744" cy="237744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4069079" y="685800"/>
            <a:ext cx="274320" cy="274320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art 7"/>
          <p:cNvSpPr/>
          <p:nvPr/>
        </p:nvSpPr>
        <p:spPr>
          <a:xfrm>
            <a:off x="8275319" y="502919"/>
            <a:ext cx="274320" cy="274320"/>
          </a:xfrm>
          <a:prstGeom prst="heart">
            <a:avLst/>
          </a:prstGeom>
          <a:solidFill>
            <a:srgbClr val="3FC79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21408" y="1481328"/>
            <a:ext cx="146304" cy="146304"/>
          </a:xfrm>
          <a:prstGeom prst="ellipse">
            <a:avLst/>
          </a:prstGeom>
          <a:solidFill>
            <a:srgbClr val="9B7ED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5029200" y="274320"/>
            <a:ext cx="182880" cy="182880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0" y="4526280"/>
            <a:ext cx="9144000" cy="617220"/>
          </a:xfrm>
          <a:prstGeom prst="roundRect">
            <a:avLst>
              <a:gd name="adj" fmla="val 14000"/>
            </a:avLst>
          </a:prstGeom>
          <a:solidFill>
            <a:srgbClr val="FD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743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3591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439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12871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5135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8983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831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66791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5272" y="4251959"/>
            <a:ext cx="128016" cy="128016"/>
          </a:xfrm>
          <a:prstGeom prst="ellipse">
            <a:avLst/>
          </a:prstGeom>
          <a:solidFill>
            <a:srgbClr val="9B7ED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9254" y="1720443"/>
            <a:ext cx="128930" cy="64465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10324" y="1484071"/>
            <a:ext cx="386791" cy="386791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4-Point Star 23"/>
          <p:cNvSpPr/>
          <p:nvPr/>
        </p:nvSpPr>
        <p:spPr>
          <a:xfrm>
            <a:off x="6796278" y="1570024"/>
            <a:ext cx="214884" cy="214884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78881" y="3009747"/>
            <a:ext cx="193395" cy="47274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35163" y="3009747"/>
            <a:ext cx="193395" cy="47274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9300" y="2322118"/>
            <a:ext cx="2148840" cy="1848002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7160" y="2716216"/>
            <a:ext cx="1633118" cy="1145761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99387" y="3052389"/>
            <a:ext cx="290093" cy="290093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80613" y="3151020"/>
            <a:ext cx="127641" cy="127641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6108" y="3119110"/>
            <a:ext cx="63820" cy="638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17959" y="3052389"/>
            <a:ext cx="290093" cy="290093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99185" y="3151020"/>
            <a:ext cx="127641" cy="127641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84680" y="3119110"/>
            <a:ext cx="63820" cy="638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68229" y="3354838"/>
            <a:ext cx="236372" cy="236372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02838" y="3354838"/>
            <a:ext cx="236372" cy="236372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c 36"/>
          <p:cNvSpPr/>
          <p:nvPr/>
        </p:nvSpPr>
        <p:spPr>
          <a:xfrm>
            <a:off x="6581394" y="3203057"/>
            <a:ext cx="644652" cy="644652"/>
          </a:xfrm>
          <a:prstGeom prst="arc">
            <a:avLst>
              <a:gd name="adj1" fmla="val 2500000"/>
              <a:gd name="adj2" fmla="val 15500000"/>
            </a:avLst>
          </a:prstGeom>
          <a:noFill/>
          <a:ln w="95504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51626" y="4127144"/>
            <a:ext cx="1504188" cy="902512"/>
          </a:xfrm>
          <a:prstGeom prst="roundRect">
            <a:avLst>
              <a:gd name="adj" fmla="val 45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 rot="20400000">
            <a:off x="5807811" y="4170121"/>
            <a:ext cx="429768" cy="193395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700000">
            <a:off x="7548372" y="3783329"/>
            <a:ext cx="429768" cy="193395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4-Point Star 40"/>
          <p:cNvSpPr/>
          <p:nvPr/>
        </p:nvSpPr>
        <p:spPr>
          <a:xfrm>
            <a:off x="5705855" y="2185416"/>
            <a:ext cx="201168" cy="201168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13232" y="1847088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1847088"/>
            <a:ext cx="265176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453B"/>
                </a:solidFill>
                <a:latin typeface="Arial Rounded MT Bold"/>
                <a:ea typeface="Hiragino Sans GB"/>
              </a:rPr>
              <a:t>A First Class for Kids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395728"/>
            <a:ext cx="5669280" cy="11811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2E2A4A"/>
                </a:solidFill>
                <a:latin typeface="Arial Rounded MT Bold"/>
                <a:ea typeface="Hiragino Sans GB"/>
              </a:rPr>
              <a:t>What Is AI?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3611880"/>
            <a:ext cx="5486400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504A6E"/>
                </a:solidFill>
                <a:latin typeface="Arial Rounded MT Bold"/>
                <a:ea typeface="Hiragino Sans GB"/>
              </a:rPr>
              <a:t>Meet the clever little helper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504A6E"/>
                </a:solidFill>
                <a:latin typeface="Arial Rounded MT Bold"/>
                <a:ea typeface="Hiragino Sans GB"/>
              </a:rPr>
              <a:t>that lives all around 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828032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6788"/>
                </a:solidFill>
                <a:latin typeface="Arial Rounded MT Bold"/>
                <a:ea typeface="Hiragino Sans GB"/>
              </a:rPr>
              <a:t>slide-maker · sample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1975103" cy="36576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1975103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C93C"/>
                </a:solidFill>
                <a:latin typeface="Arial Rounded MT Bold"/>
                <a:ea typeface="Hiragino Sans GB"/>
              </a:rPr>
              <a:t>Let's go!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Today's AI Adventure Map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27632"/>
            <a:ext cx="59436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E6788"/>
                </a:solidFill>
                <a:latin typeface="Arial Rounded MT Bold"/>
                <a:ea typeface="Hiragino Sans GB"/>
              </a:rPr>
              <a:t>Follow little AI, one stop at a time</a:t>
            </a:r>
          </a:p>
        </p:txBody>
      </p:sp>
      <p:sp>
        <p:nvSpPr>
          <p:cNvPr id="13" name="Oval 12"/>
          <p:cNvSpPr/>
          <p:nvPr/>
        </p:nvSpPr>
        <p:spPr>
          <a:xfrm>
            <a:off x="1805940" y="3396996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4423" y="3250691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22906" y="3104387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1389" y="2958084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39872" y="2811779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8356" y="2665475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60420" y="2665475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78047" y="2811779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95674" y="2958084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13301" y="3104387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30928" y="3250691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48556" y="3396996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60620" y="3396996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78247" y="3250691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95874" y="3104387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13501" y="2958084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31128" y="2811779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48756" y="2665475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60820" y="2665475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1015" y="2811779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41210" y="2958084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1405" y="3104387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21600" y="3250691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11796" y="3396996"/>
            <a:ext cx="100584" cy="100584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79576" y="3191256"/>
            <a:ext cx="841248" cy="84124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p-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410712"/>
            <a:ext cx="402336" cy="402336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709928" y="313639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3136392"/>
            <a:ext cx="3657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9BE9"/>
                </a:solidFill>
                <a:latin typeface="Arial Rounded MT Bold"/>
                <a:ea typeface="Hiragino Sans GB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23944"/>
            <a:ext cx="1920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All around us</a:t>
            </a:r>
          </a:p>
        </p:txBody>
      </p:sp>
      <p:sp>
        <p:nvSpPr>
          <p:cNvPr id="42" name="Oval 41"/>
          <p:cNvSpPr/>
          <p:nvPr/>
        </p:nvSpPr>
        <p:spPr>
          <a:xfrm>
            <a:off x="2734056" y="2459736"/>
            <a:ext cx="841248" cy="841248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2679191"/>
            <a:ext cx="402336" cy="402336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3264408" y="24048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2404872"/>
            <a:ext cx="3657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93C"/>
                </a:solidFill>
                <a:latin typeface="Arial Rounded MT Bold"/>
                <a:ea typeface="Hiragino Sans GB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2039112"/>
            <a:ext cx="1920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How it learns</a:t>
            </a:r>
          </a:p>
        </p:txBody>
      </p:sp>
      <p:sp>
        <p:nvSpPr>
          <p:cNvPr id="47" name="Oval 46"/>
          <p:cNvSpPr/>
          <p:nvPr/>
        </p:nvSpPr>
        <p:spPr>
          <a:xfrm>
            <a:off x="4334256" y="3191256"/>
            <a:ext cx="841248" cy="841248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410712"/>
            <a:ext cx="402336" cy="402336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4864608" y="313639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4608" y="3136392"/>
            <a:ext cx="3657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C79A"/>
                </a:solidFill>
                <a:latin typeface="Arial Rounded MT Bold"/>
                <a:ea typeface="Hiragino Sans GB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4123944"/>
            <a:ext cx="1920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What it can &amp; can't do</a:t>
            </a:r>
          </a:p>
        </p:txBody>
      </p:sp>
      <p:sp>
        <p:nvSpPr>
          <p:cNvPr id="52" name="Oval 51"/>
          <p:cNvSpPr/>
          <p:nvPr/>
        </p:nvSpPr>
        <p:spPr>
          <a:xfrm>
            <a:off x="5934456" y="2459736"/>
            <a:ext cx="841248" cy="841248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at-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2679191"/>
            <a:ext cx="402336" cy="402336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6464808" y="24048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2404872"/>
            <a:ext cx="3657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B7EDE"/>
                </a:solidFill>
                <a:latin typeface="Arial Rounded MT Bold"/>
                <a:ea typeface="Hiragino Sans GB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2039112"/>
            <a:ext cx="1920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Working with it</a:t>
            </a:r>
          </a:p>
        </p:txBody>
      </p:sp>
      <p:sp>
        <p:nvSpPr>
          <p:cNvPr id="57" name="Oval 56"/>
          <p:cNvSpPr/>
          <p:nvPr/>
        </p:nvSpPr>
        <p:spPr>
          <a:xfrm>
            <a:off x="7397496" y="3191256"/>
            <a:ext cx="841248" cy="8412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3410712"/>
            <a:ext cx="402336" cy="402336"/>
          </a:xfrm>
          <a:prstGeom prst="rect">
            <a:avLst/>
          </a:prstGeom>
        </p:spPr>
      </p:pic>
      <p:sp>
        <p:nvSpPr>
          <p:cNvPr id="59" name="Oval 58"/>
          <p:cNvSpPr/>
          <p:nvPr/>
        </p:nvSpPr>
        <p:spPr>
          <a:xfrm>
            <a:off x="7927848" y="313639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27848" y="3136392"/>
            <a:ext cx="3657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6B6B"/>
                </a:solidFill>
                <a:latin typeface="Arial Rounded MT Bold"/>
                <a:ea typeface="Hiragino Sans GB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123944"/>
            <a:ext cx="1920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Safety tips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9640" y="2568915"/>
            <a:ext cx="47183" cy="235915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2457" y="2482413"/>
            <a:ext cx="141549" cy="141549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4-Point Star 63"/>
          <p:cNvSpPr/>
          <p:nvPr/>
        </p:nvSpPr>
        <p:spPr>
          <a:xfrm>
            <a:off x="673912" y="2513868"/>
            <a:ext cx="78638" cy="7863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4993" y="3040745"/>
            <a:ext cx="70774" cy="17300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90696" y="3040745"/>
            <a:ext cx="70774" cy="17300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20040" y="2789102"/>
            <a:ext cx="786384" cy="67629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14406" y="2933325"/>
            <a:ext cx="597651" cy="419299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28667" y="3056350"/>
            <a:ext cx="106161" cy="106161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58392" y="3092445"/>
            <a:ext cx="46711" cy="46711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53084" y="3080767"/>
            <a:ext cx="23355" cy="233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1634" y="3056350"/>
            <a:ext cx="106161" cy="106161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21359" y="3092445"/>
            <a:ext cx="46711" cy="46711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16051" y="3080767"/>
            <a:ext cx="23355" cy="233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7265" y="3167034"/>
            <a:ext cx="86502" cy="86502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696" y="3167034"/>
            <a:ext cx="86502" cy="86502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rc 76"/>
          <p:cNvSpPr/>
          <p:nvPr/>
        </p:nvSpPr>
        <p:spPr>
          <a:xfrm>
            <a:off x="595274" y="3111488"/>
            <a:ext cx="235915" cy="235915"/>
          </a:xfrm>
          <a:prstGeom prst="arc">
            <a:avLst>
              <a:gd name="adj1" fmla="val 2500000"/>
              <a:gd name="adj2" fmla="val 15500000"/>
            </a:avLst>
          </a:prstGeom>
          <a:noFill/>
          <a:ln w="34950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3291839" cy="36576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3291839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D9BE9"/>
                </a:solidFill>
                <a:latin typeface="Arial Rounded MT Bold"/>
                <a:ea typeface="Hiragino Sans GB"/>
              </a:rPr>
              <a:t>① AI in Daily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AI hides in the things you use every day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3442" y="499719"/>
            <a:ext cx="46634" cy="23317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96808" y="414223"/>
            <a:ext cx="139903" cy="139903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8327898" y="445312"/>
            <a:ext cx="77724" cy="77724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23733" y="966063"/>
            <a:ext cx="69951" cy="17099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9835" y="966063"/>
            <a:ext cx="69951" cy="17099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78140" y="717346"/>
            <a:ext cx="777240" cy="668426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1408" y="859892"/>
            <a:ext cx="590702" cy="414424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4341" y="981487"/>
            <a:ext cx="104927" cy="104927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3721" y="1017162"/>
            <a:ext cx="46168" cy="46168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8475" y="1005620"/>
            <a:ext cx="23084" cy="230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44250" y="981487"/>
            <a:ext cx="104927" cy="104927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73630" y="1017162"/>
            <a:ext cx="46168" cy="46168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8384" y="1005620"/>
            <a:ext cx="23084" cy="230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73071" y="1090883"/>
            <a:ext cx="85496" cy="85496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74951" y="1090883"/>
            <a:ext cx="85496" cy="85496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8250174" y="1035984"/>
            <a:ext cx="233172" cy="233172"/>
          </a:xfrm>
          <a:prstGeom prst="arc">
            <a:avLst>
              <a:gd name="adj1" fmla="val 2500000"/>
              <a:gd name="adj2" fmla="val 15500000"/>
            </a:avLst>
          </a:prstGeom>
          <a:noFill/>
          <a:ln w="34544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090659"/>
            <a:ext cx="64008" cy="418612"/>
          </a:xfrm>
          <a:prstGeom prst="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9BE9"/>
                </a:solidFill>
                <a:latin typeface="Arial Rounded MT Bold"/>
                <a:ea typeface="Hiragino Sans GB"/>
              </a:rPr>
              <a:t>Notice?  </a:t>
            </a: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Behind every one of these lives an AI — it's closer to you than you think.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1883664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" y="1959102"/>
            <a:ext cx="731520" cy="731520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icro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2120036"/>
            <a:ext cx="409651" cy="4096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72768" y="2013966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Voice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2361438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You talk, it understands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38144" y="1883664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39312" y="1959102"/>
            <a:ext cx="731520" cy="73152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lay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246" y="2120036"/>
            <a:ext cx="409651" cy="4096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43983" y="2013966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Video picks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3" y="2361438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Guesses what you'll love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1883664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10527" y="1959102"/>
            <a:ext cx="731520" cy="731520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2120036"/>
            <a:ext cx="409651" cy="40965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15200" y="2013966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Photo &amp; 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361438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Spots faces on its 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2985515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096" y="3060953"/>
            <a:ext cx="731520" cy="73152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tran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3221888"/>
            <a:ext cx="409651" cy="40965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72768" y="3115818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Translation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2768" y="3463289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Any language, any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38144" y="2985515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39312" y="3060953"/>
            <a:ext cx="731520" cy="731520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game-control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246" y="3221888"/>
            <a:ext cx="409651" cy="4096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443983" y="3115818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Game buddy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3983" y="3463289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Plays along with you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59" y="2985515"/>
            <a:ext cx="2615184" cy="88239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510527" y="3060953"/>
            <a:ext cx="731520" cy="73152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map-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3221888"/>
            <a:ext cx="409651" cy="4096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15200" y="3115818"/>
            <a:ext cx="1536192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Maps &amp; routes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3463289"/>
            <a:ext cx="153619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Finds you the quickest 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3877056" cy="36576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3877056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D9BE9"/>
                </a:solidFill>
                <a:latin typeface="Arial Rounded MT Bold"/>
                <a:ea typeface="Hiragino Sans GB"/>
              </a:rPr>
              <a:t>So what is it, really?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AI is a helper that learns from examples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938528"/>
            <a:ext cx="2432304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08176" y="2039112"/>
            <a:ext cx="822960" cy="822960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27" y="2220163"/>
            <a:ext cx="460857" cy="4608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" y="2871216"/>
            <a:ext cx="2249424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Sees lots of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82112"/>
            <a:ext cx="22128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Thousands of pictures and words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91256" y="2596896"/>
            <a:ext cx="256032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2736" y="1938528"/>
            <a:ext cx="2432304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07408" y="2039112"/>
            <a:ext cx="822960" cy="82296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ic-w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459" y="2220163"/>
            <a:ext cx="460857" cy="4608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94176" y="2871216"/>
            <a:ext cx="2249424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Finds patterns itself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182112"/>
            <a:ext cx="22128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Nobody teaches it rule by rule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90488" y="2596896"/>
            <a:ext cx="256032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1968" y="1938528"/>
            <a:ext cx="2432304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06640" y="2039112"/>
            <a:ext cx="822960" cy="822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691" y="2220163"/>
            <a:ext cx="460857" cy="4608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93408" y="2871216"/>
            <a:ext cx="2249424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Learns a new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3182112"/>
            <a:ext cx="22128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Like spotting a cat in a photo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090659"/>
            <a:ext cx="64008" cy="418612"/>
          </a:xfrm>
          <a:prstGeom prst="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9BE9"/>
                </a:solidFill>
                <a:latin typeface="Arial Rounded MT Bold"/>
                <a:ea typeface="Hiragino Sans GB"/>
              </a:rPr>
              <a:t>So...  </a:t>
            </a: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AI is more like a curious, well-read kid than a calculator that just memorizes formulas.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3730752" cy="36576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3730752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C93C"/>
                </a:solidFill>
                <a:latin typeface="Arial Rounded MT Bold"/>
                <a:ea typeface="Hiragino Sans GB"/>
              </a:rPr>
              <a:t>② Here's a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It learns from examples, like you with cats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FF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90659"/>
            <a:ext cx="64008" cy="418612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93C"/>
                </a:solidFill>
                <a:latin typeface="Arial Rounded MT Bold"/>
                <a:ea typeface="Hiragino Sans GB"/>
              </a:rPr>
              <a:t>The key  </a:t>
            </a: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Nobody told it cats have whiskers and tails — it figured that out from lots of examples.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874519"/>
            <a:ext cx="4023359" cy="1947672"/>
          </a:xfrm>
          <a:prstGeom prst="roundRect">
            <a:avLst>
              <a:gd name="adj" fmla="val 16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039112"/>
            <a:ext cx="3657599" cy="384048"/>
          </a:xfrm>
          <a:prstGeom prst="roundRect">
            <a:avLst>
              <a:gd name="adj" fmla="val 50000"/>
            </a:avLst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39112"/>
            <a:ext cx="365759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 Rounded MT Bold"/>
                <a:ea typeface="Hiragino Sans GB"/>
              </a:rPr>
              <a:t>How did YOU learn “cat”?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248716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7751"/>
            <a:ext cx="256032" cy="2560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1435607" y="2487168"/>
            <a:ext cx="457200" cy="4572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1" y="2587751"/>
            <a:ext cx="256032" cy="2560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2167128" y="2487168"/>
            <a:ext cx="457200" cy="45720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587751"/>
            <a:ext cx="256032" cy="256032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069848" y="3035808"/>
            <a:ext cx="457200" cy="457200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1" y="3136391"/>
            <a:ext cx="256032" cy="256032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1801368" y="3035808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3136391"/>
            <a:ext cx="256032" cy="256032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532888" y="303580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3136391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3364991"/>
            <a:ext cx="3657599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2A4A"/>
                </a:solidFill>
                <a:latin typeface="Arial Rounded MT Bold"/>
                <a:ea typeface="Hiragino Sans GB"/>
              </a:rPr>
              <a:t>Saw lots of cats → learned what cats look like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874519"/>
            <a:ext cx="4023359" cy="1947672"/>
          </a:xfrm>
          <a:prstGeom prst="roundRect">
            <a:avLst>
              <a:gd name="adj" fmla="val 16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37760" y="2039112"/>
            <a:ext cx="3657599" cy="384048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2039112"/>
            <a:ext cx="365759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 Rounded MT Bold"/>
                <a:ea typeface="Hiragino Sans GB"/>
              </a:rPr>
              <a:t>How does AI learn “cat”?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2587752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660904"/>
            <a:ext cx="237744" cy="23774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33872" y="2587752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660904"/>
            <a:ext cx="237744" cy="23774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345936" y="2587752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660904"/>
            <a:ext cx="237744" cy="23774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858000" y="2587752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660904"/>
            <a:ext cx="237744" cy="23774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321808" y="3081528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54680"/>
            <a:ext cx="237744" cy="23774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833872" y="3081528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3154680"/>
            <a:ext cx="237744" cy="23774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345936" y="3081528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154680"/>
            <a:ext cx="237744" cy="23774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6858000" y="3081528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at_3D9B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3154680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37760" y="3364991"/>
            <a:ext cx="3657599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2A4A"/>
                </a:solidFill>
                <a:latin typeface="Arial Rounded MT Bold"/>
                <a:ea typeface="Hiragino Sans GB"/>
              </a:rPr>
              <a:t>Saw thousands of photos → learned to spot a cat</a:t>
            </a:r>
          </a:p>
        </p:txBody>
      </p:sp>
      <p:sp>
        <p:nvSpPr>
          <p:cNvPr id="51" name="Oval 50"/>
          <p:cNvSpPr/>
          <p:nvPr/>
        </p:nvSpPr>
        <p:spPr>
          <a:xfrm>
            <a:off x="4288536" y="2564891"/>
            <a:ext cx="566928" cy="566928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2564891"/>
            <a:ext cx="56692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2A4A"/>
                </a:solidFill>
                <a:latin typeface="Arial Rounded MT Bold"/>
                <a:ea typeface="Hiragino Sans GB"/>
              </a:rPr>
              <a:t>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2852927" cy="36576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2852927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C93C"/>
                </a:solidFill>
                <a:latin typeface="Arial Rounded MT Bold"/>
                <a:ea typeface="Hiragino Sans GB"/>
              </a:rPr>
              <a:t>② A little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The more it practices, the better it gets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409477" y="2069828"/>
            <a:ext cx="555734" cy="555734"/>
          </a:xfrm>
          <a:prstGeom prst="line">
            <a:avLst/>
          </a:prstGeom>
          <a:ln w="27940">
            <a:solidFill>
              <a:srgbClr val="8C8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09477" y="3683797"/>
            <a:ext cx="555734" cy="555734"/>
          </a:xfrm>
          <a:prstGeom prst="line">
            <a:avLst/>
          </a:prstGeom>
          <a:ln w="27940">
            <a:solidFill>
              <a:srgbClr val="8C8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795508" y="3683797"/>
            <a:ext cx="555734" cy="555734"/>
          </a:xfrm>
          <a:prstGeom prst="line">
            <a:avLst/>
          </a:prstGeom>
          <a:ln w="27940">
            <a:solidFill>
              <a:srgbClr val="8C8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95508" y="2069828"/>
            <a:ext cx="555734" cy="555734"/>
          </a:xfrm>
          <a:prstGeom prst="line">
            <a:avLst/>
          </a:prstGeom>
          <a:ln w="27940">
            <a:solidFill>
              <a:srgbClr val="8C8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55122" y="2557393"/>
            <a:ext cx="50474" cy="25237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04647" y="2464856"/>
            <a:ext cx="151424" cy="15142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4-Point Star 17"/>
          <p:cNvSpPr/>
          <p:nvPr/>
        </p:nvSpPr>
        <p:spPr>
          <a:xfrm>
            <a:off x="2838297" y="2498506"/>
            <a:ext cx="84124" cy="84124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00848" y="3062142"/>
            <a:ext cx="75712" cy="18507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84159" y="3062142"/>
            <a:ext cx="75712" cy="18507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9736" y="2792943"/>
            <a:ext cx="841248" cy="723473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685" y="2947228"/>
            <a:ext cx="639348" cy="448553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82919" y="3078836"/>
            <a:ext cx="113568" cy="113568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14718" y="3117449"/>
            <a:ext cx="49970" cy="49970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09039" y="3104957"/>
            <a:ext cx="24985" cy="249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64232" y="3078836"/>
            <a:ext cx="113568" cy="113568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96031" y="3117449"/>
            <a:ext cx="49970" cy="49970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90353" y="3104957"/>
            <a:ext cx="24985" cy="249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70720" y="3197242"/>
            <a:ext cx="92537" cy="92537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97461" y="3197242"/>
            <a:ext cx="92537" cy="92537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c 30"/>
          <p:cNvSpPr/>
          <p:nvPr/>
        </p:nvSpPr>
        <p:spPr>
          <a:xfrm>
            <a:off x="2754172" y="3137821"/>
            <a:ext cx="252374" cy="252374"/>
          </a:xfrm>
          <a:prstGeom prst="arc">
            <a:avLst>
              <a:gd name="adj1" fmla="val 2500000"/>
              <a:gd name="adj2" fmla="val 15500000"/>
            </a:avLst>
          </a:prstGeom>
          <a:noFill/>
          <a:ln w="37388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32304" y="1536192"/>
            <a:ext cx="896112" cy="896112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448" y="1733336"/>
            <a:ext cx="501822" cy="50182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11680" y="2459736"/>
            <a:ext cx="173736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2A4A"/>
                </a:solidFill>
                <a:latin typeface="Arial Rounded MT Bold"/>
                <a:ea typeface="Hiragino Sans GB"/>
              </a:rPr>
              <a:t>Take a guess</a:t>
            </a:r>
          </a:p>
        </p:txBody>
      </p:sp>
      <p:sp>
        <p:nvSpPr>
          <p:cNvPr id="35" name="Oval 34"/>
          <p:cNvSpPr/>
          <p:nvPr/>
        </p:nvSpPr>
        <p:spPr>
          <a:xfrm>
            <a:off x="3803904" y="2706624"/>
            <a:ext cx="896112" cy="896112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048" y="2903768"/>
            <a:ext cx="501822" cy="50182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83280" y="3630168"/>
            <a:ext cx="173736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2A4A"/>
                </a:solidFill>
                <a:latin typeface="Arial Rounded MT Bold"/>
                <a:ea typeface="Hiragino Sans GB"/>
              </a:rPr>
              <a:t>See if it's right</a:t>
            </a:r>
          </a:p>
        </p:txBody>
      </p:sp>
      <p:sp>
        <p:nvSpPr>
          <p:cNvPr id="38" name="Oval 37"/>
          <p:cNvSpPr/>
          <p:nvPr/>
        </p:nvSpPr>
        <p:spPr>
          <a:xfrm>
            <a:off x="2432304" y="3877056"/>
            <a:ext cx="896112" cy="896112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448" y="4074200"/>
            <a:ext cx="501822" cy="50182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11680" y="4800600"/>
            <a:ext cx="173736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2A4A"/>
                </a:solidFill>
                <a:latin typeface="Arial Rounded MT Bold"/>
                <a:ea typeface="Hiragino Sans GB"/>
              </a:rPr>
              <a:t>Make it better</a:t>
            </a:r>
          </a:p>
        </p:txBody>
      </p:sp>
      <p:sp>
        <p:nvSpPr>
          <p:cNvPr id="41" name="Oval 40"/>
          <p:cNvSpPr/>
          <p:nvPr/>
        </p:nvSpPr>
        <p:spPr>
          <a:xfrm>
            <a:off x="1060704" y="2706624"/>
            <a:ext cx="896112" cy="896112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rrows-clockw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848" y="2903768"/>
            <a:ext cx="501822" cy="50182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0080" y="3630168"/>
            <a:ext cx="173736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2A4A"/>
                </a:solidFill>
                <a:latin typeface="Arial Rounded MT Bold"/>
                <a:ea typeface="Hiragino Sans GB"/>
              </a:rPr>
              <a:t>Try again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1965960"/>
            <a:ext cx="3566160" cy="2103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57800" y="2185416"/>
            <a:ext cx="768096" cy="7680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781" y="2354397"/>
            <a:ext cx="430133" cy="43013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35624" y="2276856"/>
            <a:ext cx="2377439" cy="2952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Just like riding a bike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5624" y="2642615"/>
            <a:ext cx="237743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Wobbly and falling at first,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then steady with practice.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85816" y="3337560"/>
            <a:ext cx="31089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E2A4A"/>
                </a:solidFill>
                <a:latin typeface="Arial Rounded MT Bold"/>
                <a:ea typeface="Hiragino Sans GB"/>
              </a:rPr>
              <a:t>AI does the same: guess, check,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E2A4A"/>
                </a:solidFill>
                <a:latin typeface="Arial Rounded MT Bold"/>
                <a:ea typeface="Hiragino Sans GB"/>
              </a:rPr>
              <a:t>fix, try again. Practice pays 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3584448" cy="365760"/>
          </a:xfrm>
          <a:prstGeom prst="roundRect">
            <a:avLst>
              <a:gd name="adj" fmla="val 50000"/>
            </a:avLst>
          </a:prstGeom>
          <a:solidFill>
            <a:srgbClr val="E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3584448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C79A"/>
                </a:solidFill>
                <a:latin typeface="Arial Rounded MT Bold"/>
                <a:ea typeface="Hiragino Sans GB"/>
              </a:rPr>
              <a:t>③ What it's great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Great memory, super fast, never tired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3442" y="499719"/>
            <a:ext cx="46634" cy="23317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96808" y="414223"/>
            <a:ext cx="139903" cy="139903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8327898" y="445312"/>
            <a:ext cx="77724" cy="77724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23733" y="966063"/>
            <a:ext cx="69951" cy="17099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9835" y="966063"/>
            <a:ext cx="69951" cy="170992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78140" y="717346"/>
            <a:ext cx="777240" cy="668426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1408" y="859892"/>
            <a:ext cx="590702" cy="414424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4341" y="981487"/>
            <a:ext cx="104927" cy="104927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5327" y="1008768"/>
            <a:ext cx="62956" cy="62956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8475" y="1005620"/>
            <a:ext cx="23084" cy="230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44250" y="981487"/>
            <a:ext cx="104927" cy="104927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65236" y="1008768"/>
            <a:ext cx="62956" cy="62956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8384" y="1005620"/>
            <a:ext cx="23084" cy="230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73071" y="1090883"/>
            <a:ext cx="85496" cy="85496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74951" y="1090883"/>
            <a:ext cx="85496" cy="85496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12353" y="1121480"/>
            <a:ext cx="108813" cy="108813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39556" y="1148683"/>
            <a:ext cx="54406" cy="54406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1874519"/>
            <a:ext cx="3950208" cy="11887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2020824"/>
            <a:ext cx="100584" cy="896112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2057399"/>
            <a:ext cx="822960" cy="822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" y="2238451"/>
            <a:ext cx="460857" cy="46085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73936" y="2130552"/>
            <a:ext cx="2624328" cy="304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2A4A"/>
                </a:solidFill>
                <a:latin typeface="Arial Rounded MT Bold"/>
                <a:ea typeface="Hiragino Sans GB"/>
              </a:rPr>
              <a:t>Amazing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936" y="2514600"/>
            <a:ext cx="257860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Remembers everything it sees, even tons of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73168" y="1874519"/>
            <a:ext cx="3950208" cy="11887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01184" y="2020824"/>
            <a:ext cx="100584" cy="896112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74920" y="2057399"/>
            <a:ext cx="822960" cy="822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ight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971" y="2238451"/>
            <a:ext cx="460857" cy="4608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80176" y="2130552"/>
            <a:ext cx="2624328" cy="304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2A4A"/>
                </a:solidFill>
                <a:latin typeface="Arial Rounded MT Bold"/>
                <a:ea typeface="Hiragino Sans GB"/>
              </a:rPr>
              <a:t>Lightning 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0176" y="2514600"/>
            <a:ext cx="257860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Crunches through loads in the blink of an eye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300984"/>
            <a:ext cx="3950208" cy="11887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3447288"/>
            <a:ext cx="100584" cy="896112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8680" y="3483863"/>
            <a:ext cx="822960" cy="822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nfin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" y="3664915"/>
            <a:ext cx="460857" cy="46085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73936" y="3557015"/>
            <a:ext cx="2624328" cy="304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2A4A"/>
                </a:solidFill>
                <a:latin typeface="Arial Rounded MT Bold"/>
                <a:ea typeface="Hiragino Sans GB"/>
              </a:rPr>
              <a:t>Never gets tired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3936" y="3941063"/>
            <a:ext cx="257860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Can repeat the same task 10,000 times, no complaints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73168" y="3300984"/>
            <a:ext cx="3950208" cy="11887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01184" y="3447288"/>
            <a:ext cx="100584" cy="896112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74920" y="3483863"/>
            <a:ext cx="822960" cy="822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gnifying-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971" y="3664915"/>
            <a:ext cx="460857" cy="46085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980176" y="3557015"/>
            <a:ext cx="2624328" cy="304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2A4A"/>
                </a:solidFill>
                <a:latin typeface="Arial Rounded MT Bold"/>
                <a:ea typeface="Hiragino Sans GB"/>
              </a:rPr>
              <a:t>Pattern pro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0176" y="3941063"/>
            <a:ext cx="257860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B6685"/>
                </a:solidFill>
                <a:latin typeface="Arial Rounded MT Bold"/>
                <a:ea typeface="Hiragino Sans GB"/>
              </a:rPr>
              <a:t>Picks out the look-alikes in a huge pile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4462272" cy="36576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4462272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Arial Rounded MT Bold"/>
                <a:ea typeface="Hiragino Sans GB"/>
              </a:rPr>
              <a:t>③ What it's not so good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It makes mistakes — and sounds very sure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F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90659"/>
            <a:ext cx="64008" cy="4186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B6B"/>
                </a:solidFill>
                <a:latin typeface="Arial Rounded MT Bold"/>
                <a:ea typeface="Hiragino Sans GB"/>
              </a:rPr>
              <a:t>Remember  </a:t>
            </a: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Think for yourself about what it says — when you're not sure, ask a grown-up.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27" y="1897837"/>
            <a:ext cx="52120" cy="260603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506" y="1802282"/>
            <a:ext cx="156362" cy="156362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4-Point Star 16"/>
          <p:cNvSpPr/>
          <p:nvPr/>
        </p:nvSpPr>
        <p:spPr>
          <a:xfrm>
            <a:off x="889254" y="1837029"/>
            <a:ext cx="86868" cy="8686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540" y="2419045"/>
            <a:ext cx="78181" cy="191109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49654" y="2419045"/>
            <a:ext cx="78181" cy="191109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" y="2141067"/>
            <a:ext cx="868680" cy="747064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589" y="2300383"/>
            <a:ext cx="660196" cy="46318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8808" y="2436283"/>
            <a:ext cx="117271" cy="117271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44" y="2476155"/>
            <a:ext cx="51599" cy="51599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5781" y="2463255"/>
            <a:ext cx="25799" cy="257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295" y="2436283"/>
            <a:ext cx="117271" cy="117271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2131" y="2476155"/>
            <a:ext cx="51599" cy="51599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6267" y="2463255"/>
            <a:ext cx="25799" cy="257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6212" y="2558549"/>
            <a:ext cx="95554" cy="95554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3608" y="2558549"/>
            <a:ext cx="95554" cy="95554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802386" y="2497191"/>
            <a:ext cx="260603" cy="260603"/>
          </a:xfrm>
          <a:prstGeom prst="arc">
            <a:avLst>
              <a:gd name="adj1" fmla="val 2500000"/>
              <a:gd name="adj2" fmla="val 15500000"/>
            </a:avLst>
          </a:prstGeom>
          <a:noFill/>
          <a:ln w="38608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08760" y="2020824"/>
            <a:ext cx="2932770" cy="8686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7940" cap="rnd">
            <a:solidFill>
              <a:srgbClr val="FF6B6B"/>
            </a:solidFill>
            <a:round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99031" y="2559405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90472" y="265084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09928" y="2112264"/>
            <a:ext cx="2530434" cy="6858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“Dinosaurs still live in Antarctica!”</a:t>
            </a:r>
          </a:p>
        </p:txBody>
      </p:sp>
      <p:sp>
        <p:nvSpPr>
          <p:cNvPr id="35" name="Oval 34"/>
          <p:cNvSpPr/>
          <p:nvPr/>
        </p:nvSpPr>
        <p:spPr>
          <a:xfrm>
            <a:off x="1545336" y="2615184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826" y="2699674"/>
            <a:ext cx="215066" cy="2150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3337560"/>
            <a:ext cx="393861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E2A4A"/>
                </a:solidFill>
                <a:latin typeface="Arial Rounded MT Bold"/>
                <a:ea typeface="Hiragino Sans GB"/>
              </a:rPr>
              <a:t>It sounds so sure, but it's made up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E2A4A"/>
                </a:solidFill>
                <a:latin typeface="Arial Rounded MT Bold"/>
                <a:ea typeface="Hiragino Sans GB"/>
              </a:rPr>
              <a:t>grown-ups call this “confidently wrong.”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53010" y="1874519"/>
            <a:ext cx="3925229" cy="56692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5034" y="1892807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12" y="2009485"/>
            <a:ext cx="296997" cy="29699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694258" y="1865376"/>
            <a:ext cx="2992541" cy="2571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Doesn't “really get it”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94258" y="2185415"/>
            <a:ext cx="299254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Matches patterns, doesn't get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53010" y="2587751"/>
            <a:ext cx="3925229" cy="56692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45034" y="2606039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12" y="2722717"/>
            <a:ext cx="296997" cy="29699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694258" y="2578608"/>
            <a:ext cx="2992541" cy="2571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Jumps to conclusions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4258" y="2898647"/>
            <a:ext cx="299254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New things trip it up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53010" y="3300983"/>
            <a:ext cx="3925229" cy="56692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45034" y="3319271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12" y="3435949"/>
            <a:ext cx="296997" cy="29699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94258" y="3291839"/>
            <a:ext cx="2992541" cy="25717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2A4A"/>
                </a:solidFill>
                <a:latin typeface="Arial Rounded MT Bold"/>
                <a:ea typeface="Hiragino Sans GB"/>
              </a:rPr>
              <a:t>No common sense or feelings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4258" y="3611879"/>
            <a:ext cx="299254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B6685"/>
                </a:solidFill>
                <a:latin typeface="Arial Rounded MT Bold"/>
                <a:ea typeface="Hiragino Sans GB"/>
              </a:rPr>
              <a:t>Can't tell why you're sad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4608576" cy="365760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4608576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B7EDE"/>
                </a:solidFill>
                <a:latin typeface="Arial Rounded MT Bold"/>
                <a:ea typeface="Hiragino Sans GB"/>
              </a:rPr>
              <a:t>④ Tips for working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Be clear, double-check, you decide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96351" y="512978"/>
            <a:ext cx="49377" cy="246888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46973" y="422452"/>
            <a:ext cx="148132" cy="148132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8279892" y="455371"/>
            <a:ext cx="82296" cy="82296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51952" y="1006754"/>
            <a:ext cx="74066" cy="181051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6060" y="1006754"/>
            <a:ext cx="74066" cy="181051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9560" y="743407"/>
            <a:ext cx="822960" cy="707745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8315" y="894338"/>
            <a:ext cx="625449" cy="438802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27891" y="1023085"/>
            <a:ext cx="111099" cy="111099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58999" y="1060859"/>
            <a:ext cx="48883" cy="48883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53444" y="1048638"/>
            <a:ext cx="24441" cy="2444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3089" y="1023085"/>
            <a:ext cx="111099" cy="111099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4197" y="1060859"/>
            <a:ext cx="48883" cy="48883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28642" y="1048638"/>
            <a:ext cx="24441" cy="2444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15958" y="1138916"/>
            <a:ext cx="90525" cy="90525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35596" y="1138916"/>
            <a:ext cx="90525" cy="90525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8197596" y="1080787"/>
            <a:ext cx="246888" cy="246888"/>
          </a:xfrm>
          <a:prstGeom prst="arc">
            <a:avLst>
              <a:gd name="adj1" fmla="val 2500000"/>
              <a:gd name="adj2" fmla="val 15500000"/>
            </a:avLst>
          </a:prstGeom>
          <a:noFill/>
          <a:ln w="36576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3504" y="1883664"/>
            <a:ext cx="7360920" cy="6035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8952" y="1956816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1883664"/>
            <a:ext cx="45720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 Rounded MT Bold"/>
                <a:ea typeface="Hiragino Sans GB"/>
              </a:rPr>
              <a:t>1</a:t>
            </a:r>
          </a:p>
        </p:txBody>
      </p:sp>
      <p:sp>
        <p:nvSpPr>
          <p:cNvPr id="31" name="Oval 30"/>
          <p:cNvSpPr/>
          <p:nvPr/>
        </p:nvSpPr>
        <p:spPr>
          <a:xfrm>
            <a:off x="1380744" y="1956816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t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057400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20824" y="1883664"/>
            <a:ext cx="246888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Ask clearly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9624" y="2029968"/>
            <a:ext cx="20116" cy="310896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5" y="1883664"/>
            <a:ext cx="374904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478"/>
                </a:solidFill>
                <a:latin typeface="Arial Rounded MT Bold"/>
                <a:ea typeface="Hiragino Sans GB"/>
              </a:rPr>
              <a:t>The clearer you are, the better it helps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2651760"/>
            <a:ext cx="7360920" cy="6035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8952" y="2724912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2651760"/>
            <a:ext cx="45720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 Rounded MT Bold"/>
                <a:ea typeface="Hiragino Sans GB"/>
              </a:rP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1380744" y="2724912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agnifying-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82549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020824" y="2651760"/>
            <a:ext cx="246888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Check the answers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9624" y="2798064"/>
            <a:ext cx="20116" cy="310896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59935" y="2651760"/>
            <a:ext cx="374904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478"/>
                </a:solidFill>
                <a:latin typeface="Arial Rounded MT Bold"/>
                <a:ea typeface="Hiragino Sans GB"/>
              </a:rPr>
              <a:t>Use your head — don't just take it all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3419856"/>
            <a:ext cx="7360920" cy="6035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8952" y="3493008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3419856"/>
            <a:ext cx="45720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 Rounded MT Bold"/>
                <a:ea typeface="Hiragino Sans GB"/>
              </a:rPr>
              <a:t>3</a:t>
            </a:r>
          </a:p>
        </p:txBody>
      </p:sp>
      <p:sp>
        <p:nvSpPr>
          <p:cNvPr id="47" name="Oval 46"/>
          <p:cNvSpPr/>
          <p:nvPr/>
        </p:nvSpPr>
        <p:spPr>
          <a:xfrm>
            <a:off x="1380744" y="3493008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users-th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593592"/>
            <a:ext cx="256032" cy="2560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020824" y="3419856"/>
            <a:ext cx="246888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Ask a grown-up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9624" y="3566160"/>
            <a:ext cx="20116" cy="310896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59935" y="3419856"/>
            <a:ext cx="374904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478"/>
                </a:solidFill>
                <a:latin typeface="Arial Rounded MT Bold"/>
                <a:ea typeface="Hiragino Sans GB"/>
              </a:rPr>
              <a:t>When unsure, ask teachers and parents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187952"/>
            <a:ext cx="7360920" cy="6035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8952" y="4261104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" y="4187952"/>
            <a:ext cx="45720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 Rounded MT Bold"/>
                <a:ea typeface="Hiragino Sans GB"/>
              </a:rPr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1380744" y="4261104"/>
            <a:ext cx="457200" cy="457200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4361688"/>
            <a:ext cx="256032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020824" y="4187952"/>
            <a:ext cx="246888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E2A4A"/>
                </a:solidFill>
                <a:latin typeface="Arial Rounded MT Bold"/>
                <a:ea typeface="Hiragino Sans GB"/>
              </a:rPr>
              <a:t>You're the boss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9624" y="4334256"/>
            <a:ext cx="20116" cy="310896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59935" y="4187952"/>
            <a:ext cx="374904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478"/>
                </a:solidFill>
                <a:latin typeface="Arial Rounded MT Bold"/>
                <a:ea typeface="Hiragino Sans GB"/>
              </a:rPr>
              <a:t>You make the final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2706624" cy="36576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2706624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Arial Rounded MT Bold"/>
                <a:ea typeface="Hiragino Sans GB"/>
              </a:rPr>
              <a:t>⑤ Safety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Keep secrets safe, and ask when unsure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883664"/>
            <a:ext cx="4023359" cy="2743200"/>
          </a:xfrm>
          <a:prstGeom prst="roundRect">
            <a:avLst>
              <a:gd name="adj" fmla="val 16000"/>
            </a:avLst>
          </a:prstGeom>
          <a:solidFill>
            <a:srgbClr val="E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66544"/>
            <a:ext cx="3657599" cy="45720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f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4884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2066544"/>
            <a:ext cx="3200399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Rounded MT Bold"/>
                <a:ea typeface="Hiragino Sans GB"/>
              </a:rPr>
              <a:t>Safe to do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2779775"/>
            <a:ext cx="402336" cy="402336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-f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" y="2868289"/>
            <a:ext cx="225308" cy="2253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2724912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Use it to look things up, practice a language, spark ideas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3401568"/>
            <a:ext cx="402336" cy="402336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f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" y="3490081"/>
            <a:ext cx="225308" cy="2253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5568" y="3346704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See something upsetting? Tell a grown-up right away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023360"/>
            <a:ext cx="402336" cy="402336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-f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" y="4111873"/>
            <a:ext cx="225308" cy="2253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" y="3968496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Be polite — talk to it nicely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1883664"/>
            <a:ext cx="4023359" cy="2743200"/>
          </a:xfrm>
          <a:prstGeom prst="roundRect">
            <a:avLst>
              <a:gd name="adj" fmla="val 16000"/>
            </a:avLst>
          </a:prstGeom>
          <a:solidFill>
            <a:srgbClr val="F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60" y="2066544"/>
            <a:ext cx="3657599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148840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31536" y="2066544"/>
            <a:ext cx="3200399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Rounded MT Bold"/>
                <a:ea typeface="Hiragino Sans GB"/>
              </a:rPr>
              <a:t>Be careful</a:t>
            </a:r>
          </a:p>
        </p:txBody>
      </p:sp>
      <p:sp>
        <p:nvSpPr>
          <p:cNvPr id="29" name="Oval 28"/>
          <p:cNvSpPr/>
          <p:nvPr/>
        </p:nvSpPr>
        <p:spPr>
          <a:xfrm>
            <a:off x="4992624" y="2779775"/>
            <a:ext cx="402336" cy="40233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137" y="2868289"/>
            <a:ext cx="225308" cy="2253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04688" y="2724912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Don't share your real name, home address, or passwords</a:t>
            </a:r>
          </a:p>
        </p:txBody>
      </p:sp>
      <p:sp>
        <p:nvSpPr>
          <p:cNvPr id="32" name="Oval 31"/>
          <p:cNvSpPr/>
          <p:nvPr/>
        </p:nvSpPr>
        <p:spPr>
          <a:xfrm>
            <a:off x="4992624" y="3401568"/>
            <a:ext cx="402336" cy="40233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137" y="3490081"/>
            <a:ext cx="225308" cy="2253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04688" y="3346704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Don't believe everything it says</a:t>
            </a:r>
          </a:p>
        </p:txBody>
      </p:sp>
      <p:sp>
        <p:nvSpPr>
          <p:cNvPr id="35" name="Oval 34"/>
          <p:cNvSpPr/>
          <p:nvPr/>
        </p:nvSpPr>
        <p:spPr>
          <a:xfrm>
            <a:off x="4992624" y="4023360"/>
            <a:ext cx="402336" cy="40233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137" y="4111873"/>
            <a:ext cx="225308" cy="2253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04688" y="3968496"/>
            <a:ext cx="3108959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A4A"/>
                </a:solidFill>
                <a:latin typeface="Arial Rounded MT Bold"/>
                <a:ea typeface="Hiragino Sans GB"/>
              </a:rPr>
              <a:t>Don't make big decisions alone in secret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8540496" y="384048"/>
            <a:ext cx="182880" cy="182880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7" y="356616"/>
            <a:ext cx="91440" cy="9144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10244" y="818387"/>
            <a:ext cx="82296" cy="82296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57200"/>
            <a:ext cx="3438144" cy="36576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66928"/>
            <a:ext cx="146304" cy="146304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"/>
            <a:ext cx="3438144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D9BE9"/>
                </a:solidFill>
                <a:latin typeface="Arial Rounded MT Bold"/>
                <a:ea typeface="Hiragino Sans GB"/>
              </a:rPr>
              <a:t>Putting it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321040" cy="5238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50" b="1" i="0">
                <a:solidFill>
                  <a:srgbClr val="2E2A4A"/>
                </a:solidFill>
                <a:latin typeface="Arial Rounded MT Bold"/>
                <a:ea typeface="Hiragino Sans GB"/>
              </a:rPr>
              <a:t>Remember these 5 things and you'll get AI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640080" y="1417319"/>
            <a:ext cx="146304" cy="146304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822960" cy="100584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965960"/>
            <a:ext cx="1572768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194560"/>
            <a:ext cx="1572768" cy="228600"/>
          </a:xfrm>
          <a:prstGeom prst="roundRect">
            <a:avLst>
              <a:gd name="adj" fmla="val 0"/>
            </a:avLst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984248"/>
            <a:ext cx="1572768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Rounded MT Bold"/>
                <a:ea typeface="Hiragino Sans GB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596896"/>
            <a:ext cx="786384" cy="786384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24" y="2769900"/>
            <a:ext cx="440375" cy="4403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" y="3429000"/>
            <a:ext cx="1463040" cy="2190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2A4A"/>
                </a:solidFill>
                <a:latin typeface="Arial Rounded MT Bold"/>
                <a:ea typeface="Hiragino Sans GB"/>
              </a:rPr>
              <a:t>All around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39896"/>
            <a:ext cx="142646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5478"/>
                </a:solidFill>
                <a:latin typeface="Arial Rounded MT Bold"/>
                <a:ea typeface="Hiragino Sans GB"/>
              </a:rPr>
              <a:t>Voice, picks, photos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72284" y="1965960"/>
            <a:ext cx="1572768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72284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72284" y="2194560"/>
            <a:ext cx="1572768" cy="228600"/>
          </a:xfrm>
          <a:prstGeom prst="roundRect">
            <a:avLst>
              <a:gd name="adj" fmla="val 0"/>
            </a:avLst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72284" y="1984248"/>
            <a:ext cx="1572768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Rounded MT Bold"/>
                <a:ea typeface="Hiragino Sans GB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2665475" y="2596896"/>
            <a:ext cx="786384" cy="78638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80" y="2769900"/>
            <a:ext cx="440375" cy="4403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27148" y="3429000"/>
            <a:ext cx="1463040" cy="2190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2A4A"/>
                </a:solidFill>
                <a:latin typeface="Arial Rounded MT Bold"/>
                <a:ea typeface="Hiragino Sans GB"/>
              </a:rPr>
              <a:t>Learns by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5436" y="3739896"/>
            <a:ext cx="142646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5478"/>
                </a:solidFill>
                <a:latin typeface="Arial Rounded MT Bold"/>
                <a:ea typeface="Hiragino Sans GB"/>
              </a:rPr>
              <a:t>More seen, more learned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1965960"/>
            <a:ext cx="1572768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77639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77639" y="2194560"/>
            <a:ext cx="1572768" cy="228600"/>
          </a:xfrm>
          <a:prstGeom prst="roundRect">
            <a:avLst>
              <a:gd name="adj" fmla="val 0"/>
            </a:avLst>
          </a:prstGeom>
          <a:solidFill>
            <a:srgbClr val="3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1984248"/>
            <a:ext cx="1572768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Rounded MT Bold"/>
                <a:ea typeface="Hiragino Sans GB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4370832" y="2596896"/>
            <a:ext cx="786384" cy="786384"/>
          </a:xfrm>
          <a:prstGeom prst="ellipse">
            <a:avLst/>
          </a:prstGeom>
          <a:solidFill>
            <a:srgbClr val="3FC79A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836" y="2769900"/>
            <a:ext cx="440375" cy="4403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32503" y="3429000"/>
            <a:ext cx="1463040" cy="2190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2A4A"/>
                </a:solidFill>
                <a:latin typeface="Arial Rounded MT Bold"/>
                <a:ea typeface="Hiragino Sans GB"/>
              </a:rPr>
              <a:t>Able but fallible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791" y="3739896"/>
            <a:ext cx="142646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5478"/>
                </a:solidFill>
                <a:latin typeface="Arial Rounded MT Bold"/>
                <a:ea typeface="Hiragino Sans GB"/>
              </a:rPr>
              <a:t>Great, but not always right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82996" y="1965960"/>
            <a:ext cx="1572768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82996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82996" y="2194560"/>
            <a:ext cx="1572768" cy="228600"/>
          </a:xfrm>
          <a:prstGeom prst="roundRect">
            <a:avLst>
              <a:gd name="adj" fmla="val 0"/>
            </a:avLst>
          </a:prstGeom>
          <a:solidFill>
            <a:srgbClr val="9B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2996" y="1984248"/>
            <a:ext cx="1572768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Rounded MT Bold"/>
                <a:ea typeface="Hiragino Sans GB"/>
              </a:rPr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6076188" y="2596896"/>
            <a:ext cx="786384" cy="786384"/>
          </a:xfrm>
          <a:prstGeom prst="ellipse">
            <a:avLst/>
          </a:prstGeom>
          <a:solidFill>
            <a:srgbClr val="9B7EDE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at-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192" y="2769900"/>
            <a:ext cx="440375" cy="4403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37859" y="3429000"/>
            <a:ext cx="1463040" cy="2190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2A4A"/>
                </a:solidFill>
                <a:latin typeface="Arial Rounded MT Bold"/>
                <a:ea typeface="Hiragino Sans GB"/>
              </a:rPr>
              <a:t>A good helper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6148" y="3739896"/>
            <a:ext cx="142646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5478"/>
                </a:solidFill>
                <a:latin typeface="Arial Rounded MT Bold"/>
                <a:ea typeface="Hiragino Sans GB"/>
              </a:rPr>
              <a:t>Be clear — you decide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88352" y="1965960"/>
            <a:ext cx="1572768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88352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88352" y="2194560"/>
            <a:ext cx="1572768" cy="2286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8352" y="1984248"/>
            <a:ext cx="1572768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Rounded MT Bold"/>
                <a:ea typeface="Hiragino Sans GB"/>
              </a:rPr>
              <a:t>5</a:t>
            </a:r>
          </a:p>
        </p:txBody>
      </p:sp>
      <p:sp>
        <p:nvSpPr>
          <p:cNvPr id="48" name="Oval 47"/>
          <p:cNvSpPr/>
          <p:nvPr/>
        </p:nvSpPr>
        <p:spPr>
          <a:xfrm>
            <a:off x="7781544" y="2596896"/>
            <a:ext cx="786384" cy="786384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4548" y="2769900"/>
            <a:ext cx="440375" cy="44037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443216" y="3429000"/>
            <a:ext cx="1463040" cy="21907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2A4A"/>
                </a:solidFill>
                <a:latin typeface="Arial Rounded MT Bold"/>
                <a:ea typeface="Hiragino Sans GB"/>
              </a:rPr>
              <a:t>Guard secrets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61504" y="3739896"/>
            <a:ext cx="142646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5478"/>
                </a:solidFill>
                <a:latin typeface="Arial Rounded MT Bold"/>
                <a:ea typeface="Hiragino Sans GB"/>
              </a:rPr>
              <a:t>Ask a grown-up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6214" y="4052620"/>
            <a:ext cx="43891" cy="219456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72323" y="3972153"/>
            <a:ext cx="131673" cy="131673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4-Point Star 53"/>
          <p:cNvSpPr/>
          <p:nvPr/>
        </p:nvSpPr>
        <p:spPr>
          <a:xfrm>
            <a:off x="8101584" y="4001414"/>
            <a:ext cx="73152" cy="73152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21193" y="4491532"/>
            <a:ext cx="65836" cy="16093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89289" y="4491532"/>
            <a:ext cx="65836" cy="16093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72400" y="4257446"/>
            <a:ext cx="731520" cy="629107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860182" y="4391607"/>
            <a:ext cx="555955" cy="390046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66472" y="4506049"/>
            <a:ext cx="98755" cy="98755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94123" y="4539625"/>
            <a:ext cx="43452" cy="43452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89185" y="4528762"/>
            <a:ext cx="21726" cy="2172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11092" y="4506049"/>
            <a:ext cx="98755" cy="98755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38744" y="4539625"/>
            <a:ext cx="43452" cy="43452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33806" y="4528762"/>
            <a:ext cx="21726" cy="2172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55865" y="4609010"/>
            <a:ext cx="80467" cy="80467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39987" y="4609010"/>
            <a:ext cx="80467" cy="80467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rc 66"/>
          <p:cNvSpPr/>
          <p:nvPr/>
        </p:nvSpPr>
        <p:spPr>
          <a:xfrm>
            <a:off x="8028432" y="4557340"/>
            <a:ext cx="219456" cy="219456"/>
          </a:xfrm>
          <a:prstGeom prst="arc">
            <a:avLst>
              <a:gd name="adj1" fmla="val 2500000"/>
              <a:gd name="adj2" fmla="val 15500000"/>
            </a:avLst>
          </a:prstGeom>
          <a:noFill/>
          <a:ln w="32512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4590288"/>
            <a:ext cx="713232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9BE9"/>
                </a:solidFill>
                <a:latin typeface="Arial Rounded MT Bold"/>
                <a:ea typeface="Hiragino Sans GB"/>
              </a:rPr>
              <a:t>You've got it all — you now understand AI better than a lot of grown-ups!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FE1C4">
                  <a:alpha val="100000"/>
                </a:srgbClr>
              </a:gs>
              <a:gs pos="100000">
                <a:srgbClr val="FFF3E4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640080" y="548640"/>
            <a:ext cx="1463040" cy="822960"/>
          </a:xfrm>
          <a:prstGeom prst="cloud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 3"/>
          <p:cNvSpPr/>
          <p:nvPr/>
        </p:nvSpPr>
        <p:spPr>
          <a:xfrm>
            <a:off x="7795260" y="388620"/>
            <a:ext cx="868680" cy="868680"/>
          </a:xfrm>
          <a:prstGeom prst="sun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3163824" y="374904"/>
            <a:ext cx="256032" cy="25603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4828032" y="758952"/>
            <a:ext cx="219456" cy="219456"/>
          </a:xfrm>
          <a:prstGeom prst="star4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rt 6"/>
          <p:cNvSpPr/>
          <p:nvPr/>
        </p:nvSpPr>
        <p:spPr>
          <a:xfrm>
            <a:off x="6446520" y="320040"/>
            <a:ext cx="274320" cy="274320"/>
          </a:xfrm>
          <a:prstGeom prst="heart">
            <a:avLst/>
          </a:prstGeom>
          <a:solidFill>
            <a:srgbClr val="3FC79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5648" y="1207007"/>
            <a:ext cx="146304" cy="146304"/>
          </a:xfrm>
          <a:prstGeom prst="ellipse">
            <a:avLst/>
          </a:prstGeom>
          <a:solidFill>
            <a:srgbClr val="9B7ED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7397496" y="1453895"/>
            <a:ext cx="201168" cy="201168"/>
          </a:xfrm>
          <a:prstGeom prst="star4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0" y="4526280"/>
            <a:ext cx="9144000" cy="617220"/>
          </a:xfrm>
          <a:prstGeom prst="roundRect">
            <a:avLst>
              <a:gd name="adj" fmla="val 14000"/>
            </a:avLst>
          </a:prstGeom>
          <a:solidFill>
            <a:srgbClr val="FD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6249" y="1634947"/>
            <a:ext cx="120700" cy="603504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05548" y="1413662"/>
            <a:ext cx="362102" cy="362102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6986016" y="1494129"/>
            <a:ext cx="201168" cy="20116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39942" y="2841955"/>
            <a:ext cx="181051" cy="442569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2206" y="2841955"/>
            <a:ext cx="181051" cy="442569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0760" y="2198217"/>
            <a:ext cx="2011680" cy="1730044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2161" y="2567159"/>
            <a:ext cx="1528876" cy="1072627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14458" y="2881874"/>
            <a:ext cx="271576" cy="271576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90500" y="2974211"/>
            <a:ext cx="119493" cy="119493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6921" y="2944337"/>
            <a:ext cx="59746" cy="597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87164" y="2881874"/>
            <a:ext cx="271576" cy="271576"/>
          </a:xfrm>
          <a:prstGeom prst="ellipse">
            <a:avLst/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63205" y="2974211"/>
            <a:ext cx="119493" cy="119493"/>
          </a:xfrm>
          <a:prstGeom prst="ellipse">
            <a:avLst/>
          </a:prstGeom>
          <a:solidFill>
            <a:srgbClr val="2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49627" y="2944337"/>
            <a:ext cx="59746" cy="597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5289" y="3165018"/>
            <a:ext cx="221284" cy="221284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66625" y="3165018"/>
            <a:ext cx="221284" cy="221284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6784848" y="3022925"/>
            <a:ext cx="603504" cy="603504"/>
          </a:xfrm>
          <a:prstGeom prst="arc">
            <a:avLst>
              <a:gd name="adj1" fmla="val 2500000"/>
              <a:gd name="adj2" fmla="val 15500000"/>
            </a:avLst>
          </a:prstGeom>
          <a:noFill/>
          <a:ln w="89408" cap="rnd">
            <a:solidFill>
              <a:srgbClr val="EAF6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2512" y="3888028"/>
            <a:ext cx="1408176" cy="844905"/>
          </a:xfrm>
          <a:prstGeom prst="roundRect">
            <a:avLst>
              <a:gd name="adj" fmla="val 45000"/>
            </a:avLst>
          </a:prstGeom>
          <a:solidFill>
            <a:srgbClr val="3D9BE9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20400000">
            <a:off x="6060643" y="3928262"/>
            <a:ext cx="402336" cy="181051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 rot="2700000">
            <a:off x="7690104" y="3566160"/>
            <a:ext cx="402336" cy="181051"/>
          </a:xfrm>
          <a:prstGeom prst="roundRect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art 29"/>
          <p:cNvSpPr/>
          <p:nvPr/>
        </p:nvSpPr>
        <p:spPr>
          <a:xfrm>
            <a:off x="5696712" y="1947672"/>
            <a:ext cx="310896" cy="310896"/>
          </a:xfrm>
          <a:prstGeom prst="hear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rt 30"/>
          <p:cNvSpPr/>
          <p:nvPr/>
        </p:nvSpPr>
        <p:spPr>
          <a:xfrm>
            <a:off x="8247888" y="2395728"/>
            <a:ext cx="237744" cy="237744"/>
          </a:xfrm>
          <a:prstGeom prst="heart">
            <a:avLst/>
          </a:prstGeom>
          <a:solidFill>
            <a:srgbClr val="9B7ED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150876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41148" dir="540000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1508760"/>
            <a:ext cx="2286000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74B0"/>
                </a:solidFill>
                <a:latin typeface="Arial Rounded MT Bold"/>
                <a:ea typeface="Hiragino Sans GB"/>
              </a:rPr>
              <a:t>One last thing to remember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148840"/>
            <a:ext cx="5852160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2E2A4A"/>
                </a:solidFill>
                <a:latin typeface="Arial Rounded MT Bold"/>
                <a:ea typeface="Hiragino Sans GB"/>
              </a:rPr>
              <a:t>However smart the tool,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2E2A4A"/>
                </a:solidFill>
                <a:latin typeface="Arial Rounded MT Bold"/>
                <a:ea typeface="Hiragino Sans GB"/>
              </a:rPr>
              <a:t>you're the one who decides.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703320"/>
            <a:ext cx="53035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04A6E"/>
                </a:solidFill>
                <a:latin typeface="Arial Rounded MT Bold"/>
                <a:ea typeface="Hiragino Sans GB"/>
              </a:rPr>
              <a:t>Stay curious, and go discover more amazing things!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828032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6788"/>
                </a:solidFill>
                <a:latin typeface="Arial Rounded MT Bold"/>
                <a:ea typeface="Hiragino Sans GB"/>
              </a:rPr>
              <a:t>slide-maker · sample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