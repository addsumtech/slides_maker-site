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4288795-ACD2-4523-9F1E-7C8966B29FD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Opening: Hi everyone! Today we're going to meet a new friend called AI. Don't worry about memorizing a definition yet — let's just play and figure it out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3BC418D-D817-4B46-A3F1-D3CAA5E3EB5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here are the five stops on today's trip: where AI hides, how it learns, what it can and can't do, how we work with it, and some safety tips. Let's set off with little AI!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0FCEC6-72A3-4435-91DB-F54D9A218F4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the class: since this morning, what have you used? A smart speaker, short videos, the camera, translation, games, maps — every one of these has AI inside. It's actually all around us.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2E81EF-2D51-4C83-A991-571305FBAF2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what is AI, really? It's a kind of computer program. Unlike a calculator that only does fixed sums, it can look at lots of examples, find patterns on its own, and learn a skill. Remember the three steps: see examples, find patterns, learn a skill.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46BC05-D313-491E-8211-303ACBD59C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Here's a comparison: how did you learn what a 'cat' is when you were little? You saw lots and lots of cats and slowly remembered what a cat looks like. AI is the same — it looks at thousands of cat photos and learns to recognize cats on its own. Nobody told it cats have whiskers and tails!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2791D28-5F17-486D-B9B0-8DA178FF30E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it 'practices': it takes a guess, someone tells it whether it's right, it fixes things, and tries again. Just like learning to ride a bike — the more you practice, the steadier you get. The more AI practices, the better it gets too.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A21C4BF-0C6D-4CB1-9AE7-862C34DBB79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has lots of superpowers: an amazing memory, lightning-fast calculation, never getting tired even after 10,000 repeats, and spotting patterns in a huge pile of things. At these, it's way better than we 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D0235C5-EA2C-468F-8F1C-DE3DBFBE7FA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But it has weak spots too: it makes mistakes, and it can say wrong things with total confidence — like 'dinosaurs live in Antarctica,' which sounds real but is made up. So we always have to think for ourselves about what it says.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5895E0-6DCF-4480-ADA0-9FFE7FC8E36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we work with it? One, ask your question clearly. Two, check the answers yourself. Three, when you're unsure, ask your teachers and parents. Four, you're the boss — you make the final decision.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FF24B97-AF28-4BFA-AC1D-E727B9D1DAE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matters most: you can use it to look things up, practice a language, and spark ideas; but don't tell it your real name, home address, or passwords; if you see something upsetting, tell a grown-up right away; and never make big decisions alone in secret.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2E96B83-CC74-4F2D-BC7D-3AFB8372E8D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Let's tie today together: AI lives all around us, learns from examples, is very capable but also makes mistakes, should be a good helper while you stay in charge, and you need to guard your own little secrets. You've got it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C21EB0D-F65C-400A-AFB5-24E3898D295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last thought to leave you with: however smart the tool is, you're the one who decides. Stay curious, and go discover more amazing things!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D236983-8788-464A-8D3E-8D114B44BAC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2BCA31-5E87-4929-89FE-9192C5E281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A7315D-6C9F-4777-BDD2-A8000B968E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29FB2-B0D1-4FE8-B36E-F83EB65A43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6A557F-2360-42A3-9E26-80C676F7EC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EA14EAD-E297-43A4-BA65-C077F3035A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A5192C-F921-4C84-B2F5-E15220D2A4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6596C6-F5B9-41B4-A3D6-477C0B131D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8AABC0C-4DA2-4685-8F6C-596B56ACB6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64F871-FEC3-4760-8F45-33C4EB5A4B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36949A-3E57-46EF-9CBD-18954D11C7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A99058-72C5-4FB4-95F0-CBCDBE492A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image" Target="../media/image1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5.png"/><Relationship Id="rId9" Type="http://schemas.openxmlformats.org/officeDocument/2006/relationships/image" Target="../media/image15.png"/><Relationship Id="rId10" Type="http://schemas.openxmlformats.org/officeDocument/2006/relationships/image" Target="../media/image15.png"/><Relationship Id="rId11" Type="http://schemas.openxmlformats.org/officeDocument/2006/relationships/image" Target="../media/image15.png"/><Relationship Id="rId12" Type="http://schemas.openxmlformats.org/officeDocument/2006/relationships/image" Target="../media/image15.png"/><Relationship Id="rId13" Type="http://schemas.openxmlformats.org/officeDocument/2006/relationships/image" Target="../media/image15.png"/><Relationship Id="rId14" Type="http://schemas.openxmlformats.org/officeDocument/2006/relationships/image" Target="../media/image15.pn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image" Target="../media/image24.png"/><Relationship Id="rId6" Type="http://schemas.openxmlformats.org/officeDocument/2006/relationships/image" Target="../media/image24.png"/><Relationship Id="rId7" Type="http://schemas.openxmlformats.org/officeDocument/2006/relationships/image" Target="../media/image24.png"/><Relationship Id="rId8" Type="http://schemas.openxmlformats.org/officeDocument/2006/relationships/image" Target="../media/image24.pn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Sun 2"/>
          <p:cNvSpPr/>
          <p:nvPr/>
        </p:nvSpPr>
        <p:spPr>
          <a:xfrm>
            <a:off x="594360" y="411480"/>
            <a:ext cx="914040" cy="91404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Cloud 3"/>
          <p:cNvSpPr/>
          <p:nvPr/>
        </p:nvSpPr>
        <p:spPr>
          <a:xfrm>
            <a:off x="5669280" y="502920"/>
            <a:ext cx="1554120" cy="868320"/>
          </a:xfrm>
          <a:prstGeom prst="cloud">
            <a:avLst/>
          </a:prstGeom>
          <a:solidFill>
            <a:srgbClr val="FFFFFF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Cloud 4"/>
          <p:cNvSpPr/>
          <p:nvPr/>
        </p:nvSpPr>
        <p:spPr>
          <a:xfrm>
            <a:off x="7680960" y="1371600"/>
            <a:ext cx="1371240" cy="776880"/>
          </a:xfrm>
          <a:prstGeom prst="cloud">
            <a:avLst/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4-Point Star 5"/>
          <p:cNvSpPr/>
          <p:nvPr/>
        </p:nvSpPr>
        <p:spPr>
          <a:xfrm>
            <a:off x="2807280" y="338400"/>
            <a:ext cx="237240" cy="237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5-Point Star 6"/>
          <p:cNvSpPr/>
          <p:nvPr/>
        </p:nvSpPr>
        <p:spPr>
          <a:xfrm>
            <a:off x="4069080" y="685800"/>
            <a:ext cx="273960" cy="2739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Heart 7"/>
          <p:cNvSpPr/>
          <p:nvPr/>
        </p:nvSpPr>
        <p:spPr>
          <a:xfrm>
            <a:off x="8275320" y="50292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Oval 8"/>
          <p:cNvSpPr/>
          <p:nvPr/>
        </p:nvSpPr>
        <p:spPr>
          <a:xfrm>
            <a:off x="2121480" y="148140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4-Point Star 9"/>
          <p:cNvSpPr/>
          <p:nvPr/>
        </p:nvSpPr>
        <p:spPr>
          <a:xfrm>
            <a:off x="5029200" y="2743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Rounded Rectangle 11"/>
          <p:cNvSpPr/>
          <p:nvPr/>
        </p:nvSpPr>
        <p:spPr>
          <a:xfrm>
            <a:off x="6839280" y="1720440"/>
            <a:ext cx="128520" cy="6444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Oval 12"/>
          <p:cNvSpPr/>
          <p:nvPr/>
        </p:nvSpPr>
        <p:spPr>
          <a:xfrm>
            <a:off x="6710400" y="1483920"/>
            <a:ext cx="386280" cy="3862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4-Point Star 13"/>
          <p:cNvSpPr/>
          <p:nvPr/>
        </p:nvSpPr>
        <p:spPr>
          <a:xfrm>
            <a:off x="6796440" y="1569960"/>
            <a:ext cx="214560" cy="21456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14"/>
          <p:cNvSpPr/>
          <p:nvPr/>
        </p:nvSpPr>
        <p:spPr>
          <a:xfrm>
            <a:off x="567900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ounded Rectangle 15"/>
          <p:cNvSpPr/>
          <p:nvPr/>
        </p:nvSpPr>
        <p:spPr>
          <a:xfrm>
            <a:off x="793512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16"/>
          <p:cNvSpPr/>
          <p:nvPr/>
        </p:nvSpPr>
        <p:spPr>
          <a:xfrm>
            <a:off x="5829480" y="2322000"/>
            <a:ext cx="2148480" cy="18475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17"/>
          <p:cNvSpPr/>
          <p:nvPr/>
        </p:nvSpPr>
        <p:spPr>
          <a:xfrm>
            <a:off x="6087240" y="2716200"/>
            <a:ext cx="1632600" cy="1145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39936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Oval 19"/>
          <p:cNvSpPr/>
          <p:nvPr/>
        </p:nvSpPr>
        <p:spPr>
          <a:xfrm>
            <a:off x="648072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646596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Oval 21"/>
          <p:cNvSpPr/>
          <p:nvPr/>
        </p:nvSpPr>
        <p:spPr>
          <a:xfrm>
            <a:off x="711792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Oval 22"/>
          <p:cNvSpPr/>
          <p:nvPr/>
        </p:nvSpPr>
        <p:spPr>
          <a:xfrm>
            <a:off x="719928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Oval 23"/>
          <p:cNvSpPr/>
          <p:nvPr/>
        </p:nvSpPr>
        <p:spPr>
          <a:xfrm>
            <a:off x="718452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Oval 24"/>
          <p:cNvSpPr/>
          <p:nvPr/>
        </p:nvSpPr>
        <p:spPr>
          <a:xfrm>
            <a:off x="636840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Oval 25"/>
          <p:cNvSpPr/>
          <p:nvPr/>
        </p:nvSpPr>
        <p:spPr>
          <a:xfrm>
            <a:off x="720288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Arc 26"/>
          <p:cNvSpPr/>
          <p:nvPr/>
        </p:nvSpPr>
        <p:spPr>
          <a:xfrm>
            <a:off x="6581520" y="3202920"/>
            <a:ext cx="644400" cy="6444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9550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27"/>
          <p:cNvSpPr/>
          <p:nvPr/>
        </p:nvSpPr>
        <p:spPr>
          <a:xfrm>
            <a:off x="6151680" y="4127040"/>
            <a:ext cx="1503720" cy="9021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28"/>
          <p:cNvSpPr/>
          <p:nvPr/>
        </p:nvSpPr>
        <p:spPr>
          <a:xfrm rot="20400000">
            <a:off x="5807520" y="416988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29"/>
          <p:cNvSpPr/>
          <p:nvPr/>
        </p:nvSpPr>
        <p:spPr>
          <a:xfrm rot="2700000">
            <a:off x="7548120" y="378324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4-Point Star 30"/>
          <p:cNvSpPr/>
          <p:nvPr/>
        </p:nvSpPr>
        <p:spPr>
          <a:xfrm>
            <a:off x="5706000" y="2185560"/>
            <a:ext cx="200880" cy="20088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31"/>
          <p:cNvSpPr/>
          <p:nvPr/>
        </p:nvSpPr>
        <p:spPr>
          <a:xfrm>
            <a:off x="713160" y="1847160"/>
            <a:ext cx="2651400" cy="4568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13160" y="184716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C0453B"/>
                </a:solidFill>
                <a:effectLst/>
                <a:uFillTx/>
                <a:latin typeface="Arial Rounded MT Bold"/>
                <a:ea typeface="Hiragino Sans GB"/>
              </a:rPr>
              <a:t>A First Class for Kids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3"/>
          <p:cNvSpPr/>
          <p:nvPr/>
        </p:nvSpPr>
        <p:spPr>
          <a:xfrm>
            <a:off x="640080" y="2395800"/>
            <a:ext cx="5668920" cy="11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Is AI?</a:t>
            </a:r>
            <a:endParaRPr lang="en-US" sz="6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4"/>
          <p:cNvSpPr/>
          <p:nvPr/>
        </p:nvSpPr>
        <p:spPr>
          <a:xfrm>
            <a:off x="749880" y="361188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Meet the clever little helper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that lives all around 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567000" y="457200"/>
            <a:ext cx="197460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1005840" y="457200"/>
            <a:ext cx="197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Let's go!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Today's AI Adventure Map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585360" y="162756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Follow little AI, one stop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Oval 12"/>
          <p:cNvSpPr/>
          <p:nvPr/>
        </p:nvSpPr>
        <p:spPr>
          <a:xfrm>
            <a:off x="18061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Oval 13"/>
          <p:cNvSpPr/>
          <p:nvPr/>
        </p:nvSpPr>
        <p:spPr>
          <a:xfrm>
            <a:off x="201456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Oval 14"/>
          <p:cNvSpPr/>
          <p:nvPr/>
        </p:nvSpPr>
        <p:spPr>
          <a:xfrm>
            <a:off x="222300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Oval 15"/>
          <p:cNvSpPr/>
          <p:nvPr/>
        </p:nvSpPr>
        <p:spPr>
          <a:xfrm>
            <a:off x="24314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Oval 16"/>
          <p:cNvSpPr/>
          <p:nvPr/>
        </p:nvSpPr>
        <p:spPr>
          <a:xfrm>
            <a:off x="26398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Oval 17"/>
          <p:cNvSpPr/>
          <p:nvPr/>
        </p:nvSpPr>
        <p:spPr>
          <a:xfrm>
            <a:off x="28483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Oval 18"/>
          <p:cNvSpPr/>
          <p:nvPr/>
        </p:nvSpPr>
        <p:spPr>
          <a:xfrm>
            <a:off x="33606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19"/>
          <p:cNvSpPr/>
          <p:nvPr/>
        </p:nvSpPr>
        <p:spPr>
          <a:xfrm>
            <a:off x="357804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20"/>
          <p:cNvSpPr/>
          <p:nvPr/>
        </p:nvSpPr>
        <p:spPr>
          <a:xfrm>
            <a:off x="37958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Oval 21"/>
          <p:cNvSpPr/>
          <p:nvPr/>
        </p:nvSpPr>
        <p:spPr>
          <a:xfrm>
            <a:off x="401328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Oval 22"/>
          <p:cNvSpPr/>
          <p:nvPr/>
        </p:nvSpPr>
        <p:spPr>
          <a:xfrm>
            <a:off x="42310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Oval 23"/>
          <p:cNvSpPr/>
          <p:nvPr/>
        </p:nvSpPr>
        <p:spPr>
          <a:xfrm>
            <a:off x="44485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Oval 24"/>
          <p:cNvSpPr/>
          <p:nvPr/>
        </p:nvSpPr>
        <p:spPr>
          <a:xfrm>
            <a:off x="496080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Oval 25"/>
          <p:cNvSpPr/>
          <p:nvPr/>
        </p:nvSpPr>
        <p:spPr>
          <a:xfrm>
            <a:off x="517824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26"/>
          <p:cNvSpPr/>
          <p:nvPr/>
        </p:nvSpPr>
        <p:spPr>
          <a:xfrm>
            <a:off x="53960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Oval 27"/>
          <p:cNvSpPr/>
          <p:nvPr/>
        </p:nvSpPr>
        <p:spPr>
          <a:xfrm>
            <a:off x="561348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Oval 28"/>
          <p:cNvSpPr/>
          <p:nvPr/>
        </p:nvSpPr>
        <p:spPr>
          <a:xfrm>
            <a:off x="58312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Oval 29"/>
          <p:cNvSpPr/>
          <p:nvPr/>
        </p:nvSpPr>
        <p:spPr>
          <a:xfrm>
            <a:off x="60487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Oval 30"/>
          <p:cNvSpPr/>
          <p:nvPr/>
        </p:nvSpPr>
        <p:spPr>
          <a:xfrm>
            <a:off x="65610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Oval 31"/>
          <p:cNvSpPr/>
          <p:nvPr/>
        </p:nvSpPr>
        <p:spPr>
          <a:xfrm>
            <a:off x="67510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Oval 32"/>
          <p:cNvSpPr/>
          <p:nvPr/>
        </p:nvSpPr>
        <p:spPr>
          <a:xfrm>
            <a:off x="694116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Oval 33"/>
          <p:cNvSpPr/>
          <p:nvPr/>
        </p:nvSpPr>
        <p:spPr>
          <a:xfrm>
            <a:off x="71312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Oval 34"/>
          <p:cNvSpPr/>
          <p:nvPr/>
        </p:nvSpPr>
        <p:spPr>
          <a:xfrm>
            <a:off x="73216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Oval 35"/>
          <p:cNvSpPr/>
          <p:nvPr/>
        </p:nvSpPr>
        <p:spPr>
          <a:xfrm>
            <a:off x="751176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Oval 36"/>
          <p:cNvSpPr/>
          <p:nvPr/>
        </p:nvSpPr>
        <p:spPr>
          <a:xfrm>
            <a:off x="1179720" y="3191400"/>
            <a:ext cx="840960" cy="8409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" name="Picture 37" descr="map-pin.png"/>
          <p:cNvPicPr/>
          <p:nvPr/>
        </p:nvPicPr>
        <p:blipFill>
          <a:blip r:embed="rId1"/>
          <a:stretch/>
        </p:blipFill>
        <p:spPr>
          <a:xfrm>
            <a:off x="139896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Oval 38"/>
          <p:cNvSpPr/>
          <p:nvPr/>
        </p:nvSpPr>
        <p:spPr>
          <a:xfrm>
            <a:off x="171000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9"/>
          <p:cNvSpPr/>
          <p:nvPr/>
        </p:nvSpPr>
        <p:spPr>
          <a:xfrm>
            <a:off x="171000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0"/>
          <p:cNvSpPr/>
          <p:nvPr/>
        </p:nvSpPr>
        <p:spPr>
          <a:xfrm>
            <a:off x="64008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Oval 41"/>
          <p:cNvSpPr/>
          <p:nvPr/>
        </p:nvSpPr>
        <p:spPr>
          <a:xfrm>
            <a:off x="2734200" y="2459880"/>
            <a:ext cx="840960" cy="8409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42" descr="lightbulb.png"/>
          <p:cNvPicPr/>
          <p:nvPr/>
        </p:nvPicPr>
        <p:blipFill>
          <a:blip r:embed="rId2"/>
          <a:stretch/>
        </p:blipFill>
        <p:spPr>
          <a:xfrm>
            <a:off x="29534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Oval 43"/>
          <p:cNvSpPr/>
          <p:nvPr/>
        </p:nvSpPr>
        <p:spPr>
          <a:xfrm>
            <a:off x="32644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44"/>
          <p:cNvSpPr/>
          <p:nvPr/>
        </p:nvSpPr>
        <p:spPr>
          <a:xfrm>
            <a:off x="32644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5"/>
          <p:cNvSpPr/>
          <p:nvPr/>
        </p:nvSpPr>
        <p:spPr>
          <a:xfrm>
            <a:off x="21945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 it learns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Oval 46"/>
          <p:cNvSpPr/>
          <p:nvPr/>
        </p:nvSpPr>
        <p:spPr>
          <a:xfrm>
            <a:off x="4334400" y="3191400"/>
            <a:ext cx="840960" cy="840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47" descr="gauge.png"/>
          <p:cNvPicPr/>
          <p:nvPr/>
        </p:nvPicPr>
        <p:blipFill>
          <a:blip r:embed="rId3"/>
          <a:stretch/>
        </p:blipFill>
        <p:spPr>
          <a:xfrm>
            <a:off x="455364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Oval 48"/>
          <p:cNvSpPr/>
          <p:nvPr/>
        </p:nvSpPr>
        <p:spPr>
          <a:xfrm>
            <a:off x="486468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9"/>
          <p:cNvSpPr/>
          <p:nvPr/>
        </p:nvSpPr>
        <p:spPr>
          <a:xfrm>
            <a:off x="486468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0"/>
          <p:cNvSpPr/>
          <p:nvPr/>
        </p:nvSpPr>
        <p:spPr>
          <a:xfrm>
            <a:off x="379476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it can &amp; can't do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Oval 51"/>
          <p:cNvSpPr/>
          <p:nvPr/>
        </p:nvSpPr>
        <p:spPr>
          <a:xfrm>
            <a:off x="5934600" y="2459880"/>
            <a:ext cx="840960" cy="84096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3" name="Picture 52" descr="chat-text.png"/>
          <p:cNvPicPr/>
          <p:nvPr/>
        </p:nvPicPr>
        <p:blipFill>
          <a:blip r:embed="rId4"/>
          <a:stretch/>
        </p:blipFill>
        <p:spPr>
          <a:xfrm>
            <a:off x="61538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Oval 53"/>
          <p:cNvSpPr/>
          <p:nvPr/>
        </p:nvSpPr>
        <p:spPr>
          <a:xfrm>
            <a:off x="64648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54"/>
          <p:cNvSpPr/>
          <p:nvPr/>
        </p:nvSpPr>
        <p:spPr>
          <a:xfrm>
            <a:off x="64648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5"/>
          <p:cNvSpPr/>
          <p:nvPr/>
        </p:nvSpPr>
        <p:spPr>
          <a:xfrm>
            <a:off x="53949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Working with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56"/>
          <p:cNvSpPr/>
          <p:nvPr/>
        </p:nvSpPr>
        <p:spPr>
          <a:xfrm>
            <a:off x="7397640" y="3191400"/>
            <a:ext cx="840960" cy="8409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8" name="Picture 57" descr="shield-check.png"/>
          <p:cNvPicPr/>
          <p:nvPr/>
        </p:nvPicPr>
        <p:blipFill>
          <a:blip r:embed="rId5"/>
          <a:stretch/>
        </p:blipFill>
        <p:spPr>
          <a:xfrm>
            <a:off x="761688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val 58"/>
          <p:cNvSpPr/>
          <p:nvPr/>
        </p:nvSpPr>
        <p:spPr>
          <a:xfrm>
            <a:off x="792792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792792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60"/>
          <p:cNvSpPr/>
          <p:nvPr/>
        </p:nvSpPr>
        <p:spPr>
          <a:xfrm>
            <a:off x="685800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Safety tips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61"/>
          <p:cNvSpPr/>
          <p:nvPr/>
        </p:nvSpPr>
        <p:spPr>
          <a:xfrm>
            <a:off x="689760" y="2568960"/>
            <a:ext cx="46800" cy="2354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Oval 62"/>
          <p:cNvSpPr/>
          <p:nvPr/>
        </p:nvSpPr>
        <p:spPr>
          <a:xfrm>
            <a:off x="642600" y="2482560"/>
            <a:ext cx="141120" cy="14112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4-Point Star 63"/>
          <p:cNvSpPr/>
          <p:nvPr/>
        </p:nvSpPr>
        <p:spPr>
          <a:xfrm>
            <a:off x="673920" y="2513880"/>
            <a:ext cx="78120" cy="781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ounded Rectangle 64"/>
          <p:cNvSpPr/>
          <p:nvPr/>
        </p:nvSpPr>
        <p:spPr>
          <a:xfrm>
            <a:off x="26496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ounded Rectangle 65"/>
          <p:cNvSpPr/>
          <p:nvPr/>
        </p:nvSpPr>
        <p:spPr>
          <a:xfrm>
            <a:off x="109080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ounded Rectangle 66"/>
          <p:cNvSpPr/>
          <p:nvPr/>
        </p:nvSpPr>
        <p:spPr>
          <a:xfrm>
            <a:off x="320040" y="2789280"/>
            <a:ext cx="785880" cy="67608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67"/>
          <p:cNvSpPr/>
          <p:nvPr/>
        </p:nvSpPr>
        <p:spPr>
          <a:xfrm>
            <a:off x="414360" y="2933280"/>
            <a:ext cx="597240" cy="4190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Oval 68"/>
          <p:cNvSpPr/>
          <p:nvPr/>
        </p:nvSpPr>
        <p:spPr>
          <a:xfrm>
            <a:off x="5288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Oval 69"/>
          <p:cNvSpPr/>
          <p:nvPr/>
        </p:nvSpPr>
        <p:spPr>
          <a:xfrm>
            <a:off x="55836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Oval 70"/>
          <p:cNvSpPr/>
          <p:nvPr/>
        </p:nvSpPr>
        <p:spPr>
          <a:xfrm>
            <a:off x="55296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Oval 71"/>
          <p:cNvSpPr/>
          <p:nvPr/>
        </p:nvSpPr>
        <p:spPr>
          <a:xfrm>
            <a:off x="7916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Oval 72"/>
          <p:cNvSpPr/>
          <p:nvPr/>
        </p:nvSpPr>
        <p:spPr>
          <a:xfrm>
            <a:off x="82152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Oval 73"/>
          <p:cNvSpPr/>
          <p:nvPr/>
        </p:nvSpPr>
        <p:spPr>
          <a:xfrm>
            <a:off x="81612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Oval 74"/>
          <p:cNvSpPr/>
          <p:nvPr/>
        </p:nvSpPr>
        <p:spPr>
          <a:xfrm>
            <a:off x="51732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Oval 75"/>
          <p:cNvSpPr/>
          <p:nvPr/>
        </p:nvSpPr>
        <p:spPr>
          <a:xfrm>
            <a:off x="82260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Arc 76"/>
          <p:cNvSpPr/>
          <p:nvPr/>
        </p:nvSpPr>
        <p:spPr>
          <a:xfrm>
            <a:off x="595440" y="3111480"/>
            <a:ext cx="235440" cy="2354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950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ounded Rectangle 5"/>
          <p:cNvSpPr/>
          <p:nvPr/>
        </p:nvSpPr>
        <p:spPr>
          <a:xfrm>
            <a:off x="567000" y="457200"/>
            <a:ext cx="329148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1005840" y="45720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① AI in Daily Life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hides in the things you use every day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Oval 19"/>
          <p:cNvSpPr/>
          <p:nvPr/>
        </p:nvSpPr>
        <p:spPr>
          <a:xfrm>
            <a:off x="821376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Oval 22"/>
          <p:cNvSpPr/>
          <p:nvPr/>
        </p:nvSpPr>
        <p:spPr>
          <a:xfrm>
            <a:off x="847368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Arc 26"/>
          <p:cNvSpPr/>
          <p:nvPr/>
        </p:nvSpPr>
        <p:spPr>
          <a:xfrm>
            <a:off x="8250120" y="1036080"/>
            <a:ext cx="232920" cy="23292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54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27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8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9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Notice?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Behind every one of these lives an AI — it's closer to you than you think.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30"/>
          <p:cNvSpPr/>
          <p:nvPr/>
        </p:nvSpPr>
        <p:spPr>
          <a:xfrm>
            <a:off x="567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31"/>
          <p:cNvSpPr/>
          <p:nvPr/>
        </p:nvSpPr>
        <p:spPr>
          <a:xfrm>
            <a:off x="76824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9" name="Picture 32" descr="microphone.png"/>
          <p:cNvPicPr/>
          <p:nvPr/>
        </p:nvPicPr>
        <p:blipFill>
          <a:blip r:embed="rId1"/>
          <a:stretch/>
        </p:blipFill>
        <p:spPr>
          <a:xfrm>
            <a:off x="929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3"/>
          <p:cNvSpPr/>
          <p:nvPr/>
        </p:nvSpPr>
        <p:spPr>
          <a:xfrm>
            <a:off x="1572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Voice assistant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4"/>
          <p:cNvSpPr/>
          <p:nvPr/>
        </p:nvSpPr>
        <p:spPr>
          <a:xfrm>
            <a:off x="1572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You talk, it understands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5"/>
          <p:cNvSpPr/>
          <p:nvPr/>
        </p:nvSpPr>
        <p:spPr>
          <a:xfrm>
            <a:off x="3438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36"/>
          <p:cNvSpPr/>
          <p:nvPr/>
        </p:nvSpPr>
        <p:spPr>
          <a:xfrm>
            <a:off x="3639240" y="195912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4" name="Picture 37" descr="play-circle.png"/>
          <p:cNvPicPr/>
          <p:nvPr/>
        </p:nvPicPr>
        <p:blipFill>
          <a:blip r:embed="rId2"/>
          <a:stretch/>
        </p:blipFill>
        <p:spPr>
          <a:xfrm>
            <a:off x="3800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38"/>
          <p:cNvSpPr/>
          <p:nvPr/>
        </p:nvSpPr>
        <p:spPr>
          <a:xfrm>
            <a:off x="4443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Video picks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9"/>
          <p:cNvSpPr/>
          <p:nvPr/>
        </p:nvSpPr>
        <p:spPr>
          <a:xfrm>
            <a:off x="4443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Guesses what you'll love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40"/>
          <p:cNvSpPr/>
          <p:nvPr/>
        </p:nvSpPr>
        <p:spPr>
          <a:xfrm>
            <a:off x="630936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Oval 41"/>
          <p:cNvSpPr/>
          <p:nvPr/>
        </p:nvSpPr>
        <p:spPr>
          <a:xfrm>
            <a:off x="651060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42" descr="camera.png"/>
          <p:cNvPicPr/>
          <p:nvPr/>
        </p:nvPicPr>
        <p:blipFill>
          <a:blip r:embed="rId3"/>
          <a:stretch/>
        </p:blipFill>
        <p:spPr>
          <a:xfrm>
            <a:off x="667152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3"/>
          <p:cNvSpPr/>
          <p:nvPr/>
        </p:nvSpPr>
        <p:spPr>
          <a:xfrm>
            <a:off x="731520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Photo &amp; filters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4"/>
          <p:cNvSpPr/>
          <p:nvPr/>
        </p:nvSpPr>
        <p:spPr>
          <a:xfrm>
            <a:off x="731520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Spots faces on its own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45"/>
          <p:cNvSpPr/>
          <p:nvPr/>
        </p:nvSpPr>
        <p:spPr>
          <a:xfrm>
            <a:off x="567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46"/>
          <p:cNvSpPr/>
          <p:nvPr/>
        </p:nvSpPr>
        <p:spPr>
          <a:xfrm>
            <a:off x="76824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Picture 47" descr="translate.png"/>
          <p:cNvPicPr/>
          <p:nvPr/>
        </p:nvPicPr>
        <p:blipFill>
          <a:blip r:embed="rId4"/>
          <a:stretch/>
        </p:blipFill>
        <p:spPr>
          <a:xfrm>
            <a:off x="929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Box 48"/>
          <p:cNvSpPr/>
          <p:nvPr/>
        </p:nvSpPr>
        <p:spPr>
          <a:xfrm>
            <a:off x="1572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Translation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9"/>
          <p:cNvSpPr/>
          <p:nvPr/>
        </p:nvSpPr>
        <p:spPr>
          <a:xfrm>
            <a:off x="1572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Any language, any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50"/>
          <p:cNvSpPr/>
          <p:nvPr/>
        </p:nvSpPr>
        <p:spPr>
          <a:xfrm>
            <a:off x="3438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51"/>
          <p:cNvSpPr/>
          <p:nvPr/>
        </p:nvSpPr>
        <p:spPr>
          <a:xfrm>
            <a:off x="3639240" y="306108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9" name="Picture 52" descr="game-controller.png"/>
          <p:cNvPicPr/>
          <p:nvPr/>
        </p:nvPicPr>
        <p:blipFill>
          <a:blip r:embed="rId5"/>
          <a:stretch/>
        </p:blipFill>
        <p:spPr>
          <a:xfrm>
            <a:off x="3800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TextBox 53"/>
          <p:cNvSpPr/>
          <p:nvPr/>
        </p:nvSpPr>
        <p:spPr>
          <a:xfrm>
            <a:off x="4443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Game buddy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54"/>
          <p:cNvSpPr/>
          <p:nvPr/>
        </p:nvSpPr>
        <p:spPr>
          <a:xfrm>
            <a:off x="4443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Plays along with you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55"/>
          <p:cNvSpPr/>
          <p:nvPr/>
        </p:nvSpPr>
        <p:spPr>
          <a:xfrm>
            <a:off x="630936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Oval 56"/>
          <p:cNvSpPr/>
          <p:nvPr/>
        </p:nvSpPr>
        <p:spPr>
          <a:xfrm>
            <a:off x="651060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4" name="Picture 57" descr="map-pin.png"/>
          <p:cNvPicPr/>
          <p:nvPr/>
        </p:nvPicPr>
        <p:blipFill>
          <a:blip r:embed="rId6"/>
          <a:stretch/>
        </p:blipFill>
        <p:spPr>
          <a:xfrm>
            <a:off x="667152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Box 58"/>
          <p:cNvSpPr/>
          <p:nvPr/>
        </p:nvSpPr>
        <p:spPr>
          <a:xfrm>
            <a:off x="731520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Maps &amp; routes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59"/>
          <p:cNvSpPr/>
          <p:nvPr/>
        </p:nvSpPr>
        <p:spPr>
          <a:xfrm>
            <a:off x="731520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Finds you the quickest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5"/>
          <p:cNvSpPr/>
          <p:nvPr/>
        </p:nvSpPr>
        <p:spPr>
          <a:xfrm>
            <a:off x="567000" y="457200"/>
            <a:ext cx="38768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1005840" y="457200"/>
            <a:ext cx="387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 what is it, really?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a helper that learns from examples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60336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Oval 12"/>
          <p:cNvSpPr/>
          <p:nvPr/>
        </p:nvSpPr>
        <p:spPr>
          <a:xfrm>
            <a:off x="1408320" y="2039040"/>
            <a:ext cx="822600" cy="8226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9" name="Picture 13" descr="images.png"/>
          <p:cNvPicPr/>
          <p:nvPr/>
        </p:nvPicPr>
        <p:blipFill>
          <a:blip r:embed="rId1"/>
          <a:stretch/>
        </p:blipFill>
        <p:spPr>
          <a:xfrm>
            <a:off x="158940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Box 14"/>
          <p:cNvSpPr/>
          <p:nvPr/>
        </p:nvSpPr>
        <p:spPr>
          <a:xfrm>
            <a:off x="69480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Sees lots of examples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5"/>
          <p:cNvSpPr/>
          <p:nvPr/>
        </p:nvSpPr>
        <p:spPr>
          <a:xfrm>
            <a:off x="71316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Thousands of pictures and words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ight Arrow 16"/>
          <p:cNvSpPr/>
          <p:nvPr/>
        </p:nvSpPr>
        <p:spPr>
          <a:xfrm>
            <a:off x="319140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ounded Rectangle 17"/>
          <p:cNvSpPr/>
          <p:nvPr/>
        </p:nvSpPr>
        <p:spPr>
          <a:xfrm>
            <a:off x="360288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Oval 18"/>
          <p:cNvSpPr/>
          <p:nvPr/>
        </p:nvSpPr>
        <p:spPr>
          <a:xfrm>
            <a:off x="4407480" y="2039040"/>
            <a:ext cx="822600" cy="822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5" name="Picture 19" descr="magic-wand.png"/>
          <p:cNvPicPr/>
          <p:nvPr/>
        </p:nvPicPr>
        <p:blipFill>
          <a:blip r:embed="rId2"/>
          <a:stretch/>
        </p:blipFill>
        <p:spPr>
          <a:xfrm>
            <a:off x="458856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Box 20"/>
          <p:cNvSpPr/>
          <p:nvPr/>
        </p:nvSpPr>
        <p:spPr>
          <a:xfrm>
            <a:off x="369432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Finds patterns itself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1"/>
          <p:cNvSpPr/>
          <p:nvPr/>
        </p:nvSpPr>
        <p:spPr>
          <a:xfrm>
            <a:off x="371232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Nobody teaches it rule by rule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ight Arrow 22"/>
          <p:cNvSpPr/>
          <p:nvPr/>
        </p:nvSpPr>
        <p:spPr>
          <a:xfrm>
            <a:off x="619056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Rounded Rectangle 23"/>
          <p:cNvSpPr/>
          <p:nvPr/>
        </p:nvSpPr>
        <p:spPr>
          <a:xfrm>
            <a:off x="660204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Oval 24"/>
          <p:cNvSpPr/>
          <p:nvPr/>
        </p:nvSpPr>
        <p:spPr>
          <a:xfrm>
            <a:off x="7406640" y="203904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61" name="Picture 25" descr="medal.png"/>
          <p:cNvPicPr/>
          <p:nvPr/>
        </p:nvPicPr>
        <p:blipFill>
          <a:blip r:embed="rId3"/>
          <a:stretch/>
        </p:blipFill>
        <p:spPr>
          <a:xfrm>
            <a:off x="758772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Box 26"/>
          <p:cNvSpPr/>
          <p:nvPr/>
        </p:nvSpPr>
        <p:spPr>
          <a:xfrm>
            <a:off x="669348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a new skill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7"/>
          <p:cNvSpPr/>
          <p:nvPr/>
        </p:nvSpPr>
        <p:spPr>
          <a:xfrm>
            <a:off x="671184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Like spotting a cat in a photo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28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Rectangle 29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30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So...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more like a curious, well-read kid than a calculator that just memorizes formulas.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567000" y="457200"/>
            <a:ext cx="373032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1005840" y="457200"/>
            <a:ext cx="3730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Here's a comparison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learns from examples, like you with cats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The key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Nobody told it cats have whiskers and tails — it figured that out from lots of examples.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14"/>
          <p:cNvSpPr/>
          <p:nvPr/>
        </p:nvSpPr>
        <p:spPr>
          <a:xfrm>
            <a:off x="36576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ounded Rectangle 15"/>
          <p:cNvSpPr/>
          <p:nvPr/>
        </p:nvSpPr>
        <p:spPr>
          <a:xfrm>
            <a:off x="54864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54864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did YOU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Oval 17"/>
          <p:cNvSpPr/>
          <p:nvPr/>
        </p:nvSpPr>
        <p:spPr>
          <a:xfrm>
            <a:off x="704160" y="248724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4" name="Picture 18" descr="cat.png"/>
          <p:cNvPicPr/>
          <p:nvPr/>
        </p:nvPicPr>
        <p:blipFill>
          <a:blip r:embed="rId1"/>
          <a:stretch/>
        </p:blipFill>
        <p:spPr>
          <a:xfrm>
            <a:off x="80460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Oval 19"/>
          <p:cNvSpPr/>
          <p:nvPr/>
        </p:nvSpPr>
        <p:spPr>
          <a:xfrm>
            <a:off x="1435680" y="2487240"/>
            <a:ext cx="456840" cy="4568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6" name="Picture 20" descr="cat.png"/>
          <p:cNvPicPr/>
          <p:nvPr/>
        </p:nvPicPr>
        <p:blipFill>
          <a:blip r:embed="rId2"/>
          <a:stretch/>
        </p:blipFill>
        <p:spPr>
          <a:xfrm>
            <a:off x="153612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Oval 21"/>
          <p:cNvSpPr/>
          <p:nvPr/>
        </p:nvSpPr>
        <p:spPr>
          <a:xfrm>
            <a:off x="2167200" y="2487240"/>
            <a:ext cx="456840" cy="45684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Picture 22" descr="cat.png"/>
          <p:cNvPicPr/>
          <p:nvPr/>
        </p:nvPicPr>
        <p:blipFill>
          <a:blip r:embed="rId3"/>
          <a:stretch/>
        </p:blipFill>
        <p:spPr>
          <a:xfrm>
            <a:off x="226764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Oval 23"/>
          <p:cNvSpPr/>
          <p:nvPr/>
        </p:nvSpPr>
        <p:spPr>
          <a:xfrm>
            <a:off x="1069920" y="3035880"/>
            <a:ext cx="456840" cy="45684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24" descr="cat.png"/>
          <p:cNvPicPr/>
          <p:nvPr/>
        </p:nvPicPr>
        <p:blipFill>
          <a:blip r:embed="rId4"/>
          <a:stretch/>
        </p:blipFill>
        <p:spPr>
          <a:xfrm>
            <a:off x="117036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Oval 25"/>
          <p:cNvSpPr/>
          <p:nvPr/>
        </p:nvSpPr>
        <p:spPr>
          <a:xfrm>
            <a:off x="1801440" y="30358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Picture 26" descr="cat.png"/>
          <p:cNvPicPr/>
          <p:nvPr/>
        </p:nvPicPr>
        <p:blipFill>
          <a:blip r:embed="rId5"/>
          <a:stretch/>
        </p:blipFill>
        <p:spPr>
          <a:xfrm>
            <a:off x="190188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Oval 27"/>
          <p:cNvSpPr/>
          <p:nvPr/>
        </p:nvSpPr>
        <p:spPr>
          <a:xfrm>
            <a:off x="2532960" y="303588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4" name="Picture 28" descr="cat.png"/>
          <p:cNvPicPr/>
          <p:nvPr/>
        </p:nvPicPr>
        <p:blipFill>
          <a:blip r:embed="rId6"/>
          <a:stretch/>
        </p:blipFill>
        <p:spPr>
          <a:xfrm>
            <a:off x="263340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Box 29"/>
          <p:cNvSpPr/>
          <p:nvPr/>
        </p:nvSpPr>
        <p:spPr>
          <a:xfrm>
            <a:off x="54864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lots of cats → learned what cats look like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30"/>
          <p:cNvSpPr/>
          <p:nvPr/>
        </p:nvSpPr>
        <p:spPr>
          <a:xfrm>
            <a:off x="475488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493776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32"/>
          <p:cNvSpPr/>
          <p:nvPr/>
        </p:nvSpPr>
        <p:spPr>
          <a:xfrm>
            <a:off x="493776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does AI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33"/>
          <p:cNvSpPr/>
          <p:nvPr/>
        </p:nvSpPr>
        <p:spPr>
          <a:xfrm>
            <a:off x="53218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0" name="Picture 34" descr="cat_3D9BE9.png"/>
          <p:cNvPicPr/>
          <p:nvPr/>
        </p:nvPicPr>
        <p:blipFill>
          <a:blip r:embed="rId7"/>
          <a:stretch/>
        </p:blipFill>
        <p:spPr>
          <a:xfrm>
            <a:off x="53949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Rounded Rectangle 35"/>
          <p:cNvSpPr/>
          <p:nvPr/>
        </p:nvSpPr>
        <p:spPr>
          <a:xfrm>
            <a:off x="58338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2" name="Picture 36" descr="cat_3D9BE9.png"/>
          <p:cNvPicPr/>
          <p:nvPr/>
        </p:nvPicPr>
        <p:blipFill>
          <a:blip r:embed="rId8"/>
          <a:stretch/>
        </p:blipFill>
        <p:spPr>
          <a:xfrm>
            <a:off x="59068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Rounded Rectangle 37"/>
          <p:cNvSpPr/>
          <p:nvPr/>
        </p:nvSpPr>
        <p:spPr>
          <a:xfrm>
            <a:off x="63460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4" name="Picture 38" descr="cat_3D9BE9.png"/>
          <p:cNvPicPr/>
          <p:nvPr/>
        </p:nvPicPr>
        <p:blipFill>
          <a:blip r:embed="rId9"/>
          <a:stretch/>
        </p:blipFill>
        <p:spPr>
          <a:xfrm>
            <a:off x="64191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Rounded Rectangle 39"/>
          <p:cNvSpPr/>
          <p:nvPr/>
        </p:nvSpPr>
        <p:spPr>
          <a:xfrm>
            <a:off x="68580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6" name="Picture 40" descr="cat_3D9BE9.png"/>
          <p:cNvPicPr/>
          <p:nvPr/>
        </p:nvPicPr>
        <p:blipFill>
          <a:blip r:embed="rId10"/>
          <a:stretch/>
        </p:blipFill>
        <p:spPr>
          <a:xfrm>
            <a:off x="69310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Rounded Rectangle 41"/>
          <p:cNvSpPr/>
          <p:nvPr/>
        </p:nvSpPr>
        <p:spPr>
          <a:xfrm>
            <a:off x="53218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Picture 42" descr="cat_3D9BE9.png"/>
          <p:cNvPicPr/>
          <p:nvPr/>
        </p:nvPicPr>
        <p:blipFill>
          <a:blip r:embed="rId11"/>
          <a:stretch/>
        </p:blipFill>
        <p:spPr>
          <a:xfrm>
            <a:off x="53949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Rounded Rectangle 43"/>
          <p:cNvSpPr/>
          <p:nvPr/>
        </p:nvSpPr>
        <p:spPr>
          <a:xfrm>
            <a:off x="58338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Picture 44" descr="cat_3D9BE9.png"/>
          <p:cNvPicPr/>
          <p:nvPr/>
        </p:nvPicPr>
        <p:blipFill>
          <a:blip r:embed="rId12"/>
          <a:stretch/>
        </p:blipFill>
        <p:spPr>
          <a:xfrm>
            <a:off x="59068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Rounded Rectangle 45"/>
          <p:cNvSpPr/>
          <p:nvPr/>
        </p:nvSpPr>
        <p:spPr>
          <a:xfrm>
            <a:off x="63460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2" name="Picture 46" descr="cat_3D9BE9.png"/>
          <p:cNvPicPr/>
          <p:nvPr/>
        </p:nvPicPr>
        <p:blipFill>
          <a:blip r:embed="rId13"/>
          <a:stretch/>
        </p:blipFill>
        <p:spPr>
          <a:xfrm>
            <a:off x="64191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Rounded Rectangle 47"/>
          <p:cNvSpPr/>
          <p:nvPr/>
        </p:nvSpPr>
        <p:spPr>
          <a:xfrm>
            <a:off x="68580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Picture 48" descr="cat_3D9BE9.png"/>
          <p:cNvPicPr/>
          <p:nvPr/>
        </p:nvPicPr>
        <p:blipFill>
          <a:blip r:embed="rId14"/>
          <a:stretch/>
        </p:blipFill>
        <p:spPr>
          <a:xfrm>
            <a:off x="69310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49"/>
          <p:cNvSpPr/>
          <p:nvPr/>
        </p:nvSpPr>
        <p:spPr>
          <a:xfrm>
            <a:off x="493776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thousands of photos → learned to spot a cat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Oval 50"/>
          <p:cNvSpPr/>
          <p:nvPr/>
        </p:nvSpPr>
        <p:spPr>
          <a:xfrm>
            <a:off x="4288680" y="2565000"/>
            <a:ext cx="566640" cy="566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51"/>
          <p:cNvSpPr/>
          <p:nvPr/>
        </p:nvSpPr>
        <p:spPr>
          <a:xfrm>
            <a:off x="4288680" y="25650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=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ounded Rectangle 5"/>
          <p:cNvSpPr/>
          <p:nvPr/>
        </p:nvSpPr>
        <p:spPr>
          <a:xfrm>
            <a:off x="567000" y="457200"/>
            <a:ext cx="285264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1005840" y="457200"/>
            <a:ext cx="2852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A little more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The more it practices, the better it gets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28" name="Connector 11"/>
          <p:cNvCxnSpPr/>
          <p:nvPr/>
        </p:nvCxnSpPr>
        <p:spPr>
          <a:xfrm>
            <a:off x="340920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29" name="Connector 12"/>
          <p:cNvCxnSpPr/>
          <p:nvPr/>
        </p:nvCxnSpPr>
        <p:spPr>
          <a:xfrm flipH="1">
            <a:off x="340920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0" name="Connector 13"/>
          <p:cNvCxnSpPr/>
          <p:nvPr/>
        </p:nvCxnSpPr>
        <p:spPr>
          <a:xfrm flipH="1" flipV="1">
            <a:off x="179532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1" name="Connector 14"/>
          <p:cNvCxnSpPr/>
          <p:nvPr/>
        </p:nvCxnSpPr>
        <p:spPr>
          <a:xfrm flipV="1">
            <a:off x="179532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sp>
        <p:nvSpPr>
          <p:cNvPr id="332" name="Rounded Rectangle 15"/>
          <p:cNvSpPr/>
          <p:nvPr/>
        </p:nvSpPr>
        <p:spPr>
          <a:xfrm>
            <a:off x="2858040" y="2622240"/>
            <a:ext cx="44640" cy="224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Oval 16"/>
          <p:cNvSpPr/>
          <p:nvPr/>
        </p:nvSpPr>
        <p:spPr>
          <a:xfrm>
            <a:off x="2813040" y="2539800"/>
            <a:ext cx="134640" cy="134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4-Point Star 17"/>
          <p:cNvSpPr/>
          <p:nvPr/>
        </p:nvSpPr>
        <p:spPr>
          <a:xfrm>
            <a:off x="2842920" y="2569680"/>
            <a:ext cx="74520" cy="745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680" rIns="90000" bIns="-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2453040" y="3072240"/>
            <a:ext cx="66960" cy="1645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Rounded Rectangle 19"/>
          <p:cNvSpPr/>
          <p:nvPr/>
        </p:nvSpPr>
        <p:spPr>
          <a:xfrm>
            <a:off x="3240360" y="3072240"/>
            <a:ext cx="66960" cy="1645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ounded Rectangle 20"/>
          <p:cNvSpPr/>
          <p:nvPr/>
        </p:nvSpPr>
        <p:spPr>
          <a:xfrm>
            <a:off x="2505600" y="2832120"/>
            <a:ext cx="749520" cy="644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ounded Rectangle 21"/>
          <p:cNvSpPr/>
          <p:nvPr/>
        </p:nvSpPr>
        <p:spPr>
          <a:xfrm>
            <a:off x="2595600" y="2969640"/>
            <a:ext cx="569520" cy="3996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Oval 22"/>
          <p:cNvSpPr/>
          <p:nvPr/>
        </p:nvSpPr>
        <p:spPr>
          <a:xfrm>
            <a:off x="2704320" y="3087000"/>
            <a:ext cx="100800" cy="100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Oval 23"/>
          <p:cNvSpPr/>
          <p:nvPr/>
        </p:nvSpPr>
        <p:spPr>
          <a:xfrm>
            <a:off x="2732760" y="3121560"/>
            <a:ext cx="44280" cy="442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3680" rIns="90000" bIns="-13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Oval 24"/>
          <p:cNvSpPr/>
          <p:nvPr/>
        </p:nvSpPr>
        <p:spPr>
          <a:xfrm>
            <a:off x="2727720" y="3110400"/>
            <a:ext cx="21960" cy="21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25"/>
          <p:cNvSpPr/>
          <p:nvPr/>
        </p:nvSpPr>
        <p:spPr>
          <a:xfrm>
            <a:off x="2955240" y="3087000"/>
            <a:ext cx="100800" cy="100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26"/>
          <p:cNvSpPr/>
          <p:nvPr/>
        </p:nvSpPr>
        <p:spPr>
          <a:xfrm>
            <a:off x="2983320" y="3121560"/>
            <a:ext cx="44280" cy="442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3680" rIns="90000" bIns="-13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Oval 27"/>
          <p:cNvSpPr/>
          <p:nvPr/>
        </p:nvSpPr>
        <p:spPr>
          <a:xfrm>
            <a:off x="2978280" y="3110400"/>
            <a:ext cx="21960" cy="21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Oval 28"/>
          <p:cNvSpPr/>
          <p:nvPr/>
        </p:nvSpPr>
        <p:spPr>
          <a:xfrm>
            <a:off x="2693520" y="3192480"/>
            <a:ext cx="82080" cy="820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Oval 29"/>
          <p:cNvSpPr/>
          <p:nvPr/>
        </p:nvSpPr>
        <p:spPr>
          <a:xfrm>
            <a:off x="2984760" y="3192480"/>
            <a:ext cx="82080" cy="820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Arc 30"/>
          <p:cNvSpPr/>
          <p:nvPr/>
        </p:nvSpPr>
        <p:spPr>
          <a:xfrm>
            <a:off x="2768040" y="3139560"/>
            <a:ext cx="224640" cy="2246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332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Oval 31"/>
          <p:cNvSpPr/>
          <p:nvPr/>
        </p:nvSpPr>
        <p:spPr>
          <a:xfrm>
            <a:off x="2432160" y="1334880"/>
            <a:ext cx="895680" cy="895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9" name="Picture 32" descr="lightbulb.png"/>
          <p:cNvPicPr/>
          <p:nvPr/>
        </p:nvPicPr>
        <p:blipFill>
          <a:blip r:embed="rId1"/>
          <a:stretch/>
        </p:blipFill>
        <p:spPr>
          <a:xfrm>
            <a:off x="2629440" y="15321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Box 33"/>
          <p:cNvSpPr/>
          <p:nvPr/>
        </p:nvSpPr>
        <p:spPr>
          <a:xfrm>
            <a:off x="2011680" y="22586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Take a guess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Oval 34"/>
          <p:cNvSpPr/>
          <p:nvPr/>
        </p:nvSpPr>
        <p:spPr>
          <a:xfrm>
            <a:off x="3803760" y="2706480"/>
            <a:ext cx="895680" cy="8956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2" name="Picture 35" descr="check-circle.png"/>
          <p:cNvPicPr/>
          <p:nvPr/>
        </p:nvPicPr>
        <p:blipFill>
          <a:blip r:embed="rId2"/>
          <a:stretch/>
        </p:blipFill>
        <p:spPr>
          <a:xfrm>
            <a:off x="40010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36"/>
          <p:cNvSpPr/>
          <p:nvPr/>
        </p:nvSpPr>
        <p:spPr>
          <a:xfrm>
            <a:off x="33832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if it's right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Oval 37"/>
          <p:cNvSpPr/>
          <p:nvPr/>
        </p:nvSpPr>
        <p:spPr>
          <a:xfrm>
            <a:off x="2432160" y="3877200"/>
            <a:ext cx="895680" cy="8956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5" name="Picture 38" descr="wrench.png"/>
          <p:cNvPicPr/>
          <p:nvPr/>
        </p:nvPicPr>
        <p:blipFill>
          <a:blip r:embed="rId3"/>
          <a:stretch/>
        </p:blipFill>
        <p:spPr>
          <a:xfrm>
            <a:off x="2629440" y="407412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39"/>
          <p:cNvSpPr/>
          <p:nvPr/>
        </p:nvSpPr>
        <p:spPr>
          <a:xfrm>
            <a:off x="2011680" y="480060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Make it better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Oval 40"/>
          <p:cNvSpPr/>
          <p:nvPr/>
        </p:nvSpPr>
        <p:spPr>
          <a:xfrm>
            <a:off x="1060560" y="2706480"/>
            <a:ext cx="895680" cy="8956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8" name="Picture 41" descr="arrows-clockwise.png"/>
          <p:cNvPicPr/>
          <p:nvPr/>
        </p:nvPicPr>
        <p:blipFill>
          <a:blip r:embed="rId4"/>
          <a:stretch/>
        </p:blipFill>
        <p:spPr>
          <a:xfrm>
            <a:off x="12578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TextBox 42"/>
          <p:cNvSpPr/>
          <p:nvPr/>
        </p:nvSpPr>
        <p:spPr>
          <a:xfrm>
            <a:off x="6400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Try again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43"/>
          <p:cNvSpPr/>
          <p:nvPr/>
        </p:nvSpPr>
        <p:spPr>
          <a:xfrm>
            <a:off x="5074920" y="1965960"/>
            <a:ext cx="3565800" cy="2102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Oval 44"/>
          <p:cNvSpPr/>
          <p:nvPr/>
        </p:nvSpPr>
        <p:spPr>
          <a:xfrm>
            <a:off x="5257800" y="2185560"/>
            <a:ext cx="767880" cy="767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62" name="Picture 45" descr="target.png"/>
          <p:cNvPicPr/>
          <p:nvPr/>
        </p:nvPicPr>
        <p:blipFill>
          <a:blip r:embed="rId5"/>
          <a:stretch/>
        </p:blipFill>
        <p:spPr>
          <a:xfrm>
            <a:off x="5426640" y="2354400"/>
            <a:ext cx="429840" cy="42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Box 46"/>
          <p:cNvSpPr/>
          <p:nvPr/>
        </p:nvSpPr>
        <p:spPr>
          <a:xfrm>
            <a:off x="6135480" y="2277000"/>
            <a:ext cx="237708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Just like riding a bike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47"/>
          <p:cNvSpPr/>
          <p:nvPr/>
        </p:nvSpPr>
        <p:spPr>
          <a:xfrm>
            <a:off x="6135480" y="264276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Wobbly and falling at first,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then steady with practice.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48"/>
          <p:cNvSpPr/>
          <p:nvPr/>
        </p:nvSpPr>
        <p:spPr>
          <a:xfrm>
            <a:off x="5385960" y="333756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does the same: guess, check,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fix, try again. Practice pays off.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567000" y="457200"/>
            <a:ext cx="3584160" cy="365400"/>
          </a:xfrm>
          <a:prstGeom prst="roundRect">
            <a:avLst>
              <a:gd name="adj" fmla="val 50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7"/>
          <p:cNvSpPr/>
          <p:nvPr/>
        </p:nvSpPr>
        <p:spPr>
          <a:xfrm>
            <a:off x="1005840" y="457200"/>
            <a:ext cx="358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③ What it's great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Great memory, super fast, never tired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Oval 19"/>
          <p:cNvSpPr/>
          <p:nvPr/>
        </p:nvSpPr>
        <p:spPr>
          <a:xfrm>
            <a:off x="820548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Oval 22"/>
          <p:cNvSpPr/>
          <p:nvPr/>
        </p:nvSpPr>
        <p:spPr>
          <a:xfrm>
            <a:off x="846540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Oval 26"/>
          <p:cNvSpPr/>
          <p:nvPr/>
        </p:nvSpPr>
        <p:spPr>
          <a:xfrm>
            <a:off x="8312400" y="1121400"/>
            <a:ext cx="108360" cy="10836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1680" rIns="90000" bIns="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Oval 27"/>
          <p:cNvSpPr/>
          <p:nvPr/>
        </p:nvSpPr>
        <p:spPr>
          <a:xfrm>
            <a:off x="8339400" y="1148760"/>
            <a:ext cx="54000" cy="540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ounded Rectangle 28"/>
          <p:cNvSpPr/>
          <p:nvPr/>
        </p:nvSpPr>
        <p:spPr>
          <a:xfrm>
            <a:off x="56700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69480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Oval 30"/>
          <p:cNvSpPr/>
          <p:nvPr/>
        </p:nvSpPr>
        <p:spPr>
          <a:xfrm>
            <a:off x="86868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Picture 31" descr="brain.png"/>
          <p:cNvPicPr/>
          <p:nvPr/>
        </p:nvPicPr>
        <p:blipFill>
          <a:blip r:embed="rId1"/>
          <a:stretch/>
        </p:blipFill>
        <p:spPr>
          <a:xfrm>
            <a:off x="104976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Box 32"/>
          <p:cNvSpPr/>
          <p:nvPr/>
        </p:nvSpPr>
        <p:spPr>
          <a:xfrm>
            <a:off x="177408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Amazing 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3"/>
          <p:cNvSpPr/>
          <p:nvPr/>
        </p:nvSpPr>
        <p:spPr>
          <a:xfrm>
            <a:off x="177408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Remembers everything it sees, even tons of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ounded Rectangle 34"/>
          <p:cNvSpPr/>
          <p:nvPr/>
        </p:nvSpPr>
        <p:spPr>
          <a:xfrm>
            <a:off x="477324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ounded Rectangle 35"/>
          <p:cNvSpPr/>
          <p:nvPr/>
        </p:nvSpPr>
        <p:spPr>
          <a:xfrm>
            <a:off x="490104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Oval 36"/>
          <p:cNvSpPr/>
          <p:nvPr/>
        </p:nvSpPr>
        <p:spPr>
          <a:xfrm>
            <a:off x="507492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2" name="Picture 37" descr="lightning.png"/>
          <p:cNvPicPr/>
          <p:nvPr/>
        </p:nvPicPr>
        <p:blipFill>
          <a:blip r:embed="rId2"/>
          <a:stretch/>
        </p:blipFill>
        <p:spPr>
          <a:xfrm>
            <a:off x="525600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TextBox 38"/>
          <p:cNvSpPr/>
          <p:nvPr/>
        </p:nvSpPr>
        <p:spPr>
          <a:xfrm>
            <a:off x="598032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Lightning fast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39"/>
          <p:cNvSpPr/>
          <p:nvPr/>
        </p:nvSpPr>
        <p:spPr>
          <a:xfrm>
            <a:off x="598032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Crunches through loads in the blink of an eye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ounded Rectangle 40"/>
          <p:cNvSpPr/>
          <p:nvPr/>
        </p:nvSpPr>
        <p:spPr>
          <a:xfrm>
            <a:off x="56700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Rounded Rectangle 41"/>
          <p:cNvSpPr/>
          <p:nvPr/>
        </p:nvSpPr>
        <p:spPr>
          <a:xfrm>
            <a:off x="69480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Oval 42"/>
          <p:cNvSpPr/>
          <p:nvPr/>
        </p:nvSpPr>
        <p:spPr>
          <a:xfrm>
            <a:off x="86868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8" name="Picture 43" descr="infinity.png"/>
          <p:cNvPicPr/>
          <p:nvPr/>
        </p:nvPicPr>
        <p:blipFill>
          <a:blip r:embed="rId3"/>
          <a:stretch/>
        </p:blipFill>
        <p:spPr>
          <a:xfrm>
            <a:off x="104976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44"/>
          <p:cNvSpPr/>
          <p:nvPr/>
        </p:nvSpPr>
        <p:spPr>
          <a:xfrm>
            <a:off x="177408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Never gets tired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45"/>
          <p:cNvSpPr/>
          <p:nvPr/>
        </p:nvSpPr>
        <p:spPr>
          <a:xfrm>
            <a:off x="177408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 repeat the same task 10,000 times, no complaints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46"/>
          <p:cNvSpPr/>
          <p:nvPr/>
        </p:nvSpPr>
        <p:spPr>
          <a:xfrm>
            <a:off x="477324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ounded Rectangle 47"/>
          <p:cNvSpPr/>
          <p:nvPr/>
        </p:nvSpPr>
        <p:spPr>
          <a:xfrm>
            <a:off x="490104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Oval 48"/>
          <p:cNvSpPr/>
          <p:nvPr/>
        </p:nvSpPr>
        <p:spPr>
          <a:xfrm>
            <a:off x="507492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4" name="Picture 49" descr="magnifying-glass.png"/>
          <p:cNvPicPr/>
          <p:nvPr/>
        </p:nvPicPr>
        <p:blipFill>
          <a:blip r:embed="rId4"/>
          <a:stretch/>
        </p:blipFill>
        <p:spPr>
          <a:xfrm>
            <a:off x="525600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50"/>
          <p:cNvSpPr/>
          <p:nvPr/>
        </p:nvSpPr>
        <p:spPr>
          <a:xfrm>
            <a:off x="598032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Pattern pro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1"/>
          <p:cNvSpPr/>
          <p:nvPr/>
        </p:nvSpPr>
        <p:spPr>
          <a:xfrm>
            <a:off x="598032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Picks out the look-alikes in a huge pile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Rounded Rectangle 5"/>
          <p:cNvSpPr/>
          <p:nvPr/>
        </p:nvSpPr>
        <p:spPr>
          <a:xfrm>
            <a:off x="567000" y="457200"/>
            <a:ext cx="446184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1005840" y="457200"/>
            <a:ext cx="4461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③ What it's not so good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makes mistakes — and sounds very 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Remember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Think for yourself about what it says — when you're not sure, ask a grown-up.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14"/>
          <p:cNvSpPr/>
          <p:nvPr/>
        </p:nvSpPr>
        <p:spPr>
          <a:xfrm>
            <a:off x="906480" y="1897920"/>
            <a:ext cx="51840" cy="2602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Oval 15"/>
          <p:cNvSpPr/>
          <p:nvPr/>
        </p:nvSpPr>
        <p:spPr>
          <a:xfrm>
            <a:off x="854640" y="1802160"/>
            <a:ext cx="155880" cy="15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4-Point Star 16"/>
          <p:cNvSpPr/>
          <p:nvPr/>
        </p:nvSpPr>
        <p:spPr>
          <a:xfrm>
            <a:off x="889200" y="1837080"/>
            <a:ext cx="86400" cy="86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Rounded Rectangle 17"/>
          <p:cNvSpPr/>
          <p:nvPr/>
        </p:nvSpPr>
        <p:spPr>
          <a:xfrm>
            <a:off x="43740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Rounded Rectangle 18"/>
          <p:cNvSpPr/>
          <p:nvPr/>
        </p:nvSpPr>
        <p:spPr>
          <a:xfrm>
            <a:off x="134964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Rounded Rectangle 19"/>
          <p:cNvSpPr/>
          <p:nvPr/>
        </p:nvSpPr>
        <p:spPr>
          <a:xfrm>
            <a:off x="498240" y="2140920"/>
            <a:ext cx="868320" cy="7466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ounded Rectangle 20"/>
          <p:cNvSpPr/>
          <p:nvPr/>
        </p:nvSpPr>
        <p:spPr>
          <a:xfrm>
            <a:off x="602640" y="2300400"/>
            <a:ext cx="659880" cy="46296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Oval 21"/>
          <p:cNvSpPr/>
          <p:nvPr/>
        </p:nvSpPr>
        <p:spPr>
          <a:xfrm>
            <a:off x="72864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Oval 22"/>
          <p:cNvSpPr/>
          <p:nvPr/>
        </p:nvSpPr>
        <p:spPr>
          <a:xfrm>
            <a:off x="76176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9" name="Oval 23"/>
          <p:cNvSpPr/>
          <p:nvPr/>
        </p:nvSpPr>
        <p:spPr>
          <a:xfrm>
            <a:off x="75564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Oval 24"/>
          <p:cNvSpPr/>
          <p:nvPr/>
        </p:nvSpPr>
        <p:spPr>
          <a:xfrm>
            <a:off x="101916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Oval 25"/>
          <p:cNvSpPr/>
          <p:nvPr/>
        </p:nvSpPr>
        <p:spPr>
          <a:xfrm>
            <a:off x="105228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Oval 26"/>
          <p:cNvSpPr/>
          <p:nvPr/>
        </p:nvSpPr>
        <p:spPr>
          <a:xfrm>
            <a:off x="104616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Oval 27"/>
          <p:cNvSpPr/>
          <p:nvPr/>
        </p:nvSpPr>
        <p:spPr>
          <a:xfrm>
            <a:off x="71604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Oval 28"/>
          <p:cNvSpPr/>
          <p:nvPr/>
        </p:nvSpPr>
        <p:spPr>
          <a:xfrm>
            <a:off x="105372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Arc 29"/>
          <p:cNvSpPr/>
          <p:nvPr/>
        </p:nvSpPr>
        <p:spPr>
          <a:xfrm>
            <a:off x="802440" y="2497320"/>
            <a:ext cx="260280" cy="26028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86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ounded Rectangle 30"/>
          <p:cNvSpPr/>
          <p:nvPr/>
        </p:nvSpPr>
        <p:spPr>
          <a:xfrm>
            <a:off x="1508760" y="2020680"/>
            <a:ext cx="2932560" cy="868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cap="rnd" w="27940">
            <a:solidFill>
              <a:srgbClr val="FF6B6B"/>
            </a:solidFill>
            <a:round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Oval 31"/>
          <p:cNvSpPr/>
          <p:nvPr/>
        </p:nvSpPr>
        <p:spPr>
          <a:xfrm>
            <a:off x="1398960" y="2559240"/>
            <a:ext cx="145800" cy="14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Oval 32"/>
          <p:cNvSpPr/>
          <p:nvPr/>
        </p:nvSpPr>
        <p:spPr>
          <a:xfrm>
            <a:off x="1490400" y="2650680"/>
            <a:ext cx="91080" cy="91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33"/>
          <p:cNvSpPr/>
          <p:nvPr/>
        </p:nvSpPr>
        <p:spPr>
          <a:xfrm>
            <a:off x="1710000" y="2112120"/>
            <a:ext cx="2530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“Dinosaurs still live in Antarctica!”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Oval 34"/>
          <p:cNvSpPr/>
          <p:nvPr/>
        </p:nvSpPr>
        <p:spPr>
          <a:xfrm>
            <a:off x="1545480" y="2615040"/>
            <a:ext cx="383760" cy="3837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1" name="Picture 35" descr="x.png"/>
          <p:cNvPicPr/>
          <p:nvPr/>
        </p:nvPicPr>
        <p:blipFill>
          <a:blip r:embed="rId1"/>
          <a:stretch/>
        </p:blipFill>
        <p:spPr>
          <a:xfrm>
            <a:off x="1629720" y="2699640"/>
            <a:ext cx="214560" cy="21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TextBox 36"/>
          <p:cNvSpPr/>
          <p:nvPr/>
        </p:nvSpPr>
        <p:spPr>
          <a:xfrm>
            <a:off x="502920" y="3337560"/>
            <a:ext cx="3938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sounds so sure, but it's made up 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grown-ups call this “confidently wrong.”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37"/>
          <p:cNvSpPr/>
          <p:nvPr/>
        </p:nvSpPr>
        <p:spPr>
          <a:xfrm>
            <a:off x="4853160" y="187452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Oval 38"/>
          <p:cNvSpPr/>
          <p:nvPr/>
        </p:nvSpPr>
        <p:spPr>
          <a:xfrm>
            <a:off x="5045040" y="189288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5" name="Picture 39" descr="x-circle.png"/>
          <p:cNvPicPr/>
          <p:nvPr/>
        </p:nvPicPr>
        <p:blipFill>
          <a:blip r:embed="rId2"/>
          <a:stretch/>
        </p:blipFill>
        <p:spPr>
          <a:xfrm>
            <a:off x="5161680" y="200952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Box 40"/>
          <p:cNvSpPr/>
          <p:nvPr/>
        </p:nvSpPr>
        <p:spPr>
          <a:xfrm>
            <a:off x="5694120" y="186552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Doesn't “really get it”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41"/>
          <p:cNvSpPr/>
          <p:nvPr/>
        </p:nvSpPr>
        <p:spPr>
          <a:xfrm>
            <a:off x="5694120" y="218556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Matches patterns, doesn't get 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ounded Rectangle 42"/>
          <p:cNvSpPr/>
          <p:nvPr/>
        </p:nvSpPr>
        <p:spPr>
          <a:xfrm>
            <a:off x="4853160" y="258768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9" name="Oval 43"/>
          <p:cNvSpPr/>
          <p:nvPr/>
        </p:nvSpPr>
        <p:spPr>
          <a:xfrm>
            <a:off x="5045040" y="260604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0" name="Picture 44" descr="x-circle.png"/>
          <p:cNvPicPr/>
          <p:nvPr/>
        </p:nvPicPr>
        <p:blipFill>
          <a:blip r:embed="rId3"/>
          <a:stretch/>
        </p:blipFill>
        <p:spPr>
          <a:xfrm>
            <a:off x="5161680" y="272268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Box 45"/>
          <p:cNvSpPr/>
          <p:nvPr/>
        </p:nvSpPr>
        <p:spPr>
          <a:xfrm>
            <a:off x="5694120" y="257868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Jumps to conclusions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46"/>
          <p:cNvSpPr/>
          <p:nvPr/>
        </p:nvSpPr>
        <p:spPr>
          <a:xfrm>
            <a:off x="5694120" y="289872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New things trip it 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Rounded Rectangle 47"/>
          <p:cNvSpPr/>
          <p:nvPr/>
        </p:nvSpPr>
        <p:spPr>
          <a:xfrm>
            <a:off x="4853160" y="330084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Oval 48"/>
          <p:cNvSpPr/>
          <p:nvPr/>
        </p:nvSpPr>
        <p:spPr>
          <a:xfrm>
            <a:off x="5045040" y="331920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Picture 49" descr="x-circle.png"/>
          <p:cNvPicPr/>
          <p:nvPr/>
        </p:nvPicPr>
        <p:blipFill>
          <a:blip r:embed="rId4"/>
          <a:stretch/>
        </p:blipFill>
        <p:spPr>
          <a:xfrm>
            <a:off x="5161680" y="343584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50"/>
          <p:cNvSpPr/>
          <p:nvPr/>
        </p:nvSpPr>
        <p:spPr>
          <a:xfrm>
            <a:off x="5694120" y="329184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 common sense or feelings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51"/>
          <p:cNvSpPr/>
          <p:nvPr/>
        </p:nvSpPr>
        <p:spPr>
          <a:xfrm>
            <a:off x="5694120" y="361188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Can't tell why you're sad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Rounded Rectangle 5"/>
          <p:cNvSpPr/>
          <p:nvPr/>
        </p:nvSpPr>
        <p:spPr>
          <a:xfrm>
            <a:off x="567000" y="457200"/>
            <a:ext cx="4608360" cy="365400"/>
          </a:xfrm>
          <a:prstGeom prst="roundRect">
            <a:avLst>
              <a:gd name="adj" fmla="val 50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1005840" y="457200"/>
            <a:ext cx="460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④ Tips for working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clear, double-check, you decide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Rounded Rectangle 11"/>
          <p:cNvSpPr/>
          <p:nvPr/>
        </p:nvSpPr>
        <p:spPr>
          <a:xfrm>
            <a:off x="8296200" y="513000"/>
            <a:ext cx="48960" cy="2466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12"/>
          <p:cNvSpPr/>
          <p:nvPr/>
        </p:nvSpPr>
        <p:spPr>
          <a:xfrm>
            <a:off x="8246880" y="422280"/>
            <a:ext cx="147600" cy="147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4-Point Star 13"/>
          <p:cNvSpPr/>
          <p:nvPr/>
        </p:nvSpPr>
        <p:spPr>
          <a:xfrm>
            <a:off x="8280000" y="455400"/>
            <a:ext cx="82080" cy="820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600" rIns="90000" bIns="-30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Rounded Rectangle 14"/>
          <p:cNvSpPr/>
          <p:nvPr/>
        </p:nvSpPr>
        <p:spPr>
          <a:xfrm>
            <a:off x="7851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ounded Rectangle 15"/>
          <p:cNvSpPr/>
          <p:nvPr/>
        </p:nvSpPr>
        <p:spPr>
          <a:xfrm>
            <a:off x="8715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Rounded Rectangle 16"/>
          <p:cNvSpPr/>
          <p:nvPr/>
        </p:nvSpPr>
        <p:spPr>
          <a:xfrm>
            <a:off x="7909560" y="743400"/>
            <a:ext cx="822600" cy="707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Rounded Rectangle 17"/>
          <p:cNvSpPr/>
          <p:nvPr/>
        </p:nvSpPr>
        <p:spPr>
          <a:xfrm>
            <a:off x="8008200" y="894240"/>
            <a:ext cx="624960" cy="43848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5" name="Oval 18"/>
          <p:cNvSpPr/>
          <p:nvPr/>
        </p:nvSpPr>
        <p:spPr>
          <a:xfrm>
            <a:off x="81277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Oval 19"/>
          <p:cNvSpPr/>
          <p:nvPr/>
        </p:nvSpPr>
        <p:spPr>
          <a:xfrm>
            <a:off x="815904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Oval 20"/>
          <p:cNvSpPr/>
          <p:nvPr/>
        </p:nvSpPr>
        <p:spPr>
          <a:xfrm>
            <a:off x="81532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8" name="Oval 21"/>
          <p:cNvSpPr/>
          <p:nvPr/>
        </p:nvSpPr>
        <p:spPr>
          <a:xfrm>
            <a:off x="84031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9" name="Oval 22"/>
          <p:cNvSpPr/>
          <p:nvPr/>
        </p:nvSpPr>
        <p:spPr>
          <a:xfrm>
            <a:off x="843408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Oval 23"/>
          <p:cNvSpPr/>
          <p:nvPr/>
        </p:nvSpPr>
        <p:spPr>
          <a:xfrm>
            <a:off x="84286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Oval 24"/>
          <p:cNvSpPr/>
          <p:nvPr/>
        </p:nvSpPr>
        <p:spPr>
          <a:xfrm>
            <a:off x="811584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25"/>
          <p:cNvSpPr/>
          <p:nvPr/>
        </p:nvSpPr>
        <p:spPr>
          <a:xfrm>
            <a:off x="843552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Arc 26"/>
          <p:cNvSpPr/>
          <p:nvPr/>
        </p:nvSpPr>
        <p:spPr>
          <a:xfrm>
            <a:off x="8197560" y="1080720"/>
            <a:ext cx="246600" cy="2466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6576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Rounded Rectangle 27"/>
          <p:cNvSpPr/>
          <p:nvPr/>
        </p:nvSpPr>
        <p:spPr>
          <a:xfrm>
            <a:off x="603360" y="188352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28"/>
          <p:cNvSpPr/>
          <p:nvPr/>
        </p:nvSpPr>
        <p:spPr>
          <a:xfrm>
            <a:off x="75888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Box 29"/>
          <p:cNvSpPr/>
          <p:nvPr/>
        </p:nvSpPr>
        <p:spPr>
          <a:xfrm>
            <a:off x="758880" y="188352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Oval 30"/>
          <p:cNvSpPr/>
          <p:nvPr/>
        </p:nvSpPr>
        <p:spPr>
          <a:xfrm>
            <a:off x="138060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8" name="Picture 31" descr="chat-text.png"/>
          <p:cNvPicPr/>
          <p:nvPr/>
        </p:nvPicPr>
        <p:blipFill>
          <a:blip r:embed="rId1"/>
          <a:stretch/>
        </p:blipFill>
        <p:spPr>
          <a:xfrm>
            <a:off x="1481400" y="20574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Box 32"/>
          <p:cNvSpPr/>
          <p:nvPr/>
        </p:nvSpPr>
        <p:spPr>
          <a:xfrm>
            <a:off x="2020680" y="188352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clearly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33"/>
          <p:cNvSpPr/>
          <p:nvPr/>
        </p:nvSpPr>
        <p:spPr>
          <a:xfrm>
            <a:off x="3849480" y="203004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34"/>
          <p:cNvSpPr/>
          <p:nvPr/>
        </p:nvSpPr>
        <p:spPr>
          <a:xfrm>
            <a:off x="4060080" y="188352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The clearer you are, the better it helps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35"/>
          <p:cNvSpPr/>
          <p:nvPr/>
        </p:nvSpPr>
        <p:spPr>
          <a:xfrm>
            <a:off x="603360" y="265176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36"/>
          <p:cNvSpPr/>
          <p:nvPr/>
        </p:nvSpPr>
        <p:spPr>
          <a:xfrm>
            <a:off x="75888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Box 37"/>
          <p:cNvSpPr/>
          <p:nvPr/>
        </p:nvSpPr>
        <p:spPr>
          <a:xfrm>
            <a:off x="758880" y="265176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Oval 38"/>
          <p:cNvSpPr/>
          <p:nvPr/>
        </p:nvSpPr>
        <p:spPr>
          <a:xfrm>
            <a:off x="138060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Picture 39" descr="magnifying-glass.png"/>
          <p:cNvPicPr/>
          <p:nvPr/>
        </p:nvPicPr>
        <p:blipFill>
          <a:blip r:embed="rId2"/>
          <a:stretch/>
        </p:blipFill>
        <p:spPr>
          <a:xfrm>
            <a:off x="1481400" y="282564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Box 40"/>
          <p:cNvSpPr/>
          <p:nvPr/>
        </p:nvSpPr>
        <p:spPr>
          <a:xfrm>
            <a:off x="2020680" y="265176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Check the answers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Rounded Rectangle 41"/>
          <p:cNvSpPr/>
          <p:nvPr/>
        </p:nvSpPr>
        <p:spPr>
          <a:xfrm>
            <a:off x="3849480" y="279792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Box 42"/>
          <p:cNvSpPr/>
          <p:nvPr/>
        </p:nvSpPr>
        <p:spPr>
          <a:xfrm>
            <a:off x="4060080" y="265176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Use your head — don't just take it 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ounded Rectangle 43"/>
          <p:cNvSpPr/>
          <p:nvPr/>
        </p:nvSpPr>
        <p:spPr>
          <a:xfrm>
            <a:off x="603360" y="342000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44"/>
          <p:cNvSpPr/>
          <p:nvPr/>
        </p:nvSpPr>
        <p:spPr>
          <a:xfrm>
            <a:off x="75888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TextBox 45"/>
          <p:cNvSpPr/>
          <p:nvPr/>
        </p:nvSpPr>
        <p:spPr>
          <a:xfrm>
            <a:off x="758880" y="342000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Oval 46"/>
          <p:cNvSpPr/>
          <p:nvPr/>
        </p:nvSpPr>
        <p:spPr>
          <a:xfrm>
            <a:off x="138060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14" name="Picture 47" descr="users-three.png"/>
          <p:cNvPicPr/>
          <p:nvPr/>
        </p:nvPicPr>
        <p:blipFill>
          <a:blip r:embed="rId3"/>
          <a:stretch/>
        </p:blipFill>
        <p:spPr>
          <a:xfrm>
            <a:off x="1481400" y="3593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Box 48"/>
          <p:cNvSpPr/>
          <p:nvPr/>
        </p:nvSpPr>
        <p:spPr>
          <a:xfrm>
            <a:off x="2020680" y="342000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Rounded Rectangle 49"/>
          <p:cNvSpPr/>
          <p:nvPr/>
        </p:nvSpPr>
        <p:spPr>
          <a:xfrm>
            <a:off x="3849480" y="356616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50"/>
          <p:cNvSpPr/>
          <p:nvPr/>
        </p:nvSpPr>
        <p:spPr>
          <a:xfrm>
            <a:off x="4060080" y="342000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When unsure, ask teachers and parents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ounded Rectangle 51"/>
          <p:cNvSpPr/>
          <p:nvPr/>
        </p:nvSpPr>
        <p:spPr>
          <a:xfrm>
            <a:off x="603360" y="418788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52"/>
          <p:cNvSpPr/>
          <p:nvPr/>
        </p:nvSpPr>
        <p:spPr>
          <a:xfrm>
            <a:off x="75888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53"/>
          <p:cNvSpPr/>
          <p:nvPr/>
        </p:nvSpPr>
        <p:spPr>
          <a:xfrm>
            <a:off x="758880" y="418788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Oval 54"/>
          <p:cNvSpPr/>
          <p:nvPr/>
        </p:nvSpPr>
        <p:spPr>
          <a:xfrm>
            <a:off x="138060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Picture 55" descr="crown.png"/>
          <p:cNvPicPr/>
          <p:nvPr/>
        </p:nvPicPr>
        <p:blipFill>
          <a:blip r:embed="rId4"/>
          <a:stretch/>
        </p:blipFill>
        <p:spPr>
          <a:xfrm>
            <a:off x="1481400" y="43617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Box 56"/>
          <p:cNvSpPr/>
          <p:nvPr/>
        </p:nvSpPr>
        <p:spPr>
          <a:xfrm>
            <a:off x="2020680" y="418788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boss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57"/>
          <p:cNvSpPr/>
          <p:nvPr/>
        </p:nvSpPr>
        <p:spPr>
          <a:xfrm>
            <a:off x="3849480" y="433440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58"/>
          <p:cNvSpPr/>
          <p:nvPr/>
        </p:nvSpPr>
        <p:spPr>
          <a:xfrm>
            <a:off x="4060080" y="418788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You make the final call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Rounded Rectangle 5"/>
          <p:cNvSpPr/>
          <p:nvPr/>
        </p:nvSpPr>
        <p:spPr>
          <a:xfrm>
            <a:off x="567000" y="457200"/>
            <a:ext cx="270612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1005840" y="45720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⑤ Safety first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Keep secrets safe, and ask when unsure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6" name="Rounded Rectangle 11"/>
          <p:cNvSpPr/>
          <p:nvPr/>
        </p:nvSpPr>
        <p:spPr>
          <a:xfrm>
            <a:off x="36576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ounded Rectangle 12"/>
          <p:cNvSpPr/>
          <p:nvPr/>
        </p:nvSpPr>
        <p:spPr>
          <a:xfrm>
            <a:off x="54864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38" name="Picture 13" descr="check-fat.png"/>
          <p:cNvPicPr/>
          <p:nvPr/>
        </p:nvPicPr>
        <p:blipFill>
          <a:blip r:embed="rId1"/>
          <a:stretch/>
        </p:blipFill>
        <p:spPr>
          <a:xfrm>
            <a:off x="67680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Box 14"/>
          <p:cNvSpPr/>
          <p:nvPr/>
        </p:nvSpPr>
        <p:spPr>
          <a:xfrm>
            <a:off x="104256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Safe to 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Oval 15"/>
          <p:cNvSpPr/>
          <p:nvPr/>
        </p:nvSpPr>
        <p:spPr>
          <a:xfrm>
            <a:off x="603360" y="277992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1" name="Picture 16" descr="check-fat.png"/>
          <p:cNvPicPr/>
          <p:nvPr/>
        </p:nvPicPr>
        <p:blipFill>
          <a:blip r:embed="rId2"/>
          <a:stretch/>
        </p:blipFill>
        <p:spPr>
          <a:xfrm>
            <a:off x="69192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Box 17"/>
          <p:cNvSpPr/>
          <p:nvPr/>
        </p:nvSpPr>
        <p:spPr>
          <a:xfrm>
            <a:off x="111564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Use it to look things up, practice a language, spark ideas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603360" y="340164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4" name="Picture 19" descr="check-fat.png"/>
          <p:cNvPicPr/>
          <p:nvPr/>
        </p:nvPicPr>
        <p:blipFill>
          <a:blip r:embed="rId3"/>
          <a:stretch/>
        </p:blipFill>
        <p:spPr>
          <a:xfrm>
            <a:off x="69192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20"/>
          <p:cNvSpPr/>
          <p:nvPr/>
        </p:nvSpPr>
        <p:spPr>
          <a:xfrm>
            <a:off x="111564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something upsetting? Tell a grown-up right away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603360" y="402336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7" name="Picture 22" descr="check-fat.png"/>
          <p:cNvPicPr/>
          <p:nvPr/>
        </p:nvPicPr>
        <p:blipFill>
          <a:blip r:embed="rId4"/>
          <a:stretch/>
        </p:blipFill>
        <p:spPr>
          <a:xfrm>
            <a:off x="69192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Box 23"/>
          <p:cNvSpPr/>
          <p:nvPr/>
        </p:nvSpPr>
        <p:spPr>
          <a:xfrm>
            <a:off x="111564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polite — talk to it nicely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Rounded Rectangle 24"/>
          <p:cNvSpPr/>
          <p:nvPr/>
        </p:nvSpPr>
        <p:spPr>
          <a:xfrm>
            <a:off x="475488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Rounded Rectangle 25"/>
          <p:cNvSpPr/>
          <p:nvPr/>
        </p:nvSpPr>
        <p:spPr>
          <a:xfrm>
            <a:off x="493776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Picture 26" descr="x.png"/>
          <p:cNvPicPr/>
          <p:nvPr/>
        </p:nvPicPr>
        <p:blipFill>
          <a:blip r:embed="rId5"/>
          <a:stretch/>
        </p:blipFill>
        <p:spPr>
          <a:xfrm>
            <a:off x="506592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27"/>
          <p:cNvSpPr/>
          <p:nvPr/>
        </p:nvSpPr>
        <p:spPr>
          <a:xfrm>
            <a:off x="543168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Be careful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val 28"/>
          <p:cNvSpPr/>
          <p:nvPr/>
        </p:nvSpPr>
        <p:spPr>
          <a:xfrm>
            <a:off x="4992480" y="277992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4" name="Picture 29" descr="x.png"/>
          <p:cNvPicPr/>
          <p:nvPr/>
        </p:nvPicPr>
        <p:blipFill>
          <a:blip r:embed="rId6"/>
          <a:stretch/>
        </p:blipFill>
        <p:spPr>
          <a:xfrm>
            <a:off x="508104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Box 30"/>
          <p:cNvSpPr/>
          <p:nvPr/>
        </p:nvSpPr>
        <p:spPr>
          <a:xfrm>
            <a:off x="550476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share your real name, home address, or passwords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Oval 31"/>
          <p:cNvSpPr/>
          <p:nvPr/>
        </p:nvSpPr>
        <p:spPr>
          <a:xfrm>
            <a:off x="4992480" y="340164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7" name="Picture 32" descr="x.png"/>
          <p:cNvPicPr/>
          <p:nvPr/>
        </p:nvPicPr>
        <p:blipFill>
          <a:blip r:embed="rId7"/>
          <a:stretch/>
        </p:blipFill>
        <p:spPr>
          <a:xfrm>
            <a:off x="508104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Box 33"/>
          <p:cNvSpPr/>
          <p:nvPr/>
        </p:nvSpPr>
        <p:spPr>
          <a:xfrm>
            <a:off x="550476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believe everything it says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Oval 34"/>
          <p:cNvSpPr/>
          <p:nvPr/>
        </p:nvSpPr>
        <p:spPr>
          <a:xfrm>
            <a:off x="4992480" y="402336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0" name="Picture 35" descr="x.png"/>
          <p:cNvPicPr/>
          <p:nvPr/>
        </p:nvPicPr>
        <p:blipFill>
          <a:blip r:embed="rId8"/>
          <a:stretch/>
        </p:blipFill>
        <p:spPr>
          <a:xfrm>
            <a:off x="508104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TextBox 36"/>
          <p:cNvSpPr/>
          <p:nvPr/>
        </p:nvSpPr>
        <p:spPr>
          <a:xfrm>
            <a:off x="550476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make big decisions alone in secret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Rounded Rectangle 5"/>
          <p:cNvSpPr/>
          <p:nvPr/>
        </p:nvSpPr>
        <p:spPr>
          <a:xfrm>
            <a:off x="567000" y="457200"/>
            <a:ext cx="34376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1005840" y="457200"/>
            <a:ext cx="343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Putting it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Remember these 5 things and you'll get AI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2" name="Rounded Rectangle 11"/>
          <p:cNvSpPr/>
          <p:nvPr/>
        </p:nvSpPr>
        <p:spPr>
          <a:xfrm>
            <a:off x="56700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3" name="Rounded Rectangle 12"/>
          <p:cNvSpPr/>
          <p:nvPr/>
        </p:nvSpPr>
        <p:spPr>
          <a:xfrm>
            <a:off x="56700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56700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Box 14"/>
          <p:cNvSpPr/>
          <p:nvPr/>
        </p:nvSpPr>
        <p:spPr>
          <a:xfrm>
            <a:off x="56700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Oval 15"/>
          <p:cNvSpPr/>
          <p:nvPr/>
        </p:nvSpPr>
        <p:spPr>
          <a:xfrm>
            <a:off x="960120" y="2597040"/>
            <a:ext cx="785880" cy="7858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7" name="Picture 16" descr="map-pin.png"/>
          <p:cNvPicPr/>
          <p:nvPr/>
        </p:nvPicPr>
        <p:blipFill>
          <a:blip r:embed="rId1"/>
          <a:stretch/>
        </p:blipFill>
        <p:spPr>
          <a:xfrm>
            <a:off x="113328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Box 17"/>
          <p:cNvSpPr/>
          <p:nvPr/>
        </p:nvSpPr>
        <p:spPr>
          <a:xfrm>
            <a:off x="62172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18"/>
          <p:cNvSpPr/>
          <p:nvPr/>
        </p:nvSpPr>
        <p:spPr>
          <a:xfrm>
            <a:off x="64008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Voice, picks, photos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ounded Rectangle 19"/>
          <p:cNvSpPr/>
          <p:nvPr/>
        </p:nvSpPr>
        <p:spPr>
          <a:xfrm>
            <a:off x="227232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Rounded Rectangle 20"/>
          <p:cNvSpPr/>
          <p:nvPr/>
        </p:nvSpPr>
        <p:spPr>
          <a:xfrm>
            <a:off x="227232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2" name="Rounded Rectangle 21"/>
          <p:cNvSpPr/>
          <p:nvPr/>
        </p:nvSpPr>
        <p:spPr>
          <a:xfrm>
            <a:off x="227232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Box 22"/>
          <p:cNvSpPr/>
          <p:nvPr/>
        </p:nvSpPr>
        <p:spPr>
          <a:xfrm>
            <a:off x="227232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Oval 23"/>
          <p:cNvSpPr/>
          <p:nvPr/>
        </p:nvSpPr>
        <p:spPr>
          <a:xfrm>
            <a:off x="2665440" y="2597040"/>
            <a:ext cx="785880" cy="78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85" name="Picture 24" descr="lightbulb.png"/>
          <p:cNvPicPr/>
          <p:nvPr/>
        </p:nvPicPr>
        <p:blipFill>
          <a:blip r:embed="rId2"/>
          <a:stretch/>
        </p:blipFill>
        <p:spPr>
          <a:xfrm>
            <a:off x="283860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TextBox 25"/>
          <p:cNvSpPr/>
          <p:nvPr/>
        </p:nvSpPr>
        <p:spPr>
          <a:xfrm>
            <a:off x="232704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by example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26"/>
          <p:cNvSpPr/>
          <p:nvPr/>
        </p:nvSpPr>
        <p:spPr>
          <a:xfrm>
            <a:off x="234540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More seen, more learned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27"/>
          <p:cNvSpPr/>
          <p:nvPr/>
        </p:nvSpPr>
        <p:spPr>
          <a:xfrm>
            <a:off x="397764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Rounded Rectangle 28"/>
          <p:cNvSpPr/>
          <p:nvPr/>
        </p:nvSpPr>
        <p:spPr>
          <a:xfrm>
            <a:off x="397764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0" name="Rounded Rectangle 29"/>
          <p:cNvSpPr/>
          <p:nvPr/>
        </p:nvSpPr>
        <p:spPr>
          <a:xfrm>
            <a:off x="397764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Box 30"/>
          <p:cNvSpPr/>
          <p:nvPr/>
        </p:nvSpPr>
        <p:spPr>
          <a:xfrm>
            <a:off x="397764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Oval 31"/>
          <p:cNvSpPr/>
          <p:nvPr/>
        </p:nvSpPr>
        <p:spPr>
          <a:xfrm>
            <a:off x="4370760" y="2597040"/>
            <a:ext cx="785880" cy="7858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93" name="Picture 32" descr="gauge.png"/>
          <p:cNvPicPr/>
          <p:nvPr/>
        </p:nvPicPr>
        <p:blipFill>
          <a:blip r:embed="rId3"/>
          <a:stretch/>
        </p:blipFill>
        <p:spPr>
          <a:xfrm>
            <a:off x="454392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TextBox 33"/>
          <p:cNvSpPr/>
          <p:nvPr/>
        </p:nvSpPr>
        <p:spPr>
          <a:xfrm>
            <a:off x="4032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Able but fallible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34"/>
          <p:cNvSpPr/>
          <p:nvPr/>
        </p:nvSpPr>
        <p:spPr>
          <a:xfrm>
            <a:off x="405072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Great, but not always right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Rounded Rectangle 35"/>
          <p:cNvSpPr/>
          <p:nvPr/>
        </p:nvSpPr>
        <p:spPr>
          <a:xfrm>
            <a:off x="568296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ounded Rectangle 36"/>
          <p:cNvSpPr/>
          <p:nvPr/>
        </p:nvSpPr>
        <p:spPr>
          <a:xfrm>
            <a:off x="568296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8" name="Rounded Rectangle 37"/>
          <p:cNvSpPr/>
          <p:nvPr/>
        </p:nvSpPr>
        <p:spPr>
          <a:xfrm>
            <a:off x="568296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Box 38"/>
          <p:cNvSpPr/>
          <p:nvPr/>
        </p:nvSpPr>
        <p:spPr>
          <a:xfrm>
            <a:off x="568296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Oval 39"/>
          <p:cNvSpPr/>
          <p:nvPr/>
        </p:nvSpPr>
        <p:spPr>
          <a:xfrm>
            <a:off x="6076080" y="2597040"/>
            <a:ext cx="785880" cy="7858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1" name="Picture 40" descr="chat-text.png"/>
          <p:cNvPicPr/>
          <p:nvPr/>
        </p:nvPicPr>
        <p:blipFill>
          <a:blip r:embed="rId4"/>
          <a:stretch/>
        </p:blipFill>
        <p:spPr>
          <a:xfrm>
            <a:off x="624924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Box 41"/>
          <p:cNvSpPr/>
          <p:nvPr/>
        </p:nvSpPr>
        <p:spPr>
          <a:xfrm>
            <a:off x="573768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 good helper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42"/>
          <p:cNvSpPr/>
          <p:nvPr/>
        </p:nvSpPr>
        <p:spPr>
          <a:xfrm>
            <a:off x="575604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Be clear — you decide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ounded Rectangle 43"/>
          <p:cNvSpPr/>
          <p:nvPr/>
        </p:nvSpPr>
        <p:spPr>
          <a:xfrm>
            <a:off x="738828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ounded Rectangle 44"/>
          <p:cNvSpPr/>
          <p:nvPr/>
        </p:nvSpPr>
        <p:spPr>
          <a:xfrm>
            <a:off x="738828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Rounded Rectangle 45"/>
          <p:cNvSpPr/>
          <p:nvPr/>
        </p:nvSpPr>
        <p:spPr>
          <a:xfrm>
            <a:off x="738828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Box 46"/>
          <p:cNvSpPr/>
          <p:nvPr/>
        </p:nvSpPr>
        <p:spPr>
          <a:xfrm>
            <a:off x="738828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Oval 47"/>
          <p:cNvSpPr/>
          <p:nvPr/>
        </p:nvSpPr>
        <p:spPr>
          <a:xfrm>
            <a:off x="7781400" y="2597040"/>
            <a:ext cx="785880" cy="785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9" name="Picture 48" descr="shield-check.png"/>
          <p:cNvPicPr/>
          <p:nvPr/>
        </p:nvPicPr>
        <p:blipFill>
          <a:blip r:embed="rId5"/>
          <a:stretch/>
        </p:blipFill>
        <p:spPr>
          <a:xfrm>
            <a:off x="795456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TextBox 49"/>
          <p:cNvSpPr/>
          <p:nvPr/>
        </p:nvSpPr>
        <p:spPr>
          <a:xfrm>
            <a:off x="7443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Guard secrets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50"/>
          <p:cNvSpPr/>
          <p:nvPr/>
        </p:nvSpPr>
        <p:spPr>
          <a:xfrm>
            <a:off x="746136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ounded Rectangle 51"/>
          <p:cNvSpPr/>
          <p:nvPr/>
        </p:nvSpPr>
        <p:spPr>
          <a:xfrm>
            <a:off x="8116200" y="4052520"/>
            <a:ext cx="43560" cy="2192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Oval 52"/>
          <p:cNvSpPr/>
          <p:nvPr/>
        </p:nvSpPr>
        <p:spPr>
          <a:xfrm>
            <a:off x="8072280" y="3972240"/>
            <a:ext cx="131400" cy="1314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4-Point Star 53"/>
          <p:cNvSpPr/>
          <p:nvPr/>
        </p:nvSpPr>
        <p:spPr>
          <a:xfrm>
            <a:off x="8101440" y="4001400"/>
            <a:ext cx="72720" cy="727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040" rIns="90000" bIns="-32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Rounded Rectangle 54"/>
          <p:cNvSpPr/>
          <p:nvPr/>
        </p:nvSpPr>
        <p:spPr>
          <a:xfrm>
            <a:off x="772128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6" name="Rounded Rectangle 55"/>
          <p:cNvSpPr/>
          <p:nvPr/>
        </p:nvSpPr>
        <p:spPr>
          <a:xfrm>
            <a:off x="848916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Rounded Rectangle 56"/>
          <p:cNvSpPr/>
          <p:nvPr/>
        </p:nvSpPr>
        <p:spPr>
          <a:xfrm>
            <a:off x="7772400" y="4257360"/>
            <a:ext cx="731160" cy="6289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57"/>
          <p:cNvSpPr/>
          <p:nvPr/>
        </p:nvSpPr>
        <p:spPr>
          <a:xfrm>
            <a:off x="7860240" y="4391640"/>
            <a:ext cx="555480" cy="389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9" name="Oval 58"/>
          <p:cNvSpPr/>
          <p:nvPr/>
        </p:nvSpPr>
        <p:spPr>
          <a:xfrm>
            <a:off x="79664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Oval 59"/>
          <p:cNvSpPr/>
          <p:nvPr/>
        </p:nvSpPr>
        <p:spPr>
          <a:xfrm>
            <a:off x="799416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1" name="Oval 60"/>
          <p:cNvSpPr/>
          <p:nvPr/>
        </p:nvSpPr>
        <p:spPr>
          <a:xfrm>
            <a:off x="79891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Oval 61"/>
          <p:cNvSpPr/>
          <p:nvPr/>
        </p:nvSpPr>
        <p:spPr>
          <a:xfrm>
            <a:off x="82112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Oval 62"/>
          <p:cNvSpPr/>
          <p:nvPr/>
        </p:nvSpPr>
        <p:spPr>
          <a:xfrm>
            <a:off x="823860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Oval 63"/>
          <p:cNvSpPr/>
          <p:nvPr/>
        </p:nvSpPr>
        <p:spPr>
          <a:xfrm>
            <a:off x="82339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5" name="Oval 64"/>
          <p:cNvSpPr/>
          <p:nvPr/>
        </p:nvSpPr>
        <p:spPr>
          <a:xfrm>
            <a:off x="795600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6" name="Oval 65"/>
          <p:cNvSpPr/>
          <p:nvPr/>
        </p:nvSpPr>
        <p:spPr>
          <a:xfrm>
            <a:off x="824004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Arc 66"/>
          <p:cNvSpPr/>
          <p:nvPr/>
        </p:nvSpPr>
        <p:spPr>
          <a:xfrm>
            <a:off x="8028360" y="4557240"/>
            <a:ext cx="219240" cy="2192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2512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Box 67"/>
          <p:cNvSpPr/>
          <p:nvPr/>
        </p:nvSpPr>
        <p:spPr>
          <a:xfrm>
            <a:off x="567000" y="4590360"/>
            <a:ext cx="7131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You've got it all — you now understand AI better than a lot of grown-ups!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Cloud 2"/>
          <p:cNvSpPr/>
          <p:nvPr/>
        </p:nvSpPr>
        <p:spPr>
          <a:xfrm>
            <a:off x="640080" y="548640"/>
            <a:ext cx="1462680" cy="822600"/>
          </a:xfrm>
          <a:prstGeom prst="cloud">
            <a:avLst/>
          </a:prstGeom>
          <a:solidFill>
            <a:srgbClr val="FFFFFF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Sun 3"/>
          <p:cNvSpPr/>
          <p:nvPr/>
        </p:nvSpPr>
        <p:spPr>
          <a:xfrm>
            <a:off x="7795440" y="388800"/>
            <a:ext cx="868320" cy="86832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2" name="5-Point Star 4"/>
          <p:cNvSpPr/>
          <p:nvPr/>
        </p:nvSpPr>
        <p:spPr>
          <a:xfrm>
            <a:off x="3163680" y="374760"/>
            <a:ext cx="255600" cy="2556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4-Point Star 5"/>
          <p:cNvSpPr/>
          <p:nvPr/>
        </p:nvSpPr>
        <p:spPr>
          <a:xfrm>
            <a:off x="4827960" y="758880"/>
            <a:ext cx="219240" cy="219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480" rIns="90000" bIns="-6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Heart 6"/>
          <p:cNvSpPr/>
          <p:nvPr/>
        </p:nvSpPr>
        <p:spPr>
          <a:xfrm>
            <a:off x="6446520" y="32004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Oval 7"/>
          <p:cNvSpPr/>
          <p:nvPr/>
        </p:nvSpPr>
        <p:spPr>
          <a:xfrm>
            <a:off x="1755720" y="120708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4-Point Star 8"/>
          <p:cNvSpPr/>
          <p:nvPr/>
        </p:nvSpPr>
        <p:spPr>
          <a:xfrm>
            <a:off x="7397640" y="1454040"/>
            <a:ext cx="200880" cy="20088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Rounded Rectangle 9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Rounded Rectangle 10"/>
          <p:cNvSpPr/>
          <p:nvPr/>
        </p:nvSpPr>
        <p:spPr>
          <a:xfrm>
            <a:off x="7026120" y="1635120"/>
            <a:ext cx="120240" cy="603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9" name="Oval 11"/>
          <p:cNvSpPr/>
          <p:nvPr/>
        </p:nvSpPr>
        <p:spPr>
          <a:xfrm>
            <a:off x="6905520" y="1413720"/>
            <a:ext cx="361800" cy="361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4-Point Star 12"/>
          <p:cNvSpPr/>
          <p:nvPr/>
        </p:nvSpPr>
        <p:spPr>
          <a:xfrm>
            <a:off x="6986160" y="1494000"/>
            <a:ext cx="200880" cy="200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Rounded Rectangle 13"/>
          <p:cNvSpPr/>
          <p:nvPr/>
        </p:nvSpPr>
        <p:spPr>
          <a:xfrm>
            <a:off x="594000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2" name="Rounded Rectangle 14"/>
          <p:cNvSpPr/>
          <p:nvPr/>
        </p:nvSpPr>
        <p:spPr>
          <a:xfrm>
            <a:off x="805212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3" name="Rounded Rectangle 15"/>
          <p:cNvSpPr/>
          <p:nvPr/>
        </p:nvSpPr>
        <p:spPr>
          <a:xfrm>
            <a:off x="6080760" y="2198160"/>
            <a:ext cx="2011320" cy="17298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4" name="Rounded Rectangle 16"/>
          <p:cNvSpPr/>
          <p:nvPr/>
        </p:nvSpPr>
        <p:spPr>
          <a:xfrm>
            <a:off x="6322320" y="2567160"/>
            <a:ext cx="1528560" cy="10724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Oval 17"/>
          <p:cNvSpPr/>
          <p:nvPr/>
        </p:nvSpPr>
        <p:spPr>
          <a:xfrm>
            <a:off x="661428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6" name="Oval 18"/>
          <p:cNvSpPr/>
          <p:nvPr/>
        </p:nvSpPr>
        <p:spPr>
          <a:xfrm>
            <a:off x="669060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Oval 19"/>
          <p:cNvSpPr/>
          <p:nvPr/>
        </p:nvSpPr>
        <p:spPr>
          <a:xfrm>
            <a:off x="667692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Oval 20"/>
          <p:cNvSpPr/>
          <p:nvPr/>
        </p:nvSpPr>
        <p:spPr>
          <a:xfrm>
            <a:off x="728712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Oval 21"/>
          <p:cNvSpPr/>
          <p:nvPr/>
        </p:nvSpPr>
        <p:spPr>
          <a:xfrm>
            <a:off x="736308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0" name="Oval 22"/>
          <p:cNvSpPr/>
          <p:nvPr/>
        </p:nvSpPr>
        <p:spPr>
          <a:xfrm>
            <a:off x="734976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1" name="Oval 23"/>
          <p:cNvSpPr/>
          <p:nvPr/>
        </p:nvSpPr>
        <p:spPr>
          <a:xfrm>
            <a:off x="658512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2" name="Oval 24"/>
          <p:cNvSpPr/>
          <p:nvPr/>
        </p:nvSpPr>
        <p:spPr>
          <a:xfrm>
            <a:off x="736668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Arc 25"/>
          <p:cNvSpPr/>
          <p:nvPr/>
        </p:nvSpPr>
        <p:spPr>
          <a:xfrm>
            <a:off x="6784920" y="3022920"/>
            <a:ext cx="603000" cy="603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894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Rounded Rectangle 26"/>
          <p:cNvSpPr/>
          <p:nvPr/>
        </p:nvSpPr>
        <p:spPr>
          <a:xfrm>
            <a:off x="6382440" y="3888000"/>
            <a:ext cx="1407960" cy="8445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5" name="Rounded Rectangle 27"/>
          <p:cNvSpPr/>
          <p:nvPr/>
        </p:nvSpPr>
        <p:spPr>
          <a:xfrm rot="20400000">
            <a:off x="6060600" y="39279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6" name="Rounded Rectangle 28"/>
          <p:cNvSpPr/>
          <p:nvPr/>
        </p:nvSpPr>
        <p:spPr>
          <a:xfrm rot="2700000">
            <a:off x="7689960" y="35661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Heart 29"/>
          <p:cNvSpPr/>
          <p:nvPr/>
        </p:nvSpPr>
        <p:spPr>
          <a:xfrm>
            <a:off x="5696640" y="1947600"/>
            <a:ext cx="310680" cy="310680"/>
          </a:xfrm>
          <a:prstGeom prst="hear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8" name="Heart 30"/>
          <p:cNvSpPr/>
          <p:nvPr/>
        </p:nvSpPr>
        <p:spPr>
          <a:xfrm>
            <a:off x="8247960" y="2395800"/>
            <a:ext cx="237240" cy="237240"/>
          </a:xfrm>
          <a:prstGeom prst="heart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9" name="Rounded Rectangle 31"/>
          <p:cNvSpPr/>
          <p:nvPr/>
        </p:nvSpPr>
        <p:spPr>
          <a:xfrm>
            <a:off x="713160" y="150876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Box 32"/>
          <p:cNvSpPr/>
          <p:nvPr/>
        </p:nvSpPr>
        <p:spPr>
          <a:xfrm>
            <a:off x="713160" y="150876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274B0"/>
                </a:solidFill>
                <a:effectLst/>
                <a:uFillTx/>
                <a:latin typeface="Arial Rounded MT Bold"/>
                <a:ea typeface="Hiragino Sans GB"/>
              </a:rPr>
              <a:t>One last thing to remember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Box 33"/>
          <p:cNvSpPr/>
          <p:nvPr/>
        </p:nvSpPr>
        <p:spPr>
          <a:xfrm>
            <a:off x="658440" y="2148840"/>
            <a:ext cx="5851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However smart the tool,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one who decides.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34"/>
          <p:cNvSpPr/>
          <p:nvPr/>
        </p:nvSpPr>
        <p:spPr>
          <a:xfrm>
            <a:off x="749880" y="370332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5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Stay curious, and go discover more amazing things!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zh-CN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