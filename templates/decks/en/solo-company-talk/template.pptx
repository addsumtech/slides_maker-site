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on the promise: for the first time, one person can produce like a whole company. This talk is the structure behind that claim — the leverage AI creates, a real workflow, the tools, and the honest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facts. The solo economy is already enormous — 30 million-plus US businesses with no employees. And the smartest people in AI think the output ceiling of one person is about to break. Put them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things changed at once. Expertise got cheap. The models stopped just answering and started doing. And everything composes. Each one alone is interesting; together they remove the reason you needed to hire.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Naval's old ladder: labour and capital need permission — someone has to say yes. Code and media don't; they copy for free. AI adds a new top rung — cognition you rent by the token. That's the rung this whole talk stands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mental model. You're not an employee any more — you're the org chart. Each of these was a hire, a department, a salary. Now each is a capability you run. You're the one node that can't be automated: 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real loop. You frame the spec — that's judgment. The AI drafts, runs, and fixes — that's production. You review for taste and ship. The dotted line is the loop you run all day. Notice: the human sits at the one ember node.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real stack, grouped by function. Every box that used to be a vendor contract or a hire is now a subscription. The point isn't the specific names — they'll change — it's that the whole company fits on one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leverage math. AI doesn't give you more hours; it moves where your hours are worth spending. A dozen tasks on the left just got cheap. One thing on the right — your judgment — becomes the entire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the honest part. The same thing that makes one person powerful — no coordination cost — makes them fragile. You're the backup and there isn't one. Leverage cuts both ways; design for the downside on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what stays yours? Everything the model can't rent to your competitor too. Taste, judgment, relationships, accountability. When the tools are equal, the only edge left is the human pointing them — that's the whole game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try to become a one-person unicorn by Friday. Pick one loop. Give the AI your context, keep a review gate, measure what ships, and compound. The future isn't a leap — it's one loop, then another.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one line: you are the org chart now. Rent the minds, keep the judgment, and start with a single loop this week.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50">
                <a:solidFill>
                  <a:srgbClr val="E1542A"/>
                </a:solidFill>
                <a:latin typeface="Menlo"/>
              </a:rPr>
              <a:t>A PERSONAL TALK ON WORK, LEVERAGE &amp;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298448"/>
            <a:ext cx="5212080" cy="15544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800" b="1" i="0">
                <a:solidFill>
                  <a:srgbClr val="EDE9DF"/>
                </a:solidFill>
                <a:latin typeface="Avenir Next"/>
              </a:rPr>
              <a:t>The One-Person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800" b="1" i="0">
                <a:solidFill>
                  <a:srgbClr val="EDE9DF"/>
                </a:solidFill>
                <a:latin typeface="Avenir Next"/>
              </a:rPr>
              <a:t>Company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3072384"/>
            <a:ext cx="1371600" cy="54864"/>
          </a:xfrm>
          <a:prstGeom prst="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310128"/>
            <a:ext cx="5120640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EDE9DF"/>
                </a:solidFill>
                <a:latin typeface="Avenir Next"/>
              </a:rPr>
              <a:t>Why one person can now run like a team 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C3BDAF"/>
                </a:solidFill>
                <a:latin typeface="Avenir Next"/>
              </a:rPr>
              <a:t>and the leverage AI hands you.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90288"/>
            <a:ext cx="54864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A9486"/>
                </a:solidFill>
                <a:latin typeface="Avenir Next"/>
              </a:rPr>
              <a:t>A trend talk for builders, solopreneurs &amp; curious teams   ·   2026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7333488" y="1417319"/>
            <a:ext cx="0" cy="1234441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7333488" y="1882099"/>
            <a:ext cx="965124" cy="769661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333488" y="2651760"/>
            <a:ext cx="1203490" cy="274688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333488" y="2651760"/>
            <a:ext cx="535603" cy="1112192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6797884" y="2651760"/>
            <a:ext cx="535604" cy="1112192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6129997" y="2651760"/>
            <a:ext cx="1203491" cy="274688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 flipV="1">
            <a:off x="6368363" y="1882099"/>
            <a:ext cx="965125" cy="769661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223759" y="1307591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88884" y="1772371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427250" y="2816720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59363" y="3654224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88156" y="3654224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020269" y="2816720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58635" y="1772371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095744" y="2414015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50">
                <a:solidFill>
                  <a:srgbClr val="E1542A"/>
                </a:solidFill>
                <a:latin typeface="Menlo"/>
              </a:rPr>
              <a:t>THE 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86384"/>
            <a:ext cx="8046720" cy="10972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100" b="1" i="0">
                <a:solidFill>
                  <a:srgbClr val="EDE9DF"/>
                </a:solidFill>
                <a:latin typeface="Avenir Next"/>
              </a:rPr>
              <a:t>The org chart is collapsing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100" b="1" i="0">
                <a:solidFill>
                  <a:srgbClr val="EDE9DF"/>
                </a:solidFill>
                <a:latin typeface="Avenir Next"/>
              </a:rPr>
              <a:t>into a single person.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103120"/>
            <a:ext cx="6400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E1542A"/>
                </a:solidFill>
                <a:latin typeface="Palatino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651760"/>
            <a:ext cx="3931920" cy="9052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1">
                <a:solidFill>
                  <a:srgbClr val="EDE9DF"/>
                </a:solidFill>
                <a:latin typeface="Palatino"/>
              </a:rPr>
              <a:t>A one-person billion-dollar company … would have been unimaginable without AI, and now will happen.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66744"/>
            <a:ext cx="39319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C8578"/>
                </a:solidFill>
                <a:latin typeface="Avenir Next"/>
              </a:rPr>
              <a:t>— Sam Altman,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2240280"/>
            <a:ext cx="178308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EDE9DF"/>
                </a:solidFill>
                <a:latin typeface="Avenir Next"/>
              </a:rPr>
              <a:t>30.4</a:t>
            </a:r>
            <a:r>
              <a:rPr sz="1512" b="1" i="0">
                <a:solidFill>
                  <a:srgbClr val="E1542A"/>
                </a:solidFill>
                <a:latin typeface="Avenir Next"/>
              </a:rPr>
              <a:t> 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2843784"/>
            <a:ext cx="1783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486"/>
                </a:solidFill>
                <a:latin typeface="Avenir Next"/>
              </a:rPr>
              <a:t>US solo businesses, 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240280"/>
            <a:ext cx="178308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EDE9DF"/>
                </a:solidFill>
                <a:latin typeface="Avenir Next"/>
              </a:rPr>
              <a:t>$1.8</a:t>
            </a:r>
            <a:r>
              <a:rPr sz="1512" b="1" i="0">
                <a:solidFill>
                  <a:srgbClr val="E1542A"/>
                </a:solidFill>
                <a:latin typeface="Avenir Next"/>
              </a:rPr>
              <a:t> 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60" y="2843784"/>
            <a:ext cx="1783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486"/>
                </a:solidFill>
                <a:latin typeface="Avenir Next"/>
              </a:rPr>
              <a:t>revenue they earned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12280" y="2295144"/>
            <a:ext cx="12801" cy="8229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3429000"/>
            <a:ext cx="3931920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A9486"/>
                </a:solidFill>
                <a:latin typeface="Avenir Next"/>
              </a:rPr>
              <a:t>One-person firms have grown faster than employer businesses in almost every year since 2012.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133087"/>
            <a:ext cx="8046720" cy="18288"/>
          </a:xfrm>
          <a:prstGeom prst="rect">
            <a:avLst/>
          </a:prstGeom>
          <a:solidFill>
            <a:srgbClr val="333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206240"/>
            <a:ext cx="81381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EDE9DF"/>
                </a:solidFill>
                <a:latin typeface="Avenir Next"/>
              </a:rPr>
              <a:t>The solo economy was already vast. AI just removed its </a:t>
            </a:r>
            <a:r>
              <a:rPr sz="1450" b="1" i="0">
                <a:solidFill>
                  <a:srgbClr val="E1542A"/>
                </a:solidFill>
                <a:latin typeface="Avenir Next"/>
              </a:rPr>
              <a:t>ceiling.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63440"/>
            <a:ext cx="80467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486"/>
                </a:solidFill>
                <a:latin typeface="Avenir Next"/>
              </a:rPr>
              <a:t>Figures: US Census Bureau · Nonemployer Statistics, 2023.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1542A"/>
                </a:solidFill>
                <a:latin typeface="Avenir Next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1C1F"/>
                </a:solidFill>
                <a:latin typeface="Avenir Next"/>
              </a:rPr>
              <a:t>Three forces collapsed the cost of a company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600200"/>
            <a:ext cx="2560319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3504" y="1837943"/>
            <a:ext cx="457200" cy="457200"/>
          </a:xfrm>
          <a:prstGeom prst="roundRect">
            <a:avLst>
              <a:gd name="adj" fmla="val 11000"/>
            </a:avLst>
          </a:prstGeom>
          <a:solidFill>
            <a:srgbClr val="DE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parkles_1685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938527"/>
            <a:ext cx="256032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" y="2441448"/>
            <a:ext cx="208483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C1F"/>
                </a:solidFill>
                <a:latin typeface="Avenir Next"/>
              </a:rPr>
              <a:t>Expertise, near-free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2752344"/>
            <a:ext cx="2084831" cy="10149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5"/>
                </a:solidFill>
                <a:latin typeface="Avenir Next"/>
              </a:rPr>
              <a:t>A senior-level draft of almost anything — code, copy, analysis, design — on demand, for cents.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39" y="1600200"/>
            <a:ext cx="2560319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29583" y="1837943"/>
            <a:ext cx="457200" cy="457200"/>
          </a:xfrm>
          <a:prstGeom prst="roundRect">
            <a:avLst>
              <a:gd name="adj" fmla="val 11000"/>
            </a:avLst>
          </a:prstGeom>
          <a:solidFill>
            <a:srgbClr val="DE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ot_1685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0167" y="1938527"/>
            <a:ext cx="256032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29583" y="2441448"/>
            <a:ext cx="208483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C1F"/>
                </a:solidFill>
                <a:latin typeface="Avenir Next"/>
              </a:rPr>
              <a:t>Agents that 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9583" y="2752344"/>
            <a:ext cx="2084831" cy="10149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5"/>
                </a:solidFill>
                <a:latin typeface="Avenir Next"/>
              </a:rPr>
              <a:t>Models now take multi-step action: write code, run it, browse, and fix their own mistakes.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19" y="1600200"/>
            <a:ext cx="2560319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55663" y="1837943"/>
            <a:ext cx="457200" cy="457200"/>
          </a:xfrm>
          <a:prstGeom prst="roundRect">
            <a:avLst>
              <a:gd name="adj" fmla="val 11000"/>
            </a:avLst>
          </a:prstGeom>
          <a:solidFill>
            <a:srgbClr val="DE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blocks_16858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6247" y="1938527"/>
            <a:ext cx="256032" cy="2560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55663" y="2441448"/>
            <a:ext cx="208483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C1F"/>
                </a:solidFill>
                <a:latin typeface="Avenir Next"/>
              </a:rPr>
              <a:t>Tools that compose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3" y="2752344"/>
            <a:ext cx="2084831" cy="10149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5"/>
                </a:solidFill>
                <a:latin typeface="Avenir Next"/>
              </a:rPr>
              <a:t>APIs, automations and agents snap together into a one-person assembly line.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050791"/>
            <a:ext cx="8046720" cy="498347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090659"/>
            <a:ext cx="64008" cy="418612"/>
          </a:xfrm>
          <a:prstGeom prst="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4050791"/>
            <a:ext cx="7644384" cy="498347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1542A"/>
                </a:solidFill>
                <a:latin typeface="Avenir Next"/>
              </a:rPr>
              <a:t>THE POINT  </a:t>
            </a:r>
            <a:r>
              <a:rPr sz="1250" b="0" i="0">
                <a:solidFill>
                  <a:srgbClr val="1B1C1F"/>
                </a:solidFill>
                <a:latin typeface="Avenir Next"/>
              </a:rPr>
              <a:t>None of these needed a team. That is the whole point.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8284464" y="473659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8284464" y="480517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284464" y="487375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284464" y="487375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8165679" y="487375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8165679" y="480517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252460" y="470458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371244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371244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252460" y="497890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133675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33675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234172" y="48234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85632" y="4754880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C8578"/>
                </a:solidFill>
                <a:latin typeface="Avenir Next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4791456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8578"/>
                </a:solidFill>
                <a:latin typeface="Avenir Next"/>
              </a:rPr>
              <a:t>The One-Person Company · a personal talk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1542A"/>
                </a:solidFill>
                <a:latin typeface="Avenir Next"/>
              </a:rPr>
              <a:t>THE LEVERAGE LADDER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1C1F"/>
                </a:solidFill>
                <a:latin typeface="Avenir Next"/>
              </a:rPr>
              <a:t>How one person outputs like a hundred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554480"/>
            <a:ext cx="4835562" cy="640080"/>
          </a:xfrm>
          <a:prstGeom prst="roundRect">
            <a:avLst>
              <a:gd name="adj" fmla="val 8571"/>
            </a:avLst>
          </a:prstGeom>
          <a:solidFill>
            <a:srgbClr val="1685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4835562" cy="6400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venir Next"/>
              </a:rPr>
              <a:t>AI  ·  cognition on demand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0501" y="2194560"/>
            <a:ext cx="3546079" cy="640080"/>
          </a:xfrm>
          <a:prstGeom prst="roundRect">
            <a:avLst>
              <a:gd name="adj" fmla="val 8571"/>
            </a:avLst>
          </a:prstGeom>
          <a:solidFill>
            <a:srgbClr val="C9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0501" y="2194560"/>
            <a:ext cx="3546079" cy="6400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1C1F"/>
                </a:solidFill>
                <a:latin typeface="Avenir Next"/>
              </a:rPr>
              <a:t>Code &amp; media  ·  permissionless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55243" y="2834639"/>
            <a:ext cx="2256595" cy="640080"/>
          </a:xfrm>
          <a:prstGeom prst="roundRect">
            <a:avLst>
              <a:gd name="adj" fmla="val 8571"/>
            </a:avLst>
          </a:prstGeom>
          <a:solidFill>
            <a:srgbClr val="B6A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5243" y="2834639"/>
            <a:ext cx="2256595" cy="6400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1C1F"/>
                </a:solidFill>
                <a:latin typeface="Avenir Next"/>
              </a:rPr>
              <a:t>Capital  ·  needs investors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99984" y="3474720"/>
            <a:ext cx="967112" cy="640080"/>
          </a:xfrm>
          <a:prstGeom prst="roundRect">
            <a:avLst>
              <a:gd name="adj" fmla="val 8571"/>
            </a:avLst>
          </a:prstGeom>
          <a:solidFill>
            <a:srgbClr val="A3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9984" y="3474720"/>
            <a:ext cx="967112" cy="6400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B1C1F"/>
                </a:solidFill>
                <a:latin typeface="Avenir Next"/>
              </a:rPr>
              <a:t>Labor  ·  needs people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233672"/>
            <a:ext cx="483556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1542A"/>
                </a:solidFill>
                <a:latin typeface="Avenir Next"/>
              </a:rPr>
              <a:t>▲ </a:t>
            </a:r>
            <a:r>
              <a:rPr sz="1100" b="0" i="0">
                <a:solidFill>
                  <a:srgbClr val="8C8578"/>
                </a:solidFill>
                <a:latin typeface="Avenir Next"/>
              </a:rPr>
              <a:t>more leverage, less permission needed — AI is the new top rung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58522" y="1691639"/>
            <a:ext cx="311971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1542A"/>
                </a:solidFill>
                <a:latin typeface="Avenir Next"/>
              </a:rPr>
              <a:t>PERMISSIONLESS LEVERAGE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522" y="2002536"/>
            <a:ext cx="3119717" cy="9144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B1C1F"/>
                </a:solidFill>
                <a:latin typeface="Avenir Next"/>
              </a:rPr>
              <a:t>Rent a mind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B1C1F"/>
                </a:solidFill>
                <a:latin typeface="Avenir Next"/>
              </a:rPr>
              <a:t>by the token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58522" y="3063239"/>
            <a:ext cx="3119717" cy="14630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5524B"/>
                </a:solidFill>
                <a:latin typeface="Avenir Next"/>
              </a:rPr>
              <a:t>Code and media let output copy for free. AI adds a rung above them both: reasoning you rent by the token — no hiring, no raise, no ask.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8284464" y="473659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8284464" y="480517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284464" y="487375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284464" y="487375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8165679" y="487375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 flipV="1">
            <a:off x="8165679" y="480517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252460" y="470458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371244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371244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52460" y="497890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33675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33675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234172" y="48234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85632" y="4754880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C8578"/>
                </a:solidFill>
                <a:latin typeface="Avenir Next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791456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8578"/>
                </a:solidFill>
                <a:latin typeface="Avenir Next"/>
              </a:rPr>
              <a:t>The One-Person Company · a personal talk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1542A"/>
                </a:solidFill>
                <a:latin typeface="Avenir Next"/>
              </a:rPr>
              <a:t>THE NEW ORG CHART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22376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DE9DF"/>
                </a:solidFill>
                <a:latin typeface="Avenir Next"/>
              </a:rPr>
              <a:t>You are the org chart now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4407408" y="1444752"/>
            <a:ext cx="0" cy="1408176"/>
          </a:xfrm>
          <a:prstGeom prst="line">
            <a:avLst/>
          </a:prstGeom>
          <a:ln w="17780">
            <a:solidFill>
              <a:srgbClr val="C8CED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407408" y="2148840"/>
            <a:ext cx="1219516" cy="704088"/>
          </a:xfrm>
          <a:prstGeom prst="line">
            <a:avLst/>
          </a:prstGeom>
          <a:ln w="17780">
            <a:solidFill>
              <a:srgbClr val="C8CED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407408" y="2852928"/>
            <a:ext cx="1219516" cy="704088"/>
          </a:xfrm>
          <a:prstGeom prst="line">
            <a:avLst/>
          </a:prstGeom>
          <a:ln w="17780">
            <a:solidFill>
              <a:srgbClr val="C8CED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407408" y="2852928"/>
            <a:ext cx="0" cy="1408176"/>
          </a:xfrm>
          <a:prstGeom prst="line">
            <a:avLst/>
          </a:prstGeom>
          <a:ln w="17780">
            <a:solidFill>
              <a:srgbClr val="C8CED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3187891" y="2852928"/>
            <a:ext cx="1219517" cy="704088"/>
          </a:xfrm>
          <a:prstGeom prst="line">
            <a:avLst/>
          </a:prstGeom>
          <a:ln w="17780">
            <a:solidFill>
              <a:srgbClr val="C8CED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3187891" y="2148839"/>
            <a:ext cx="1219517" cy="704089"/>
          </a:xfrm>
          <a:prstGeom prst="line">
            <a:avLst/>
          </a:prstGeom>
          <a:ln w="17780">
            <a:solidFill>
              <a:srgbClr val="C8CED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744468" y="1179576"/>
            <a:ext cx="1325880" cy="530352"/>
          </a:xfrm>
          <a:prstGeom prst="roundRect">
            <a:avLst>
              <a:gd name="adj" fmla="val 8000"/>
            </a:avLst>
          </a:prstGeom>
          <a:solidFill>
            <a:srgbClr val="24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63340" y="1179576"/>
            <a:ext cx="1088136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EDE9DF"/>
                </a:solidFill>
                <a:latin typeface="Avenir Next"/>
              </a:rPr>
              <a:t>Writing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EDE9DF"/>
                </a:solidFill>
                <a:latin typeface="Avenir Next"/>
              </a:rPr>
              <a:t>drafts &amp; edits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63984" y="1883664"/>
            <a:ext cx="1325880" cy="530352"/>
          </a:xfrm>
          <a:prstGeom prst="roundRect">
            <a:avLst>
              <a:gd name="adj" fmla="val 8000"/>
            </a:avLst>
          </a:prstGeom>
          <a:solidFill>
            <a:srgbClr val="24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2856" y="1883664"/>
            <a:ext cx="1088136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EDE9DF"/>
                </a:solidFill>
                <a:latin typeface="Avenir Next"/>
              </a:rPr>
              <a:t>Code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EDE9DF"/>
                </a:solidFill>
                <a:latin typeface="Avenir Next"/>
              </a:rPr>
              <a:t>ships 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63984" y="3291840"/>
            <a:ext cx="1325880" cy="530352"/>
          </a:xfrm>
          <a:prstGeom prst="roundRect">
            <a:avLst>
              <a:gd name="adj" fmla="val 8000"/>
            </a:avLst>
          </a:prstGeom>
          <a:solidFill>
            <a:srgbClr val="24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82856" y="3291840"/>
            <a:ext cx="1088136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EDE9DF"/>
                </a:solidFill>
                <a:latin typeface="Avenir Next"/>
              </a:rPr>
              <a:t>Design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EDE9DF"/>
                </a:solidFill>
                <a:latin typeface="Avenir Next"/>
              </a:rPr>
              <a:t>brand &amp; UI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4468" y="3995928"/>
            <a:ext cx="1325880" cy="530352"/>
          </a:xfrm>
          <a:prstGeom prst="roundRect">
            <a:avLst>
              <a:gd name="adj" fmla="val 8000"/>
            </a:avLst>
          </a:prstGeom>
          <a:solidFill>
            <a:srgbClr val="24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63340" y="3995928"/>
            <a:ext cx="1088136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EDE9DF"/>
                </a:solidFill>
                <a:latin typeface="Avenir Next"/>
              </a:rPr>
              <a:t>Research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EDE9DF"/>
                </a:solidFill>
                <a:latin typeface="Avenir Next"/>
              </a:rPr>
              <a:t>finds &amp; checks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24951" y="3291840"/>
            <a:ext cx="1325880" cy="530352"/>
          </a:xfrm>
          <a:prstGeom prst="roundRect">
            <a:avLst>
              <a:gd name="adj" fmla="val 8000"/>
            </a:avLst>
          </a:prstGeom>
          <a:solidFill>
            <a:srgbClr val="24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43823" y="3291840"/>
            <a:ext cx="1088136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EDE9DF"/>
                </a:solidFill>
                <a:latin typeface="Avenir Next"/>
              </a:rPr>
              <a:t>Ops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EDE9DF"/>
                </a:solidFill>
                <a:latin typeface="Avenir Next"/>
              </a:rPr>
              <a:t>back office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24951" y="1883663"/>
            <a:ext cx="1325880" cy="530352"/>
          </a:xfrm>
          <a:prstGeom prst="roundRect">
            <a:avLst>
              <a:gd name="adj" fmla="val 8000"/>
            </a:avLst>
          </a:prstGeom>
          <a:solidFill>
            <a:srgbClr val="24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43823" y="1883663"/>
            <a:ext cx="1088136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EDE9DF"/>
                </a:solidFill>
                <a:latin typeface="Avenir Next"/>
              </a:rPr>
              <a:t>Growth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EDE9DF"/>
                </a:solidFill>
                <a:latin typeface="Avenir Next"/>
              </a:rPr>
              <a:t>reach &amp; funnels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90188" y="2496312"/>
            <a:ext cx="1234440" cy="713232"/>
          </a:xfrm>
          <a:prstGeom prst="roundRect">
            <a:avLst>
              <a:gd name="adj" fmla="val 8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09060" y="2496312"/>
            <a:ext cx="996696" cy="7132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11111"/>
                </a:solidFill>
                <a:latin typeface="Avenir Next"/>
              </a:rPr>
              <a:t>YOU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626864"/>
            <a:ext cx="77724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486"/>
                </a:solidFill>
                <a:latin typeface="Avenir Next"/>
              </a:rPr>
              <a:t>One human sets direction and taste. Six functions that used to be six hires now run as </a:t>
            </a:r>
            <a:r>
              <a:rPr sz="1350" b="1" i="0">
                <a:solidFill>
                  <a:srgbClr val="E1542A"/>
                </a:solidFill>
                <a:latin typeface="Avenir Next"/>
              </a:rPr>
              <a:t>software.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1542A"/>
                </a:solidFill>
                <a:latin typeface="Avenir Next"/>
              </a:rPr>
              <a:t>A DAY IN 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1C1F"/>
                </a:solidFill>
                <a:latin typeface="Avenir Next"/>
              </a:rPr>
              <a:t>One idea to shipped — in an afternoon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C8578"/>
                </a:solidFill>
                <a:latin typeface="Palatino"/>
              </a:rPr>
              <a:t>A solo builder ships a small web app. Watch who does what.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1360627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3" y="2286000"/>
            <a:ext cx="1250899" cy="8412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B1C1F"/>
                </a:solidFill>
                <a:latin typeface="Avenir Next"/>
              </a:rPr>
              <a:t>Idea &amp; spec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8C8578"/>
                </a:solidFill>
                <a:latin typeface="Menlo"/>
              </a:rPr>
              <a:t>you frame 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20163" y="2286000"/>
            <a:ext cx="1360627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75027" y="2286000"/>
            <a:ext cx="1250899" cy="8412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B1C1F"/>
                </a:solidFill>
                <a:latin typeface="Avenir Next"/>
              </a:rPr>
              <a:t>Draft build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8C8578"/>
                </a:solidFill>
                <a:latin typeface="Menlo"/>
              </a:rPr>
              <a:t>AI writes it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27555" y="2706624"/>
            <a:ext cx="274320" cy="0"/>
          </a:xfrm>
          <a:prstGeom prst="line">
            <a:avLst/>
          </a:prstGeom>
          <a:ln w="19050">
            <a:solidFill>
              <a:srgbClr val="5CAAA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891686" y="2286000"/>
            <a:ext cx="1360627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46550" y="2286000"/>
            <a:ext cx="1250899" cy="8412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B1C1F"/>
                </a:solidFill>
                <a:latin typeface="Avenir Next"/>
              </a:rPr>
              <a:t>Run &amp; test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8C8578"/>
                </a:solidFill>
                <a:latin typeface="Menlo"/>
              </a:rPr>
              <a:t>AI iterates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599078" y="2706624"/>
            <a:ext cx="274320" cy="0"/>
          </a:xfrm>
          <a:prstGeom prst="line">
            <a:avLst/>
          </a:prstGeom>
          <a:ln w="19050">
            <a:solidFill>
              <a:srgbClr val="5CAAA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563209" y="2286000"/>
            <a:ext cx="1360627" cy="841248"/>
          </a:xfrm>
          <a:prstGeom prst="round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18073" y="2286000"/>
            <a:ext cx="1250899" cy="8412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11111"/>
                </a:solidFill>
                <a:latin typeface="Avenir Next"/>
              </a:rPr>
              <a:t>Review &amp; taste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4C4C4C"/>
                </a:solidFill>
                <a:latin typeface="Menlo"/>
              </a:rPr>
              <a:t>you decide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270601" y="2706624"/>
            <a:ext cx="274320" cy="0"/>
          </a:xfrm>
          <a:prstGeom prst="line">
            <a:avLst/>
          </a:prstGeom>
          <a:ln w="19050">
            <a:solidFill>
              <a:srgbClr val="5CAAA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34732" y="2286000"/>
            <a:ext cx="1360627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89596" y="2286000"/>
            <a:ext cx="1250899" cy="8412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B1C1F"/>
                </a:solidFill>
                <a:latin typeface="Avenir Next"/>
              </a:rPr>
              <a:t>Ship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8C8578"/>
                </a:solidFill>
                <a:latin typeface="Menlo"/>
              </a:rPr>
              <a:t>one click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942124" y="2706624"/>
            <a:ext cx="274320" cy="0"/>
          </a:xfrm>
          <a:prstGeom prst="line">
            <a:avLst/>
          </a:prstGeom>
          <a:ln w="19050">
            <a:solidFill>
              <a:srgbClr val="5CAAA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15046" y="3145536"/>
            <a:ext cx="0" cy="530351"/>
          </a:xfrm>
          <a:prstGeom prst="line">
            <a:avLst/>
          </a:prstGeom>
          <a:ln w="19050">
            <a:solidFill>
              <a:srgbClr val="168581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900476" y="3675887"/>
            <a:ext cx="5014570" cy="0"/>
          </a:xfrm>
          <a:prstGeom prst="line">
            <a:avLst/>
          </a:prstGeom>
          <a:ln w="19050">
            <a:solidFill>
              <a:srgbClr val="168581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2900476" y="3145536"/>
            <a:ext cx="0" cy="530351"/>
          </a:xfrm>
          <a:prstGeom prst="line">
            <a:avLst/>
          </a:prstGeom>
          <a:ln w="19050">
            <a:solidFill>
              <a:srgbClr val="168581"/>
            </a:solidFill>
            <a:prstDash val="sysDot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767681" y="3730751"/>
            <a:ext cx="1280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8581"/>
                </a:solidFill>
                <a:latin typeface="Menlo"/>
              </a:rPr>
              <a:t>iterate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050791"/>
            <a:ext cx="8046720" cy="498347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4090659"/>
            <a:ext cx="64008" cy="418612"/>
          </a:xfrm>
          <a:prstGeom prst="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4050791"/>
            <a:ext cx="7644384" cy="498347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1542A"/>
                </a:solidFill>
                <a:latin typeface="Avenir Next"/>
              </a:rPr>
              <a:t>WHERE YOU SIT  </a:t>
            </a:r>
            <a:r>
              <a:rPr sz="1250" b="0" i="0">
                <a:solidFill>
                  <a:srgbClr val="1B1C1F"/>
                </a:solidFill>
                <a:latin typeface="Avenir Next"/>
              </a:rPr>
              <a:t>The AI does the production. You do the judgment — the part that is still scarce.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8284464" y="473659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8284464" y="480517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284464" y="487375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284464" y="487375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8165679" y="487375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 flipV="1">
            <a:off x="8165679" y="480517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252460" y="470458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371244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371244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252460" y="497890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133675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33675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234172" y="48234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85632" y="4754880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C8578"/>
                </a:solidFill>
                <a:latin typeface="Avenir Next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4791456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8578"/>
                </a:solidFill>
                <a:latin typeface="Avenir Next"/>
              </a:rPr>
              <a:t>The One-Person Company · a personal talk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1542A"/>
                </a:solidFill>
                <a:latin typeface="Avenir Next"/>
              </a:rPr>
              <a:t>THE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1C1F"/>
                </a:solidFill>
                <a:latin typeface="Avenir Next"/>
              </a:rPr>
              <a:t>The tools a one-person company runs 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050791"/>
            <a:ext cx="8046720" cy="498347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4090659"/>
            <a:ext cx="64008" cy="418612"/>
          </a:xfrm>
          <a:prstGeom prst="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4050791"/>
            <a:ext cx="7644384" cy="498347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1542A"/>
                </a:solidFill>
                <a:latin typeface="Avenir Next"/>
              </a:rPr>
              <a:t>THE BILL  </a:t>
            </a:r>
            <a:r>
              <a:rPr sz="1250" b="0" i="0">
                <a:solidFill>
                  <a:srgbClr val="1B1C1F"/>
                </a:solidFill>
                <a:latin typeface="Avenir Next"/>
              </a:rPr>
              <a:t>No IT department. No procurement. A credit card and an afternoon.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609344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E0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essage-square_1685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161" y="1756745"/>
            <a:ext cx="272125" cy="2721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88720" y="1572768"/>
            <a:ext cx="3063239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C1F"/>
                </a:solidFill>
                <a:latin typeface="Avenir Next"/>
              </a:rPr>
              <a:t>Reasoning &amp; writing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920240"/>
            <a:ext cx="306323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68581"/>
                </a:solidFill>
                <a:latin typeface="Menlo"/>
              </a:rPr>
              <a:t>Claude · ChatGPT · Gemini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2468880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E0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erminal_1685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161" y="2616281"/>
            <a:ext cx="272125" cy="27212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88720" y="2432304"/>
            <a:ext cx="3063239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C1F"/>
                </a:solidFill>
                <a:latin typeface="Avenir Next"/>
              </a:rPr>
              <a:t>Code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779776"/>
            <a:ext cx="306323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68581"/>
                </a:solidFill>
                <a:latin typeface="Menlo"/>
              </a:rPr>
              <a:t>Claude Code · Cursor · Copilot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328415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E0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alette_16858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161" y="3475817"/>
            <a:ext cx="272125" cy="27212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88720" y="3291839"/>
            <a:ext cx="3063239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C1F"/>
                </a:solidFill>
                <a:latin typeface="Avenir Next"/>
              </a:rPr>
              <a:t>Design &amp; media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639311"/>
            <a:ext cx="306323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68581"/>
                </a:solidFill>
                <a:latin typeface="Menlo"/>
              </a:rPr>
              <a:t>Midjourney · Figma · Canva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1609344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E0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workflow_16858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9441" y="1756745"/>
            <a:ext cx="272125" cy="27212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715000" y="1572768"/>
            <a:ext cx="3063239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C1F"/>
                </a:solidFill>
                <a:latin typeface="Avenir Next"/>
              </a:rPr>
              <a:t>Automation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0" y="1920240"/>
            <a:ext cx="306323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68581"/>
                </a:solidFill>
                <a:latin typeface="Menlo"/>
              </a:rPr>
              <a:t>Zapier · Make · n8n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92040" y="2468880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E0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database_16858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9441" y="2616281"/>
            <a:ext cx="272125" cy="272125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715000" y="2432304"/>
            <a:ext cx="3063239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C1F"/>
                </a:solidFill>
                <a:latin typeface="Avenir Next"/>
              </a:rPr>
              <a:t>Knowledge &amp;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15000" y="2779776"/>
            <a:ext cx="306323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68581"/>
                </a:solidFill>
                <a:latin typeface="Menlo"/>
              </a:rPr>
              <a:t>Notion · Airtable · Perplexity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92040" y="3328415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E0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credit-card_16858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39441" y="3475817"/>
            <a:ext cx="272125" cy="272125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715000" y="3291839"/>
            <a:ext cx="3063239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C1F"/>
                </a:solidFill>
                <a:latin typeface="Avenir Next"/>
              </a:rPr>
              <a:t>Ops &amp; money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000" y="3639311"/>
            <a:ext cx="306323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68581"/>
                </a:solidFill>
                <a:latin typeface="Menlo"/>
              </a:rPr>
              <a:t>Stripe · Mercury · email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8284464" y="473659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8284464" y="480517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284464" y="487375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284464" y="487375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8165679" y="487375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 flipV="1">
            <a:off x="8165679" y="480517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8252460" y="470458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371244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371244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252460" y="497890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133675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133675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234172" y="48234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85632" y="4754880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C8578"/>
                </a:solidFill>
                <a:latin typeface="Avenir Next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4791456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8578"/>
                </a:solidFill>
                <a:latin typeface="Avenir Next"/>
              </a:rPr>
              <a:t>The One-Person Company · a personal talk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1542A"/>
                </a:solidFill>
                <a:latin typeface="Avenir Next"/>
              </a:rPr>
              <a:t>THE REALLOCATION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1C1F"/>
                </a:solidFill>
                <a:latin typeface="Avenir Next"/>
              </a:rPr>
              <a:t>AI moves the bottleneck — it doesn't remove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050791"/>
            <a:ext cx="8046720" cy="498347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4090659"/>
            <a:ext cx="64008" cy="418612"/>
          </a:xfrm>
          <a:prstGeom prst="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4050791"/>
            <a:ext cx="7644384" cy="498347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1542A"/>
                </a:solidFill>
                <a:latin typeface="Avenir Next"/>
              </a:rPr>
              <a:t>SO WHAT  </a:t>
            </a:r>
            <a:r>
              <a:rPr sz="1250" b="0" i="0">
                <a:solidFill>
                  <a:srgbClr val="1B1C1F"/>
                </a:solidFill>
                <a:latin typeface="Avenir Next"/>
              </a:rPr>
              <a:t>When production is free, the scarce thing — your judgment — becomes the whole job.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536192"/>
            <a:ext cx="3954779" cy="2331720"/>
          </a:xfrm>
          <a:prstGeom prst="roundRect">
            <a:avLst>
              <a:gd name="adj" fmla="val 8000"/>
            </a:avLst>
          </a:prstGeom>
          <a:solidFill>
            <a:srgbClr val="FBF9F4"/>
          </a:solidFill>
          <a:ln w="12700">
            <a:solidFill>
              <a:srgbClr val="D9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3504" y="1737360"/>
            <a:ext cx="512064" cy="512064"/>
          </a:xfrm>
          <a:prstGeom prst="roundRect">
            <a:avLst>
              <a:gd name="adj" fmla="val 24000"/>
            </a:avLst>
          </a:prstGeom>
          <a:solidFill>
            <a:srgbClr val="DE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rrow-down_1685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640" y="1870496"/>
            <a:ext cx="245790" cy="24579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61872" y="1755648"/>
            <a:ext cx="2857499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68581"/>
                </a:solidFill>
                <a:latin typeface="Avenir Next"/>
              </a:rPr>
              <a:t>Now near-free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2066543"/>
            <a:ext cx="285749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C8578"/>
                </a:solidFill>
                <a:latin typeface="Avenir Next"/>
              </a:rPr>
              <a:t>AI does it well enough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53288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685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2468880"/>
            <a:ext cx="3223259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1C1F"/>
                </a:solidFill>
                <a:latin typeface="Avenir Next"/>
              </a:rPr>
              <a:t>Writing first drafts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880360"/>
            <a:ext cx="82296" cy="82296"/>
          </a:xfrm>
          <a:prstGeom prst="roundRect">
            <a:avLst>
              <a:gd name="adj" fmla="val 50000"/>
            </a:avLst>
          </a:prstGeom>
          <a:solidFill>
            <a:srgbClr val="1685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816352"/>
            <a:ext cx="3223259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1C1F"/>
                </a:solidFill>
                <a:latin typeface="Avenir Next"/>
              </a:rPr>
              <a:t>Boilerplate code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22783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685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3163824"/>
            <a:ext cx="3223259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1C1F"/>
                </a:solidFill>
                <a:latin typeface="Avenir Next"/>
              </a:rPr>
              <a:t>Images &amp; mockups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575303"/>
            <a:ext cx="82296" cy="82296"/>
          </a:xfrm>
          <a:prstGeom prst="roundRect">
            <a:avLst>
              <a:gd name="adj" fmla="val 50000"/>
            </a:avLst>
          </a:prstGeom>
          <a:solidFill>
            <a:srgbClr val="1685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3511296"/>
            <a:ext cx="3223259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1C1F"/>
                </a:solidFill>
                <a:latin typeface="Avenir Next"/>
              </a:rPr>
              <a:t>Research &amp; summaries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23459" y="1536192"/>
            <a:ext cx="3954779" cy="2331720"/>
          </a:xfrm>
          <a:prstGeom prst="roundRect">
            <a:avLst>
              <a:gd name="adj" fmla="val 8000"/>
            </a:avLst>
          </a:prstGeom>
          <a:solidFill>
            <a:srgbClr val="FBF9F4"/>
          </a:solidFill>
          <a:ln w="12700">
            <a:solidFill>
              <a:srgbClr val="D9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61203" y="1737360"/>
            <a:ext cx="512064" cy="512064"/>
          </a:xfrm>
          <a:prstGeom prst="roundRect">
            <a:avLst>
              <a:gd name="adj" fmla="val 24000"/>
            </a:avLst>
          </a:prstGeom>
          <a:solidFill>
            <a:srgbClr val="FA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arrow-up_e154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4340" y="1870496"/>
            <a:ext cx="245790" cy="24579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719571" y="1755648"/>
            <a:ext cx="2857499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E1542A"/>
                </a:solidFill>
                <a:latin typeface="Avenir Next"/>
              </a:rPr>
              <a:t>Now the constraint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9571" y="2066543"/>
            <a:ext cx="285749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C8578"/>
                </a:solidFill>
                <a:latin typeface="Avenir Next"/>
              </a:rPr>
              <a:t>only you can do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97779" y="2615184"/>
            <a:ext cx="3406139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E1542A"/>
                </a:solidFill>
                <a:latin typeface="Avenir Next"/>
              </a:rPr>
              <a:t>Your judgment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7779" y="3291839"/>
            <a:ext cx="3406139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1C1F"/>
                </a:solidFill>
                <a:latin typeface="Avenir Next"/>
              </a:rPr>
              <a:t>Knowing what's worth building — and whether it's any good.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8284464" y="473659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8284464" y="480517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284464" y="487375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284464" y="487375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8165679" y="487375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 flipV="1">
            <a:off x="8165679" y="480517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252460" y="470458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371244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371244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252460" y="497890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33675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133675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234172" y="48234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85632" y="4754880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C8578"/>
                </a:solidFill>
                <a:latin typeface="Avenir Next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4791456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8578"/>
                </a:solidFill>
                <a:latin typeface="Avenir Next"/>
              </a:rPr>
              <a:t>The One-Person Company · a personal talk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1542A"/>
                </a:solidFill>
                <a:latin typeface="Avenir Next"/>
              </a:rPr>
              <a:t>LIMITS &amp;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1C1F"/>
                </a:solidFill>
                <a:latin typeface="Avenir Next"/>
              </a:rPr>
              <a:t>One person is also a single point of failure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536192"/>
            <a:ext cx="2609087" cy="1481328"/>
          </a:xfrm>
          <a:prstGeom prst="roundRect">
            <a:avLst>
              <a:gd name="adj" fmla="val 8000"/>
            </a:avLst>
          </a:prstGeom>
          <a:solidFill>
            <a:srgbClr val="FBF9F4"/>
          </a:solidFill>
          <a:ln w="12700">
            <a:solidFill>
              <a:srgbClr val="D9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85216" y="170078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B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eart-pulse_e154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819655"/>
            <a:ext cx="219456" cy="2194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5216" y="2267712"/>
            <a:ext cx="2170175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1C1F"/>
                </a:solidFill>
                <a:latin typeface="Avenir Next"/>
              </a:rPr>
              <a:t>Single point of 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542032"/>
            <a:ext cx="2206752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5951"/>
                </a:solidFill>
                <a:latin typeface="Avenir Next"/>
              </a:rPr>
              <a:t>You are the whole company — illness or a bad week has no backup.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67455" y="1536192"/>
            <a:ext cx="2609087" cy="1481328"/>
          </a:xfrm>
          <a:prstGeom prst="roundRect">
            <a:avLst>
              <a:gd name="adj" fmla="val 8000"/>
            </a:avLst>
          </a:prstGeom>
          <a:solidFill>
            <a:srgbClr val="FBF9F4"/>
          </a:solidFill>
          <a:ln w="12700">
            <a:solidFill>
              <a:srgbClr val="D9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86911" y="170078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B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can-eye_e154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5783" y="1819655"/>
            <a:ext cx="219456" cy="2194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86911" y="2267712"/>
            <a:ext cx="2170175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1C1F"/>
                </a:solidFill>
                <a:latin typeface="Avenir Next"/>
              </a:rPr>
              <a:t>The verification tax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6911" y="2542032"/>
            <a:ext cx="2206752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5951"/>
                </a:solidFill>
                <a:latin typeface="Avenir Next"/>
              </a:rPr>
              <a:t>AI is confidently wrong; every output needs a human check.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9151" y="1536192"/>
            <a:ext cx="2609087" cy="1481328"/>
          </a:xfrm>
          <a:prstGeom prst="roundRect">
            <a:avLst>
              <a:gd name="adj" fmla="val 8000"/>
            </a:avLst>
          </a:prstGeom>
          <a:solidFill>
            <a:srgbClr val="FBF9F4"/>
          </a:solidFill>
          <a:ln w="12700">
            <a:solidFill>
              <a:srgbClr val="D9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88608" y="170078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B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gauge_e1542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7480" y="1819655"/>
            <a:ext cx="219456" cy="21945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88608" y="2267712"/>
            <a:ext cx="2170175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1C1F"/>
                </a:solidFill>
                <a:latin typeface="Avenir Next"/>
              </a:rPr>
              <a:t>Taste is the ceiling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8608" y="2542032"/>
            <a:ext cx="2206752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5951"/>
                </a:solidFill>
                <a:latin typeface="Avenir Next"/>
              </a:rPr>
              <a:t>AI matches your judgment, it doesn't exceed 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3136391"/>
            <a:ext cx="2609087" cy="1481328"/>
          </a:xfrm>
          <a:prstGeom prst="roundRect">
            <a:avLst>
              <a:gd name="adj" fmla="val 8000"/>
            </a:avLst>
          </a:prstGeom>
          <a:solidFill>
            <a:srgbClr val="FBF9F4"/>
          </a:solidFill>
          <a:ln w="12700">
            <a:solidFill>
              <a:srgbClr val="D9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85216" y="330098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B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opy_e1542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3419856"/>
            <a:ext cx="219456" cy="21945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85216" y="3867911"/>
            <a:ext cx="2170175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1C1F"/>
                </a:solidFill>
                <a:latin typeface="Avenir Next"/>
              </a:rPr>
              <a:t>No moat by default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" y="4142231"/>
            <a:ext cx="2206752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5951"/>
                </a:solidFill>
                <a:latin typeface="Avenir Next"/>
              </a:rPr>
              <a:t>If one person can build it, so can the next. Fast to copy.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67455" y="3136391"/>
            <a:ext cx="2609087" cy="1481328"/>
          </a:xfrm>
          <a:prstGeom prst="roundRect">
            <a:avLst>
              <a:gd name="adj" fmla="val 8000"/>
            </a:avLst>
          </a:prstGeom>
          <a:solidFill>
            <a:srgbClr val="FBF9F4"/>
          </a:solidFill>
          <a:ln w="12700">
            <a:solidFill>
              <a:srgbClr val="D9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486911" y="330098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B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brain_e1542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05783" y="3419856"/>
            <a:ext cx="219456" cy="21945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3486911" y="3867911"/>
            <a:ext cx="2170175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1C1F"/>
                </a:solidFill>
                <a:latin typeface="Avenir Next"/>
              </a:rPr>
              <a:t>Context &amp; drift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86911" y="4142231"/>
            <a:ext cx="2206752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5951"/>
                </a:solidFill>
                <a:latin typeface="Avenir Next"/>
              </a:rPr>
              <a:t>Agents forget and wander; orchestrating them is real work.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69151" y="3136391"/>
            <a:ext cx="2609087" cy="1481328"/>
          </a:xfrm>
          <a:prstGeom prst="roundRect">
            <a:avLst>
              <a:gd name="adj" fmla="val 8000"/>
            </a:avLst>
          </a:prstGeom>
          <a:solidFill>
            <a:srgbClr val="FBF9F4"/>
          </a:solidFill>
          <a:ln w="12700">
            <a:solidFill>
              <a:srgbClr val="D9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388608" y="330098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B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unplug_e1542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7480" y="3419856"/>
            <a:ext cx="219456" cy="21945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388608" y="3867911"/>
            <a:ext cx="2170175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1C1F"/>
                </a:solidFill>
                <a:latin typeface="Avenir Next"/>
              </a:rPr>
              <a:t>Over-automation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88608" y="4142231"/>
            <a:ext cx="2206752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5951"/>
                </a:solidFill>
                <a:latin typeface="Avenir Next"/>
              </a:rPr>
              <a:t>Automate the relationship and you lose why people chose a human.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8284464" y="473659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284464" y="480517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284464" y="487375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284464" y="487375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8165679" y="487375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 flipV="1">
            <a:off x="8165679" y="480517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8252460" y="470458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371244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371244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252460" y="497890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133675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133675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8234172" y="48234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85632" y="4754880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C8578"/>
                </a:solidFill>
                <a:latin typeface="Avenir Next"/>
              </a:rPr>
              <a:t>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4791456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8578"/>
                </a:solidFill>
                <a:latin typeface="Avenir Next"/>
              </a:rPr>
              <a:t>The One-Person Company · a personal talk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1542A"/>
                </a:solidFill>
                <a:latin typeface="Avenir Next"/>
              </a:rPr>
              <a:t>THE HUMAN 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1C1F"/>
                </a:solidFill>
                <a:latin typeface="Avenir Next"/>
              </a:rPr>
              <a:t>What AI can't rent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755648"/>
            <a:ext cx="42062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B1C1F"/>
                </a:solidFill>
                <a:latin typeface="Avenir Next"/>
              </a:rPr>
              <a:t>Taste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103120"/>
            <a:ext cx="42062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8C8578"/>
                </a:solidFill>
                <a:latin typeface="Palatino"/>
              </a:rPr>
              <a:t>knowing what's actually good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505456"/>
            <a:ext cx="42062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B1C1F"/>
                </a:solidFill>
                <a:latin typeface="Avenir Next"/>
              </a:rPr>
              <a:t>Judgment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852927"/>
            <a:ext cx="42062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8C8578"/>
                </a:solidFill>
                <a:latin typeface="Palatino"/>
              </a:rPr>
              <a:t>choosing what deserves to exist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255263"/>
            <a:ext cx="42062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B1C1F"/>
                </a:solidFill>
                <a:latin typeface="Avenir Next"/>
              </a:rPr>
              <a:t>Relationships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602735"/>
            <a:ext cx="42062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8C8578"/>
                </a:solidFill>
                <a:latin typeface="Palatino"/>
              </a:rPr>
              <a:t>the trust no model can transfer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005072"/>
            <a:ext cx="42062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B1C1F"/>
                </a:solidFill>
                <a:latin typeface="Avenir Next"/>
              </a:rPr>
              <a:t>Accountability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52544"/>
            <a:ext cx="42062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8C8578"/>
                </a:solidFill>
                <a:latin typeface="Palatino"/>
              </a:rPr>
              <a:t>someone who owns the outcome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2121408"/>
            <a:ext cx="45720" cy="1700784"/>
          </a:xfrm>
          <a:prstGeom prst="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13248" y="2157984"/>
            <a:ext cx="3364992" cy="17373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 i="1">
                <a:solidFill>
                  <a:srgbClr val="1B1C1F"/>
                </a:solidFill>
                <a:latin typeface="Palatino"/>
              </a:rPr>
              <a:t>AI gives everyone the same superpowers.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 i="0">
                <a:solidFill>
                  <a:srgbClr val="1B1C1F"/>
                </a:solidFill>
                <a:latin typeface="Avenir Next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 i="1">
                <a:solidFill>
                  <a:srgbClr val="1B1C1F"/>
                </a:solidFill>
                <a:latin typeface="Palatino"/>
              </a:rPr>
              <a:t>What's scarce is the person deciding </a:t>
            </a:r>
            <a:r>
              <a:rPr sz="1900" b="1" i="1">
                <a:solidFill>
                  <a:srgbClr val="E1542A"/>
                </a:solidFill>
                <a:latin typeface="Palatino"/>
              </a:rPr>
              <a:t>where to point them.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6949440" y="3977639"/>
            <a:ext cx="0" cy="365761"/>
          </a:xfrm>
          <a:prstGeom prst="line">
            <a:avLst/>
          </a:prstGeom>
          <a:ln w="889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6949440" y="4115352"/>
            <a:ext cx="285962" cy="228048"/>
          </a:xfrm>
          <a:prstGeom prst="line">
            <a:avLst/>
          </a:prstGeom>
          <a:ln w="889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949440" y="4343400"/>
            <a:ext cx="356589" cy="81389"/>
          </a:xfrm>
          <a:prstGeom prst="line">
            <a:avLst/>
          </a:prstGeom>
          <a:ln w="889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949440" y="4343400"/>
            <a:ext cx="158697" cy="329538"/>
          </a:xfrm>
          <a:prstGeom prst="line">
            <a:avLst/>
          </a:prstGeom>
          <a:ln w="889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790742" y="4343400"/>
            <a:ext cx="158698" cy="329538"/>
          </a:xfrm>
          <a:prstGeom prst="line">
            <a:avLst/>
          </a:prstGeom>
          <a:ln w="889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6592850" y="4343400"/>
            <a:ext cx="356590" cy="81389"/>
          </a:xfrm>
          <a:prstGeom prst="line">
            <a:avLst/>
          </a:prstGeom>
          <a:ln w="889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 flipV="1">
            <a:off x="6663477" y="4115352"/>
            <a:ext cx="285963" cy="228048"/>
          </a:xfrm>
          <a:prstGeom prst="line">
            <a:avLst/>
          </a:prstGeom>
          <a:ln w="889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912864" y="3941063"/>
            <a:ext cx="73152" cy="73152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198826" y="4078776"/>
            <a:ext cx="73152" cy="73152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269453" y="4388213"/>
            <a:ext cx="73152" cy="73152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71561" y="4636362"/>
            <a:ext cx="73152" cy="73152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754166" y="4636362"/>
            <a:ext cx="73152" cy="73152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56274" y="4388213"/>
            <a:ext cx="73152" cy="73152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626901" y="4078776"/>
            <a:ext cx="73152" cy="73152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871716" y="4265676"/>
            <a:ext cx="155448" cy="155448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 flipV="1">
            <a:off x="8284464" y="473659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8284464" y="480517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284464" y="487375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284464" y="487375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8165679" y="487375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 flipV="1">
            <a:off x="8165679" y="480517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8252460" y="470458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371244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371244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252460" y="497890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133675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133675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234172" y="48234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85632" y="4754880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C8578"/>
                </a:solidFill>
                <a:latin typeface="Avenir Next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4791456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8578"/>
                </a:solidFill>
                <a:latin typeface="Avenir Next"/>
              </a:rPr>
              <a:t>The One-Person Company · a personal talk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1542A"/>
                </a:solidFill>
                <a:latin typeface="Avenir Next"/>
              </a:rPr>
              <a:t>WHAT TO DO MONDAY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1C1F"/>
                </a:solidFill>
                <a:latin typeface="Avenir Next"/>
              </a:rPr>
              <a:t>Start with one loop — not the whole future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51790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17904"/>
            <a:ext cx="384048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venir Nex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499616"/>
            <a:ext cx="3845559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B1C1F"/>
                </a:solidFill>
                <a:latin typeface="Avenir Next"/>
              </a:rPr>
              <a:t>Pick one loop you repeat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92224"/>
            <a:ext cx="384555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5"/>
                </a:solidFill>
                <a:latin typeface="Avenir Next"/>
              </a:rPr>
              <a:t>The report, the outreach, the review — just one.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28600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286000"/>
            <a:ext cx="384048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venir Next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67712"/>
            <a:ext cx="3845559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B1C1F"/>
                </a:solidFill>
                <a:latin typeface="Avenir Next"/>
              </a:rPr>
              <a:t>Give the AI your context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384555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5"/>
                </a:solidFill>
                <a:latin typeface="Avenir Next"/>
              </a:rPr>
              <a:t>Spec, examples, taste. Context is the real moat.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054096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3054096"/>
            <a:ext cx="384048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venir Next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035808"/>
            <a:ext cx="3845559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B1C1F"/>
                </a:solidFill>
                <a:latin typeface="Avenir Next"/>
              </a:rPr>
              <a:t>Keep a human review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328415"/>
            <a:ext cx="384555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5"/>
                </a:solidFill>
                <a:latin typeface="Avenir Next"/>
              </a:rPr>
              <a:t>Ship AI output only after you've checked 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822191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822191"/>
            <a:ext cx="384048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venir Next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803904"/>
            <a:ext cx="3845559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B1C1F"/>
                </a:solidFill>
                <a:latin typeface="Avenir Next"/>
              </a:rPr>
              <a:t>Measure output, then compound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096511"/>
            <a:ext cx="384555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5"/>
                </a:solidFill>
                <a:latin typeface="Avenir Next"/>
              </a:rPr>
              <a:t>Judge by what shipped; template what works.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62879" y="1572768"/>
            <a:ext cx="3515359" cy="2697480"/>
          </a:xfrm>
          <a:prstGeom prst="roundRect">
            <a:avLst>
              <a:gd name="adj" fmla="val 8000"/>
            </a:avLst>
          </a:prstGeom>
          <a:solidFill>
            <a:srgbClr val="15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V="1">
            <a:off x="7020559" y="1965960"/>
            <a:ext cx="0" cy="566928"/>
          </a:xfrm>
          <a:prstGeom prst="line">
            <a:avLst/>
          </a:prstGeom>
          <a:ln w="1016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7020559" y="2179414"/>
            <a:ext cx="443243" cy="353474"/>
          </a:xfrm>
          <a:prstGeom prst="line">
            <a:avLst/>
          </a:prstGeom>
          <a:ln w="1016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020559" y="2532888"/>
            <a:ext cx="552714" cy="126153"/>
          </a:xfrm>
          <a:prstGeom prst="line">
            <a:avLst/>
          </a:prstGeom>
          <a:ln w="1016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020559" y="2532888"/>
            <a:ext cx="245981" cy="510784"/>
          </a:xfrm>
          <a:prstGeom prst="line">
            <a:avLst/>
          </a:prstGeom>
          <a:ln w="1016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6774579" y="2532888"/>
            <a:ext cx="245980" cy="510784"/>
          </a:xfrm>
          <a:prstGeom prst="line">
            <a:avLst/>
          </a:prstGeom>
          <a:ln w="1016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6467846" y="2532888"/>
            <a:ext cx="552713" cy="126153"/>
          </a:xfrm>
          <a:prstGeom prst="line">
            <a:avLst/>
          </a:prstGeom>
          <a:ln w="1016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6577317" y="2179414"/>
            <a:ext cx="443242" cy="353474"/>
          </a:xfrm>
          <a:prstGeom prst="line">
            <a:avLst/>
          </a:prstGeom>
          <a:ln w="1016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965695" y="1911095"/>
            <a:ext cx="109728" cy="109728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408938" y="2124550"/>
            <a:ext cx="109728" cy="109728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518409" y="2604177"/>
            <a:ext cx="109728" cy="109728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211676" y="2988808"/>
            <a:ext cx="109728" cy="109728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719715" y="2988808"/>
            <a:ext cx="109728" cy="109728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412982" y="2604177"/>
            <a:ext cx="109728" cy="109728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522453" y="2124550"/>
            <a:ext cx="109728" cy="109728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901687" y="2414016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37199" y="3355848"/>
            <a:ext cx="2966719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0" i="0">
                <a:solidFill>
                  <a:srgbClr val="EDE9DF"/>
                </a:solidFill>
                <a:latin typeface="Avenir Next"/>
              </a:rPr>
              <a:t>You already are the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EDE9DF"/>
                </a:solidFill>
                <a:latin typeface="Avenir Next"/>
              </a:rPr>
              <a:t>one-person company.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1542A"/>
                </a:solidFill>
                <a:latin typeface="Avenir Next"/>
              </a:rPr>
              <a:t>Start acting like the founder.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8284464" y="473659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8284464" y="480517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284464" y="487375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284464" y="487375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8165679" y="487375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 flipV="1">
            <a:off x="8165679" y="480517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8252460" y="470458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371244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371244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8252460" y="497890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133675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133675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234172" y="48234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85632" y="4754880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C8578"/>
                </a:solidFill>
                <a:latin typeface="Avenir Next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4791456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8578"/>
                </a:solidFill>
                <a:latin typeface="Avenir Next"/>
              </a:rPr>
              <a:t>The One-Person Company · a personal talk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V="1">
            <a:off x="7360920" y="1417320"/>
            <a:ext cx="0" cy="1188720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7360920" y="1864885"/>
            <a:ext cx="929378" cy="741155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360920" y="2606040"/>
            <a:ext cx="1158916" cy="264515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360920" y="2606040"/>
            <a:ext cx="515766" cy="1070999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6845153" y="2606040"/>
            <a:ext cx="515767" cy="1070999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6202003" y="2606040"/>
            <a:ext cx="1158917" cy="264515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6431541" y="1864885"/>
            <a:ext cx="929379" cy="741155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251192" y="1307592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80570" y="1755157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0108" y="2760827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766958" y="3567311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35425" y="3567311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92275" y="2760827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21813" y="1755157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123176" y="236829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7772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50">
                <a:solidFill>
                  <a:srgbClr val="E1542A"/>
                </a:solidFill>
                <a:latin typeface="Menlo"/>
              </a:rPr>
              <a:t>THE TAKEAWAY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1645920"/>
            <a:ext cx="5669280" cy="15544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EDE9DF"/>
                </a:solidFill>
                <a:latin typeface="Avenir Next"/>
              </a:rPr>
              <a:t>You are the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EDE9DF"/>
                </a:solidFill>
                <a:latin typeface="Avenir Next"/>
              </a:rPr>
              <a:t>org chart now.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127248"/>
            <a:ext cx="1371600" cy="54864"/>
          </a:xfrm>
          <a:prstGeom prst="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46704"/>
            <a:ext cx="54864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3BDAF"/>
                </a:solidFill>
                <a:latin typeface="Avenir Next"/>
              </a:rPr>
              <a:t>Rent the minds. Keep the judgment. Start with one loop.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4553712"/>
            <a:ext cx="59436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9A9486"/>
                </a:solidFill>
                <a:latin typeface="Palatino"/>
              </a:rPr>
              <a:t>Thanks —  let's build like companies of 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