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revenue</c:v>
                </c:pt>
              </c:strCache>
            </c:strRef>
          </c:tx>
          <c:spPr>
            <a:solidFill>
              <a:srgbClr val="7C8A92"/>
            </a:solidFill>
            <a:ln w="31750">
              <a:solidFill>
                <a:srgbClr val="7C8A92"/>
              </a:solidFill>
            </a:ln>
          </c:spPr>
          <c:cat>
            <c:strRef>
              <c:f>Sheet1!$A$2:$A$5</c:f>
              <c:strCache>
                <c:ptCount val="4"/>
                <c:pt idx="0">
                  <c:v>FY2023</c:v>
                </c:pt>
                <c:pt idx="1">
                  <c:v>FY2024</c:v>
                </c:pt>
                <c:pt idx="2">
                  <c:v>FY2025</c:v>
                </c:pt>
                <c:pt idx="3">
                  <c:v>FY2026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27.0</c:v>
                </c:pt>
                <c:pt idx="1">
                  <c:v>60.9</c:v>
                </c:pt>
                <c:pt idx="2">
                  <c:v>130.5</c:v>
                </c:pt>
                <c:pt idx="3">
                  <c:v>215.9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 Center</c:v>
                </c:pt>
              </c:strCache>
            </c:strRef>
          </c:tx>
          <c:spPr>
            <a:solidFill>
              <a:srgbClr val="76B900"/>
            </a:solidFill>
            <a:ln w="31750">
              <a:solidFill>
                <a:srgbClr val="76B900"/>
              </a:solidFill>
            </a:ln>
          </c:spPr>
          <c:cat>
            <c:strRef>
              <c:f>Sheet1!$A$2:$A$5</c:f>
              <c:strCache>
                <c:ptCount val="4"/>
                <c:pt idx="0">
                  <c:v>FY2023</c:v>
                </c:pt>
                <c:pt idx="1">
                  <c:v>FY2024</c:v>
                </c:pt>
                <c:pt idx="2">
                  <c:v>FY2025</c:v>
                </c:pt>
                <c:pt idx="3">
                  <c:v>FY2026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15.0</c:v>
                </c:pt>
                <c:pt idx="1">
                  <c:v>47.5</c:v>
                </c:pt>
                <c:pt idx="2">
                  <c:v>115.2</c:v>
                </c:pt>
                <c:pt idx="3">
                  <c:v>193.7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&quot;$&quot;0&quot;B&quot;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EAF2FF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EAF2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76B900"/>
              </a:solidFill>
            </c:spPr>
          </c:dPt>
          <c:dPt>
            <c:idx val="1"/>
            <c:spPr>
              <a:solidFill>
                <a:srgbClr val="2FB6E6"/>
              </a:solidFill>
            </c:spPr>
          </c:dPt>
          <c:dPt>
            <c:idx val="2"/>
            <c:spPr>
              <a:solidFill>
                <a:srgbClr val="A585F5"/>
              </a:solidFill>
            </c:spPr>
          </c:dPt>
          <c:dPt>
            <c:idx val="3"/>
            <c:spPr>
              <a:solidFill>
                <a:srgbClr val="F2A93B"/>
              </a:solidFill>
            </c:spPr>
          </c:dPt>
          <c:dPt>
            <c:idx val="4"/>
            <c:spPr>
              <a:solidFill>
                <a:srgbClr val="7C8A92"/>
              </a:solidFill>
            </c:spPr>
          </c:dPt>
          <c:cat>
            <c:strRef>
              <c:f>Sheet1!$A$2:$A$6</c:f>
              <c:strCache>
                <c:ptCount val="5"/>
                <c:pt idx="0">
                  <c:v>Data Center</c:v>
                </c:pt>
                <c:pt idx="1">
                  <c:v>Gaming</c:v>
                </c:pt>
                <c:pt idx="2">
                  <c:v>Pro Visualization</c:v>
                </c:pt>
                <c:pt idx="3">
                  <c:v>Automotive</c:v>
                </c:pt>
                <c:pt idx="4">
                  <c:v>OEM &amp; 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115.2</c:v>
                </c:pt>
                <c:pt idx="1">
                  <c:v>11.4</c:v>
                </c:pt>
                <c:pt idx="2">
                  <c:v>1.9</c:v>
                </c:pt>
                <c:pt idx="3">
                  <c:v>1.7</c:v>
                </c:pt>
                <c:pt idx="4">
                  <c:v>0.3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100">
          <a:solidFill>
            <a:srgbClr val="EAF2FF"/>
          </a:solidFill>
          <a:latin typeface="Arial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32320" y="182879"/>
            <a:ext cx="4937760" cy="4937760"/>
          </a:xfrm>
          <a:prstGeom prst="ellipse">
            <a:avLst/>
          </a:prstGeom>
          <a:gradFill>
            <a:gsLst>
              <a:gs pos="0">
                <a:srgbClr val="76B900">
                  <a:alpha val="26000"/>
                </a:srgbClr>
              </a:gs>
              <a:gs pos="100000">
                <a:srgbClr val="76B9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823960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44584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65208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85832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6456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927080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23960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44584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65208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85832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06456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27080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23960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44584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5208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85832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506456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27080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23960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44584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65208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85832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06456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927080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823960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44584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65208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085832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506456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927080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66928"/>
            <a:ext cx="1369206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85216" y="233172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60">
                <a:solidFill>
                  <a:srgbClr val="76B900"/>
                </a:solidFill>
                <a:latin typeface="Consolas"/>
              </a:rPr>
              <a:t>AN NVIDIA COMPANY &amp; PRODUCT OVERVIEW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743200"/>
            <a:ext cx="8595360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EDF2EE"/>
                </a:solidFill>
                <a:latin typeface="Arial"/>
              </a:rPr>
              <a:t>The accelerated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EDF2EE"/>
                </a:solidFill>
                <a:latin typeface="Arial"/>
              </a:rPr>
              <a:t>computing company.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" y="4443984"/>
            <a:ext cx="2743200" cy="54864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7120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681728"/>
            <a:ext cx="79552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94A0A2"/>
                </a:solidFill>
                <a:latin typeface="Arial"/>
              </a:rPr>
              <a:t>From the graphics chip to the AI factory — NVIDIA's full-stack platform, product lines, business model, and key figures at a glance.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291072"/>
            <a:ext cx="10058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C777B"/>
                </a:solidFill>
                <a:latin typeface="Consolas"/>
              </a:rPr>
              <a:t>AS OF JULY 2026   ·   EVERY FIGURE WEB-VERIFIED AGAINST NVIDIA FILINGS, PRESS RELEASES &amp; INDUSTRY 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</a:rPr>
              <a:t>&gt;_ COMPANY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7680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A 33-year-old chip company — now among the world's most valuable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627632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02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47672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01952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</a:rPr>
              <a:t>FOUNDED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139696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</a:rPr>
              <a:t>April 5, 1993 · Santa Clara, California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51176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505456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</a:rPr>
              <a:t>FOUNDERS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743200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</a:rPr>
              <a:t>Jensen Huang · Chris Malachowsky · Curtis Priem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54680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108960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</a:rPr>
              <a:t>CHIEF EXECUTIVE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346704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</a:rPr>
              <a:t>Jensen Huang — co-founder, president &amp; CEO since 1993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58184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3712464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</a:rPr>
              <a:t>PEOPLE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950208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</a:rPr>
              <a:t>40,000+ employees worldwide (FY2026)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361688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315968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</a:rPr>
              <a:t>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553712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</a:rPr>
              <a:t>Fabless — designs the full computing stack; TSMC fabricates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965192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4919472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</a:rPr>
              <a:t>LISTING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57216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</a:rPr>
              <a:t>NASDAQ: NVDA · joined the Dow Jones Industrial Average, 2024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1865376"/>
            <a:ext cx="4903927" cy="4224528"/>
          </a:xfrm>
          <a:prstGeom prst="roundRect">
            <a:avLst>
              <a:gd name="adj" fmla="val 2597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31736" y="2084832"/>
            <a:ext cx="43552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4A0A2"/>
                </a:solidFill>
                <a:latin typeface="Consolas"/>
              </a:rPr>
              <a:t>BY THE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31736" y="2304288"/>
            <a:ext cx="43552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77B"/>
                </a:solidFill>
                <a:latin typeface="Arial"/>
              </a:rPr>
              <a:t>Fiscal year ends late January · FY2026 ended Jan 25,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31736" y="2688336"/>
            <a:ext cx="2049627" cy="56692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9BE01E"/>
                </a:solidFill>
                <a:latin typeface="Arial"/>
              </a:rPr>
              <a:t>$215.9B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31736" y="3236976"/>
            <a:ext cx="204962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</a:rPr>
              <a:t>FY2026 revenue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1736" y="3547872"/>
            <a:ext cx="204962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E01E"/>
                </a:solidFill>
                <a:latin typeface="Consolas"/>
              </a:rPr>
              <a:t>+65% YoY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2803" y="2688336"/>
            <a:ext cx="2049627" cy="56692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9BE01E"/>
                </a:solidFill>
                <a:latin typeface="Arial"/>
              </a:rPr>
              <a:t>~$5T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803" y="3236976"/>
            <a:ext cx="204962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</a:rPr>
              <a:t>market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2803" y="3547872"/>
            <a:ext cx="204962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E01E"/>
                </a:solidFill>
                <a:latin typeface="Consolas"/>
              </a:rPr>
              <a:t>world's most valuable company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31736" y="4261104"/>
            <a:ext cx="2049627" cy="56692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DF2EE"/>
                </a:solidFill>
                <a:latin typeface="Arial"/>
              </a:rPr>
              <a:t>$120.1B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1736" y="4809744"/>
            <a:ext cx="204962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</a:rPr>
              <a:t>FY2026 net income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31736" y="5120640"/>
            <a:ext cx="204962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E01E"/>
                </a:solidFill>
                <a:latin typeface="Consolas"/>
              </a:rPr>
              <a:t>71% gross margin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2803" y="4261104"/>
            <a:ext cx="2049627" cy="56692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DF2EE"/>
                </a:solidFill>
                <a:latin typeface="Arial"/>
              </a:rPr>
              <a:t>$18.5B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2803" y="4809744"/>
            <a:ext cx="204962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</a:rPr>
              <a:t>FY2026 R&amp;D investment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2803" y="5120640"/>
            <a:ext cx="204962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E01E"/>
                </a:solidFill>
                <a:latin typeface="Consolas"/>
              </a:rPr>
              <a:t>the innovation engine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</a:rPr>
              <a:t>&gt;_ WHAT NVIDIA SELLS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Not a chip — the whole computing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1007028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0A2"/>
                </a:solidFill>
                <a:latin typeface="Arial"/>
              </a:rPr>
              <a:t>Each layer compounds the one below it into a full accelerated-computing platform, sold from a single vendor.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03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38528"/>
            <a:ext cx="11057839" cy="658368"/>
          </a:xfrm>
          <a:prstGeom prst="roundRect">
            <a:avLst>
              <a:gd name="adj" fmla="val 1666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048256"/>
            <a:ext cx="64008" cy="43891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" y="2057400"/>
            <a:ext cx="420624" cy="420624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76B9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034" y="2166762"/>
            <a:ext cx="201899" cy="2018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44752" y="1938528"/>
            <a:ext cx="2468880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DF2EE"/>
                </a:solidFill>
                <a:latin typeface="Arial"/>
              </a:rPr>
              <a:t>SILICON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8" y="1938528"/>
            <a:ext cx="49313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</a:rPr>
              <a:t>GPUs, CPUs (Grace), DPUs, SoCs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1567" y="1938528"/>
            <a:ext cx="2542032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C73C"/>
                </a:solidFill>
                <a:latin typeface="Arial"/>
              </a:rPr>
              <a:t>the raw compute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761488"/>
            <a:ext cx="11057839" cy="658368"/>
          </a:xfrm>
          <a:prstGeom prst="roundRect">
            <a:avLst>
              <a:gd name="adj" fmla="val 1666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871216"/>
            <a:ext cx="64008" cy="43891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" y="2880360"/>
            <a:ext cx="420624" cy="420624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rver_76B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034" y="2989722"/>
            <a:ext cx="201899" cy="2018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44752" y="2761488"/>
            <a:ext cx="2468880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DF2EE"/>
                </a:solidFill>
                <a:latin typeface="Arial"/>
              </a:rPr>
              <a:t>SYSTEMS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0208" y="2761488"/>
            <a:ext cx="49313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</a:rPr>
              <a:t>DGX servers · GB200 NVL72 rack-scale AI factories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1567" y="2761488"/>
            <a:ext cx="2542032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C73C"/>
                </a:solidFill>
                <a:latin typeface="Arial"/>
              </a:rPr>
              <a:t>assembled into machines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4448"/>
            <a:ext cx="11057839" cy="658368"/>
          </a:xfrm>
          <a:prstGeom prst="roundRect">
            <a:avLst>
              <a:gd name="adj" fmla="val 1666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694176"/>
            <a:ext cx="64008" cy="43891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4672" y="3703320"/>
            <a:ext cx="420624" cy="420624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network_76B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034" y="3812682"/>
            <a:ext cx="201899" cy="2018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444752" y="3584448"/>
            <a:ext cx="2468880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DF2EE"/>
                </a:solidFill>
                <a:latin typeface="Arial"/>
              </a:rPr>
              <a:t>NETWORKING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3584448"/>
            <a:ext cx="49313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</a:rPr>
              <a:t>NVLink · Quantum InfiniBand · Spectrum-X Ethernet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1567" y="3584448"/>
            <a:ext cx="2542032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C73C"/>
                </a:solidFill>
                <a:latin typeface="Arial"/>
              </a:rPr>
              <a:t>the fabric that scales 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407408"/>
            <a:ext cx="11057839" cy="658368"/>
          </a:xfrm>
          <a:prstGeom prst="roundRect">
            <a:avLst>
              <a:gd name="adj" fmla="val 1666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517136"/>
            <a:ext cx="64008" cy="43891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4672" y="4526280"/>
            <a:ext cx="420624" cy="420624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ode_76B9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034" y="4635642"/>
            <a:ext cx="201899" cy="2018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44752" y="4407408"/>
            <a:ext cx="2468880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DF2EE"/>
                </a:solidFill>
                <a:latin typeface="Arial"/>
              </a:rPr>
              <a:t>SOFTWARE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50208" y="4407408"/>
            <a:ext cx="49313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</a:rPr>
              <a:t>CUDA · CUDA-X libraries · AI Enterprise · NIM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1567" y="4407408"/>
            <a:ext cx="2542032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C73C"/>
                </a:solidFill>
                <a:latin typeface="Arial"/>
              </a:rPr>
              <a:t>the programming model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230368"/>
            <a:ext cx="11057839" cy="658368"/>
          </a:xfrm>
          <a:prstGeom prst="roundRect">
            <a:avLst>
              <a:gd name="adj" fmla="val 1666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5340096"/>
            <a:ext cx="64008" cy="43891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4672" y="5349240"/>
            <a:ext cx="420624" cy="420624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in_76B9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034" y="5458602"/>
            <a:ext cx="201899" cy="2018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444752" y="5230368"/>
            <a:ext cx="2468880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DF2EE"/>
                </a:solidFill>
                <a:latin typeface="Arial"/>
              </a:rPr>
              <a:t>AI &amp; ECOSYSTEM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50208" y="5230368"/>
            <a:ext cx="49313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</a:rPr>
              <a:t>Frameworks, foundation models &amp; ~6M developers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81567" y="5230368"/>
            <a:ext cx="2542032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C73C"/>
                </a:solidFill>
                <a:latin typeface="Arial"/>
              </a:rPr>
              <a:t>what customers build 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</a:rPr>
              <a:t>&gt;_ MILESTONES · 1993–2025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From inventing the GPU to powering the AI era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04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463747"/>
            <a:ext cx="10362894" cy="21945"/>
          </a:xfrm>
          <a:prstGeom prst="rect">
            <a:avLst/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2104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" y="363931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</a:rPr>
              <a:t>1993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" y="393192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</a:rPr>
              <a:t>Founded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4187952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Huang, Malachowsky &amp; Priem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83536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152" y="303580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</a:rPr>
              <a:t>1999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7152" y="274320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</a:rPr>
              <a:t>GeForce 256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5712" y="2286000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IPO + the first 'GPU'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34969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48585" y="363931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</a:rPr>
              <a:t>2006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8585" y="393192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</a:rPr>
              <a:t>CUDA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145" y="4187952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GPUs become programmable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6402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00018" y="303580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</a:rPr>
              <a:t>2012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0018" y="274320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</a:rPr>
              <a:t>AlexNet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8578" y="2286000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Deep-learning run on GPUs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7835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51451" y="363931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</a:rPr>
              <a:t>2016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1451" y="393192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</a:rPr>
              <a:t>DGX-1 → OpenAI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0011" y="4187952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First AI supercomputer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9267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2883" y="303580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</a:rPr>
              <a:t>2020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2883" y="274320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</a:rPr>
              <a:t>Mellanox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1443" y="2286000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Networking, ~$7B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40700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54316" y="363931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</a:rPr>
              <a:t>2022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54316" y="393192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</a:rPr>
              <a:t>Hopper H100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62876" y="4187952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The generative-AI surge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92133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05749" y="303580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</a:rPr>
              <a:t>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05749" y="274320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</a:rPr>
              <a:t>$1 trillion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4309" y="2286000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First US chipmaker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43566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57182" y="363931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</a:rPr>
              <a:t>2024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7182" y="393192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</a:rPr>
              <a:t>Blackwell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5742" y="4187952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10-for-1 split · joins Dow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194998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08615" y="303580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B900"/>
                </a:solidFill>
                <a:latin typeface="Arial"/>
              </a:rPr>
              <a:t>2025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8615" y="274320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</a:rPr>
              <a:t>First to $4T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25735" y="2286000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World's most valuable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6928" y="5486400"/>
            <a:ext cx="3478682" cy="932688"/>
          </a:xfrm>
          <a:prstGeom prst="roundRect">
            <a:avLst>
              <a:gd name="adj" fmla="val 1176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66928" y="5614416"/>
            <a:ext cx="64008" cy="676656"/>
          </a:xfrm>
          <a:prstGeom prst="rect">
            <a:avLst/>
          </a:prstGeom>
          <a:solidFill>
            <a:srgbClr val="7C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4672" y="5623560"/>
            <a:ext cx="302148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A9AE"/>
                </a:solidFill>
                <a:latin typeface="Consolas"/>
              </a:rPr>
              <a:t>1993 – 2011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4672" y="5852160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DF2EE"/>
                </a:solidFill>
                <a:latin typeface="Arial"/>
              </a:rPr>
              <a:t>THE GRAPHICS ERA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" y="6108192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GPUs for gaming &amp; visualization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6506" y="5486400"/>
            <a:ext cx="3478682" cy="932688"/>
          </a:xfrm>
          <a:prstGeom prst="roundRect">
            <a:avLst>
              <a:gd name="adj" fmla="val 1176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56506" y="5614416"/>
            <a:ext cx="64008" cy="676656"/>
          </a:xfrm>
          <a:prstGeom prst="rect">
            <a:avLst/>
          </a:prstGeom>
          <a:solidFill>
            <a:srgbClr val="2FB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94250" y="5623560"/>
            <a:ext cx="302148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8C8E8"/>
                </a:solidFill>
                <a:latin typeface="Consolas"/>
              </a:rPr>
              <a:t>2006 – 2016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94250" y="5852160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DF2EE"/>
                </a:solidFill>
                <a:latin typeface="Arial"/>
              </a:rPr>
              <a:t>THE PARALLEL-COMPUTE BET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94250" y="6108192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CUDA turns GPUs into AI engines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46084" y="5486400"/>
            <a:ext cx="3478682" cy="932688"/>
          </a:xfrm>
          <a:prstGeom prst="roundRect">
            <a:avLst>
              <a:gd name="adj" fmla="val 1176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46084" y="5614416"/>
            <a:ext cx="64008" cy="67665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83828" y="5623560"/>
            <a:ext cx="302148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CA47"/>
                </a:solidFill>
                <a:latin typeface="Consolas"/>
              </a:rPr>
              <a:t>2016 – TODAY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83828" y="5852160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DF2EE"/>
                </a:solidFill>
                <a:latin typeface="Arial"/>
              </a:rPr>
              <a:t>THE AI-COMPUTE ERA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83828" y="6108192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Data-center AI becomes the business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</a:rPr>
              <a:t>&gt;_ THE AI INFLECTION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Three years, an 8× revenue jump — driven by Data Center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05 / 16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66928" y="1554480"/>
          <a:ext cx="70408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19288" y="1783080"/>
            <a:ext cx="36054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9BE01E"/>
                </a:solidFill>
                <a:latin typeface="Consolas"/>
              </a:rPr>
              <a:t>DATA CENTER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9288" y="2066544"/>
            <a:ext cx="3605479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DF2EE"/>
                </a:solidFill>
                <a:latin typeface="Arial"/>
              </a:rPr>
              <a:t>$15B → $194B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2670048"/>
            <a:ext cx="3605479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0A2"/>
                </a:solidFill>
                <a:latin typeface="Arial"/>
              </a:rPr>
              <a:t>From FY2023 to FY2026, total revenue grew roughly 8× as data-center AI demand took off. Data Center alone now drives ~90% of the company.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8" y="4389120"/>
            <a:ext cx="3605479" cy="822960"/>
          </a:xfrm>
          <a:prstGeom prst="roundRect">
            <a:avLst>
              <a:gd name="adj" fmla="val 11111"/>
            </a:avLst>
          </a:prstGeom>
          <a:solidFill>
            <a:srgbClr val="141A1E"/>
          </a:solidFill>
          <a:ln w="1524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456" y="4389120"/>
            <a:ext cx="3203143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Latest: Q1 FY2027 (Apr 2026) hit </a:t>
            </a:r>
            <a:r>
              <a:rPr sz="1200" b="1" i="0">
                <a:solidFill>
                  <a:srgbClr val="9BE01E"/>
                </a:solidFill>
                <a:latin typeface="Arial"/>
              </a:rPr>
              <a:t>$81.6B</a:t>
            </a:r>
            <a:r>
              <a:rPr sz="1200" b="0" i="0">
                <a:solidFill>
                  <a:srgbClr val="EDF2EE"/>
                </a:solidFill>
                <a:latin typeface="Arial"/>
              </a:rPr>
              <a:t> in a single quarter, +85% YoY.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</a:rPr>
              <a:t>&gt;_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7680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Design the whole stack, outsource the fab, monetize the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627632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06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56816"/>
            <a:ext cx="1904329" cy="896112"/>
          </a:xfrm>
          <a:prstGeom prst="roundRect">
            <a:avLst>
              <a:gd name="adj" fmla="val 12244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84832"/>
            <a:ext cx="172144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B0E10"/>
                </a:solidFill>
                <a:latin typeface="Arial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414016"/>
            <a:ext cx="172144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B0E10"/>
                </a:solidFill>
                <a:latin typeface="Arial"/>
              </a:rPr>
              <a:t>chips + systems (NVIDIA)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55305" y="1956816"/>
            <a:ext cx="1904329" cy="896112"/>
          </a:xfrm>
          <a:prstGeom prst="roundRect">
            <a:avLst>
              <a:gd name="adj" fmla="val 1224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6745" y="2084832"/>
            <a:ext cx="172144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Fabricate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6745" y="2414016"/>
            <a:ext cx="172144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Arial"/>
              </a:rPr>
              <a:t>wafers at TSMC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07833" y="2404872"/>
            <a:ext cx="310896" cy="0"/>
          </a:xfrm>
          <a:prstGeom prst="line">
            <a:avLst/>
          </a:prstGeom>
          <a:ln w="2032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43682" y="1956816"/>
            <a:ext cx="1904329" cy="896112"/>
          </a:xfrm>
          <a:prstGeom prst="roundRect">
            <a:avLst>
              <a:gd name="adj" fmla="val 1224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5122" y="2084832"/>
            <a:ext cx="172144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Integrate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5122" y="2414016"/>
            <a:ext cx="172144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Arial"/>
              </a:rPr>
              <a:t>DGX &amp; NVL72 racks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6210" y="2404872"/>
            <a:ext cx="310896" cy="0"/>
          </a:xfrm>
          <a:prstGeom prst="line">
            <a:avLst/>
          </a:prstGeom>
          <a:ln w="2032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32060" y="1956816"/>
            <a:ext cx="1904329" cy="896112"/>
          </a:xfrm>
          <a:prstGeom prst="roundRect">
            <a:avLst>
              <a:gd name="adj" fmla="val 1224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3500" y="2084832"/>
            <a:ext cx="172144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3500" y="2414016"/>
            <a:ext cx="172144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Arial"/>
              </a:rPr>
              <a:t>CUDA + AI Enterprise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084588" y="2404872"/>
            <a:ext cx="310896" cy="0"/>
          </a:xfrm>
          <a:prstGeom prst="line">
            <a:avLst/>
          </a:prstGeom>
          <a:ln w="2032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720437" y="1956816"/>
            <a:ext cx="1904329" cy="896112"/>
          </a:xfrm>
          <a:prstGeom prst="roundRect">
            <a:avLst>
              <a:gd name="adj" fmla="val 1224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11877" y="2084832"/>
            <a:ext cx="172144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Deploy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1877" y="2414016"/>
            <a:ext cx="172144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Arial"/>
              </a:rPr>
              <a:t>clouds, labs, enterprises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72965" y="2404872"/>
            <a:ext cx="310896" cy="0"/>
          </a:xfrm>
          <a:prstGeom prst="line">
            <a:avLst/>
          </a:prstGeom>
          <a:ln w="2032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928" y="3310128"/>
            <a:ext cx="5300319" cy="2057400"/>
          </a:xfrm>
          <a:prstGeom prst="roundRect">
            <a:avLst>
              <a:gd name="adj" fmla="val 5333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3529584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BE01E"/>
                </a:solidFill>
                <a:latin typeface="Consolas"/>
              </a:rPr>
              <a:t>HOW IT EARNS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3877056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B900"/>
                </a:solidFill>
                <a:latin typeface="Arial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3877056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Sells GPUs, full systems, and rack-scale AI factories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4224528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B900"/>
                </a:solidFill>
                <a:latin typeface="Arial"/>
              </a:rPr>
              <a:t>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" y="4224528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Attaches high-margin networking + software to the hardware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4572000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B900"/>
                </a:solidFill>
                <a:latin typeface="Arial"/>
              </a:rPr>
              <a:t>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4572000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Recurring software &amp; services (AI Enterprise, licensing)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" y="4919472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B900"/>
                </a:solidFill>
                <a:latin typeface="Arial"/>
              </a:rPr>
              <a:t>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" y="4919472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An annual product cadence keeps the platform ahead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24447" y="3310128"/>
            <a:ext cx="5300319" cy="2057400"/>
          </a:xfrm>
          <a:prstGeom prst="roundRect">
            <a:avLst>
              <a:gd name="adj" fmla="val 5333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98767" y="3529584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85F5"/>
                </a:solidFill>
                <a:latin typeface="Consolas"/>
              </a:rPr>
              <a:t>WHY IT HOLDS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7055" y="3877056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85F5"/>
                </a:solidFill>
                <a:latin typeface="Arial"/>
              </a:rPr>
              <a:t>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36511" y="3877056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CUDA software lock-in built over ~20 years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7055" y="4224528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85F5"/>
                </a:solidFill>
                <a:latin typeface="Arial"/>
              </a:rPr>
              <a:t>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6511" y="4224528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~6M developers and the whole AI toolchain optimized for NVIDIA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7055" y="4572000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85F5"/>
                </a:solidFill>
                <a:latin typeface="Arial"/>
              </a:rPr>
              <a:t>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6511" y="4572000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Full-stack integration rivals can't easily match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17055" y="4919472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85F5"/>
                </a:solidFill>
                <a:latin typeface="Arial"/>
              </a:rPr>
              <a:t>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6511" y="4919472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Fabless model keeps capital light, margins high (~71%)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</a:rPr>
              <a:t>&gt;_ REVENUE BY SEGMENT · FY2025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Data Center dominates the revenue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1007028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0A2"/>
                </a:solidFill>
                <a:latin typeface="Arial"/>
              </a:rPr>
              <a:t>FY2025 (ended Jan 26, 2025) — the most recent year with a full public segment breakdown.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07 / 16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75488" y="1911096"/>
          <a:ext cx="4480560" cy="39776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281988" y="3183940"/>
            <a:ext cx="2867558" cy="11932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EAF2FF"/>
                </a:solidFill>
                <a:latin typeface="Arial"/>
              </a:rPr>
              <a:t>$130.5B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3A6"/>
                </a:solidFill>
                <a:latin typeface="Arial"/>
              </a:rPr>
              <a:t>FY2025 revenue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0408" y="2185416"/>
            <a:ext cx="109728" cy="566928"/>
          </a:xfrm>
          <a:prstGeom prst="roundRect">
            <a:avLst>
              <a:gd name="adj" fmla="val 33333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2203704"/>
            <a:ext cx="4245559" cy="32881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Data Center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502895"/>
            <a:ext cx="4245559" cy="23810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</a:rPr>
              <a:t>88% of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87407" y="2185416"/>
            <a:ext cx="173736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$115.2B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50408" y="2816352"/>
            <a:ext cx="6074359" cy="9144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50408" y="2880360"/>
            <a:ext cx="109728" cy="566928"/>
          </a:xfrm>
          <a:prstGeom prst="roundRect">
            <a:avLst>
              <a:gd name="adj" fmla="val 33333"/>
            </a:avLst>
          </a:prstGeom>
          <a:solidFill>
            <a:srgbClr val="2FB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2898648"/>
            <a:ext cx="4245559" cy="32881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Gaming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197839"/>
            <a:ext cx="4245559" cy="23810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</a:rPr>
              <a:t>9% of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87407" y="2880360"/>
            <a:ext cx="173736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$11.4B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50408" y="3511296"/>
            <a:ext cx="6074359" cy="9144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50408" y="3575304"/>
            <a:ext cx="109728" cy="566928"/>
          </a:xfrm>
          <a:prstGeom prst="roundRect">
            <a:avLst>
              <a:gd name="adj" fmla="val 33333"/>
            </a:avLst>
          </a:prstGeom>
          <a:solidFill>
            <a:srgbClr val="A58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3593592"/>
            <a:ext cx="4245559" cy="32881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Pro Visualization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3892783"/>
            <a:ext cx="4245559" cy="23810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</a:rPr>
              <a:t>1.5% of revenue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7407" y="3575304"/>
            <a:ext cx="173736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$1.9B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8" y="4206240"/>
            <a:ext cx="6074359" cy="9144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550408" y="4270248"/>
            <a:ext cx="109728" cy="566928"/>
          </a:xfrm>
          <a:prstGeom prst="roundRect">
            <a:avLst>
              <a:gd name="adj" fmla="val 33333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4288536"/>
            <a:ext cx="4245559" cy="32881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Automotive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4587727"/>
            <a:ext cx="4245559" cy="23810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</a:rPr>
              <a:t>1.3% of revenue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87407" y="4270248"/>
            <a:ext cx="173736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$1.7B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50408" y="4901183"/>
            <a:ext cx="6074359" cy="9144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550408" y="4965192"/>
            <a:ext cx="109728" cy="566928"/>
          </a:xfrm>
          <a:prstGeom prst="roundRect">
            <a:avLst>
              <a:gd name="adj" fmla="val 33333"/>
            </a:avLst>
          </a:prstGeom>
          <a:solidFill>
            <a:srgbClr val="7C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06440" y="4983479"/>
            <a:ext cx="4245559" cy="32881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OEM &amp; Other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5282671"/>
            <a:ext cx="4245559" cy="23810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</a:rPr>
              <a:t>&lt;1% of revenue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87407" y="4965192"/>
            <a:ext cx="173736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$0.3B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50408" y="5596127"/>
            <a:ext cx="6074359" cy="9144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</a:rPr>
              <a:t>&gt;_ PRODUCT-LINE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Four platforms on one architecture — bound by software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08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5346039" cy="1572768"/>
          </a:xfrm>
          <a:prstGeom prst="roundRect">
            <a:avLst>
              <a:gd name="adj" fmla="val 697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053431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1746504"/>
            <a:ext cx="512064" cy="512064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erver_76B9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1879640"/>
            <a:ext cx="245790" cy="2457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99616" y="1746504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</a:rPr>
              <a:t>Data Center &amp;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2075688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Consolas"/>
              </a:rPr>
              <a:t>Hopper · Blackwell · GB200 NVL72 · DGX · networking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569464"/>
            <a:ext cx="48339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0A2"/>
                </a:solidFill>
                <a:latin typeface="Arial"/>
              </a:rPr>
              <a:t>The AI factory — training &amp; inference at hyperscale.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1508760"/>
            <a:ext cx="5346039" cy="1572768"/>
          </a:xfrm>
          <a:prstGeom prst="roundRect">
            <a:avLst>
              <a:gd name="adj" fmla="val 697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25031" y="1508760"/>
            <a:ext cx="5053431" cy="45720"/>
          </a:xfrm>
          <a:prstGeom prst="rect">
            <a:avLst/>
          </a:prstGeom>
          <a:solidFill>
            <a:srgbClr val="2FB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4759" y="1746504"/>
            <a:ext cx="512064" cy="512064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2FB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amepad_2FB6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96" y="1879640"/>
            <a:ext cx="245790" cy="24579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11415" y="1746504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</a:rPr>
              <a:t>Gaming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11415" y="2075688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FB6E6"/>
                </a:solidFill>
                <a:latin typeface="Consolas"/>
              </a:rPr>
              <a:t>GeForce RTX 50 (Blackwell) · DLSS 4 · GeForce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4759" y="2569464"/>
            <a:ext cx="48339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0A2"/>
                </a:solidFill>
                <a:latin typeface="Arial"/>
              </a:rPr>
              <a:t>The original business; real-time ray-traced graphics.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392424"/>
            <a:ext cx="5346039" cy="1572768"/>
          </a:xfrm>
          <a:prstGeom prst="roundRect">
            <a:avLst>
              <a:gd name="adj" fmla="val 697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92424"/>
            <a:ext cx="5053431" cy="45720"/>
          </a:xfrm>
          <a:prstGeom prst="rect">
            <a:avLst/>
          </a:prstGeom>
          <a:solidFill>
            <a:srgbClr val="A58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" y="3630168"/>
            <a:ext cx="512064" cy="512064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A58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ube_A585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96" y="3763304"/>
            <a:ext cx="245790" cy="24579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499616" y="3630168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</a:rPr>
              <a:t>Pro Visualization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9616" y="3959352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85F5"/>
                </a:solidFill>
                <a:latin typeface="Consolas"/>
              </a:rPr>
              <a:t>RTX PRO Blackwell · Omniverse · digital twins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453128"/>
            <a:ext cx="48339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0A2"/>
                </a:solidFill>
                <a:latin typeface="Arial"/>
              </a:rPr>
              <a:t>Design, simulation &amp; industrial 'physical AI'.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78727" y="3392424"/>
            <a:ext cx="5346039" cy="1572768"/>
          </a:xfrm>
          <a:prstGeom prst="roundRect">
            <a:avLst>
              <a:gd name="adj" fmla="val 697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25031" y="3392424"/>
            <a:ext cx="5053431" cy="4572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34759" y="3630168"/>
            <a:ext cx="512064" cy="512064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F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ar_F2A93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896" y="3763304"/>
            <a:ext cx="245790" cy="24579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211415" y="3630168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</a:rPr>
              <a:t>Automotive &amp; Robotics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1415" y="3959352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2A93B"/>
                </a:solidFill>
                <a:latin typeface="Consolas"/>
              </a:rPr>
              <a:t>DRIVE (Orin, Thor) · Jetson Thor · Isaac GR00T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4759" y="4453128"/>
            <a:ext cx="48339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0A2"/>
                </a:solidFill>
                <a:latin typeface="Arial"/>
              </a:rPr>
              <a:t>Autonomous vehicles and general robotics.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148072"/>
            <a:ext cx="11057839" cy="603504"/>
          </a:xfrm>
          <a:prstGeom prst="roundRect">
            <a:avLst>
              <a:gd name="adj" fmla="val 18181"/>
            </a:avLst>
          </a:prstGeom>
          <a:solidFill>
            <a:srgbClr val="101A10"/>
          </a:solidFill>
          <a:ln w="1524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8096" y="5248656"/>
            <a:ext cx="402336" cy="402336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code_9BE0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703" y="5353263"/>
            <a:ext cx="193121" cy="19312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353312" y="5148072"/>
            <a:ext cx="292608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9BE01E"/>
                </a:solidFill>
                <a:latin typeface="Consolas"/>
              </a:rPr>
              <a:t>CUDA SOFTWARE PLATFORM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5148072"/>
            <a:ext cx="7034479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</a:rPr>
              <a:t>One programming model runs under every pillar — the moat that ties the portfolio together.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</a:rPr>
              <a:t>&gt;_ PILLAR 1 · DATA CENTER &amp;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The growth engine: an annual AI-compute cadence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09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00200"/>
            <a:ext cx="1962851" cy="914400"/>
          </a:xfrm>
          <a:prstGeom prst="roundRect">
            <a:avLst>
              <a:gd name="adj" fmla="val 12000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19072"/>
            <a:ext cx="1816547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Ampere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02536"/>
            <a:ext cx="181654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Consolas"/>
              </a:rPr>
              <a:t>A100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569464"/>
            <a:ext cx="196285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777B"/>
                </a:solidFill>
                <a:latin typeface="Consolas"/>
              </a:rPr>
              <a:t>2020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40675" y="1600200"/>
            <a:ext cx="1962851" cy="914400"/>
          </a:xfrm>
          <a:prstGeom prst="roundRect">
            <a:avLst>
              <a:gd name="adj" fmla="val 12000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13827" y="1719072"/>
            <a:ext cx="1816547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Hopper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3827" y="2002536"/>
            <a:ext cx="181654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Consolas"/>
              </a:rPr>
              <a:t>H100 · H200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2569464"/>
            <a:ext cx="196285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777B"/>
                </a:solidFill>
                <a:latin typeface="Consolas"/>
              </a:rPr>
              <a:t>2022–23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57211" y="2057400"/>
            <a:ext cx="256032" cy="0"/>
          </a:xfrm>
          <a:prstGeom prst="line">
            <a:avLst/>
          </a:prstGeom>
          <a:ln w="1905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14422" y="1600200"/>
            <a:ext cx="1962851" cy="914400"/>
          </a:xfrm>
          <a:prstGeom prst="roundRect">
            <a:avLst>
              <a:gd name="adj" fmla="val 12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7574" y="1719072"/>
            <a:ext cx="1816547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0E10"/>
                </a:solidFill>
                <a:latin typeface="Arial"/>
              </a:rPr>
              <a:t>Blackwell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7574" y="2002536"/>
            <a:ext cx="181654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B0E10"/>
                </a:solidFill>
                <a:latin typeface="Consolas"/>
              </a:rPr>
              <a:t>B200 · GB200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4422" y="2569464"/>
            <a:ext cx="196285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BE01E"/>
                </a:solidFill>
                <a:latin typeface="Consolas"/>
              </a:rPr>
              <a:t>2024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30958" y="2057400"/>
            <a:ext cx="256032" cy="0"/>
          </a:xfrm>
          <a:prstGeom prst="line">
            <a:avLst/>
          </a:prstGeom>
          <a:ln w="1905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88169" y="1600200"/>
            <a:ext cx="1962851" cy="914400"/>
          </a:xfrm>
          <a:prstGeom prst="roundRect">
            <a:avLst>
              <a:gd name="adj" fmla="val 12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1321" y="1719072"/>
            <a:ext cx="1816547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0E10"/>
                </a:solidFill>
                <a:latin typeface="Arial"/>
              </a:rPr>
              <a:t>Blackwell Ultra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1321" y="2002536"/>
            <a:ext cx="181654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B0E10"/>
                </a:solidFill>
                <a:latin typeface="Consolas"/>
              </a:rPr>
              <a:t>GB300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169" y="2569464"/>
            <a:ext cx="196285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BE01E"/>
                </a:solidFill>
                <a:latin typeface="Consolas"/>
              </a:rPr>
              <a:t>2025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04705" y="2057400"/>
            <a:ext cx="256032" cy="0"/>
          </a:xfrm>
          <a:prstGeom prst="line">
            <a:avLst/>
          </a:prstGeom>
          <a:ln w="1905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661916" y="1600200"/>
            <a:ext cx="1962851" cy="914400"/>
          </a:xfrm>
          <a:prstGeom prst="roundRect">
            <a:avLst>
              <a:gd name="adj" fmla="val 12000"/>
            </a:avLst>
          </a:prstGeom>
          <a:solidFill>
            <a:srgbClr val="141A1E"/>
          </a:solidFill>
          <a:ln w="15240">
            <a:solidFill>
              <a:srgbClr val="2A34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5068" y="1719072"/>
            <a:ext cx="1816547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Rubin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5068" y="2002536"/>
            <a:ext cx="181654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Consolas"/>
              </a:rPr>
              <a:t>(H2 2026)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916" y="2569464"/>
            <a:ext cx="196285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777B"/>
                </a:solidFill>
                <a:latin typeface="Consolas"/>
              </a:rPr>
              <a:t>roadmap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78452" y="2057400"/>
            <a:ext cx="256032" cy="0"/>
          </a:xfrm>
          <a:prstGeom prst="line">
            <a:avLst/>
          </a:prstGeom>
          <a:ln w="1905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2898648"/>
            <a:ext cx="110578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A0A2"/>
                </a:solidFill>
                <a:latin typeface="Arial"/>
              </a:rPr>
              <a:t>Roughly one new architecture per year — each a full generation of AI compute.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3337560"/>
            <a:ext cx="5300319" cy="1828800"/>
          </a:xfrm>
          <a:prstGeom prst="roundRect">
            <a:avLst>
              <a:gd name="adj" fmla="val 6000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" y="3538728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E01E"/>
                </a:solidFill>
                <a:latin typeface="Consolas"/>
              </a:rPr>
              <a:t>GB200 NVL72 — THE RACK IS THE GPU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" y="3941064"/>
            <a:ext cx="868680" cy="310896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BE01E"/>
                </a:solidFill>
                <a:latin typeface="Arial"/>
              </a:rPr>
              <a:t>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01368" y="3968496"/>
            <a:ext cx="3745839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Blackwell GPUs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4325112"/>
            <a:ext cx="868680" cy="310896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BE01E"/>
                </a:solidFill>
                <a:latin typeface="Arial"/>
              </a:rPr>
              <a:t>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01368" y="4352544"/>
            <a:ext cx="3745839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Grace CPUs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4709160"/>
            <a:ext cx="868680" cy="310896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BE01E"/>
                </a:solidFill>
                <a:latin typeface="Arial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01368" y="4736592"/>
            <a:ext cx="3745839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NVLink domain — acts as one giant GPU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4447" y="3337560"/>
            <a:ext cx="5300319" cy="1828800"/>
          </a:xfrm>
          <a:prstGeom prst="roundRect">
            <a:avLst>
              <a:gd name="adj" fmla="val 6000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3538728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E01E"/>
                </a:solidFill>
                <a:latin typeface="Consolas"/>
              </a:rPr>
              <a:t>THE FULL DATA-CENTER STACK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7055" y="3941064"/>
            <a:ext cx="13716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E01E"/>
                </a:solidFill>
                <a:latin typeface="Arial"/>
              </a:rPr>
              <a:t>Compute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6087" y="3941064"/>
            <a:ext cx="33343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</a:rPr>
              <a:t>GPUs + Grace CPU superchips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17055" y="4325112"/>
            <a:ext cx="13716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E01E"/>
                </a:solidFill>
                <a:latin typeface="Arial"/>
              </a:rPr>
              <a:t>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6087" y="4325112"/>
            <a:ext cx="33343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</a:rPr>
              <a:t>DGX servers · DGX SuperPOD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17055" y="4709160"/>
            <a:ext cx="13716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E01E"/>
                </a:solidFill>
                <a:latin typeface="Arial"/>
              </a:rPr>
              <a:t>Networking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6087" y="4709160"/>
            <a:ext cx="33343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</a:rPr>
              <a:t>NVLink · InfiniBand · Spectrum-X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2FB6E6"/>
                </a:solidFill>
                <a:latin typeface="Consolas"/>
              </a:rPr>
              <a:t>&gt;_ PILLAR 2 · GAMING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GeForce RTX — where NVIDIA started, reinvented by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2FB6E6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10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4572000" cy="3977639"/>
          </a:xfrm>
          <a:prstGeom prst="roundRect">
            <a:avLst>
              <a:gd name="adj" fmla="val 2758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" y="1755648"/>
            <a:ext cx="566928" cy="566928"/>
          </a:xfrm>
          <a:prstGeom prst="roundRect">
            <a:avLst>
              <a:gd name="adj" fmla="val 24000"/>
            </a:avLst>
          </a:prstGeom>
          <a:noFill/>
          <a:ln w="22860">
            <a:solidFill>
              <a:srgbClr val="2FB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mepad_2FB6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25" y="1903049"/>
            <a:ext cx="272125" cy="2721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2514600"/>
            <a:ext cx="395020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4A0A2"/>
                </a:solidFill>
                <a:latin typeface="Consolas"/>
              </a:rPr>
              <a:t>CURRENT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761488"/>
            <a:ext cx="3950208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DF2EE"/>
                </a:solidFill>
                <a:latin typeface="Arial"/>
              </a:rPr>
              <a:t>GeForce RTX 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10128"/>
            <a:ext cx="395020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B6E6"/>
                </a:solidFill>
                <a:latin typeface="Arial"/>
              </a:rPr>
              <a:t>"Blackwell" · launched January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49040"/>
            <a:ext cx="3950208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</a:rPr>
              <a:t>The RTX 50 series brings the Blackwell architecture to consumers — the flagship RTX 5090 leads the line, with real-time ray tracing and AI rendering across the range.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96128" y="1508760"/>
            <a:ext cx="6028639" cy="3977639"/>
          </a:xfrm>
          <a:prstGeom prst="roundRect">
            <a:avLst>
              <a:gd name="adj" fmla="val 2758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7024" y="1755648"/>
            <a:ext cx="540684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FB6E6"/>
                </a:solidFill>
                <a:latin typeface="Consolas"/>
              </a:rPr>
              <a:t>THE AI IN THE PIXEL — DLSS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2066544"/>
            <a:ext cx="5406847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DF2EE"/>
                </a:solidFill>
                <a:latin typeface="Arial"/>
              </a:rPr>
              <a:t>Deep Learning Super Sampling uses AI to generate frames. DLSS 4 adds Multi Frame Generation — up to three AI-generated frames per rendered frame.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7024" y="3200400"/>
            <a:ext cx="5406847" cy="960120"/>
          </a:xfrm>
          <a:prstGeom prst="roundRect">
            <a:avLst>
              <a:gd name="adj" fmla="val 11428"/>
            </a:avLst>
          </a:prstGeom>
          <a:solidFill>
            <a:srgbClr val="0E1A20"/>
          </a:solidFill>
          <a:ln w="15240">
            <a:solidFill>
              <a:srgbClr val="2FB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44768" y="3346704"/>
            <a:ext cx="2286000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B6E6"/>
                </a:solidFill>
                <a:latin typeface="Arial"/>
              </a:rPr>
              <a:t>up to 8×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3346704"/>
            <a:ext cx="2919679" cy="6858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frame-rate uplift with DLSS 4 Multi Frame Generation (NVIDIA, CES 2025).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7024" y="4389120"/>
            <a:ext cx="5406847" cy="9144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0A2"/>
                </a:solidFill>
                <a:latin typeface="Arial"/>
              </a:rPr>
              <a:t>Gaming also anchors GeForce NOW cloud streaming and NVIDIA's real-time graphics research — the proving ground for rendering that now feeds AI and simulation.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A585F5"/>
                </a:solidFill>
                <a:latin typeface="Consolas"/>
              </a:rPr>
              <a:t>&gt;_ PILLAR 3 · PRO VISUALIZATION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Omniverse — where the physical world goes digital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A585F5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1007028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0A2"/>
                </a:solidFill>
                <a:latin typeface="Arial"/>
              </a:rPr>
              <a:t>RTX PRO workstations plus a platform for industrial digital twins and simulation.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11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185416"/>
            <a:ext cx="2331720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331720"/>
            <a:ext cx="2112263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DF2EE"/>
                </a:solidFill>
                <a:latin typeface="Arial"/>
              </a:rPr>
              <a:t>Physical world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788920"/>
            <a:ext cx="211226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factories, robots, cities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6594" y="2185416"/>
            <a:ext cx="2331720" cy="1051560"/>
          </a:xfrm>
          <a:prstGeom prst="roundRect">
            <a:avLst>
              <a:gd name="adj" fmla="val 10434"/>
            </a:avLst>
          </a:prstGeom>
          <a:solidFill>
            <a:srgbClr val="A58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6322" y="2331720"/>
            <a:ext cx="2112263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B0E10"/>
                </a:solidFill>
                <a:latin typeface="Arial"/>
              </a:rPr>
              <a:t>Digital twin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6322" y="2788920"/>
            <a:ext cx="211226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B0E10"/>
                </a:solidFill>
                <a:latin typeface="Arial"/>
              </a:rPr>
              <a:t>built in Omniverse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18103" y="2711196"/>
            <a:ext cx="381915" cy="0"/>
          </a:xfrm>
          <a:prstGeom prst="line">
            <a:avLst/>
          </a:prstGeom>
          <a:ln w="22860">
            <a:solidFill>
              <a:srgbClr val="A585F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23380" y="2185416"/>
            <a:ext cx="2331720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3108" y="2331720"/>
            <a:ext cx="2112263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DF2EE"/>
                </a:solidFill>
                <a:latin typeface="Arial"/>
              </a:rPr>
              <a:t>Simulate &amp; train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3108" y="2788920"/>
            <a:ext cx="211226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test safely, at scale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04890" y="2711196"/>
            <a:ext cx="381914" cy="0"/>
          </a:xfrm>
          <a:prstGeom prst="line">
            <a:avLst/>
          </a:prstGeom>
          <a:ln w="22860">
            <a:solidFill>
              <a:srgbClr val="A585F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10167" y="2185416"/>
            <a:ext cx="2331720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19895" y="2331720"/>
            <a:ext cx="2112263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DF2EE"/>
                </a:solidFill>
                <a:latin typeface="Arial"/>
              </a:rPr>
              <a:t>Deploy 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9895" y="2788920"/>
            <a:ext cx="211226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</a:rPr>
              <a:t>to the real world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91676" y="2711196"/>
            <a:ext cx="381915" cy="0"/>
          </a:xfrm>
          <a:prstGeom prst="line">
            <a:avLst/>
          </a:prstGeom>
          <a:ln w="22860">
            <a:solidFill>
              <a:srgbClr val="A585F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276027" y="3236976"/>
            <a:ext cx="0" cy="502920"/>
          </a:xfrm>
          <a:prstGeom prst="line">
            <a:avLst/>
          </a:prstGeom>
          <a:ln w="20320">
            <a:solidFill>
              <a:srgbClr val="A585F5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915667" y="3739896"/>
            <a:ext cx="8360360" cy="0"/>
          </a:xfrm>
          <a:prstGeom prst="line">
            <a:avLst/>
          </a:prstGeom>
          <a:ln w="20320">
            <a:solidFill>
              <a:srgbClr val="A585F5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915667" y="3236976"/>
            <a:ext cx="0" cy="502920"/>
          </a:xfrm>
          <a:prstGeom prst="line">
            <a:avLst/>
          </a:prstGeom>
          <a:ln w="20320">
            <a:solidFill>
              <a:srgbClr val="A585F5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24247" y="3803904"/>
            <a:ext cx="2743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A585F5"/>
                </a:solidFill>
                <a:latin typeface="Arial"/>
              </a:rPr>
              <a:t>continuous simulation loop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197096"/>
            <a:ext cx="5300319" cy="1234440"/>
          </a:xfrm>
          <a:prstGeom prst="roundRect">
            <a:avLst>
              <a:gd name="adj" fmla="val 8888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4379976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85F5"/>
                </a:solidFill>
                <a:latin typeface="Consolas"/>
              </a:rPr>
              <a:t>RTX PRO BLACKWELL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672584"/>
            <a:ext cx="47516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Professional GPUs for design, rendering &amp; simulation — the RTX PRO 6000 carries 96 GB of memory for the largest scenes and models.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4447" y="4197096"/>
            <a:ext cx="5300319" cy="1234440"/>
          </a:xfrm>
          <a:prstGeom prst="roundRect">
            <a:avLst>
              <a:gd name="adj" fmla="val 8888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98767" y="4379976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85F5"/>
                </a:solidFill>
                <a:latin typeface="Consolas"/>
              </a:rPr>
              <a:t>WHY IT MATTERS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98767" y="4672584"/>
            <a:ext cx="47516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</a:rPr>
              <a:t>Digital twins let industry test robots, plants and products in simulation before building them — the foundation of 'physical AI'.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F2A93B"/>
                </a:solidFill>
                <a:latin typeface="Consolas"/>
              </a:rPr>
              <a:t>&gt;_ PILLAR 4 · AUTOMOTIVE &amp; ROBOTICS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One platform for every machine that moves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F2A93B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12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00200"/>
            <a:ext cx="11057839" cy="1170432"/>
          </a:xfrm>
          <a:prstGeom prst="roundRect">
            <a:avLst>
              <a:gd name="adj" fmla="val 937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4944" y="1728216"/>
            <a:ext cx="6400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01952"/>
            <a:ext cx="566928" cy="566928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F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bot_F2A9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089" y="204935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55648" y="1819656"/>
            <a:ext cx="2743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</a:rPr>
              <a:t>Isaac &amp; GR00T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2167128"/>
            <a:ext cx="2743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2A93B"/>
                </a:solidFill>
                <a:latin typeface="Consolas"/>
              </a:rPr>
              <a:t>ROBOTICS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1600200"/>
            <a:ext cx="6577279" cy="11704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</a:rPr>
              <a:t>Foundation models, simulation &amp; synthetic data for humanoid and industrial robots.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026664"/>
            <a:ext cx="11057839" cy="1170432"/>
          </a:xfrm>
          <a:prstGeom prst="roundRect">
            <a:avLst>
              <a:gd name="adj" fmla="val 937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44" y="3154680"/>
            <a:ext cx="6400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2688" y="3328416"/>
            <a:ext cx="566928" cy="566928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F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F2A9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089" y="3475817"/>
            <a:ext cx="272125" cy="27212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55648" y="3246120"/>
            <a:ext cx="2743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</a:rPr>
              <a:t>Jetson Thor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3593592"/>
            <a:ext cx="2743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2A93B"/>
                </a:solidFill>
                <a:latin typeface="Consolas"/>
              </a:rPr>
              <a:t>EDGE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3026664"/>
            <a:ext cx="6577279" cy="11704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</a:rPr>
              <a:t>Blackwell-class on-device compute for autonomous machines at the edge.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453128"/>
            <a:ext cx="11057839" cy="1170432"/>
          </a:xfrm>
          <a:prstGeom prst="roundRect">
            <a:avLst>
              <a:gd name="adj" fmla="val 937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4581144"/>
            <a:ext cx="6400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2688" y="4754880"/>
            <a:ext cx="566928" cy="566928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F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ar_F2A9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089" y="4902281"/>
            <a:ext cx="272125" cy="27212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55648" y="4672584"/>
            <a:ext cx="2743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</a:rPr>
              <a:t>DRIVE — Orin &amp; Thor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5648" y="5020056"/>
            <a:ext cx="2743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2A93B"/>
                </a:solidFill>
                <a:latin typeface="Consolas"/>
              </a:rPr>
              <a:t>AUTOMOTIVE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73168" y="4453128"/>
            <a:ext cx="6577279" cy="11704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</a:rPr>
              <a:t>In-vehicle AI computers for assisted and autonomous driving; production partners include Toyota.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678423"/>
            <a:ext cx="110578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A0A2"/>
                </a:solidFill>
                <a:latin typeface="Arial"/>
              </a:rPr>
              <a:t>The same CUDA + simulation foundation runs from the data center to the robot — NVIDIA calls it 'physical AI'.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</a:rPr>
              <a:t>&gt;_ THE MOAT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7680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The hardware sells the chip — the software keeps the customer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627632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13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16712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50">
                <a:solidFill>
                  <a:srgbClr val="9BE01E"/>
                </a:solidFill>
                <a:latin typeface="Consolas"/>
              </a:rPr>
              <a:t>CUDA · SINCE 2006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450592"/>
            <a:ext cx="4846320" cy="9144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EDF2EE"/>
                </a:solidFill>
                <a:latin typeface="Arial"/>
              </a:rPr>
              <a:t>~6 million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328416"/>
            <a:ext cx="484632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9BE01E"/>
                </a:solidFill>
                <a:latin typeface="Arial"/>
              </a:rPr>
              <a:t>developers building on CUDA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767328"/>
            <a:ext cx="4846320" cy="1371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0A2"/>
                </a:solidFill>
                <a:latin typeface="Arial"/>
              </a:rPr>
              <a:t>Nearly two decades of GPU-accelerated libraries, framework optimization and tools — in 200+ countries (NVIDIA, GTC 2025). Every major AI framework runs best on NVIDIA, which makes switching costly.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276088"/>
            <a:ext cx="484632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C777B"/>
                </a:solidFill>
                <a:latin typeface="Arial"/>
              </a:rPr>
              <a:t>Competitors have alternatives — AMD ROCm, Intel oneAPI — but not the ecosystem.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2121408"/>
            <a:ext cx="5662879" cy="786384"/>
          </a:xfrm>
          <a:prstGeom prst="roundRect">
            <a:avLst>
              <a:gd name="adj" fmla="val 11627"/>
            </a:avLst>
          </a:prstGeom>
          <a:solidFill>
            <a:srgbClr val="141A1E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249424"/>
            <a:ext cx="515081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NIM &amp; AI Enterprise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560320"/>
            <a:ext cx="5150815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0A2"/>
                </a:solidFill>
                <a:latin typeface="Arial"/>
              </a:rPr>
              <a:t>deployable inference microservices +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61888" y="3054096"/>
            <a:ext cx="5662879" cy="786384"/>
          </a:xfrm>
          <a:prstGeom prst="roundRect">
            <a:avLst>
              <a:gd name="adj" fmla="val 11627"/>
            </a:avLst>
          </a:prstGeom>
          <a:solidFill>
            <a:srgbClr val="141A1E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182112"/>
            <a:ext cx="515081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CUDA-X libraries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493008"/>
            <a:ext cx="5150815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0A2"/>
                </a:solidFill>
                <a:latin typeface="Arial"/>
              </a:rPr>
              <a:t>cuDNN, cuBLAS, NCCL, cuOpt, RAPIDS…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61888" y="3986784"/>
            <a:ext cx="5662879" cy="786384"/>
          </a:xfrm>
          <a:prstGeom prst="roundRect">
            <a:avLst>
              <a:gd name="adj" fmla="val 11627"/>
            </a:avLst>
          </a:prstGeom>
          <a:solidFill>
            <a:srgbClr val="141A1E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4114800"/>
            <a:ext cx="515081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Frameworks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425696"/>
            <a:ext cx="5150815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0A2"/>
                </a:solidFill>
                <a:latin typeface="Arial"/>
              </a:rPr>
              <a:t>PyTorch &amp; TensorFlow, tuned for NVIDIA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61888" y="4919472"/>
            <a:ext cx="5662879" cy="786384"/>
          </a:xfrm>
          <a:prstGeom prst="roundRect">
            <a:avLst>
              <a:gd name="adj" fmla="val 11627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5047488"/>
            <a:ext cx="515081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B0E10"/>
                </a:solidFill>
                <a:latin typeface="Arial"/>
              </a:rPr>
              <a:t>CUDA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5358384"/>
            <a:ext cx="5150815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B0E10"/>
                </a:solidFill>
                <a:latin typeface="Arial"/>
              </a:rPr>
              <a:t>the parallel-computing foundation (2006)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</a:rPr>
              <a:t>&gt;_ COMPETITIVE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Dominant today — with real challengers forming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14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5669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BE01E"/>
                </a:solidFill>
                <a:latin typeface="Consolas"/>
              </a:rPr>
              <a:t>MARKET SHARE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03120"/>
            <a:ext cx="393192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</a:rPr>
              <a:t>Discrete desktop GPUs (Jon Peddie Research, Q4 2025)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14016"/>
            <a:ext cx="3931920" cy="292608"/>
          </a:xfrm>
          <a:prstGeom prst="roundRect">
            <a:avLst>
              <a:gd name="adj" fmla="val 50000"/>
            </a:avLst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2414016"/>
            <a:ext cx="3696004" cy="292608"/>
          </a:xfrm>
          <a:prstGeom prst="roundRect">
            <a:avLst>
              <a:gd name="adj" fmla="val 50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2414016"/>
            <a:ext cx="2377440" cy="2926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DF2EE"/>
                </a:solidFill>
                <a:latin typeface="Arial"/>
              </a:rPr>
              <a:t>94</a:t>
            </a:r>
            <a:r>
              <a:rPr sz="1100" b="1" i="0">
                <a:solidFill>
                  <a:srgbClr val="94A0A2"/>
                </a:solidFill>
                <a:latin typeface="Arial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154680"/>
            <a:ext cx="393192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</a:rPr>
              <a:t>Data-center AI accelerators (industry estimate)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65576"/>
            <a:ext cx="3931920" cy="292608"/>
          </a:xfrm>
          <a:prstGeom prst="roundRect">
            <a:avLst>
              <a:gd name="adj" fmla="val 50000"/>
            </a:avLst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65576"/>
            <a:ext cx="3342132" cy="292608"/>
          </a:xfrm>
          <a:prstGeom prst="roundRect">
            <a:avLst>
              <a:gd name="adj" fmla="val 50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1728" y="3465576"/>
            <a:ext cx="1828800" cy="2926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DF2EE"/>
                </a:solidFill>
                <a:latin typeface="Arial"/>
              </a:rPr>
              <a:t>~80–90</a:t>
            </a:r>
            <a:r>
              <a:rPr sz="1100" b="1" i="0">
                <a:solidFill>
                  <a:srgbClr val="94A0A2"/>
                </a:solidFill>
                <a:latin typeface="Arial"/>
              </a:rPr>
              <a:t>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40480"/>
            <a:ext cx="566928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6C777B"/>
                </a:solidFill>
                <a:latin typeface="Arial"/>
              </a:rPr>
              <a:t>Share of the AI-accelerator market is an estimate (no clean public figure) and is expected to ease as rivals scale — so it's shown qualitatively.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1554480"/>
            <a:ext cx="50227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2A93B"/>
                </a:solidFill>
                <a:latin typeface="Consolas"/>
              </a:rPr>
              <a:t>THE CHALLENGERS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1968" y="2011680"/>
            <a:ext cx="5022799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29984" y="2139696"/>
            <a:ext cx="54864" cy="795527"/>
          </a:xfrm>
          <a:prstGeom prst="rect">
            <a:avLst/>
          </a:prstGeom>
          <a:solidFill>
            <a:srgbClr val="7C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12864" y="2157984"/>
            <a:ext cx="44741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AMD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12864" y="2487168"/>
            <a:ext cx="447415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0A2"/>
                </a:solidFill>
                <a:latin typeface="Arial"/>
              </a:rPr>
              <a:t>Instinct MI300X / MI350 (data center) · Radeon (gaming)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1968" y="3191256"/>
            <a:ext cx="5022799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29984" y="3319272"/>
            <a:ext cx="54864" cy="795527"/>
          </a:xfrm>
          <a:prstGeom prst="rect">
            <a:avLst/>
          </a:prstGeom>
          <a:solidFill>
            <a:srgbClr val="7C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3337560"/>
            <a:ext cx="44741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2864" y="3666744"/>
            <a:ext cx="447415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0A2"/>
                </a:solidFill>
                <a:latin typeface="Arial"/>
              </a:rPr>
              <a:t>Gaudi 3 AI accelerators · Arc GPUs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1968" y="4370832"/>
            <a:ext cx="5022799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29984" y="4498848"/>
            <a:ext cx="54864" cy="795527"/>
          </a:xfrm>
          <a:prstGeom prst="rect">
            <a:avLst/>
          </a:prstGeom>
          <a:solidFill>
            <a:srgbClr val="7C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12864" y="4517136"/>
            <a:ext cx="44741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</a:rPr>
              <a:t>Custom silicon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12864" y="4846320"/>
            <a:ext cx="447415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0A2"/>
                </a:solidFill>
                <a:latin typeface="Arial"/>
              </a:rPr>
              <a:t>Google TPU · AWS Trainium · Microsoft Maia — hyperscalers building their own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</a:rPr>
              <a:t>&gt;_ KEY FIGURES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</a:rPr>
              <a:t>The business in six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1007028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0A2"/>
                </a:solidFill>
                <a:latin typeface="Arial"/>
              </a:rPr>
              <a:t>Fiscal 2026 ended January 25, 2026 · latest quarter Q1 FY2027 (April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</a:rPr>
              <a:t>NVIDIA  ·  COMPANY &amp; PRODUCT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</a:rPr>
              <a:t>15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56816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121408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212848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</a:rPr>
              <a:t>$215.9B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980944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FY2026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291840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</a:rPr>
              <a:t>+65% YoY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4794" y="1956816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4794" y="2121408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5690" y="2212848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</a:rPr>
              <a:t>$193.7B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5690" y="2980944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FY2026 Data Center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5690" y="3291840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</a:rPr>
              <a:t>~90% of revenue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2660" y="1956816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2660" y="2121408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3556" y="2212848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</a:rPr>
              <a:t>$81.6B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3556" y="2980944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Q1 FY2027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3556" y="3291840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</a:rPr>
              <a:t>single quarter, +85% YoY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05072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169664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261104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</a:rPr>
              <a:t>$120.1B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5029200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FY2026 net income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340096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</a:rPr>
              <a:t>~71% gross margin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4794" y="4005072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4794" y="4169664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5690" y="4261104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</a:rPr>
              <a:t>$18.5B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5690" y="5029200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FY2026 R&amp;D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5690" y="5340096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</a:rPr>
              <a:t>the innovation engine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2660" y="4005072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82660" y="4169664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3556" y="4261104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</a:rPr>
              <a:t>~$5T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3556" y="5029200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</a:rPr>
              <a:t>market cap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93556" y="5340096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</a:rPr>
              <a:t>most valuable public company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2880" y="274319"/>
            <a:ext cx="5120640" cy="4754880"/>
          </a:xfrm>
          <a:prstGeom prst="ellipse">
            <a:avLst/>
          </a:prstGeom>
          <a:gradFill>
            <a:gsLst>
              <a:gs pos="0">
                <a:srgbClr val="76B900">
                  <a:alpha val="22000"/>
                </a:srgbClr>
              </a:gs>
              <a:gs pos="100000">
                <a:srgbClr val="76B9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052560" y="822960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445752" y="822960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38944" y="822960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232136" y="822960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25328" y="822960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0" y="1216152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45752" y="1216152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38944" y="1216152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32136" y="1216152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625328" y="1216152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52560" y="1609344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45752" y="1609344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38944" y="1609344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232136" y="1609344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625328" y="1609344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2002536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45752" y="2002536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38944" y="2002536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232136" y="2002536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625328" y="2002536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66928"/>
            <a:ext cx="1300745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85216" y="210312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60">
                <a:solidFill>
                  <a:srgbClr val="9BE01E"/>
                </a:solidFill>
                <a:latin typeface="Consolas"/>
              </a:rPr>
              <a:t>IN ONE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487168"/>
            <a:ext cx="10607040" cy="14630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EDF2EE"/>
                </a:solidFill>
                <a:latin typeface="Arial"/>
              </a:rPr>
              <a:t>One platform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EDF2EE"/>
                </a:solidFill>
                <a:latin typeface="Arial"/>
              </a:rPr>
              <a:t>from graphics to the AI factory.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" y="4224528"/>
            <a:ext cx="2743200" cy="54864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7120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462272"/>
            <a:ext cx="859536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0A2"/>
                </a:solidFill>
                <a:latin typeface="Arial"/>
              </a:rPr>
              <a:t>Silicon · systems · networking · software · ecosystem — sold as a single, compounding accelerated-computing platform.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678424"/>
            <a:ext cx="11057839" cy="10972"/>
          </a:xfrm>
          <a:prstGeom prst="rect">
            <a:avLst/>
          </a:prstGeom>
          <a:solidFill>
            <a:srgbClr val="283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806440"/>
            <a:ext cx="1828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BE01E"/>
                </a:solidFill>
                <a:latin typeface="Consolas"/>
              </a:rPr>
              <a:t>SOURCES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38528" y="5788152"/>
            <a:ext cx="968623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</a:rPr>
              <a:t>NVIDIA FY2024–FY2026 results &amp; 10-K filings (SEC) · Q1 FY2027 8-K · NVIDIA Newsroom (Blackwell, GB200 NVL72, DRIVE, Jetson Thor) · GTC 2025 keynote · Jon Peddie Research Q4 2025 · CompaniesMarketCap · CNBC.  Figures as of July 2026; verified against primary sources.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