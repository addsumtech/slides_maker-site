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7498079" cy="6858000"/>
          </a:xfrm>
          <a:prstGeom prst="rect">
            <a:avLst/>
          </a:prstGeom>
          <a:gradFill>
            <a:gsLst>
              <a:gs pos="0">
                <a:srgbClr val="FAF5EA">
                  <a:alpha val="94000"/>
                </a:srgbClr>
              </a:gs>
              <a:gs pos="55000">
                <a:srgbClr val="FAF5EA">
                  <a:alpha val="60000"/>
                </a:srgbClr>
              </a:gs>
              <a:gs pos="100000">
                <a:srgbClr val="FAF5EA">
                  <a:alpha val="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1554480"/>
            <a:ext cx="73152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C24A28"/>
                </a:solidFill>
                <a:latin typeface="Arial"/>
                <a:ea typeface="Hiragino Sans GB"/>
              </a:rPr>
              <a:t>A TRAVELLER'S GUIDE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057400"/>
            <a:ext cx="7772400" cy="11887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 i="0">
                <a:solidFill>
                  <a:srgbClr val="2A2018"/>
                </a:solidFill>
                <a:latin typeface="Georgia"/>
                <a:ea typeface="Hiragino Sans GB"/>
              </a:rPr>
              <a:t>Chengdu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27832"/>
            <a:ext cx="54864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A6824A"/>
                </a:solidFill>
                <a:latin typeface="Arial"/>
                <a:ea typeface="Hiragino Sans GB"/>
              </a:rPr>
              <a:t>成都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867912"/>
            <a:ext cx="118872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032504"/>
            <a:ext cx="603504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A2018"/>
                </a:solidFill>
                <a:latin typeface="Arial"/>
                <a:ea typeface="Hiragino Sans GB"/>
              </a:rPr>
              <a:t>Giant pandas, Sichuan spice, and the art of slow living
in the heart of southwest China.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217920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2A2018"/>
                </a:solidFill>
                <a:latin typeface="Consolas"/>
                <a:ea typeface="Hiragino Sans GB"/>
              </a:rPr>
              <a:t>A traveller's guide · best in spring &amp; autumn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WHY CHENGDU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A city that invites you to slow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Four reasons it's the most loved stop in southwest China.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01 · PANDAS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The panda capital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Meet giant pandas of every age at the Chengdu Research Base — go early, when they're most active.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02 · FLAVOUR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Numbing &amp;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Hotpot, mapo tofu, kung pao — málà is the bold, tingling heart of Sichuan cooking.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03 · SLOW LIFE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Teahouse culture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Sip gàiwǎn tea in People's Park, catch face-changing opera, feel the city's unhurried rhythm.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</a:rPr>
              <a:t>04 · BEYOND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Four UNESCO sites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Dujiangyan, Mt Qingcheng, the Leshan Giant Buddha and Mt Emei — all a short ride away.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THE VIBE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Chengdu is famously the city you come to and never want to leave — green, relaxed, and endlessly delicious.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pandas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</a:rPr>
              <a:t>01 · THE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Hiragino Sans GB"/>
              </a:rPr>
              <a:t>Chengdu's gentle giants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GIANT PANDAS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Meet the world's most beloved bears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Chengdu is the easiest place on earth to see giant pandas.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WHERE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The Research Base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The Chengdu Research Base of Giant Panda Breeding sits just north of the city — pandas of every age, from cubs to elders.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WHEN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Go early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Pandas are most active in the cool early morning, around feeding time. Arrive at opening to beat the heat and the crowds.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MORE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Out at Dujiangyan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For a quieter visit, the Dujiangyan panda base pairs neatly with the nearby UNESCO day-trips.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TRAVEL KINDLY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These bases are conservation centres, not zoos — keep your voice low, skip the flash, and let the pandas set the pace.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foo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</a:rPr>
              <a:t>02 · THE FLAVOUR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Hiragino Sans GB"/>
              </a:rPr>
              <a:t>Sichuan, China's spice capital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SICHUAN FOOD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Bold, numbing, unforgettable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Chengdu is a UNESCO City of Gastronomy — come hungry.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HOT POT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The main event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A simmering pot of chili-and-peppercorn broth; cook skewers and vegetables at your table. Ask for a milder broth if needed.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MAPO TOFU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The classic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Silken tofu in a fiery, savoury bean-paste sauce — the dish that defines málà.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KUNG PAO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Sweet &amp; fierce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Diced chicken, peanuts and dried chilies — Sichuan's most famous export, born here.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</a:rPr>
              <a:t>STREET EATS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Snack your way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Dan dan noodles, bang bang chicken, water-boiled beef — order small and try a lot.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WHAT IS MÁLÀ?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Málà = numbing (麻, from Sichuan peppercorn) + spicy (辣, from chili) — it tingles before it burns, and it's gloriously addictive.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SLOW LIVING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The unhurried art of Chengdu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Locals have perfected the gentle day — join them.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TEAHOUSES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Gàiwǎn tea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Settle into a bamboo chair at a People's Park teahouse, refill your lidded gàiwǎn cup, and watch the afternoon drift.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OPERA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Face-changing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Sichuan opera's biàn liǎn — masks that flip colour in a blink — is a signature spectacle worth a night out.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LEISURE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Parks &amp; mahjong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Tea, cards, mahjong and people-watching in leafy parks: Chengdu's real attraction is its pace.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THE CHENGDU 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Don't over-plan. A morning with the pandas and a long, lazy afternoon over tea is a perfect Chengdu day.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OLD TOWN &amp; HERITAGE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Lanes, shrines and poets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Centuries of history, all walkable in the city centre.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LANES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Kuanzhai Alley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Three restored Qing-era lanes — 'wide, narrow and well' — packed with courtyards, snacks and tea.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STREET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Jinli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A lantern-lit old street beside Wuhou Shrine: street food, crafts and evening atmosphere.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SHRINE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Wuhou Shrine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China's most famous Three-Kingdoms memorial, honouring the strategist Zhuge Liang amid quiet gardens.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</a:rPr>
              <a:t>POETRY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Du Fu's Cottage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The tranquil thatched home of the great Tang poet Du Fu, set in a classical garden.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ALL WALKABLE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Kuanzhai, Jinli and Wuhou Shrine sit close together in the centre — string them into one unhurried afternoon, and stay for the lantern-lit evening.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_beyo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840480"/>
            <a:ext cx="12191695" cy="3017520"/>
          </a:xfrm>
          <a:prstGeom prst="rect">
            <a:avLst/>
          </a:prstGeom>
          <a:gradFill>
            <a:gsLst>
              <a:gs pos="0">
                <a:srgbClr val="1E1610">
                  <a:alpha val="0"/>
                </a:srgbClr>
              </a:gs>
              <a:gs pos="45000">
                <a:srgbClr val="1E1610">
                  <a:alpha val="45000"/>
                </a:srgbClr>
              </a:gs>
              <a:gs pos="100000">
                <a:srgbClr val="1E1610">
                  <a:alpha val="94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120640"/>
            <a:ext cx="10515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</a:rPr>
              <a:t>03 · BEYOND THE 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0704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Hiragino Sans GB"/>
              </a:rPr>
              <a:t>Four wonders within reach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DAY TRIPS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Four World Heritage wonders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All reachable as a day trip — most by fast train.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~45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Dujiangyan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A 2,000-year-old irrigation system still in use — an ancient engineering marvel and UNESCO site.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08527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09695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9695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TAOISM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9695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Mt Qingcheng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9695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Misty, temple-dotted slopes revered as a cradle of Taoism — green, calm and UNESCO-listed.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1295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52463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2463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71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Leshan Buddha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463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The world's largest stone Buddha, carved into a river cliff from 803 AD — a UNESCO wonder.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94063" y="1965960"/>
            <a:ext cx="2631871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95231" y="2203704"/>
            <a:ext cx="457200" cy="45720"/>
          </a:xfrm>
          <a:prstGeom prst="rect">
            <a:avLst/>
          </a:prstGeom>
          <a:solidFill>
            <a:srgbClr val="4A4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5231" y="2350008"/>
            <a:ext cx="222953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4A4036"/>
                </a:solidFill>
                <a:latin typeface="Arial"/>
                <a:ea typeface="Hiragino Sans GB"/>
              </a:rPr>
              <a:t>SACRED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95231" y="2606039"/>
            <a:ext cx="2229535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Mt Emei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95231" y="2916936"/>
            <a:ext cx="2229535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One of China's four sacred Buddhist mountains, with golden summits and forest trails.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GETTING THERE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Chengdu is a high-speed rail hub — Dujiangyan is ~45 min away, Leshan and Emei a short ride further. Easy days out, home by dinner.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5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75488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24A28"/>
                </a:solidFill>
                <a:latin typeface="Arial"/>
                <a:ea typeface="Hiragino Sans GB"/>
              </a:rPr>
              <a:t>PLAN YOUR TRIP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804672"/>
            <a:ext cx="10820095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2A2018"/>
                </a:solidFill>
                <a:latin typeface="Georgia"/>
                <a:ea typeface="Hiragino Sans GB"/>
              </a:rPr>
              <a:t>When to come &amp; how to get around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481328"/>
            <a:ext cx="1051560" cy="41148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91056"/>
            <a:ext cx="10728655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857967"/>
                </a:solidFill>
                <a:latin typeface="Arial"/>
                <a:ea typeface="Hiragino Sans GB"/>
              </a:rPr>
              <a:t>A little timing makes a big difference.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203704"/>
            <a:ext cx="45720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24A28"/>
                </a:solidFill>
                <a:latin typeface="Arial"/>
                <a:ea typeface="Hiragino Sans GB"/>
              </a:rPr>
              <a:t>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Spring &amp; autumn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Mar–May and Sep–Nov are ideal: ~20–24°C, sunny and dry. Avoid the Chinese New Year, May and summer-holiday crowds.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945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90618" y="2203704"/>
            <a:ext cx="457200" cy="45720"/>
          </a:xfrm>
          <a:prstGeom prst="rect">
            <a:avLst/>
          </a:prstGeom>
          <a:solidFill>
            <a:srgbClr val="3E7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61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E7A5B"/>
                </a:solidFill>
                <a:latin typeface="Arial"/>
                <a:ea typeface="Hiragino Sans GB"/>
              </a:rPr>
              <a:t>ARRIVE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061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Fly or train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061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Two international airports connect widely, and Chengdu is a national high-speed rail hub.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3140" y="1965960"/>
            <a:ext cx="3612794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6DC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4308" y="2203704"/>
            <a:ext cx="457200" cy="45720"/>
          </a:xfrm>
          <a:prstGeom prst="rect">
            <a:avLst/>
          </a:prstGeom>
          <a:solidFill>
            <a:srgbClr val="A68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4308" y="2350008"/>
            <a:ext cx="3210458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A6824A"/>
                </a:solidFill>
                <a:latin typeface="Arial"/>
                <a:ea typeface="Hiragino Sans GB"/>
              </a:rPr>
              <a:t>AROUND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4308" y="2606039"/>
            <a:ext cx="3210458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A2018"/>
                </a:solidFill>
                <a:latin typeface="Georgia"/>
                <a:ea typeface="Hiragino Sans GB"/>
              </a:rPr>
              <a:t>Metro + rail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4308" y="2916936"/>
            <a:ext cx="3210458" cy="106070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857967"/>
                </a:solidFill>
                <a:latin typeface="Arial"/>
                <a:ea typeface="Hiragino Sans GB"/>
              </a:rPr>
              <a:t>A clean metro covers the city; fast trains reach the day-trips. Most sights are central and walkable.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389120"/>
            <a:ext cx="10911535" cy="1188720"/>
          </a:xfrm>
          <a:prstGeom prst="roundRect">
            <a:avLst>
              <a:gd name="adj" fmla="val 7692"/>
            </a:avLst>
          </a:prstGeom>
          <a:solidFill>
            <a:srgbClr val="2C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0080" y="4389120"/>
            <a:ext cx="73152" cy="1188720"/>
          </a:xfrm>
          <a:prstGeom prst="roundRect">
            <a:avLst>
              <a:gd name="adj" fmla="val 50000"/>
            </a:avLst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535424"/>
            <a:ext cx="10362895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0C9A0"/>
                </a:solidFill>
                <a:latin typeface="Arial"/>
                <a:ea typeface="Hiragino Sans GB"/>
              </a:rPr>
              <a:t>GOOD TO KNOW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4809744"/>
            <a:ext cx="10362895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F4ECDD"/>
                </a:solidFill>
                <a:latin typeface="Arial"/>
                <a:ea typeface="Hiragino Sans GB"/>
              </a:rPr>
              <a:t>Tell restaurants your spice level — ask for mild (微辣) or none (不辣). Mornings for pandas, afternoons for tea; a translation app helps.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437376"/>
            <a:ext cx="6400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57967"/>
                </a:solidFill>
                <a:latin typeface="Arial"/>
                <a:ea typeface="Hiragino Sans GB"/>
              </a:rPr>
              <a:t>Chengdu · a travel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31575" y="6437376"/>
            <a:ext cx="54864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857967"/>
                </a:solidFill>
                <a:latin typeface="Consolas"/>
                <a:ea typeface="Hiragino Sans GB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>
            <a:gsLst>
              <a:gs pos="0">
                <a:srgbClr val="201810">
                  <a:alpha val="86000"/>
                </a:srgbClr>
              </a:gs>
              <a:gs pos="60000">
                <a:srgbClr val="201810">
                  <a:alpha val="50000"/>
                </a:srgbClr>
              </a:gs>
              <a:gs pos="100000">
                <a:srgbClr val="201810">
                  <a:alpha val="20000"/>
                </a:srgbClr>
              </a:gs>
            </a:gsLst>
            <a:lin ang="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82296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2CBA2"/>
                </a:solidFill>
                <a:latin typeface="Arial"/>
                <a:ea typeface="Hiragino Sans GB"/>
              </a:rPr>
              <a:t>COME FOR THE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468880"/>
            <a:ext cx="960120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>
                <a:solidFill>
                  <a:srgbClr val="FFFFFF"/>
                </a:solidFill>
                <a:latin typeface="Georgia"/>
                <a:ea typeface="Hiragino Sans GB"/>
              </a:rPr>
              <a:t>Stay for the slow life.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886200"/>
            <a:ext cx="1188720" cy="45720"/>
          </a:xfrm>
          <a:prstGeom prst="rect">
            <a:avLst/>
          </a:prstGeom>
          <a:solidFill>
            <a:srgbClr val="C2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82296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4ECDD"/>
                </a:solidFill>
                <a:latin typeface="Arial"/>
                <a:ea typeface="Hiragino Sans GB"/>
              </a:rPr>
              <a:t>成都欢迎你 — Chengdu is waiting.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17920"/>
            <a:ext cx="82296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9CDB8"/>
                </a:solidFill>
                <a:latin typeface="Consolas"/>
                <a:ea typeface="Hiragino Sans GB"/>
              </a:rPr>
              <a:t>Chengdu · a traveller's guide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