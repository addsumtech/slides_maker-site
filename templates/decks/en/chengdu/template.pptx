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Scale</c:v>
                </c:pt>
              </c:strCache>
            </c:strRef>
          </c:tx>
          <c:spPr>
            <a:solidFill>
              <a:srgbClr val="B9863A"/>
            </a:solidFill>
            <a:ln w="31750">
              <a:solidFill>
                <a:srgbClr val="B9863A"/>
              </a:solidFill>
            </a:ln>
          </c:spPr>
          <c:dPt>
            <c:idx val="0"/>
            <c:spPr>
              <a:solidFill>
                <a:srgbClr val="8A93A6"/>
              </a:solidFill>
            </c:spPr>
          </c:dPt>
          <c:dPt>
            <c:idx val="1"/>
            <c:spPr>
              <a:solidFill>
                <a:srgbClr val="8A93A6"/>
              </a:solidFill>
            </c:spPr>
          </c:dPt>
          <c:dPt>
            <c:idx val="2"/>
            <c:spPr>
              <a:solidFill>
                <a:srgbClr val="B9863A"/>
              </a:solidFill>
            </c:spPr>
          </c:dPt>
          <c:cat>
            <c:strRef>
              <c:f>Sheet1!$A$2:$A$4</c:f>
              <c:strCache>
                <c:ptCount val="3"/>
                <c:pt idx="0">
                  <c:v>2016</c:v>
                </c:pt>
                <c:pt idx="1">
                  <c:v>2020</c:v>
                </c:pt>
                <c:pt idx="2">
                  <c:v>2023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1.0</c:v>
                </c:pt>
                <c:pt idx="2">
                  <c:v>1.3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A355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EAF2FF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skyline in morning mist" title="Chengdu skyline in morning mist"/>
          <p:cNvPicPr>
            <a:picLocks noChangeAspect="1"/>
          </p:cNvPicPr>
          <p:nvPr/>
        </p:nvPicPr>
        <p:blipFill>
          <a:blip r:embed="rId2"/>
          <a:srcRect t="7812" b="781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126480" cy="5143500"/>
          </a:xfrm>
          <a:prstGeom prst="rect">
            <a:avLst/>
          </a:prstGeom>
          <a:gradFill>
            <a:gsLst>
              <a:gs pos="0">
                <a:srgbClr val="F5EFE2">
                  <a:alpha val="82000"/>
                </a:srgbClr>
              </a:gs>
              <a:gs pos="50000">
                <a:srgbClr val="F5EFE2">
                  <a:alpha val="42000"/>
                </a:srgbClr>
              </a:gs>
              <a:gs pos="100000">
                <a:srgbClr val="F5EFE2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091939"/>
            <a:ext cx="6126480" cy="1051560"/>
          </a:xfrm>
          <a:prstGeom prst="rect">
            <a:avLst/>
          </a:prstGeom>
          <a:gradFill>
            <a:gsLst>
              <a:gs pos="0">
                <a:srgbClr val="F5EFE2">
                  <a:alpha val="0"/>
                </a:srgbClr>
              </a:gs>
              <a:gs pos="100000">
                <a:srgbClr val="F5EFE2">
                  <a:alpha val="5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hengdu · Jinsha Sun Bird emblem" title="Chengdu · Jinsha Sun Bird em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310896"/>
            <a:ext cx="475488" cy="47548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" y="603504"/>
            <a:ext cx="658368" cy="658368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9068" y="669340"/>
            <a:ext cx="526694" cy="52669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5E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3504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EFE2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17904" y="676656"/>
            <a:ext cx="45720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elvetica Neue"/>
                <a:ea typeface="Hiragino Sans GB"/>
              </a:rPr>
              <a:t>C H É N G D 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932688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B9863A"/>
                </a:solidFill>
                <a:latin typeface="Hiragino Sans GB"/>
                <a:ea typeface="Hiragino Sans GB"/>
              </a:rPr>
              <a:t>LAND OF ABUNDANCE · THE BROCADE CITY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938528"/>
            <a:ext cx="5852160" cy="14630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9000" b="1" i="0">
                <a:solidFill>
                  <a:srgbClr val="25201A"/>
                </a:solidFill>
                <a:latin typeface="Songti SC"/>
                <a:ea typeface="Songti SC"/>
              </a:rPr>
              <a:t>Chengdu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358444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67328"/>
            <a:ext cx="749807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A4034"/>
                </a:solidFill>
                <a:latin typeface="Songti SC"/>
                <a:ea typeface="Songti SC"/>
              </a:rPr>
              <a:t>A city you'll never want to leave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57657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elvetica Neue"/>
                <a:ea typeface="Hiragino Sans GB"/>
              </a:rPr>
              <a:t>CITY GUIDE · TRAVEL FEATURE　|　CHENGDU CITY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CITY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Twenty Million, Two Trillion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Capital of Sichuan · sub-provincial city · a core of the Chengdu–Chongqing economic circle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21.47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million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Permanent residents ·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2.35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trillion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GDP · CNY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3744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14,335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Municipal area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3136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Helvetica Neue"/>
                <a:ea typeface="Hiragino Sans GB"/>
              </a:rPr>
              <a:t>80.8</a:t>
            </a:r>
            <a:r>
              <a:rPr sz="1250" b="1" i="0">
                <a:solidFill>
                  <a:srgbClr val="BE3A2C"/>
                </a:solidFill>
                <a:latin typeface="Helvetica Neue"/>
                <a:ea typeface="Hiragino Sans GB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Urbanization 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346704"/>
            <a:ext cx="7827264" cy="105156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Hibiscus 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The 'furong' hibiscus, planted city-wide under the Later Shu, gave 'Rongcheng' its 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424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Brocade 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424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Han-era Shu brocade was famed nationwide; a 'Brocade Officer' oversaw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136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1980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B9863A"/>
                </a:solidFill>
                <a:latin typeface="Songti SC"/>
                <a:ea typeface="Songti SC"/>
              </a:rPr>
              <a:t>Land of Abundance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80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Watered by the Dujiangyan, its fertile plains defy drought and flood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3692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CITY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Mild Basin, an Easy Life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In the western Sichuan Basin, at the heart of the Chengdu Plain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121490" cy="285750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ty emblem" title="city em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09397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2148840"/>
            <a:ext cx="293277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Location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953512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953512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Western Sichuan Basin · heart of the Chengdu Plain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3410712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611880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Elevation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611880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~500 m on the plain; higher west, lower east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4069080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270248"/>
            <a:ext cx="10515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Rivers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0248"/>
            <a:ext cx="2457282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Min &amp; Tuo river systems; the Jin runs through the city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5301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cloud-su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882" y="1947672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11378" y="1810512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Humid subtropical climate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1378" y="2121408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Four clear seasons, mild winters; often cloudy and misty, so harsh sun is rare and the air feels gentle.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301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osphor_drop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882" y="3008376"/>
            <a:ext cx="219456" cy="2194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511378" y="2871216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A city of water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1378" y="3182112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Ringed by the Min, Fu and Jin; the dam-free Dujiangyan tames drought and flood across the plain.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5301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flower-lotus_BE3A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1882" y="4069080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11378" y="3931920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Hibiscus &amp; ginkgo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1378" y="4242816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Late autumn lines the banks with hibiscus and gilds the streets with ginkgo — Chengdu's two most photogenic colours.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04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Same Name, Same Site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Three thousand years unbroken — from the Jinsha Sun Bird to the still-flowing Dujiangyan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" y="2412187"/>
            <a:ext cx="726947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96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9863A"/>
                </a:solidFill>
                <a:latin typeface="Helvetica Neue"/>
                <a:ea typeface="Hiragino Sans GB"/>
              </a:rPr>
              <a:t>c. 1200 BCE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Jinsha · Sun Bird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Ancient Shu capital, unearthed 2001; the gold ornament is 94.2% pure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812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256 BCE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Dujiangyan · Li Bing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Dam-free irrigation, still in use; the Land of Abundance begins here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01283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Qin · Named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The name 'Chengdu'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599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For 2,300+ years the name and the site have never changed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444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2000 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Qingcheng–Dujiangyan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Inscribed as a World Heritage Site — and still in 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29100"/>
            <a:ext cx="782726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9863A"/>
                </a:solidFill>
                <a:latin typeface="Songti SC"/>
                <a:ea typeface="Songti SC"/>
              </a:rPr>
              <a:t>Sanxingdui and Jinsha are the twin stars of ancient Shu; Chengdu is an ancient city still alive and growing.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05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Three Kingdoms &amp; the Poet-Sage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Half the Three Kingdoms saga plays out in Shu; one cottage holds the Tang's poetry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bank_B986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93" y="2186513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588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Wuhou Shrine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China's only shrine honouring a ruler and his minister together — Zhuge Liang and Liu Bei. Red walls and bamboo shade sit a wall away from Jinli, the bustling 'First Street of West Shu'.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1091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sphor_pen-nib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313" y="2186513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Du Fu Cottage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Fleeing the An Lushan rebellion, the poet Du Fu lived here nearly four years and wrote 240+ poems — putting Chengdu on the map of Tang poetry.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19372"/>
            <a:ext cx="782726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BE3A2C"/>
                </a:solidFill>
                <a:latin typeface="Songti SC"/>
                <a:ea typeface="Songti SC"/>
              </a:rPr>
              <a:t>“At dawn, where the red lies wet, blossoms weigh down the Brocade City.”</a:t>
            </a:r>
            <a:r>
              <a:rPr sz="1200" b="0" i="0">
                <a:solidFill>
                  <a:srgbClr val="8B8271"/>
                </a:solidFill>
                <a:latin typeface="Songti SC"/>
                <a:ea typeface="Songti SC"/>
              </a:rPr>
              <a:t>　— Du Fu, 'Delighting in Rain on a Spring Night'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06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HISTORY &amp; CULTURE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Needle, a Thread, a Face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Turning daily life into craft — another Chengdu gift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" y="2121408"/>
            <a:ext cx="548640" cy="548640"/>
          </a:xfrm>
          <a:prstGeom prst="ellipse">
            <a:avLst/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sphor_needle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" y="2264054"/>
            <a:ext cx="263347" cy="2633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Brocade &amp; Embroidery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82112"/>
            <a:ext cx="457200" cy="27432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2121408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One of China's 'Four Great Brocades', with embroidery to match — and the city's earliest export.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1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273551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29583" y="2121408"/>
            <a:ext cx="548640" cy="548640"/>
          </a:xfrm>
          <a:prstGeom prst="ellipse">
            <a:avLst/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mask-happy_BE3A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230" y="2264054"/>
            <a:ext cx="263347" cy="26334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29583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Opera &amp; Face-Changing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47871" y="3182112"/>
            <a:ext cx="457200" cy="27432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9583" y="3291840"/>
            <a:ext cx="2121408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Fire-spitting, face-changing, lamp-balancing — a new face in a blink. The stage is the teahouse itself: sip a bowl of tea and watch.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6181344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37376" y="2121408"/>
            <a:ext cx="548640" cy="548640"/>
          </a:xfrm>
          <a:prstGeom prst="ellipse">
            <a:avLst/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storefron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022" y="2264054"/>
            <a:ext cx="263347" cy="263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37376" y="279806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Kuanzhai Alleys · Jinli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5664" y="3182112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3291840"/>
            <a:ext cx="2121408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Grey brick and dark tile, old Chengdu in miniature: tea, ear-cleaning, opera, strolling — street life itself is the liveliest culture.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A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07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CUISINE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Flavour Lives in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In 2010, UNESCO named Chengdu Asia's first 'City of Gastronomy'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3291840" cy="137160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0" b="1" i="0">
                <a:solidFill>
                  <a:srgbClr val="B9863A"/>
                </a:solidFill>
                <a:latin typeface="Helvetica Neue"/>
                <a:ea typeface="Songti SC"/>
              </a:rPr>
              <a:t>2010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17520"/>
            <a:ext cx="338328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F0E4CC"/>
                </a:solidFill>
                <a:latin typeface="Hiragino Sans GB"/>
                <a:ea typeface="Hiragino Sans GB"/>
              </a:rPr>
              <a:t>Asia's first · City of Gastronomy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7AE97"/>
                </a:solidFill>
                <a:latin typeface="Helvetica Neue"/>
                <a:ea typeface="Hiragino Sans GB"/>
              </a:rPr>
              <a:t>UNESCO Creative Cities Network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65960"/>
            <a:ext cx="12801" cy="2331720"/>
          </a:xfrm>
          <a:prstGeom prst="rect">
            <a:avLst/>
          </a:prstGeom>
          <a:solidFill>
            <a:srgbClr val="4A3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847088"/>
            <a:ext cx="4114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863A"/>
                </a:solidFill>
                <a:latin typeface="Hiragino Sans GB"/>
                <a:ea typeface="Hiragino Sans GB"/>
              </a:rPr>
              <a:t>A great cuisine of China · every dish its own character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Hot Pot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7024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Skewer Hotpot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24344" y="2286000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Mapo Tofu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62856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Twice-Cooked Pork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Kung Pao Chicken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7768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24344" y="2907791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Dan Dan Noodles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62856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Zhong Dumplings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07024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Long Wonton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87768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3529584"/>
            <a:ext cx="116128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7EEDB"/>
                </a:solidFill>
                <a:latin typeface="Songti SC"/>
                <a:ea typeface="Songti SC"/>
              </a:rPr>
              <a:t>Fuqi Feipian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187952"/>
            <a:ext cx="41148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FC1A6"/>
                </a:solidFill>
                <a:latin typeface="Hiragino Sans GB"/>
                <a:ea typeface="Hiragino Sans GB"/>
              </a:rPr>
              <a:t>Beyond numbing, spicy, fresh and fragrant hides a quiet sweetness and depth.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08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GIANT PANDAS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The Largest Panda Home on Earth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Chengdu Research Base of Giant Panda Breeding: from 6 rescued animals to the world's largest ex-situ population</a:t>
            </a:r>
          </a:p>
        </p:txBody>
      </p:sp>
      <p:pic>
        <p:nvPicPr>
          <p:cNvPr id="11" name="Picture 10" descr="panda in bamboo (mood image)" title="panda in bamboo (mood image)"/>
          <p:cNvPicPr>
            <a:picLocks noChangeAspect="1"/>
          </p:cNvPicPr>
          <p:nvPr/>
        </p:nvPicPr>
        <p:blipFill>
          <a:blip r:embed="rId3"/>
          <a:srcRect l="13651" r="13651"/>
          <a:stretch>
            <a:fillRect/>
          </a:stretch>
        </p:blipFill>
        <p:spPr>
          <a:xfrm>
            <a:off x="6355080" y="1755648"/>
            <a:ext cx="2130551" cy="2930652"/>
          </a:xfrm>
          <a:prstGeom prst="roundRect">
            <a:avLst>
              <a:gd name="adj" fmla="val 5150"/>
            </a:avLst>
          </a:prstGeom>
        </p:spPr>
      </p:pic>
      <p:sp>
        <p:nvSpPr>
          <p:cNvPr id="12" name="TextBox 11"/>
          <p:cNvSpPr txBox="1"/>
          <p:nvPr/>
        </p:nvSpPr>
        <p:spPr>
          <a:xfrm>
            <a:off x="658368" y="2148840"/>
            <a:ext cx="3840480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iragino Sans GB"/>
                <a:ea typeface="Hiragino Sans GB"/>
              </a:rPr>
              <a:t>of the global captive population (~757)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459736"/>
            <a:ext cx="3840480" cy="256032"/>
          </a:xfrm>
          <a:prstGeom prst="roundRect">
            <a:avLst>
              <a:gd name="adj" fmla="val 50000"/>
            </a:avLst>
          </a:prstGeom>
          <a:solidFill>
            <a:srgbClr val="EEE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459736"/>
            <a:ext cx="1319055" cy="256032"/>
          </a:xfrm>
          <a:prstGeom prst="roundRect">
            <a:avLst>
              <a:gd name="adj" fmla="val 5000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1728" y="2459736"/>
            <a:ext cx="1188720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Hiragino Sans GB"/>
                <a:ea typeface="Hiragino Sans GB"/>
              </a:rPr>
              <a:t>~34%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724912"/>
            <a:ext cx="2331720" cy="1938528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2907792"/>
            <a:ext cx="402336" cy="402336"/>
          </a:xfrm>
          <a:prstGeom prst="ellipse">
            <a:avLst/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paw-print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719" y="3012399"/>
            <a:ext cx="193121" cy="19312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08176" y="2944368"/>
            <a:ext cx="1435607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Captive giant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iragino Sans GB"/>
                <a:ea typeface="Hiragino Sans GB"/>
              </a:rPr>
              <a:t>pandas · end-2024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383280"/>
            <a:ext cx="187451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3E6B52"/>
                </a:solidFill>
                <a:latin typeface="Helvetica Neue"/>
                <a:ea typeface="Songti SC"/>
              </a:rPr>
              <a:t>260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206240"/>
            <a:ext cx="205740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8271"/>
                </a:solidFill>
                <a:latin typeface="Hiragino Sans GB"/>
                <a:ea typeface="Hiragino Sans GB"/>
              </a:rPr>
              <a:t>From 6 to 260 — the patience of a 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54680" y="276148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hosphor_leaf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552" y="2880360"/>
            <a:ext cx="219456" cy="2194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813048" y="2743200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5201A"/>
                </a:solidFill>
                <a:latin typeface="Songti SC"/>
                <a:ea typeface="Songti SC"/>
              </a:rPr>
              <a:t>Largest ex-situ 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3048" y="3054096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The world's largest captive giant-panda group — and its largest red-panda group too.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54680" y="3785616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mountains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3552" y="3904488"/>
            <a:ext cx="219456" cy="219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813048" y="3767328"/>
            <a:ext cx="2359152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5201A"/>
                </a:solidFill>
                <a:latin typeface="Songti SC"/>
                <a:ea typeface="Songti SC"/>
              </a:rPr>
              <a:t>From rescue to thriving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3048" y="4078224"/>
            <a:ext cx="2359152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From 6 sick, starving animals in 1987 to a world-famous 'panda factory' — Chengdu's warmest icon.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09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WAY OF LIFE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Time, Steeped in Tea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'Bāshì' and 'ānyì' — Chengdu's own two words for a life well lived</a:t>
            </a:r>
          </a:p>
        </p:txBody>
      </p:sp>
      <p:pic>
        <p:nvPicPr>
          <p:cNvPr id="10" name="Picture 9" descr="bamboo-chair teahouse (mood image)" title="bamboo-chair teahouse (mood image)"/>
          <p:cNvPicPr>
            <a:picLocks noChangeAspect="1"/>
          </p:cNvPicPr>
          <p:nvPr/>
        </p:nvPicPr>
        <p:blipFill>
          <a:blip r:embed="rId3"/>
          <a:srcRect t="24571" b="24571"/>
          <a:stretch>
            <a:fillRect/>
          </a:stretch>
        </p:blipFill>
        <p:spPr>
          <a:xfrm>
            <a:off x="658368" y="1810512"/>
            <a:ext cx="3200400" cy="1627632"/>
          </a:xfrm>
          <a:prstGeom prst="roundRect">
            <a:avLst>
              <a:gd name="adj" fmla="val 6741"/>
            </a:avLst>
          </a:prstGeom>
        </p:spPr>
      </p:pic>
      <p:sp>
        <p:nvSpPr>
          <p:cNvPr id="11" name="Rounded Rectangle 10"/>
          <p:cNvSpPr/>
          <p:nvPr/>
        </p:nvSpPr>
        <p:spPr>
          <a:xfrm>
            <a:off x="658368" y="3529584"/>
            <a:ext cx="3200400" cy="1088136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ity emblem" title="city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3959352"/>
            <a:ext cx="51206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" y="3694176"/>
            <a:ext cx="237744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A bowl of tea,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BE3A2C"/>
                </a:solidFill>
                <a:latin typeface="Songti SC"/>
                <a:ea typeface="Songti SC"/>
              </a:rPr>
              <a:t>a whole afternoon.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4288536"/>
            <a:ext cx="26517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A4034"/>
                </a:solidFill>
                <a:latin typeface="Hiragino Sans GB"/>
                <a:ea typeface="Hiragino Sans GB"/>
              </a:rPr>
              <a:t>Bamboo chairs, old tea, idle chatter — slow is a kind of productivity.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osphor_coffe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2232" y="1947672"/>
            <a:ext cx="219456" cy="2194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681728" y="1810512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The three-piece gaiwan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1728" y="2121408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Lid, bowl and saucer — one covered bowl brews a city's ease; the old teahouse is Chengdu at its most real.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card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008376"/>
            <a:ext cx="219456" cy="21945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81728" y="2871216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Ear-cleaning &amp; tall tales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3182112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The ear-cleaner's brass picks and streetside gossip weave leisure into the grain of daily life.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2336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armchair_3E6B5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4069080"/>
            <a:ext cx="219456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81728" y="3931920"/>
            <a:ext cx="3803903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Nightlife that never closes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8" y="4242816"/>
            <a:ext cx="3803903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From Jiuyanqiao to Yulin Road, hot pot and little bars fuel China's most vibrant nights.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10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WAY OF LIFE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A Park City Below Snow Peaks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In 2018, the 'Park City' concept was first proposed in Chengdu's Tianfu New Area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tree_3E6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314529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Birthplace of the idea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First proposed in Tianfu New Area in 2018; approved in 2022 as a national Park City demo zone.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1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47871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bicycl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273" y="2314529"/>
            <a:ext cx="272125" cy="272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1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Green at every window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59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1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The Xinglong Lake eco-ring and the Tianfu Greenways lace parks through the city's fabric.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55664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mountain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065" y="2314529"/>
            <a:ext cx="272125" cy="2721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55664" y="2898648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5201A"/>
                </a:solidFill>
                <a:latin typeface="Songti SC"/>
                <a:ea typeface="Songti SC"/>
              </a:rPr>
              <a:t>Snow peaks in 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392424"/>
            <a:ext cx="2093976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On clear days, spot Gongga and Siguniang from downtown — a 'park city below the snow mountains'.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11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5A69"/>
                </a:solidFill>
                <a:latin typeface="Songti SC"/>
                <a:ea typeface="Songti SC"/>
              </a:rPr>
              <a:t>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INDUSTRY &amp; TECH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Beyond the Ease, a Hard Core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China's top-ranked 'new first-tier city' for years — a city of leisure and of industry alike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FB3BE"/>
                </a:solidFill>
                <a:latin typeface="Hiragino Sans GB"/>
                <a:ea typeface="Hiragino Sans GB"/>
              </a:rPr>
              <a:t>Electronics &amp; IT industry (trillion CNY)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48840"/>
          <a:ext cx="393192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" y="452628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FBAC4"/>
                </a:solidFill>
                <a:latin typeface="Hiragino Sans GB"/>
                <a:ea typeface="Hiragino Sans GB"/>
              </a:rPr>
              <a:t>Passed one trillion in 2020 — the first trillion-CNY industry in Chengdu and Sichuan.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9160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cpu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767" y="2134575"/>
            <a:ext cx="193121" cy="1931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12080" y="20482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Twin trillion-CNY clusters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633472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Both top a trillion CNY in scale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2552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85432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airplane-til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0039" y="2134575"/>
            <a:ext cx="193121" cy="19312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88352" y="20482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Mainland's 3rd dual-airport 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2633472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Tianfu Int'l Airport opened in 2021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09160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sphor_train_B98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3767" y="3487887"/>
            <a:ext cx="193121" cy="1931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12080" y="3401568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4th-longest metro in China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986784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~673 km · as of end-2024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2552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85432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game-controller_B986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039" y="3487887"/>
            <a:ext cx="193121" cy="1931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88352" y="3401568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E9DA"/>
                </a:solidFill>
                <a:latin typeface="Songti SC"/>
                <a:ea typeface="Songti SC"/>
              </a:rPr>
              <a:t>Birthplace of a hit mobile game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5432" y="3986784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FBAC4"/>
                </a:solidFill>
                <a:latin typeface="Hiragino Sans GB"/>
                <a:ea typeface="Hiragino Sans GB"/>
              </a:rPr>
              <a:t>Honor of Kings, built by a Chengdu team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VII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TRAVEL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How to Do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Three things to know before you come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calendar-dots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1" y="2241011"/>
            <a:ext cx="254568" cy="25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98448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When to 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Spring (Mar–May) for blossoms, autumn (Sep–Nov) for ginkgo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Mild, near-snowless winters; add Xiling Snow Mountain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Skip muggy midsummer and holiday peaks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3551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47871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map-pi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63" y="2241011"/>
            <a:ext cx="254568" cy="2545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6240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What to see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59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Panda Base · meet the national treasure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59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Kuanzhai Alleys · Jinli · Wuhou Shrine · Du Fu Cottage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66159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Dujiangyan–Qingcheng · Chunxi Rd &amp; Taikoo Li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55664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DD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hosphor_train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555" y="2241011"/>
            <a:ext cx="254568" cy="254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114031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Getting around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1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Two international airports; high-speed rail nationwide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3952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1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600+ km of metro reaches most sights directly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1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Shared bikes plus walking are the sweetest way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engdu · Jinsha Sun Bird emblem" title="Chengdu · Jinsha Sun Bird embl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VII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TRAVEL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Three Days in Chengdu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Go slow — it's the only way to match the city's pace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62455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Cute &amp;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Giant Panda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Jinsha Site Museum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Kuanzhai Alleys · tea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1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273551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3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Old &amp; New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1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87952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Wuhou Shrine · Jinli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4447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1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7952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Du Fu Cottage · park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84447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7871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87952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Chunxi Rd · Taikoo Li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6181344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1965960"/>
            <a:ext cx="13258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BF7EC"/>
                </a:solidFill>
                <a:latin typeface="Songti SC"/>
                <a:ea typeface="Songti SC"/>
              </a:rPr>
              <a:t>Peaks &amp; Water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2615184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95744" y="2596896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Dujiangyan Waterworks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3182112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95744" y="3163824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Mt. Qingcheng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749039"/>
            <a:ext cx="6400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EVE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95744" y="3730752"/>
            <a:ext cx="1426463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5201A"/>
                </a:solidFill>
                <a:latin typeface="Songti SC"/>
                <a:ea typeface="Songti SC"/>
              </a:rPr>
              <a:t>Home · pack peppercorns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Jinsha Sun Bird" title="Jinsha Sun Bi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822960"/>
            <a:ext cx="3383280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" y="640080"/>
            <a:ext cx="603504" cy="603504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3582" y="700430"/>
            <a:ext cx="482803" cy="482803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3E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0080"/>
            <a:ext cx="603504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3ECDD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10512"/>
            <a:ext cx="585216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F3ECDD"/>
                </a:solidFill>
                <a:latin typeface="Songti SC"/>
                <a:ea typeface="Songti SC"/>
              </a:rPr>
              <a:t>Easy to arrive,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800" b="1" i="0">
                <a:solidFill>
                  <a:srgbClr val="B9863A"/>
                </a:solidFill>
                <a:latin typeface="Songti SC"/>
                <a:ea typeface="Songti SC"/>
              </a:rPr>
              <a:t>hard to leave.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49300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675887"/>
            <a:ext cx="7315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6BCA6"/>
                </a:solidFill>
                <a:latin typeface="Hiragino Sans GB"/>
                <a:ea typeface="Hiragino Sans GB"/>
              </a:rPr>
              <a:t>Chengdu · a city that turns daily life into poetry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35711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Sources: Chengdu 2024 Statistical Communiqué on National Economic and Social Development, UNESCO, Chengdu Research Base of Giant Panda Breeding,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Ministry of Transport, Xinhua, Sichuan Provincial Government and other public records; data as of 2024 (some updated to 2025) · compiled July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