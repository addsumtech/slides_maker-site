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03120"/>
            <a:ext cx="329184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32688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C98A2B"/>
                </a:solidFill>
                <a:latin typeface="Menlo"/>
                <a:ea typeface="Hiragino Sans GB"/>
              </a:rPr>
              <a:t>A CITY INTRODUCTION · SOUTHWEST CHINA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98448"/>
            <a:ext cx="7498079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 i="0">
                <a:solidFill>
                  <a:srgbClr val="F2E8D6"/>
                </a:solidFill>
                <a:latin typeface="Georgia"/>
                <a:ea typeface="Hiragino Sans GB"/>
              </a:rPr>
              <a:t>Chengdu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15184"/>
            <a:ext cx="5486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F6B54"/>
                </a:solidFill>
                <a:latin typeface="Kaiti SC"/>
                <a:ea typeface="Kaiti SC"/>
              </a:rPr>
              <a:t>成都 · 天府之国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" y="3145536"/>
            <a:ext cx="1371600" cy="54864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346704"/>
            <a:ext cx="65836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>
                <a:solidFill>
                  <a:srgbClr val="F2E8D6"/>
                </a:solidFill>
                <a:latin typeface="Helvetica Neue"/>
                <a:ea typeface="Hiragino Sans GB"/>
              </a:rPr>
              <a:t>China's Land of Abundance — where 2,300 years of history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>
                <a:solidFill>
                  <a:srgbClr val="F2E8D6"/>
                </a:solidFill>
                <a:latin typeface="Helvetica Neue"/>
                <a:ea typeface="Hiragino Sans GB"/>
              </a:rPr>
              <a:t>keep a famously unhurried 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485132"/>
            <a:ext cx="8229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857A6C"/>
                </a:solidFill>
                <a:latin typeface="Menlo"/>
                <a:ea typeface="Hiragino Sans GB"/>
              </a:rPr>
              <a:t>PROFILE · CULTURE · FOOD · PANDAS · PACE · TECH · TRAVEL      |      AS OF JULY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566928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7420" y="632764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01583" y="566928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Chengdu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795527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5493F"/>
                </a:solidFill>
                <a:latin typeface="Georgia"/>
                <a:ea typeface="Hiragino Sans GB"/>
              </a:rPr>
              <a:t>Capital of Sichuan and China's fourth-largest city — a fertile, easygoing megacity of teahouses, gardens and unmistakable spice.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02735"/>
            <a:ext cx="8046720" cy="946403"/>
          </a:xfrm>
          <a:prstGeom prst="roundRect">
            <a:avLst>
              <a:gd name="adj" fmla="val 8000"/>
            </a:avLst>
          </a:prstGeom>
          <a:solidFill>
            <a:srgbClr val="F0E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678448"/>
            <a:ext cx="64008" cy="794979"/>
          </a:xfrm>
          <a:prstGeom prst="rect">
            <a:avLst/>
          </a:prstGeom>
          <a:solidFill>
            <a:srgbClr val="8A6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602735"/>
            <a:ext cx="7644384" cy="94640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A6015"/>
                </a:solidFill>
                <a:latin typeface="Helvetica Neue"/>
                <a:ea typeface="Hiragino Sans GB"/>
              </a:rPr>
              <a:t>LAND OF ABUNDANCE  </a:t>
            </a:r>
            <a:r>
              <a:rPr sz="1250" b="0" i="0">
                <a:solidFill>
                  <a:srgbClr val="211C18"/>
                </a:solidFill>
                <a:latin typeface="Helvetica Neue"/>
                <a:ea typeface="Hiragino Sans GB"/>
              </a:rPr>
              <a:t>Set on the fertile Chengdu Plain and watered for more than 2,200 years by the Dujiangyan works, the region has fed itself so reliably that its old name is 天府之国 — the Land of Abundance.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897379" cy="1362455"/>
          </a:xfrm>
          <a:prstGeom prst="roundRect">
            <a:avLst>
              <a:gd name="adj" fmla="val 6711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874519"/>
            <a:ext cx="91440" cy="1362455"/>
          </a:xfrm>
          <a:prstGeom prst="roundRect">
            <a:avLst>
              <a:gd name="adj" fmla="val 5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075688"/>
            <a:ext cx="14401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E7365"/>
                </a:solidFill>
                <a:latin typeface="Helvetica Neue"/>
                <a:ea typeface="Hiragino Sans GB"/>
              </a:rPr>
              <a:t>PEOPLE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331720"/>
            <a:ext cx="14401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11C18"/>
                </a:solidFill>
                <a:latin typeface="Helvetica Neue"/>
                <a:ea typeface="Hiragino Sans GB"/>
              </a:rPr>
              <a:t>21M+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834639"/>
            <a:ext cx="144017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municipality,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7459" y="1874519"/>
            <a:ext cx="1897379" cy="1362455"/>
          </a:xfrm>
          <a:prstGeom prst="roundRect">
            <a:avLst>
              <a:gd name="adj" fmla="val 6711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537459" y="1874519"/>
            <a:ext cx="91440" cy="1362455"/>
          </a:xfrm>
          <a:prstGeom prst="roundRect">
            <a:avLst>
              <a:gd name="adj" fmla="val 50000"/>
            </a:avLst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3491" y="2075688"/>
            <a:ext cx="14401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E7365"/>
                </a:solidFill>
                <a:latin typeface="Helvetica Neue"/>
                <a:ea typeface="Hiragino Sans GB"/>
              </a:rPr>
              <a:t>GDP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491" y="2331720"/>
            <a:ext cx="14401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11C18"/>
                </a:solidFill>
                <a:latin typeface="Helvetica Neue"/>
                <a:ea typeface="Hiragino Sans GB"/>
              </a:rPr>
              <a:t>¥2tn+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3491" y="2834639"/>
            <a:ext cx="144017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2024, a fresh high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59" y="1874519"/>
            <a:ext cx="1897379" cy="1362455"/>
          </a:xfrm>
          <a:prstGeom prst="roundRect">
            <a:avLst>
              <a:gd name="adj" fmla="val 6711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09159" y="1874519"/>
            <a:ext cx="91440" cy="1362455"/>
          </a:xfrm>
          <a:prstGeom prst="roundRect">
            <a:avLst>
              <a:gd name="adj" fmla="val 50000"/>
            </a:avLst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65192" y="2075688"/>
            <a:ext cx="14401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E7365"/>
                </a:solidFill>
                <a:latin typeface="Helvetica Neue"/>
                <a:ea typeface="Hiragino Sans GB"/>
              </a:rPr>
              <a:t>FORTUNE 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2331720"/>
            <a:ext cx="14401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11C18"/>
                </a:solidFill>
                <a:latin typeface="Helvetica Neue"/>
                <a:ea typeface="Hiragino Sans GB"/>
              </a:rPr>
              <a:t>315+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5192" y="2834639"/>
            <a:ext cx="144017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with a Chengdu base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0859" y="1874519"/>
            <a:ext cx="1897379" cy="1362455"/>
          </a:xfrm>
          <a:prstGeom prst="roundRect">
            <a:avLst>
              <a:gd name="adj" fmla="val 6711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80859" y="1874519"/>
            <a:ext cx="91440" cy="1362455"/>
          </a:xfrm>
          <a:prstGeom prst="roundRect">
            <a:avLst>
              <a:gd name="adj" fmla="val 5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6891" y="2075688"/>
            <a:ext cx="14401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E7365"/>
                </a:solidFill>
                <a:latin typeface="Helvetica Neue"/>
                <a:ea typeface="Hiragino Sans GB"/>
              </a:rPr>
              <a:t>YEARS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6891" y="2331720"/>
            <a:ext cx="14401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11C18"/>
                </a:solidFill>
                <a:latin typeface="Helvetica Neue"/>
                <a:ea typeface="Hiragino Sans GB"/>
              </a:rPr>
              <a:t>2,300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6891" y="2834639"/>
            <a:ext cx="144017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same name &amp; site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02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Cradled between basin and plateau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57505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5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61" y="1722455"/>
            <a:ext cx="272125" cy="2721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52144" y="1463040"/>
            <a:ext cx="379962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Southwest 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1801368"/>
            <a:ext cx="3799623" cy="4983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Capital of Sichuan province, roughly at the geographic heart of the country's southwest.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676906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unta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61" y="2824307"/>
            <a:ext cx="272125" cy="2721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52144" y="2564891"/>
            <a:ext cx="379962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Plain meets peaks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903220"/>
            <a:ext cx="3799623" cy="4983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Built on the flat Chengdu Plain; on clear days snow mountains rise on the western horizon.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778758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61" y="3926159"/>
            <a:ext cx="272125" cy="2721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52144" y="3666744"/>
            <a:ext cx="379962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A mild, misty bowl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4005072"/>
            <a:ext cx="3799623" cy="4983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A humid basin climate — rarely freezing, rarely scorching, often softly overcast.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54103" y="1371600"/>
            <a:ext cx="3424136" cy="3131820"/>
          </a:xfrm>
          <a:prstGeom prst="roundRect">
            <a:avLst>
              <a:gd name="adj" fmla="val 8000"/>
            </a:avLst>
          </a:prstGeom>
          <a:solidFill>
            <a:srgbClr val="DBDB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" title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7491" y="1828800"/>
            <a:ext cx="1737360" cy="1737360"/>
          </a:xfrm>
          <a:prstGeom prst="rect">
            <a:avLst/>
          </a:prstGeom>
        </p:spPr>
      </p:pic>
      <p:pic>
        <p:nvPicPr>
          <p:cNvPr id="20" name="Picture 19" descr="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435" y="2304288"/>
            <a:ext cx="347472" cy="3474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28423" y="3451860"/>
            <a:ext cx="2875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F5340"/>
                </a:solidFill>
                <a:latin typeface="Menlo"/>
                <a:ea typeface="Hiragino Sans GB"/>
              </a:rPr>
              <a:t>CHENGDU 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8423" y="3753611"/>
            <a:ext cx="287549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493F"/>
                </a:solidFill>
                <a:latin typeface="Helvetica Neue"/>
                <a:ea typeface="Hiragino Sans GB"/>
              </a:rPr>
              <a:t>W: Tibetan Plateau   ·   E: Sichuan Basin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03 /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Same name, same site, 2,300 years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795527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5493F"/>
                </a:solidFill>
                <a:latin typeface="Georgia"/>
                <a:ea typeface="Hiragino Sans GB"/>
              </a:rPr>
              <a:t>Few great cities can say it: Chengdu has never been renamed and never moved.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097987"/>
            <a:ext cx="731519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" y="327355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E7365"/>
                </a:solidFill>
                <a:latin typeface="Helvetica Neue"/>
                <a:ea typeface="Hiragino Sans GB"/>
              </a:rPr>
              <a:t>4th c 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356616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11C18"/>
                </a:solidFill>
                <a:latin typeface="Helvetica Neue"/>
                <a:ea typeface="Hiragino Sans GB"/>
              </a:rPr>
              <a:t>Shu kingdom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3822191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Bronze-age Jinsha culture; the city takes root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60904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267004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E7365"/>
                </a:solidFill>
                <a:latin typeface="Helvetica Neue"/>
                <a:ea typeface="Hiragino Sans GB"/>
              </a:rPr>
              <a:t>256 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377439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11C18"/>
                </a:solidFill>
                <a:latin typeface="Helvetica Neue"/>
                <a:ea typeface="Hiragino Sans GB"/>
              </a:rPr>
              <a:t>Dujiangyan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920239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Li Bing's water works tame the Min River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9704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327355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E7365"/>
                </a:solidFill>
                <a:latin typeface="Helvetica Neue"/>
                <a:ea typeface="Hiragino Sans GB"/>
              </a:rPr>
              <a:t>AD 700s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56616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11C18"/>
                </a:solidFill>
                <a:latin typeface="Helvetica Neue"/>
                <a:ea typeface="Hiragino Sans GB"/>
              </a:rPr>
              <a:t>Brocade 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822191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Tang-era silk earns the name 'Jincheng'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3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19" y="267004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E7365"/>
                </a:solidFill>
                <a:latin typeface="Helvetica Neue"/>
                <a:ea typeface="Hiragino Sans GB"/>
              </a:rPr>
              <a:t>AD 1000s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19" y="2377439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11C18"/>
                </a:solidFill>
                <a:latin typeface="Helvetica Neue"/>
                <a:ea typeface="Hiragino Sans GB"/>
              </a:rPr>
              <a:t>Paper 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79" y="1920239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Song Chengdu issues the world's first banknotes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47303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19" y="327355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442B"/>
                </a:solidFill>
                <a:latin typeface="Helvetica Neue"/>
                <a:ea typeface="Hiragino Sans GB"/>
              </a:rPr>
              <a:t>Today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19" y="356616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11C18"/>
                </a:solidFill>
                <a:latin typeface="Helvetica Neue"/>
                <a:ea typeface="Hiragino Sans GB"/>
              </a:rPr>
              <a:t>Unbroken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3822191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E7365"/>
                </a:solidFill>
                <a:latin typeface="Helvetica Neue"/>
                <a:ea typeface="Hiragino Sans GB"/>
              </a:rPr>
              <a:t>Still the same name, still the same site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04 /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CULTURE &amp; LIVING HERITAGE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Old crafts, still performed nightly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795527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5493F"/>
                </a:solidFill>
                <a:latin typeface="Georgia"/>
                <a:ea typeface="Hiragino Sans GB"/>
              </a:rPr>
              <a:t>Chengdu wears its heritage lightly — you can still watch most of it happen.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47088"/>
            <a:ext cx="1924812" cy="21259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" y="208483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185416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2688336"/>
            <a:ext cx="144932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Opera masks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999232"/>
            <a:ext cx="1449324" cy="8549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Sichuan opera's bian lian — painted masks flip in a blink, a jealously guarded secret.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8316" y="1847088"/>
            <a:ext cx="1924812" cy="21259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6060" y="208483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5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roc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644" y="2185416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66060" y="2688336"/>
            <a:ext cx="144932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Shu brocade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6060" y="2999232"/>
            <a:ext cx="1449324" cy="8549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Some 1,500 years of silk weaving earned Chengdu its old title, the Brocade City.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1847088"/>
            <a:ext cx="1924812" cy="21259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28616" y="208483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185416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28616" y="2688336"/>
            <a:ext cx="144932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Teahouse life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999232"/>
            <a:ext cx="1449324" cy="8549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Tea, mahjong and an ear-cleaning, taken slowly in bamboo chairs.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3428" y="1847088"/>
            <a:ext cx="1924812" cy="21259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91172" y="208483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hibiscu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756" y="2185416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91172" y="2688336"/>
            <a:ext cx="144932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Hibiscus City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1172" y="2999232"/>
            <a:ext cx="1449324" cy="8549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Hibiscus has crowned the walls since the 900s — still the city flower and nickname.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05 / 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48840"/>
            <a:ext cx="3200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84124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C98A2B"/>
                </a:solidFill>
                <a:latin typeface="Menlo"/>
                <a:ea typeface="Hiragino Sans GB"/>
              </a:rPr>
              <a:t>FOOD · 美食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188720"/>
            <a:ext cx="5394960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2E8D6"/>
                </a:solidFill>
                <a:latin typeface="Georgia"/>
                <a:ea typeface="Hiragino Sans GB"/>
              </a:rPr>
              <a:t>Asia's first UNESCO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2E8D6"/>
                </a:solidFill>
                <a:latin typeface="Georgia"/>
                <a:ea typeface="Hiragino Sans GB"/>
              </a:rPr>
              <a:t>City of Gastronomy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615184"/>
            <a:ext cx="1371600" cy="54864"/>
          </a:xfrm>
          <a:prstGeom prst="rect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98064"/>
            <a:ext cx="548640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2E8D6"/>
                </a:solidFill>
                <a:latin typeface="Helvetica Neue"/>
                <a:ea typeface="Hiragino Sans GB"/>
              </a:rPr>
              <a:t>Named in 2010 — the first city in Asia, and only the second in the world, to earn the title.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493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2E8D6"/>
                </a:solidFill>
                <a:latin typeface="Helvetica Neue"/>
                <a:ea typeface="Hiragino Sans GB"/>
              </a:rPr>
              <a:t>2010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98264"/>
            <a:ext cx="14935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57A6C"/>
                </a:solidFill>
                <a:latin typeface="Helvetica Neue"/>
                <a:ea typeface="Hiragino Sans GB"/>
              </a:rPr>
              <a:t>year named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0800" y="3794760"/>
            <a:ext cx="1493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2E8D6"/>
                </a:solidFill>
                <a:latin typeface="Helvetica Neue"/>
                <a:ea typeface="Hiragino Sans GB"/>
              </a:rPr>
              <a:t>6,000+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800" y="4398264"/>
            <a:ext cx="14935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57A6C"/>
                </a:solidFill>
                <a:latin typeface="Helvetica Neue"/>
                <a:ea typeface="Hiragino Sans GB"/>
              </a:rPr>
              <a:t>recorded dishes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7920" y="3849624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0080" y="3794760"/>
            <a:ext cx="1493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2E8D6"/>
                </a:solidFill>
                <a:latin typeface="Helvetica Neue"/>
                <a:ea typeface="Hiragino Sans GB"/>
              </a:rPr>
              <a:t>20+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0080" y="4398264"/>
            <a:ext cx="14935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57A6C"/>
                </a:solidFill>
                <a:latin typeface="Helvetica Neue"/>
                <a:ea typeface="Hiragino Sans GB"/>
              </a:rPr>
              <a:t>flavour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200" y="3849624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11312" y="45720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66176" y="512064"/>
            <a:ext cx="438912" cy="438912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457200"/>
            <a:ext cx="54864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A6C"/>
                </a:solidFill>
                <a:latin typeface="Menlo"/>
                <a:ea typeface="Hiragino Sans GB"/>
              </a:rPr>
              <a:t>06 /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857A6C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THE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The flavour is málà — numbing and 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795527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5493F"/>
                </a:solidFill>
                <a:latin typeface="Georgia"/>
                <a:ea typeface="Hiragino Sans GB"/>
              </a:rPr>
              <a:t>Sichuan cooking is built on málà (麻辣): the tingle of Sichuan pepper meeting chilli heat, layered into two dozen distinct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83664"/>
            <a:ext cx="1924812" cy="2089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" y="2121408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ot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221992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2724912"/>
            <a:ext cx="144932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Hotpot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035808"/>
            <a:ext cx="1449324" cy="81838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A bubbling málà cauldron — Chengdu's default night 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8316" y="1883664"/>
            <a:ext cx="1924812" cy="2089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6060" y="2121408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i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644" y="2221992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66060" y="2724912"/>
            <a:ext cx="144932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Mapo tofu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6060" y="3035808"/>
            <a:ext cx="1449324" cy="81838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Silken tofu in chilli-bean paste and Sichuan pepper.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1883664"/>
            <a:ext cx="1924812" cy="2089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28616" y="2121408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5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n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221992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28616" y="2724912"/>
            <a:ext cx="144932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Dandan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3035808"/>
            <a:ext cx="1449324" cy="81838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Street noodles in a nutty, chilli-sesame sauce.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3428" y="1883664"/>
            <a:ext cx="1924812" cy="2089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91172" y="2121408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d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756" y="2221992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91172" y="2724912"/>
            <a:ext cx="1449324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Smoked duck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1172" y="3035808"/>
            <a:ext cx="1449324" cy="81838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Slow-smoked over camphor wood and tea leaves.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07 / 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GIANT PANDAS · 大熊猫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From six rescues to 244 pandas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89888"/>
            <a:ext cx="45783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2F5340"/>
                </a:solidFill>
                <a:latin typeface="Menlo"/>
                <a:ea typeface="Hiragino Sans GB"/>
              </a:rPr>
              <a:t>GIANT PANDAS AT THE CHENGDU RESEARCH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755648"/>
            <a:ext cx="4578306" cy="10058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0" baseline="46286">
                <a:solidFill>
                  <a:srgbClr val="211C18"/>
                </a:solidFill>
                <a:latin typeface="Helvetica Neue"/>
                <a:ea typeface="Hiragino Sans GB"/>
              </a:rPr>
              <a:t>6 → </a:t>
            </a:r>
            <a:r>
              <a:rPr sz="6400" b="1" i="0">
                <a:solidFill>
                  <a:srgbClr val="3F6B54"/>
                </a:solidFill>
                <a:latin typeface="Helvetica Neue"/>
                <a:ea typeface="Hiragino Sans GB"/>
              </a:rPr>
              <a:t>244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2889504"/>
            <a:ext cx="457830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E7365"/>
                </a:solidFill>
                <a:latin typeface="Menlo"/>
                <a:ea typeface="Hiragino Sans GB"/>
              </a:rPr>
              <a:t>1987  →  end of 2024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483864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401568"/>
            <a:ext cx="4377138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11C18"/>
                </a:solidFill>
                <a:latin typeface="Helvetica Neue"/>
                <a:ea typeface="Hiragino Sans GB"/>
              </a:rPr>
              <a:t>Founded in 1987 with </a:t>
            </a:r>
            <a:r>
              <a:rPr sz="1300" b="0" i="0">
                <a:solidFill>
                  <a:srgbClr val="55493F"/>
                </a:solidFill>
                <a:latin typeface="Helvetica Neue"/>
                <a:ea typeface="Hiragino Sans GB"/>
              </a:rPr>
              <a:t>six pandas saved from the wild.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869944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787648"/>
            <a:ext cx="4377138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11C18"/>
                </a:solidFill>
                <a:latin typeface="Helvetica Neue"/>
                <a:ea typeface="Hiragino Sans GB"/>
              </a:rPr>
              <a:t>Now the </a:t>
            </a:r>
            <a:r>
              <a:rPr sz="1300" b="0" i="0">
                <a:solidFill>
                  <a:srgbClr val="55493F"/>
                </a:solidFill>
                <a:latin typeface="Helvetica Neue"/>
                <a:ea typeface="Hiragino Sans GB"/>
              </a:rPr>
              <a:t>largest captive giant-panda population on Earth.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256024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173728"/>
            <a:ext cx="4377138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11C18"/>
                </a:solidFill>
                <a:latin typeface="Helvetica Neue"/>
                <a:ea typeface="Hiragino Sans GB"/>
              </a:rPr>
              <a:t>A non-profit </a:t>
            </a:r>
            <a:r>
              <a:rPr sz="1300" b="0" i="0">
                <a:solidFill>
                  <a:srgbClr val="55493F"/>
                </a:solidFill>
                <a:latin typeface="Helvetica Neue"/>
                <a:ea typeface="Hiragino Sans GB"/>
              </a:rPr>
              <a:t>breeding-and-research base on the city's northern edge.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9826" y="1371600"/>
            <a:ext cx="3468413" cy="3150108"/>
          </a:xfrm>
          <a:prstGeom prst="roundRect">
            <a:avLst>
              <a:gd name="adj" fmla="val 8000"/>
            </a:avLst>
          </a:prstGeom>
          <a:solidFill>
            <a:srgbClr val="DBDB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011" y="1609344"/>
            <a:ext cx="1260043" cy="126004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0722" y="2997403"/>
            <a:ext cx="29197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50">
                <a:solidFill>
                  <a:srgbClr val="2F5340"/>
                </a:solidFill>
                <a:latin typeface="Menlo"/>
                <a:ea typeface="Hiragino Sans GB"/>
              </a:rPr>
              <a:t>WORLD'S LARGEST PANDA 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0722" y="3271723"/>
            <a:ext cx="2846621" cy="103052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11C18"/>
                </a:solidFill>
                <a:latin typeface="Helvetica Neue"/>
                <a:ea typeface="Hiragino Sans GB"/>
              </a:rPr>
              <a:t>Cubs, toddlers and adults share leafy enclosures — and Chengdu's affection.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08 /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CONSERVATION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Nearly 1,900 pandas now roam wild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2426208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11C18"/>
                </a:solidFill>
                <a:latin typeface="Helvetica Neue"/>
                <a:ea typeface="Hiragino Sans GB"/>
              </a:rPr>
              <a:t>~1,900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75104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E7365"/>
                </a:solidFill>
                <a:latin typeface="Helvetica Neue"/>
                <a:ea typeface="Hiragino Sans GB"/>
              </a:rPr>
              <a:t>wild pandas, 2024 survey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8896" y="1371600"/>
            <a:ext cx="2426208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11C18"/>
                </a:solidFill>
                <a:latin typeface="Helvetica Neue"/>
                <a:ea typeface="Hiragino Sans GB"/>
              </a:rPr>
              <a:t>Vulnerable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8896" y="1975104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E7365"/>
                </a:solidFill>
                <a:latin typeface="Helvetica Neue"/>
                <a:ea typeface="Hiragino Sans GB"/>
              </a:rPr>
              <a:t>IUCN — up from Endangered, 2016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76016" y="1426464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0864" y="1371600"/>
            <a:ext cx="2426208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11C18"/>
                </a:solidFill>
                <a:latin typeface="Helvetica Neue"/>
                <a:ea typeface="Hiragino Sans GB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0864" y="1975104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E7365"/>
                </a:solidFill>
                <a:latin typeface="Helvetica Neue"/>
                <a:ea typeface="Hiragino Sans GB"/>
              </a:rPr>
              <a:t>mountain ranges, mostly Sichuan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7984" y="1426464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2432304"/>
            <a:ext cx="4693920" cy="2144268"/>
          </a:xfrm>
          <a:prstGeom prst="roundRect">
            <a:avLst>
              <a:gd name="adj" fmla="val 8000"/>
            </a:avLst>
          </a:prstGeom>
          <a:solidFill>
            <a:srgbClr val="DFD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670048"/>
            <a:ext cx="4145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2F5340"/>
                </a:solidFill>
                <a:latin typeface="Menlo"/>
                <a:ea typeface="Hiragino Sans GB"/>
              </a:rPr>
              <a:t>WHY THEY BOUNCED BACK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099816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017520"/>
            <a:ext cx="394411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Reserve networks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expanded across the bamboo highlands.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38296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556000"/>
            <a:ext cx="394411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Logging bans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let old forests — and corridors — recover.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176776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4094480"/>
            <a:ext cx="394411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Breeding programmes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in Chengdu backstopped the wild population.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25440" y="2432304"/>
            <a:ext cx="3352800" cy="2144268"/>
          </a:xfrm>
          <a:prstGeom prst="roundRect">
            <a:avLst>
              <a:gd name="adj" fmla="val 8000"/>
            </a:avLst>
          </a:prstGeom>
          <a:solidFill>
            <a:srgbClr val="DBDB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986" y="2670048"/>
            <a:ext cx="857707" cy="85770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736336" y="3655771"/>
            <a:ext cx="2804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50">
                <a:solidFill>
                  <a:srgbClr val="2F5340"/>
                </a:solidFill>
                <a:latin typeface="Menlo"/>
                <a:ea typeface="Hiragino Sans GB"/>
              </a:rPr>
              <a:t>BAMBOO STRONGHOLDS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6336" y="3930091"/>
            <a:ext cx="2731007" cy="4270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11C18"/>
                </a:solidFill>
                <a:latin typeface="Helvetica Neue"/>
                <a:ea typeface="Hiragino Sans GB"/>
              </a:rPr>
              <a:t>Sichuan's misty highlands are their last refuge.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09 / 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PACE OF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The city that turned leisure into an 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F0D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9E2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2F1C"/>
                </a:solidFill>
                <a:latin typeface="Helvetica Neue"/>
                <a:ea typeface="Hiragino Sans GB"/>
              </a:rPr>
              <a:t>巴适  ·  BĀSHÌ  </a:t>
            </a:r>
            <a:r>
              <a:rPr sz="1250" b="0" i="0">
                <a:solidFill>
                  <a:srgbClr val="211C18"/>
                </a:solidFill>
                <a:latin typeface="Helvetica Neue"/>
                <a:ea typeface="Hiragino Sans GB"/>
              </a:rPr>
              <a:t>Locals sum the whole city up in one Sichuanese word — bāshì, meaning 'just right'. It is less a mood than a philosophy of comfort.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640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C4442B"/>
                </a:solidFill>
                <a:latin typeface="Georgia"/>
                <a:ea typeface="Hiragino Sans GB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74519"/>
            <a:ext cx="4470400" cy="70408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 i="1">
                <a:solidFill>
                  <a:srgbClr val="211C18"/>
                </a:solidFill>
                <a:latin typeface="Georgia"/>
                <a:ea typeface="Hiragino Sans GB"/>
              </a:rPr>
              <a:t>In Chengdu, leisure isn't downtime — it is the whole point.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64891"/>
            <a:ext cx="447040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3F6B54"/>
                </a:solidFill>
                <a:latin typeface="Helvetica Neue"/>
                <a:ea typeface="Hiragino Sans GB"/>
              </a:rPr>
              <a:t>30,000+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223260"/>
            <a:ext cx="44704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493F"/>
                </a:solidFill>
                <a:latin typeface="Helvetica Neue"/>
                <a:ea typeface="Hiragino Sans GB"/>
              </a:rPr>
              <a:t>teahouses across the city (2023)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01920" y="1371600"/>
            <a:ext cx="3576319" cy="2125979"/>
          </a:xfrm>
          <a:prstGeom prst="roundRect">
            <a:avLst>
              <a:gd name="adj" fmla="val 8000"/>
            </a:avLst>
          </a:prstGeom>
          <a:solidFill>
            <a:srgbClr val="EFE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76240" y="1609344"/>
            <a:ext cx="3027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8A6015"/>
                </a:solidFill>
                <a:latin typeface="Menlo"/>
                <a:ea typeface="Hiragino Sans GB"/>
              </a:rPr>
              <a:t>HOW CHENGDU RELAXES</a:t>
            </a:r>
          </a:p>
        </p:txBody>
      </p:sp>
      <p:sp>
        <p:nvSpPr>
          <p:cNvPr id="15" name="Oval 14"/>
          <p:cNvSpPr/>
          <p:nvPr/>
        </p:nvSpPr>
        <p:spPr>
          <a:xfrm>
            <a:off x="5476240" y="1988058"/>
            <a:ext cx="457200" cy="457200"/>
          </a:xfrm>
          <a:prstGeom prst="ellipse">
            <a:avLst/>
          </a:prstGeom>
          <a:solidFill>
            <a:srgbClr val="F5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5112" y="2106930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16320" y="2048256"/>
            <a:ext cx="2387599" cy="33680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11C18"/>
                </a:solidFill>
                <a:latin typeface="Helvetica Neue"/>
                <a:ea typeface="Hiragino Sans GB"/>
              </a:rPr>
              <a:t>Tea in a bamboo chair</a:t>
            </a:r>
          </a:p>
        </p:txBody>
      </p:sp>
      <p:sp>
        <p:nvSpPr>
          <p:cNvPr id="18" name="Oval 17"/>
          <p:cNvSpPr/>
          <p:nvPr/>
        </p:nvSpPr>
        <p:spPr>
          <a:xfrm>
            <a:off x="5476240" y="2452877"/>
            <a:ext cx="457200" cy="457200"/>
          </a:xfrm>
          <a:prstGeom prst="ellipse">
            <a:avLst/>
          </a:prstGeom>
          <a:solidFill>
            <a:srgbClr val="F5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5112" y="2571749"/>
            <a:ext cx="219456" cy="21945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16320" y="2513075"/>
            <a:ext cx="2387599" cy="33680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11C18"/>
                </a:solidFill>
                <a:latin typeface="Helvetica Neue"/>
                <a:ea typeface="Hiragino Sans GB"/>
              </a:rPr>
              <a:t>Mahjong in the park</a:t>
            </a:r>
          </a:p>
        </p:txBody>
      </p:sp>
      <p:sp>
        <p:nvSpPr>
          <p:cNvPr id="21" name="Oval 20"/>
          <p:cNvSpPr/>
          <p:nvPr/>
        </p:nvSpPr>
        <p:spPr>
          <a:xfrm>
            <a:off x="5476240" y="2917697"/>
            <a:ext cx="457200" cy="457200"/>
          </a:xfrm>
          <a:prstGeom prst="ellipse">
            <a:avLst/>
          </a:prstGeom>
          <a:solidFill>
            <a:srgbClr val="F5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pe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12" y="3036569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16320" y="2977895"/>
            <a:ext cx="2387599" cy="33680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11C18"/>
                </a:solidFill>
                <a:latin typeface="Helvetica Neue"/>
                <a:ea typeface="Hiragino Sans GB"/>
              </a:rPr>
              <a:t>An opera, a long lunch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10 / 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THE NEW ECONOMY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A quiet powerhouse of the new economy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2426208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11C18"/>
                </a:solidFill>
                <a:latin typeface="Helvetica Neue"/>
                <a:ea typeface="Hiragino Sans GB"/>
              </a:rPr>
              <a:t>¥2tn+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01952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E7365"/>
                </a:solidFill>
                <a:latin typeface="Helvetica Neue"/>
                <a:ea typeface="Hiragino Sans GB"/>
              </a:rPr>
              <a:t>city GDP,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8896" y="1298448"/>
            <a:ext cx="2426208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11C18"/>
                </a:solidFill>
                <a:latin typeface="Helvetica Neue"/>
                <a:ea typeface="Hiragino Sans GB"/>
              </a:rPr>
              <a:t>315+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8896" y="1901952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E7365"/>
                </a:solidFill>
                <a:latin typeface="Helvetica Neue"/>
                <a:ea typeface="Hiragino Sans GB"/>
              </a:rPr>
              <a:t>Fortune 500 present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76016" y="1353312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0864" y="1298448"/>
            <a:ext cx="2426208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11C18"/>
                </a:solidFill>
                <a:latin typeface="Helvetica Neue"/>
                <a:ea typeface="Hiragino Sans GB"/>
              </a:rPr>
              <a:t>260M+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0864" y="1901952"/>
            <a:ext cx="242620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E7365"/>
                </a:solidFill>
                <a:latin typeface="Helvetica Neue"/>
                <a:ea typeface="Hiragino Sans GB"/>
              </a:rPr>
              <a:t>monthly players — a game built 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7984" y="1353312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2487168"/>
            <a:ext cx="2633471" cy="20894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272491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825496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" y="3328416"/>
            <a:ext cx="21579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Games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3639312"/>
            <a:ext cx="2157983" cy="81838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Honor of Kings was built here at Tencent's TiMi studio — Chengdu leads China in game R&amp;D.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55263" y="2487168"/>
            <a:ext cx="2633471" cy="20894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93007" y="272491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1" y="2825496"/>
            <a:ext cx="256032" cy="2560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93007" y="3328416"/>
            <a:ext cx="21579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Electronics &amp;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7" y="3639312"/>
            <a:ext cx="2157983" cy="81838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Chips, displays and software make it a major inland technology base.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7" y="2487168"/>
            <a:ext cx="2633471" cy="20894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82511" y="272491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5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5" y="2825496"/>
            <a:ext cx="256032" cy="2560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82511" y="3328416"/>
            <a:ext cx="21579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Global business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1" y="3639312"/>
            <a:ext cx="2157983" cy="81838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315+ Fortune 500 firms keep a Chengdu presence — R&amp;D centres, back offices and regional hubs.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11 / 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GETTING THERE &amp; AROUND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Two international airports, one rail spine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3826763"/>
            <a:ext cx="8046720" cy="722376"/>
          </a:xfrm>
          <a:prstGeom prst="roundRect">
            <a:avLst>
              <a:gd name="adj" fmla="val 8000"/>
            </a:avLst>
          </a:prstGeom>
          <a:solidFill>
            <a:srgbClr val="E2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884554"/>
            <a:ext cx="64008" cy="606795"/>
          </a:xfrm>
          <a:prstGeom prst="rect">
            <a:avLst/>
          </a:prstGeom>
          <a:solidFill>
            <a:srgbClr val="2F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26763"/>
            <a:ext cx="7644384" cy="72237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F5340"/>
                </a:solidFill>
                <a:latin typeface="Helvetica Neue"/>
                <a:ea typeface="Hiragino Sans GB"/>
              </a:rPr>
              <a:t>VISA-FREE TRANSIT  </a:t>
            </a:r>
            <a:r>
              <a:rPr sz="1250" b="0" i="0">
                <a:solidFill>
                  <a:srgbClr val="211C18"/>
                </a:solidFill>
                <a:latin typeface="Helvetica Neue"/>
                <a:ea typeface="Hiragino Sans GB"/>
              </a:rPr>
              <a:t>Since December 2024 many travellers can enter at Tianfu visa-free for up to 240 hours (10 days) en route to a third country — check your nationality and the current rules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81328"/>
            <a:ext cx="2633471" cy="19796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4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19656"/>
            <a:ext cx="25603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2322576"/>
            <a:ext cx="21579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Two intl airports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633472"/>
            <a:ext cx="2157983" cy="7086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Tianfu (2021) joined Shuangliu — Chengdu is China's third dual-airport city, after Beijing and Shanghai.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3" y="1481328"/>
            <a:ext cx="2633471" cy="19796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3007" y="171907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1" y="1819656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93007" y="2322576"/>
            <a:ext cx="21579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High-speed rail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7" y="2633472"/>
            <a:ext cx="2157983" cy="7086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Bullet trains fan out nationwide from Chengdu East — one of China's busiest rail hubs.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7" y="1481328"/>
            <a:ext cx="2633471" cy="19796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1" y="1719072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F5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5" y="1819656"/>
            <a:ext cx="256032" cy="2560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82511" y="2322576"/>
            <a:ext cx="21579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11C18"/>
                </a:solidFill>
                <a:latin typeface="Georgia"/>
                <a:ea typeface="Hiragino Sans GB"/>
              </a:rPr>
              <a:t>A big-city metro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1" y="2633472"/>
            <a:ext cx="2157983" cy="7086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493F"/>
                </a:solidFill>
                <a:latin typeface="Helvetica Neue"/>
                <a:ea typeface="Hiragino Sans GB"/>
              </a:rPr>
              <a:t>More than a dozen lines reach nearly every sight in the deck.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12 / 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42B"/>
                </a:solidFill>
                <a:latin typeface="Helvetica Neue"/>
                <a:ea typeface="Hiragino Sans GB"/>
              </a:rPr>
              <a:t>TRAVEL 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11C18"/>
                </a:solidFill>
                <a:latin typeface="Georgia"/>
                <a:ea typeface="Kaiti SC"/>
              </a:rPr>
              <a:t>How to spend three days in Chengdu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60704"/>
            <a:ext cx="1005840" cy="41148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4023359" cy="3223260"/>
          </a:xfrm>
          <a:prstGeom prst="roundRect">
            <a:avLst>
              <a:gd name="adj" fmla="val 8000"/>
            </a:avLst>
          </a:prstGeom>
          <a:solidFill>
            <a:srgbClr val="E0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627632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2F5340"/>
                </a:solidFill>
                <a:latin typeface="Menlo"/>
                <a:ea typeface="Hiragino Sans GB"/>
              </a:rPr>
              <a:t>SEE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1920240"/>
            <a:ext cx="640080" cy="41148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54880" y="1371600"/>
            <a:ext cx="4023359" cy="3223260"/>
          </a:xfrm>
          <a:prstGeom prst="roundRect">
            <a:avLst>
              <a:gd name="adj" fmla="val 8000"/>
            </a:avLst>
          </a:prstGeom>
          <a:solidFill>
            <a:srgbClr val="F0E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65776" y="1627632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8A6015"/>
                </a:solidFill>
                <a:latin typeface="Menlo"/>
                <a:ea typeface="Hiragino Sans GB"/>
              </a:rPr>
              <a:t>KNOW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4064" y="1920240"/>
            <a:ext cx="640080" cy="41148"/>
          </a:xfrm>
          <a:prstGeom prst="rect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2221991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139696"/>
            <a:ext cx="3182111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Panda Base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— go at opening, ~8am, when the cubs are liveliest.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2815335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733039"/>
            <a:ext cx="3182111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Kuanzhai &amp; Jinli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— restored old lanes for snacks and souvenirs.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" y="3408679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326384"/>
            <a:ext cx="3182111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People's Park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— tea and an ear-cleaning at the Heming teahouse.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02024"/>
            <a:ext cx="82296" cy="82296"/>
          </a:xfrm>
          <a:prstGeom prst="rect">
            <a:avLst/>
          </a:prstGeom>
          <a:solidFill>
            <a:srgbClr val="3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919728"/>
            <a:ext cx="3182111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Day trips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— Dujiangyan, Leshan's Giant Buddha, Mount Emei.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064" y="2221991"/>
            <a:ext cx="82296" cy="82296"/>
          </a:xfrm>
          <a:prstGeom prst="rect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139696"/>
            <a:ext cx="3182111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Best seasons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— spring and autumn; winters are grey and damp.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4064" y="2815335"/>
            <a:ext cx="82296" cy="82296"/>
          </a:xfrm>
          <a:prstGeom prst="rect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5232" y="2733039"/>
            <a:ext cx="3182111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Pace the spice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— ask for 微辣 (mild) if you're new to málà.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4064" y="3408679"/>
            <a:ext cx="82296" cy="82296"/>
          </a:xfrm>
          <a:prstGeom prst="rect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2" y="3326384"/>
            <a:ext cx="3182111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Go cashless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— mobile pay rules; the metro is quick and cheap.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064" y="4002024"/>
            <a:ext cx="82296" cy="82296"/>
          </a:xfrm>
          <a:prstGeom prst="rect">
            <a:avLst/>
          </a:prstGeom>
          <a:solidFill>
            <a:srgbClr val="C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919728"/>
            <a:ext cx="3182111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11C18"/>
                </a:solidFill>
                <a:latin typeface="Helvetica Neue"/>
                <a:ea typeface="Hiragino Sans GB"/>
              </a:rPr>
              <a:t>Pack layers </a:t>
            </a:r>
            <a:r>
              <a:rPr sz="1250" b="0" i="0">
                <a:solidFill>
                  <a:srgbClr val="55493F"/>
                </a:solidFill>
                <a:latin typeface="Helvetica Neue"/>
                <a:ea typeface="Hiragino Sans GB"/>
              </a:rPr>
              <a:t>— day trips climb fast into cool, misty hills.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3108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32012" y="358444"/>
            <a:ext cx="380390" cy="38039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84464" y="310896"/>
            <a:ext cx="475488" cy="47548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E7365"/>
                </a:solidFill>
                <a:latin typeface="Menlo"/>
                <a:ea typeface="Hiragino Sans GB"/>
              </a:rPr>
              <a:t>13 /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E7365"/>
                </a:solidFill>
                <a:latin typeface="Menlo"/>
                <a:ea typeface="Hiragino Sans GB"/>
              </a:rPr>
              <a:t>CHENGDU · 成都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6000"/>
            <a:ext cx="3108960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2344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C98A2B"/>
                </a:solidFill>
                <a:latin typeface="Menlo"/>
                <a:ea typeface="Hiragino Sans GB"/>
              </a:rPr>
              <a:t>CHENGDU · 成都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6400800" cy="17373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2E8D6"/>
                </a:solidFill>
                <a:latin typeface="Georgia"/>
                <a:ea typeface="Hiragino Sans GB"/>
              </a:rPr>
              <a:t>Come for the pandas,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2E8D6"/>
                </a:solidFill>
                <a:latin typeface="Georgia"/>
                <a:ea typeface="Hiragino Sans GB"/>
              </a:rPr>
              <a:t>stay for the tea.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3200400"/>
            <a:ext cx="1371600" cy="54864"/>
          </a:xfrm>
          <a:prstGeom prst="rect">
            <a:avLst/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401568"/>
            <a:ext cx="67665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3F6B54"/>
                </a:solidFill>
                <a:latin typeface="Kaiti SC"/>
                <a:ea typeface="Kaiti SC"/>
              </a:rPr>
              <a:t>成都，一座来了就不想走的城市。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594860"/>
            <a:ext cx="8229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857A6C"/>
                </a:solidFill>
                <a:latin typeface="Menlo"/>
                <a:ea typeface="Hiragino Sans GB"/>
              </a:rPr>
              <a:t>A SLIDE-MAKER GALLERY EXAMPLE  ·  FACTS AS OF JULY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566928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C44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7420" y="632764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2E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1583" y="566928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2E8D6"/>
                </a:solidFill>
                <a:latin typeface="Kaiti SC"/>
                <a:ea typeface="Hiragino Sans GB"/>
              </a:rPr>
              <a:t>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