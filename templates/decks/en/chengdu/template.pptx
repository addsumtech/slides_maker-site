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Scale</c:v>
                </c:pt>
              </c:strCache>
            </c:strRef>
          </c:tx>
          <c:spPr>
            <a:solidFill>
              <a:srgbClr val="B9863A"/>
            </a:solidFill>
            <a:ln w="31750">
              <a:solidFill>
                <a:srgbClr val="B9863A"/>
              </a:solidFill>
            </a:ln>
          </c:spPr>
          <c:dPt>
            <c:idx val="0"/>
            <c:spPr>
              <a:solidFill>
                <a:srgbClr val="8A93A6"/>
              </a:solidFill>
            </c:spPr>
          </c:dPt>
          <c:dPt>
            <c:idx val="1"/>
            <c:spPr>
              <a:solidFill>
                <a:srgbClr val="8A93A6"/>
              </a:solidFill>
            </c:spPr>
          </c:dPt>
          <c:dPt>
            <c:idx val="2"/>
            <c:spPr>
              <a:solidFill>
                <a:srgbClr val="B9863A"/>
              </a:solidFill>
            </c:spPr>
          </c:dPt>
          <c:cat>
            <c:strRef>
              <c:f>Sheet1!$A$2:$A$4</c:f>
              <c:strCache>
                <c:ptCount val="3"/>
                <c:pt idx="0">
                  <c:v>2016</c:v>
                </c:pt>
                <c:pt idx="1">
                  <c:v>2020</c:v>
                </c:pt>
                <c:pt idx="2">
                  <c:v>2023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</c:v>
                </c:pt>
                <c:pt idx="1">
                  <c:v>1.0</c:v>
                </c:pt>
                <c:pt idx="2">
                  <c:v>1.3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2A3555"/>
            </a:solidFill>
          </a:ln>
        </c:spPr>
        <c:txPr>
          <a:bodyPr/>
          <a:lstStyle/>
          <a:p>
            <a:pPr>
              <a:defRPr sz="1000">
                <a:solidFill>
                  <a:srgbClr val="EAF2FF"/>
                </a:solidFill>
                <a:latin typeface="Hiragino Sans GB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6350">
              <a:solidFill>
                <a:srgbClr val="2A3555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solidFill>
              <a:srgbClr val="2A3555"/>
            </a:solidFill>
          </a:ln>
        </c:spPr>
        <c:txPr>
          <a:bodyPr/>
          <a:lstStyle/>
          <a:p>
            <a:pPr>
              <a:defRPr sz="1000">
                <a:solidFill>
                  <a:srgbClr val="EAF2FF"/>
                </a:solidFill>
                <a:latin typeface="Hiragino Sans GB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EAF2FF"/>
          </a:solidFill>
          <a:latin typeface="Hiragino Sans GB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ngdu skyline in morning mist" title="Chengdu skyline in morning mist"/>
          <p:cNvPicPr>
            <a:picLocks noChangeAspect="1"/>
          </p:cNvPicPr>
          <p:nvPr/>
        </p:nvPicPr>
        <p:blipFill>
          <a:blip r:embed="rId2"/>
          <a:srcRect t="7812" b="781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126480" cy="5143500"/>
          </a:xfrm>
          <a:prstGeom prst="rect">
            <a:avLst/>
          </a:prstGeom>
          <a:gradFill>
            <a:gsLst>
              <a:gs pos="0">
                <a:srgbClr val="F5EFE2">
                  <a:alpha val="82000"/>
                </a:srgbClr>
              </a:gs>
              <a:gs pos="50000">
                <a:srgbClr val="F5EFE2">
                  <a:alpha val="42000"/>
                </a:srgbClr>
              </a:gs>
              <a:gs pos="100000">
                <a:srgbClr val="F5EFE2">
                  <a:alpha val="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091939"/>
            <a:ext cx="6126480" cy="1051560"/>
          </a:xfrm>
          <a:prstGeom prst="rect">
            <a:avLst/>
          </a:prstGeom>
          <a:gradFill>
            <a:gsLst>
              <a:gs pos="0">
                <a:srgbClr val="F5EFE2">
                  <a:alpha val="0"/>
                </a:srgbClr>
              </a:gs>
              <a:gs pos="100000">
                <a:srgbClr val="F5EFE2">
                  <a:alpha val="50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hengdu · Jinsha Sun Bird emblem" title="Chengdu · Jinsha Sun Bird emble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310896"/>
            <a:ext cx="475488" cy="4754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13232" y="603504"/>
            <a:ext cx="658368" cy="658368"/>
          </a:xfrm>
          <a:prstGeom prst="roundRect">
            <a:avLst>
              <a:gd name="adj" fmla="val 1000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9068" y="669340"/>
            <a:ext cx="526694" cy="526694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F5E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603504"/>
            <a:ext cx="658368" cy="65836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5EFE2"/>
                </a:solidFill>
                <a:latin typeface="Songti SC"/>
                <a:ea typeface="Hiragino Sans GB"/>
              </a:rPr>
              <a:t>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17904" y="676656"/>
            <a:ext cx="457200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B8271"/>
                </a:solidFill>
                <a:latin typeface="Helvetica Neue"/>
                <a:ea typeface="Hiragino Sans GB"/>
              </a:rPr>
              <a:t>C H É N G D 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7904" y="932688"/>
            <a:ext cx="45720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B9863A"/>
                </a:solidFill>
                <a:latin typeface="Hiragino Sans GB"/>
                <a:ea typeface="Hiragino Sans GB"/>
              </a:rPr>
              <a:t>LAND OF ABUNDANCE · THE BROCADE CITY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938528"/>
            <a:ext cx="5852160" cy="14630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0" b="1" i="0">
                <a:solidFill>
                  <a:srgbClr val="25201A"/>
                </a:solidFill>
                <a:latin typeface="Songti SC"/>
                <a:ea typeface="Songti SC"/>
              </a:rPr>
              <a:t>Chengdu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" y="3584448"/>
            <a:ext cx="1097280" cy="54864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767328"/>
            <a:ext cx="7498079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4A4034"/>
                </a:solidFill>
                <a:latin typeface="Songti SC"/>
                <a:ea typeface="Songti SC"/>
              </a:rPr>
              <a:t>A city you'll never want to leave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576572"/>
            <a:ext cx="73152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271"/>
                </a:solidFill>
                <a:latin typeface="Helvetica Neue"/>
                <a:ea typeface="Hiragino Sans GB"/>
              </a:rPr>
              <a:t>CITY GUIDE · TRAVEL FEATURE　|　CHENGDU CITY GUIDE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02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E3A2C"/>
                </a:solidFill>
                <a:latin typeface="Songti SC"/>
                <a:ea typeface="Songti SC"/>
              </a:rPr>
              <a:t>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CITY PROFILE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Twenty Million, Two Trillion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Capital of Sichuan · sub-provincial city · a core of the Chengdu–Chongqing economic circle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03120"/>
            <a:ext cx="1975104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Helvetica Neue"/>
                <a:ea typeface="Hiragino Sans GB"/>
              </a:rPr>
              <a:t>21.47</a:t>
            </a:r>
            <a:r>
              <a:rPr sz="1250" b="1" i="0">
                <a:solidFill>
                  <a:srgbClr val="BE3A2C"/>
                </a:solidFill>
                <a:latin typeface="Helvetica Neue"/>
                <a:ea typeface="Hiragino Sans GB"/>
              </a:rPr>
              <a:t> million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798063"/>
            <a:ext cx="16824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B8271"/>
                </a:solidFill>
                <a:latin typeface="Hiragino Sans GB"/>
                <a:ea typeface="Hiragino Sans GB"/>
              </a:rPr>
              <a:t>Permanent residents · 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06624" y="2103120"/>
            <a:ext cx="1975104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Helvetica Neue"/>
                <a:ea typeface="Hiragino Sans GB"/>
              </a:rPr>
              <a:t>2.35</a:t>
            </a:r>
            <a:r>
              <a:rPr sz="1250" b="1" i="0">
                <a:solidFill>
                  <a:srgbClr val="BE3A2C"/>
                </a:solidFill>
                <a:latin typeface="Helvetica Neue"/>
                <a:ea typeface="Hiragino Sans GB"/>
              </a:rPr>
              <a:t> trillion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6624" y="2798063"/>
            <a:ext cx="16824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B8271"/>
                </a:solidFill>
                <a:latin typeface="Hiragino Sans GB"/>
                <a:ea typeface="Hiragino Sans GB"/>
              </a:rPr>
              <a:t>GDP · CNY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23744" y="2139696"/>
            <a:ext cx="11887" cy="896112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0" y="2103120"/>
            <a:ext cx="1975104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Helvetica Neue"/>
                <a:ea typeface="Hiragino Sans GB"/>
              </a:rPr>
              <a:t>14,335</a:t>
            </a:r>
            <a:r>
              <a:rPr sz="1250" b="1" i="0">
                <a:solidFill>
                  <a:srgbClr val="BE3A2C"/>
                </a:solidFill>
                <a:latin typeface="Helvetica Neue"/>
                <a:ea typeface="Hiragino Sans GB"/>
              </a:rPr>
              <a:t> km²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2798063"/>
            <a:ext cx="16824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B8271"/>
                </a:solidFill>
                <a:latin typeface="Hiragino Sans GB"/>
                <a:ea typeface="Hiragino Sans GB"/>
              </a:rPr>
              <a:t>Municipal area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2139696"/>
            <a:ext cx="11887" cy="896112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03136" y="2103120"/>
            <a:ext cx="1975104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Helvetica Neue"/>
                <a:ea typeface="Hiragino Sans GB"/>
              </a:rPr>
              <a:t>80.8</a:t>
            </a:r>
            <a:r>
              <a:rPr sz="1250" b="1" i="0">
                <a:solidFill>
                  <a:srgbClr val="BE3A2C"/>
                </a:solidFill>
                <a:latin typeface="Helvetica Neue"/>
                <a:ea typeface="Hiragino Sans GB"/>
              </a:rPr>
              <a:t>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03136" y="2798063"/>
            <a:ext cx="16824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B8271"/>
                </a:solidFill>
                <a:latin typeface="Hiragino Sans GB"/>
                <a:ea typeface="Hiragino Sans GB"/>
              </a:rPr>
              <a:t>Urbanization rate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0256" y="2139696"/>
            <a:ext cx="11887" cy="896112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8368" y="3346704"/>
            <a:ext cx="7827264" cy="105156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529584"/>
            <a:ext cx="225551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9863A"/>
                </a:solidFill>
                <a:latin typeface="Songti SC"/>
                <a:ea typeface="Songti SC"/>
              </a:rPr>
              <a:t>Hibiscus City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913632"/>
            <a:ext cx="2255519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034"/>
                </a:solidFill>
                <a:latin typeface="Hiragino Sans GB"/>
                <a:ea typeface="Hiragino Sans GB"/>
              </a:rPr>
              <a:t>The 'furong' hibiscus, planted city-wide under the Later Shu, gave 'Rongcheng' its name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44240" y="3529584"/>
            <a:ext cx="225551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9863A"/>
                </a:solidFill>
                <a:latin typeface="Songti SC"/>
                <a:ea typeface="Songti SC"/>
              </a:rPr>
              <a:t>Brocade City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44240" y="3913632"/>
            <a:ext cx="2255519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034"/>
                </a:solidFill>
                <a:latin typeface="Hiragino Sans GB"/>
                <a:ea typeface="Hiragino Sans GB"/>
              </a:rPr>
              <a:t>Han-era Shu brocade was famed nationwide; a 'Brocade Officer' oversaw 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61360" y="3511296"/>
            <a:ext cx="10972" cy="65836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19800" y="3529584"/>
            <a:ext cx="225551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9863A"/>
                </a:solidFill>
                <a:latin typeface="Songti SC"/>
                <a:ea typeface="Songti SC"/>
              </a:rPr>
              <a:t>Land of Abundance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19800" y="3913632"/>
            <a:ext cx="2255519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034"/>
                </a:solidFill>
                <a:latin typeface="Hiragino Sans GB"/>
                <a:ea typeface="Hiragino Sans GB"/>
              </a:rPr>
              <a:t>Watered by the Dujiangyan, its fertile plains defy drought and flood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36920" y="3511296"/>
            <a:ext cx="10972" cy="65836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03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E3A2C"/>
                </a:solidFill>
                <a:latin typeface="Songti SC"/>
                <a:ea typeface="Songti SC"/>
              </a:rPr>
              <a:t>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CITY PROFILE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A Mild Basin, an Easy Life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In the western Sichuan Basin, at the heart of the Chengdu Plain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783080"/>
            <a:ext cx="4121490" cy="285750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ity emblem" title="city emble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2093976"/>
            <a:ext cx="566928" cy="566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53312" y="2148840"/>
            <a:ext cx="293277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201A"/>
                </a:solidFill>
                <a:latin typeface="Songti SC"/>
                <a:ea typeface="Songti SC"/>
              </a:rPr>
              <a:t>Location at a Glance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" y="2953512"/>
            <a:ext cx="10515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9863A"/>
                </a:solidFill>
                <a:latin typeface="Hiragino Sans GB"/>
                <a:ea typeface="Hiragino Sans GB"/>
              </a:rPr>
              <a:t>Position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2953512"/>
            <a:ext cx="2457282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Western Sichuan Basin · heart of the Chengdu Plain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4944" y="3410712"/>
            <a:ext cx="2292690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611880"/>
            <a:ext cx="10515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9863A"/>
                </a:solidFill>
                <a:latin typeface="Hiragino Sans GB"/>
                <a:ea typeface="Hiragino Sans GB"/>
              </a:rPr>
              <a:t>Elevation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3611880"/>
            <a:ext cx="2457282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~500 m on the plain; higher west, lower east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4944" y="4069080"/>
            <a:ext cx="2292690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4270248"/>
            <a:ext cx="10515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9863A"/>
                </a:solidFill>
                <a:latin typeface="Hiragino Sans GB"/>
                <a:ea typeface="Hiragino Sans GB"/>
              </a:rPr>
              <a:t>Rivers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4270248"/>
            <a:ext cx="2457282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Min &amp; Tuo river systems; the Jin runs through the city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53010" y="182880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3E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hosphor_cloud-sun_B986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1882" y="1947672"/>
            <a:ext cx="219456" cy="21945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511378" y="1810512"/>
            <a:ext cx="326686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Humid subtropical climate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11378" y="2121408"/>
            <a:ext cx="3266861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Four clear seasons, mild winters; often cloudy and misty, so harsh sun is rare and the air feels gentle.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53010" y="2889504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3E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phosphor_drop_2E5A6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71882" y="3008376"/>
            <a:ext cx="219456" cy="21945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511378" y="2871216"/>
            <a:ext cx="326686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A city of water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11378" y="3182112"/>
            <a:ext cx="3266861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Ringed by the Min, Fu and Jin; the dam-free Dujiangyan tames drought and flood across the plain.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853010" y="3950208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3E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phosphor_flower-lotus_BE3A2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71882" y="4069080"/>
            <a:ext cx="219456" cy="21945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511378" y="3931920"/>
            <a:ext cx="326686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Hibiscus &amp; ginkgo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11378" y="4242816"/>
            <a:ext cx="3266861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Late autumn lines the banks with hibiscus and gilds the streets with ginkgo — Chengdu's two most photogenic colours.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04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9863A"/>
                </a:solidFill>
                <a:latin typeface="Songti SC"/>
                <a:ea typeface="Songti SC"/>
              </a:rPr>
              <a:t>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HISTORY &amp; CULTURE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Same Name, Same Site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Three thousand years unbroken — from the Jinsha Sun Bird to the still-flowing Dujiangyan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7260" y="2412187"/>
            <a:ext cx="7269479" cy="21945"/>
          </a:xfrm>
          <a:prstGeom prst="rect">
            <a:avLst/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54964" y="23408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" y="2587752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B9863A"/>
                </a:solidFill>
                <a:latin typeface="Helvetica Neue"/>
                <a:ea typeface="Hiragino Sans GB"/>
              </a:rPr>
              <a:t>c. 1200 BCE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" y="2880360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5201A"/>
                </a:solidFill>
                <a:latin typeface="Helvetica Neue"/>
                <a:ea typeface="Hiragino Sans GB"/>
              </a:rPr>
              <a:t>Jinsha · Sun Bird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" y="3136392"/>
            <a:ext cx="196596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271"/>
                </a:solidFill>
                <a:latin typeface="Helvetica Neue"/>
                <a:ea typeface="Hiragino Sans GB"/>
              </a:rPr>
              <a:t>Ancient Shu capital, unearthed 2001; the gold ornament is 94.2% pure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78124" y="23408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68880" y="2587752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B8271"/>
                </a:solidFill>
                <a:latin typeface="Helvetica Neue"/>
                <a:ea typeface="Hiragino Sans GB"/>
              </a:rPr>
              <a:t>256 BCE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2880360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5201A"/>
                </a:solidFill>
                <a:latin typeface="Helvetica Neue"/>
                <a:ea typeface="Hiragino Sans GB"/>
              </a:rPr>
              <a:t>Dujiangyan · Li Bing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3136392"/>
            <a:ext cx="196596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271"/>
                </a:solidFill>
                <a:latin typeface="Helvetica Neue"/>
                <a:ea typeface="Hiragino Sans GB"/>
              </a:rPr>
              <a:t>Dam-free irrigation, still in use; the Land of Abundance begins here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01283" y="23408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92040" y="2587752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B8271"/>
                </a:solidFill>
                <a:latin typeface="Helvetica Neue"/>
                <a:ea typeface="Hiragino Sans GB"/>
              </a:rPr>
              <a:t>Qin · Named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2880360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5201A"/>
                </a:solidFill>
                <a:latin typeface="Helvetica Neue"/>
                <a:ea typeface="Hiragino Sans GB"/>
              </a:rPr>
              <a:t>The name 'Chengdu'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599" y="3136392"/>
            <a:ext cx="196596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271"/>
                </a:solidFill>
                <a:latin typeface="Helvetica Neue"/>
                <a:ea typeface="Hiragino Sans GB"/>
              </a:rPr>
              <a:t>For 2,300+ years the name and the site have never changed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24444" y="23408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0" y="2587752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B8271"/>
                </a:solidFill>
                <a:latin typeface="Helvetica Neue"/>
                <a:ea typeface="Hiragino Sans GB"/>
              </a:rPr>
              <a:t>2000 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2880360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5201A"/>
                </a:solidFill>
                <a:latin typeface="Helvetica Neue"/>
                <a:ea typeface="Hiragino Sans GB"/>
              </a:rPr>
              <a:t>Qingcheng–Dujiangyan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3136392"/>
            <a:ext cx="196596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271"/>
                </a:solidFill>
                <a:latin typeface="Helvetica Neue"/>
                <a:ea typeface="Hiragino Sans GB"/>
              </a:rPr>
              <a:t>Inscribed as a World Heritage Site — and still in service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4229100"/>
            <a:ext cx="7827264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B9863A"/>
                </a:solidFill>
                <a:latin typeface="Songti SC"/>
                <a:ea typeface="Songti SC"/>
              </a:rPr>
              <a:t>Sanxingdui and Jinsha are the twin stars of ancient Shu; Chengdu is an ancient city still alive and growing.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05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9863A"/>
                </a:solidFill>
                <a:latin typeface="Songti SC"/>
                <a:ea typeface="Songti SC"/>
              </a:rPr>
              <a:t>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HISTORY &amp; CULTURE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Three Kingdoms &amp; the Poet-Sage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Half the Three Kingdoms saga plays out in Shu; one cottage holds the Tang's poetry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783080"/>
            <a:ext cx="4023359" cy="2125979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" y="2039112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F2E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hosphor_bank_B986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193" y="2186513"/>
            <a:ext cx="272125" cy="27212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25880" y="2093976"/>
            <a:ext cx="28346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5201A"/>
                </a:solidFill>
                <a:latin typeface="Songti SC"/>
                <a:ea typeface="Songti SC"/>
              </a:rPr>
              <a:t>Wuhou Shrine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807208"/>
            <a:ext cx="3474719" cy="937259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034"/>
                </a:solidFill>
                <a:latin typeface="Hiragino Sans GB"/>
                <a:ea typeface="Hiragino Sans GB"/>
              </a:rPr>
              <a:t>China's only shrine honouring a ruler and his minister together — Zhuge Liang and Liu Bei. Red walls and bamboo shade sit a wall away from Jinli, the bustling 'First Street of West Shu'.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54880" y="1783080"/>
            <a:ext cx="4023359" cy="2125979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10912" y="2039112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F2E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hosphor_pen-nib_B986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8313" y="2186513"/>
            <a:ext cx="272125" cy="27212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15000" y="2093976"/>
            <a:ext cx="28346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5201A"/>
                </a:solidFill>
                <a:latin typeface="Songti SC"/>
                <a:ea typeface="Songti SC"/>
              </a:rPr>
              <a:t>Du Fu Cottage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2807208"/>
            <a:ext cx="3474719" cy="937259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034"/>
                </a:solidFill>
                <a:latin typeface="Hiragino Sans GB"/>
                <a:ea typeface="Hiragino Sans GB"/>
              </a:rPr>
              <a:t>Fleeing the An Lushan rebellion, the poet Du Fu lived here nearly four years and wrote 240+ poems — putting Chengdu on the map of Tang poetry.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119372"/>
            <a:ext cx="7827264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BE3A2C"/>
                </a:solidFill>
                <a:latin typeface="Songti SC"/>
                <a:ea typeface="Songti SC"/>
              </a:rPr>
              <a:t>“At dawn, where the red lies wet, blossoms weigh down the Brocade City.”</a:t>
            </a:r>
            <a:r>
              <a:rPr sz="1200" b="0" i="0">
                <a:solidFill>
                  <a:srgbClr val="8B8271"/>
                </a:solidFill>
                <a:latin typeface="Songti SC"/>
                <a:ea typeface="Songti SC"/>
              </a:rPr>
              <a:t>　— Du Fu, 'Delighting in Rain on a Spring Night'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06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9863A"/>
                </a:solidFill>
                <a:latin typeface="Songti SC"/>
                <a:ea typeface="Songti SC"/>
              </a:rPr>
              <a:t>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HISTORY &amp; CULTURE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A Needle, a Thread, a Face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Turning daily life into craft — another Chengdu gift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10512"/>
            <a:ext cx="2596896" cy="2372868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 Same Side Corner Rectangle 10"/>
          <p:cNvSpPr/>
          <p:nvPr/>
        </p:nvSpPr>
        <p:spPr>
          <a:xfrm>
            <a:off x="365760" y="1810512"/>
            <a:ext cx="2596896" cy="82296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21792" y="2121408"/>
            <a:ext cx="548640" cy="548640"/>
          </a:xfrm>
          <a:prstGeom prst="ellipse">
            <a:avLst/>
          </a:prstGeom>
          <a:solidFill>
            <a:srgbClr val="F4D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hosphor_needle_BE3A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438" y="2264054"/>
            <a:ext cx="263347" cy="26334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21792" y="2798064"/>
            <a:ext cx="21396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5201A"/>
                </a:solidFill>
                <a:latin typeface="Songti SC"/>
                <a:ea typeface="Songti SC"/>
              </a:rPr>
              <a:t>Brocade &amp; Embroidery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182112"/>
            <a:ext cx="457200" cy="27432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291840"/>
            <a:ext cx="2121408" cy="7269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034"/>
                </a:solidFill>
                <a:latin typeface="Hiragino Sans GB"/>
                <a:ea typeface="Hiragino Sans GB"/>
              </a:rPr>
              <a:t>One of China's 'Four Great Brocades', with embroidery to match — and the city's earliest export.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73551" y="1810512"/>
            <a:ext cx="2596896" cy="2372868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3273551" y="1810512"/>
            <a:ext cx="2596896" cy="82296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529583" y="2121408"/>
            <a:ext cx="548640" cy="548640"/>
          </a:xfrm>
          <a:prstGeom prst="ellipse">
            <a:avLst/>
          </a:prstGeom>
          <a:solidFill>
            <a:srgbClr val="F3E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hosphor_mask-happy_BE3A2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2230" y="2264054"/>
            <a:ext cx="263347" cy="26334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529583" y="2798064"/>
            <a:ext cx="21396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5201A"/>
                </a:solidFill>
                <a:latin typeface="Songti SC"/>
                <a:ea typeface="Songti SC"/>
              </a:rPr>
              <a:t>Opera &amp; Face-Changing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47871" y="3182112"/>
            <a:ext cx="457200" cy="27432"/>
          </a:xfrm>
          <a:prstGeom prst="rect">
            <a:avLst/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29583" y="3291840"/>
            <a:ext cx="2121408" cy="7269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034"/>
                </a:solidFill>
                <a:latin typeface="Hiragino Sans GB"/>
                <a:ea typeface="Hiragino Sans GB"/>
              </a:rPr>
              <a:t>Fire-spitting, face-changing, lamp-balancing — a new face in a blink. The stage is the teahouse itself: sip a bowl of tea and watch.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81344" y="1810512"/>
            <a:ext cx="2596896" cy="2372868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 Same Side Corner Rectangle 24"/>
          <p:cNvSpPr/>
          <p:nvPr/>
        </p:nvSpPr>
        <p:spPr>
          <a:xfrm>
            <a:off x="6181344" y="1810512"/>
            <a:ext cx="2596896" cy="82296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37376" y="2121408"/>
            <a:ext cx="548640" cy="548640"/>
          </a:xfrm>
          <a:prstGeom prst="ellipse">
            <a:avLst/>
          </a:prstGeom>
          <a:solidFill>
            <a:srgbClr val="E0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phosphor_storefront_B986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0022" y="2264054"/>
            <a:ext cx="263347" cy="263347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437376" y="2798064"/>
            <a:ext cx="21396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5201A"/>
                </a:solidFill>
                <a:latin typeface="Songti SC"/>
                <a:ea typeface="Songti SC"/>
              </a:rPr>
              <a:t>Kuanzhai Alleys · Jinli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55664" y="3182112"/>
            <a:ext cx="457200" cy="27432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37376" y="3291840"/>
            <a:ext cx="2121408" cy="7269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034"/>
                </a:solidFill>
                <a:latin typeface="Hiragino Sans GB"/>
                <a:ea typeface="Hiragino Sans GB"/>
              </a:rPr>
              <a:t>Grey brick and dark tile, old Chengdu in miniature: tea, ear-cleaning, opera, strolling — street life itself is the liveliest culture.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A1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A0A0"/>
                </a:solidFill>
                <a:latin typeface="Helvetica Neue"/>
                <a:ea typeface="Hiragino Sans GB"/>
              </a:rPr>
              <a:t>07</a:t>
            </a:r>
            <a:r>
              <a:rPr sz="900" b="0" i="0">
                <a:solidFill>
                  <a:srgbClr val="9AA0A0"/>
                </a:solidFill>
                <a:latin typeface="Helvetica Neue"/>
                <a:ea typeface="Hiragino Sans GB"/>
              </a:rPr>
              <a:t> / 14</a:t>
            </a:r>
          </a:p>
        </p:txBody>
      </p:sp>
      <p:pic>
        <p:nvPicPr>
          <p:cNvPr id="4" name="Picture 3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E3A2C"/>
                </a:solidFill>
                <a:latin typeface="Songti SC"/>
                <a:ea typeface="Songti SC"/>
              </a:rPr>
              <a:t>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B7AE97"/>
                </a:solidFill>
                <a:latin typeface="Hiragino Sans GB"/>
                <a:ea typeface="Hiragino Sans GB"/>
              </a:rPr>
              <a:t>CUISINE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3ECDD"/>
                </a:solidFill>
                <a:latin typeface="Songti SC"/>
                <a:ea typeface="Songti SC"/>
              </a:rPr>
              <a:t>Flavour Lives in Chengdu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C6BCA6"/>
                </a:solidFill>
                <a:latin typeface="Hiragino Sans GB"/>
                <a:ea typeface="Hiragino Sans GB"/>
              </a:rPr>
              <a:t>In 2010, UNESCO named Chengdu Asia's first 'City of Gastronomy'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920240"/>
            <a:ext cx="3291840" cy="1371600"/>
          </a:xfrm>
          <a:prstGeom prst="rect">
            <a:avLst/>
          </a:prstGeom>
          <a:noFill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00" b="1" i="0">
                <a:solidFill>
                  <a:srgbClr val="B9863A"/>
                </a:solidFill>
                <a:latin typeface="Helvetica Neue"/>
                <a:ea typeface="Songti SC"/>
              </a:rPr>
              <a:t>2010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017520"/>
            <a:ext cx="3383280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0E4CC"/>
                </a:solidFill>
                <a:latin typeface="Hiragino Sans GB"/>
                <a:ea typeface="Hiragino Sans GB"/>
              </a:rPr>
              <a:t>Asia's first · City of Gastronomy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7AE97"/>
                </a:solidFill>
                <a:latin typeface="Helvetica Neue"/>
                <a:ea typeface="Hiragino Sans GB"/>
              </a:rPr>
              <a:t>UNESCO Creative Cities Network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60520" y="1965960"/>
            <a:ext cx="12801" cy="2331720"/>
          </a:xfrm>
          <a:prstGeom prst="rect">
            <a:avLst/>
          </a:prstGeom>
          <a:solidFill>
            <a:srgbClr val="4A3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847088"/>
            <a:ext cx="41148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9863A"/>
                </a:solidFill>
                <a:latin typeface="Hiragino Sans GB"/>
                <a:ea typeface="Hiragino Sans GB"/>
              </a:rPr>
              <a:t>A great cuisine of China · every dish its own character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26280" y="2286000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2856" y="2286000"/>
            <a:ext cx="1161288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7EEDB"/>
                </a:solidFill>
                <a:latin typeface="Songti SC"/>
                <a:ea typeface="Songti SC"/>
              </a:rPr>
              <a:t>Hot Pot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07024" y="2286000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0" y="2286000"/>
            <a:ext cx="1161288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7EEDB"/>
                </a:solidFill>
                <a:latin typeface="Songti SC"/>
                <a:ea typeface="Songti SC"/>
              </a:rPr>
              <a:t>Skewer Hotpot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87768" y="2286000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24344" y="2286000"/>
            <a:ext cx="1161288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7EEDB"/>
                </a:solidFill>
                <a:latin typeface="Songti SC"/>
                <a:ea typeface="Songti SC"/>
              </a:rPr>
              <a:t>Mapo Tofu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26280" y="2907791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62856" y="2907791"/>
            <a:ext cx="1161288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7EEDB"/>
                </a:solidFill>
                <a:latin typeface="Songti SC"/>
                <a:ea typeface="Songti SC"/>
              </a:rPr>
              <a:t>Twice-Cooked Pork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07024" y="2907791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0" y="2907791"/>
            <a:ext cx="1161288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7EEDB"/>
                </a:solidFill>
                <a:latin typeface="Songti SC"/>
                <a:ea typeface="Songti SC"/>
              </a:rPr>
              <a:t>Kung Pao Chicken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87768" y="2907791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24344" y="2907791"/>
            <a:ext cx="1161288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7EEDB"/>
                </a:solidFill>
                <a:latin typeface="Songti SC"/>
                <a:ea typeface="Songti SC"/>
              </a:rPr>
              <a:t>Dan Dan Noodles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26280" y="3529584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62856" y="3529584"/>
            <a:ext cx="1161288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7EEDB"/>
                </a:solidFill>
                <a:latin typeface="Songti SC"/>
                <a:ea typeface="Songti SC"/>
              </a:rPr>
              <a:t>Zhong Dumplings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07024" y="3529584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0" y="3529584"/>
            <a:ext cx="1161288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7EEDB"/>
                </a:solidFill>
                <a:latin typeface="Songti SC"/>
                <a:ea typeface="Songti SC"/>
              </a:rPr>
              <a:t>Long Wonton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287768" y="3529584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24344" y="3529584"/>
            <a:ext cx="1161288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7EEDB"/>
                </a:solidFill>
                <a:latin typeface="Songti SC"/>
                <a:ea typeface="Songti SC"/>
              </a:rPr>
              <a:t>Fuqi Feipian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4187952"/>
            <a:ext cx="41148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FC1A6"/>
                </a:solidFill>
                <a:latin typeface="Hiragino Sans GB"/>
                <a:ea typeface="Hiragino Sans GB"/>
              </a:rPr>
              <a:t>Beyond numbing, spicy, fresh and fragrant hides a quiet sweetness and depth.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08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E6B52"/>
                </a:solidFill>
                <a:latin typeface="Songti SC"/>
                <a:ea typeface="Songti SC"/>
              </a:rPr>
              <a:t>IV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GIANT PANDAS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The Largest Panda Home on Earth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Chengdu Research Base of Giant Panda Breeding: from 6 rescued animals to the world's largest ex-situ population</a:t>
            </a:r>
          </a:p>
        </p:txBody>
      </p:sp>
      <p:pic>
        <p:nvPicPr>
          <p:cNvPr id="11" name="Picture 10" descr="panda in bamboo (mood image)" title="panda in bamboo (mood image)"/>
          <p:cNvPicPr>
            <a:picLocks noChangeAspect="1"/>
          </p:cNvPicPr>
          <p:nvPr/>
        </p:nvPicPr>
        <p:blipFill>
          <a:blip r:embed="rId3"/>
          <a:srcRect l="13651" r="13651"/>
          <a:stretch>
            <a:fillRect/>
          </a:stretch>
        </p:blipFill>
        <p:spPr>
          <a:xfrm>
            <a:off x="6355080" y="1755648"/>
            <a:ext cx="2130551" cy="2930652"/>
          </a:xfrm>
          <a:prstGeom prst="roundRect">
            <a:avLst>
              <a:gd name="adj" fmla="val 5150"/>
            </a:avLst>
          </a:prstGeom>
        </p:spPr>
      </p:pic>
      <p:sp>
        <p:nvSpPr>
          <p:cNvPr id="12" name="TextBox 11"/>
          <p:cNvSpPr txBox="1"/>
          <p:nvPr/>
        </p:nvSpPr>
        <p:spPr>
          <a:xfrm>
            <a:off x="658368" y="2148840"/>
            <a:ext cx="3840480" cy="310896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B8271"/>
                </a:solidFill>
                <a:latin typeface="Hiragino Sans GB"/>
                <a:ea typeface="Hiragino Sans GB"/>
              </a:rPr>
              <a:t>of the global captive population (~757)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2459736"/>
            <a:ext cx="3840480" cy="256032"/>
          </a:xfrm>
          <a:prstGeom prst="roundRect">
            <a:avLst>
              <a:gd name="adj" fmla="val 50000"/>
            </a:avLst>
          </a:prstGeom>
          <a:solidFill>
            <a:srgbClr val="EEE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2459736"/>
            <a:ext cx="1319055" cy="256032"/>
          </a:xfrm>
          <a:prstGeom prst="roundRect">
            <a:avLst>
              <a:gd name="adj" fmla="val 50000"/>
            </a:avLst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81728" y="2459736"/>
            <a:ext cx="1188720" cy="25603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5201A"/>
                </a:solidFill>
                <a:latin typeface="Hiragino Sans GB"/>
                <a:ea typeface="Hiragino Sans GB"/>
              </a:rPr>
              <a:t>~34%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2578608"/>
            <a:ext cx="2331720" cy="2121408"/>
          </a:xfrm>
          <a:prstGeom prst="roundRect">
            <a:avLst>
              <a:gd name="adj" fmla="val 8000"/>
            </a:avLst>
          </a:prstGeom>
          <a:solidFill>
            <a:srgbClr val="EBF0ED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96112" y="2779776"/>
            <a:ext cx="402336" cy="402336"/>
          </a:xfrm>
          <a:prstGeom prst="ellipse">
            <a:avLst/>
          </a:prstGeom>
          <a:solidFill>
            <a:srgbClr val="D8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hosphor_paw-print_3E6B5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0719" y="2884383"/>
            <a:ext cx="193121" cy="19312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08176" y="2816352"/>
            <a:ext cx="1435607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271"/>
                </a:solidFill>
                <a:latin typeface="Hiragino Sans GB"/>
                <a:ea typeface="Hiragino Sans GB"/>
              </a:rPr>
              <a:t>Captive giant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271"/>
                </a:solidFill>
                <a:latin typeface="Hiragino Sans GB"/>
                <a:ea typeface="Hiragino Sans GB"/>
              </a:rPr>
              <a:t>pandas · end-2024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3346703"/>
            <a:ext cx="1874519" cy="749808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3E6B52"/>
                </a:solidFill>
                <a:latin typeface="Helvetica Neue"/>
                <a:ea typeface="Songti SC"/>
              </a:rPr>
              <a:t>260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4187952"/>
            <a:ext cx="20574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B8271"/>
                </a:solidFill>
                <a:latin typeface="Hiragino Sans GB"/>
                <a:ea typeface="Hiragino Sans GB"/>
              </a:rPr>
              <a:t>From 6 to 260 — the patience of a city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154680" y="2761488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0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hosphor_leaf_3E6B5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3552" y="2880360"/>
            <a:ext cx="219456" cy="21945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813048" y="2743200"/>
            <a:ext cx="2359152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5201A"/>
                </a:solidFill>
                <a:latin typeface="Songti SC"/>
                <a:ea typeface="Songti SC"/>
              </a:rPr>
              <a:t>Largest ex-situ 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13048" y="3054096"/>
            <a:ext cx="2359152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034"/>
                </a:solidFill>
                <a:latin typeface="Hiragino Sans GB"/>
                <a:ea typeface="Hiragino Sans GB"/>
              </a:rPr>
              <a:t>The world's largest captive giant-panda group — and its largest red-panda group too.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154680" y="3785616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0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phosphor_mountains_3E6B5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73552" y="3904488"/>
            <a:ext cx="219456" cy="21945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3813048" y="3767328"/>
            <a:ext cx="2359152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5201A"/>
                </a:solidFill>
                <a:latin typeface="Songti SC"/>
                <a:ea typeface="Songti SC"/>
              </a:rPr>
              <a:t>From rescue to thriving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13048" y="4078224"/>
            <a:ext cx="2359152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034"/>
                </a:solidFill>
                <a:latin typeface="Hiragino Sans GB"/>
                <a:ea typeface="Hiragino Sans GB"/>
              </a:rPr>
              <a:t>From 6 sick, starving animals in 1987 to a world-famous 'panda factory' — Chengdu's warmest icon.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09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E6B52"/>
                </a:solidFill>
                <a:latin typeface="Songti SC"/>
                <a:ea typeface="Songti SC"/>
              </a:rPr>
              <a:t>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WAY OF LIFE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Time, Steeped in Tea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'Bāshì' and 'ānyì' — Chengdu's own two words for a life well lived</a:t>
            </a:r>
          </a:p>
        </p:txBody>
      </p:sp>
      <p:pic>
        <p:nvPicPr>
          <p:cNvPr id="10" name="Picture 9" descr="bamboo-chair teahouse (mood image)" title="bamboo-chair teahouse (mood image)"/>
          <p:cNvPicPr>
            <a:picLocks noChangeAspect="1"/>
          </p:cNvPicPr>
          <p:nvPr/>
        </p:nvPicPr>
        <p:blipFill>
          <a:blip r:embed="rId3"/>
          <a:srcRect t="24571" b="24571"/>
          <a:stretch>
            <a:fillRect/>
          </a:stretch>
        </p:blipFill>
        <p:spPr>
          <a:xfrm>
            <a:off x="658368" y="1810512"/>
            <a:ext cx="3200400" cy="1627632"/>
          </a:xfrm>
          <a:prstGeom prst="roundRect">
            <a:avLst>
              <a:gd name="adj" fmla="val 6741"/>
            </a:avLst>
          </a:prstGeom>
        </p:spPr>
      </p:pic>
      <p:sp>
        <p:nvSpPr>
          <p:cNvPr id="11" name="Rounded Rectangle 10"/>
          <p:cNvSpPr/>
          <p:nvPr/>
        </p:nvSpPr>
        <p:spPr>
          <a:xfrm>
            <a:off x="658368" y="3529584"/>
            <a:ext cx="3200400" cy="1088136"/>
          </a:xfrm>
          <a:prstGeom prst="roundRect">
            <a:avLst>
              <a:gd name="adj" fmla="val 8000"/>
            </a:avLst>
          </a:prstGeom>
          <a:solidFill>
            <a:srgbClr val="EBF0ED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ity emblem" title="city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3959352"/>
            <a:ext cx="512064" cy="5120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50976" y="3694176"/>
            <a:ext cx="237744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5201A"/>
                </a:solidFill>
                <a:latin typeface="Songti SC"/>
                <a:ea typeface="Songti SC"/>
              </a:rPr>
              <a:t>A bowl of tea,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BE3A2C"/>
                </a:solidFill>
                <a:latin typeface="Songti SC"/>
                <a:ea typeface="Songti SC"/>
              </a:rPr>
              <a:t>a whole afternoon.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4288536"/>
            <a:ext cx="26517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A4034"/>
                </a:solidFill>
                <a:latin typeface="Hiragino Sans GB"/>
                <a:ea typeface="Hiragino Sans GB"/>
              </a:rPr>
              <a:t>Bamboo chairs, old tea, idle chatter — slow is a kind of productivity.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23360" y="182880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0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hosphor_coffee_3E6B5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2232" y="1947672"/>
            <a:ext cx="219456" cy="21945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681728" y="1810512"/>
            <a:ext cx="3803903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The three-piece gaiwan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1728" y="2121408"/>
            <a:ext cx="3803903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Lid, bowl and saucer — one covered bowl brews a city's ease; the old teahouse is Chengdu at its most real.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23360" y="2889504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0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hosphor_cards_3E6B5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42232" y="3008376"/>
            <a:ext cx="219456" cy="21945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681728" y="2871216"/>
            <a:ext cx="3803903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Ear-cleaning &amp; tall tales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81728" y="3182112"/>
            <a:ext cx="3803903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The ear-cleaner's brass picks and streetside gossip weave leisure into the grain of daily life.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23360" y="3950208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0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phosphor_armchair_3E6B5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42232" y="4069080"/>
            <a:ext cx="219456" cy="21945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681728" y="3931920"/>
            <a:ext cx="3803903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Nightlife that never closes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81728" y="4242816"/>
            <a:ext cx="3803903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From Jiuyanqiao to Yulin Road, hot pot and little bars fuel China's most vibrant nights.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10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E6B52"/>
                </a:solidFill>
                <a:latin typeface="Songti SC"/>
                <a:ea typeface="Songti SC"/>
              </a:rPr>
              <a:t>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WAY OF LIFE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A Park City Below Snow Peaks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In 2018, the 'Park City' concept was first proposed in Chengdu's Tianfu New Area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74519"/>
            <a:ext cx="2596896" cy="2308860"/>
          </a:xfrm>
          <a:prstGeom prst="roundRect">
            <a:avLst>
              <a:gd name="adj" fmla="val 8000"/>
            </a:avLst>
          </a:prstGeom>
          <a:solidFill>
            <a:srgbClr val="EDF1EF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2167127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D8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hosphor_tree_3E6B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481" y="2314529"/>
            <a:ext cx="272125" cy="27212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" y="2898648"/>
            <a:ext cx="21396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5201A"/>
                </a:solidFill>
                <a:latin typeface="Songti SC"/>
                <a:ea typeface="Songti SC"/>
              </a:rPr>
              <a:t>Birthplace of the idea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282696"/>
            <a:ext cx="457200" cy="27432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92424"/>
            <a:ext cx="2093976" cy="6172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First proposed in Tianfu New Area in 2018; approved in 2022 as a national Park City demo zone.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73551" y="1874519"/>
            <a:ext cx="2596896" cy="2308860"/>
          </a:xfrm>
          <a:prstGeom prst="roundRect">
            <a:avLst>
              <a:gd name="adj" fmla="val 8000"/>
            </a:avLst>
          </a:prstGeom>
          <a:solidFill>
            <a:srgbClr val="EDF1EF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547871" y="2167127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D8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hosphor_bicycle_3E6B5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5273" y="2314529"/>
            <a:ext cx="272125" cy="27212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47871" y="2898648"/>
            <a:ext cx="21396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5201A"/>
                </a:solidFill>
                <a:latin typeface="Songti SC"/>
                <a:ea typeface="Songti SC"/>
              </a:rPr>
              <a:t>Green at every window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66159" y="3282696"/>
            <a:ext cx="457200" cy="27432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47871" y="3392424"/>
            <a:ext cx="2093976" cy="6172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The Xinglong Lake eco-ring and the Tianfu Greenways lace parks through the city's fabric.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1344" y="1874519"/>
            <a:ext cx="2596896" cy="2308860"/>
          </a:xfrm>
          <a:prstGeom prst="roundRect">
            <a:avLst>
              <a:gd name="adj" fmla="val 8000"/>
            </a:avLst>
          </a:prstGeom>
          <a:solidFill>
            <a:srgbClr val="EDF1EF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55664" y="2167127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D8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phosphor_mountains_3E6B5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3065" y="2314529"/>
            <a:ext cx="272125" cy="27212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55664" y="2898648"/>
            <a:ext cx="21396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5201A"/>
                </a:solidFill>
                <a:latin typeface="Songti SC"/>
                <a:ea typeface="Songti SC"/>
              </a:rPr>
              <a:t>Snow peaks in view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73952" y="3282696"/>
            <a:ext cx="457200" cy="27432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55664" y="3392424"/>
            <a:ext cx="2093976" cy="6172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On clear days, spot Gongga and Siguniang from downtown — a 'park city below the snow mountains'.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A0A0"/>
                </a:solidFill>
                <a:latin typeface="Helvetica Neue"/>
                <a:ea typeface="Hiragino Sans GB"/>
              </a:rPr>
              <a:t>11</a:t>
            </a:r>
            <a:r>
              <a:rPr sz="900" b="0" i="0">
                <a:solidFill>
                  <a:srgbClr val="9AA0A0"/>
                </a:solidFill>
                <a:latin typeface="Helvetica Neue"/>
                <a:ea typeface="Hiragino Sans GB"/>
              </a:rPr>
              <a:t> / 14</a:t>
            </a:r>
          </a:p>
        </p:txBody>
      </p:sp>
      <p:pic>
        <p:nvPicPr>
          <p:cNvPr id="4" name="Picture 3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E5A69"/>
                </a:solidFill>
                <a:latin typeface="Songti SC"/>
                <a:ea typeface="Songti SC"/>
              </a:rPr>
              <a:t>VI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B7AE97"/>
                </a:solidFill>
                <a:latin typeface="Hiragino Sans GB"/>
                <a:ea typeface="Hiragino Sans GB"/>
              </a:rPr>
              <a:t>INDUSTRY &amp; TECH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3ECDD"/>
                </a:solidFill>
                <a:latin typeface="Songti SC"/>
                <a:ea typeface="Songti SC"/>
              </a:rPr>
              <a:t>Beyond the Ease, a Hard Core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2E5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C6BCA6"/>
                </a:solidFill>
                <a:latin typeface="Hiragino Sans GB"/>
                <a:ea typeface="Hiragino Sans GB"/>
              </a:rPr>
              <a:t>China's top-ranked 'new first-tier city' for years — a city of leisure and of industry alike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828800"/>
            <a:ext cx="4023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FB3BE"/>
                </a:solidFill>
                <a:latin typeface="Hiragino Sans GB"/>
                <a:ea typeface="Hiragino Sans GB"/>
              </a:rPr>
              <a:t>Electronics &amp; IT industry (trillion CNY)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66928" y="2148840"/>
          <a:ext cx="3931920" cy="2286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58368" y="4526280"/>
            <a:ext cx="4023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FBAC4"/>
                </a:solidFill>
                <a:latin typeface="Hiragino Sans GB"/>
                <a:ea typeface="Hiragino Sans GB"/>
              </a:rPr>
              <a:t>Passed one trillion in 2020 — the first trillion-CNY industry in Chengdu and Sichuan.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26280" y="1847088"/>
            <a:ext cx="1993392" cy="1170432"/>
          </a:xfrm>
          <a:prstGeom prst="roundRect">
            <a:avLst>
              <a:gd name="adj" fmla="val 8000"/>
            </a:avLst>
          </a:prstGeom>
          <a:solidFill>
            <a:srgbClr val="1B3A45"/>
          </a:solidFill>
          <a:ln w="12700">
            <a:solidFill>
              <a:srgbClr val="35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709160" y="2029968"/>
            <a:ext cx="402336" cy="402336"/>
          </a:xfrm>
          <a:prstGeom prst="ellipse">
            <a:avLst/>
          </a:prstGeom>
          <a:solidFill>
            <a:srgbClr val="2B53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hosphor_cpu_B986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3767" y="2134575"/>
            <a:ext cx="193121" cy="19312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212080" y="2048256"/>
            <a:ext cx="1216152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0E9DA"/>
                </a:solidFill>
                <a:latin typeface="Songti SC"/>
                <a:ea typeface="Songti SC"/>
              </a:rPr>
              <a:t>Twin trillion-CNY clusters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2633472"/>
            <a:ext cx="1627632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FBAC4"/>
                </a:solidFill>
                <a:latin typeface="Hiragino Sans GB"/>
                <a:ea typeface="Hiragino Sans GB"/>
              </a:rPr>
              <a:t>Both top a trillion CNY in scale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02552" y="1847088"/>
            <a:ext cx="1993392" cy="1170432"/>
          </a:xfrm>
          <a:prstGeom prst="roundRect">
            <a:avLst>
              <a:gd name="adj" fmla="val 8000"/>
            </a:avLst>
          </a:prstGeom>
          <a:solidFill>
            <a:srgbClr val="1B3A45"/>
          </a:solidFill>
          <a:ln w="12700">
            <a:solidFill>
              <a:srgbClr val="35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85432" y="2029968"/>
            <a:ext cx="402336" cy="402336"/>
          </a:xfrm>
          <a:prstGeom prst="ellipse">
            <a:avLst/>
          </a:prstGeom>
          <a:solidFill>
            <a:srgbClr val="2B53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hosphor_airplane-tilt_B986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0039" y="2134575"/>
            <a:ext cx="193121" cy="19312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388352" y="2048256"/>
            <a:ext cx="1216152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0E9DA"/>
                </a:solidFill>
                <a:latin typeface="Songti SC"/>
                <a:ea typeface="Songti SC"/>
              </a:rPr>
              <a:t>Mainland's 3rd dual-airport city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85432" y="2633472"/>
            <a:ext cx="1627632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FBAC4"/>
                </a:solidFill>
                <a:latin typeface="Hiragino Sans GB"/>
                <a:ea typeface="Hiragino Sans GB"/>
              </a:rPr>
              <a:t>Tianfu Int'l Airport opened in 2021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26280" y="3200400"/>
            <a:ext cx="1993392" cy="1170432"/>
          </a:xfrm>
          <a:prstGeom prst="roundRect">
            <a:avLst>
              <a:gd name="adj" fmla="val 8000"/>
            </a:avLst>
          </a:prstGeom>
          <a:solidFill>
            <a:srgbClr val="1B3A45"/>
          </a:solidFill>
          <a:ln w="12700">
            <a:solidFill>
              <a:srgbClr val="35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709160" y="3383280"/>
            <a:ext cx="402336" cy="402336"/>
          </a:xfrm>
          <a:prstGeom prst="ellipse">
            <a:avLst/>
          </a:prstGeom>
          <a:solidFill>
            <a:srgbClr val="2B53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phosphor_train_B9863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3767" y="3487887"/>
            <a:ext cx="193121" cy="193121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212080" y="3401568"/>
            <a:ext cx="1216152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0E9DA"/>
                </a:solidFill>
                <a:latin typeface="Songti SC"/>
                <a:ea typeface="Songti SC"/>
              </a:rPr>
              <a:t>4th-longest metro in China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60" y="3986784"/>
            <a:ext cx="1627632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FBAC4"/>
                </a:solidFill>
                <a:latin typeface="Hiragino Sans GB"/>
                <a:ea typeface="Hiragino Sans GB"/>
              </a:rPr>
              <a:t>~673 km · as of end-2024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02552" y="3200400"/>
            <a:ext cx="1993392" cy="1170432"/>
          </a:xfrm>
          <a:prstGeom prst="roundRect">
            <a:avLst>
              <a:gd name="adj" fmla="val 8000"/>
            </a:avLst>
          </a:prstGeom>
          <a:solidFill>
            <a:srgbClr val="1B3A45"/>
          </a:solidFill>
          <a:ln w="12700">
            <a:solidFill>
              <a:srgbClr val="35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85432" y="3383280"/>
            <a:ext cx="402336" cy="402336"/>
          </a:xfrm>
          <a:prstGeom prst="ellipse">
            <a:avLst/>
          </a:prstGeom>
          <a:solidFill>
            <a:srgbClr val="2B53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phosphor_game-controller_B9863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90039" y="3487887"/>
            <a:ext cx="193121" cy="193121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388352" y="3401568"/>
            <a:ext cx="1216152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0E9DA"/>
                </a:solidFill>
                <a:latin typeface="Songti SC"/>
                <a:ea typeface="Songti SC"/>
              </a:rPr>
              <a:t>Birthplace of a hit mobile game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85432" y="3986784"/>
            <a:ext cx="1627632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FBAC4"/>
                </a:solidFill>
                <a:latin typeface="Hiragino Sans GB"/>
                <a:ea typeface="Hiragino Sans GB"/>
              </a:rPr>
              <a:t>Honor of Kings, built by a Chengdu team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12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E3A2C"/>
                </a:solidFill>
                <a:latin typeface="Songti SC"/>
                <a:ea typeface="Songti SC"/>
              </a:rPr>
              <a:t>VII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TRAVEL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How to Do Chengdu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Three things to know before you come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2596896" cy="281178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2103120"/>
            <a:ext cx="530352" cy="530352"/>
          </a:xfrm>
          <a:prstGeom prst="roundRect">
            <a:avLst>
              <a:gd name="adj" fmla="val 24000"/>
            </a:avLst>
          </a:prstGeom>
          <a:solidFill>
            <a:srgbClr val="F4D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hosphor_calendar-dots_BE3A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971" y="2241011"/>
            <a:ext cx="254568" cy="254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98448" y="2212848"/>
            <a:ext cx="149961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5201A"/>
                </a:solidFill>
                <a:latin typeface="Songti SC"/>
                <a:ea typeface="Songti SC"/>
              </a:rPr>
              <a:t>When to go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990088"/>
            <a:ext cx="73152" cy="73152"/>
          </a:xfrm>
          <a:prstGeom prst="roundRect">
            <a:avLst>
              <a:gd name="adj" fmla="val 800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2880360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Spring (Mar–May) for blossoms, autumn (Sep–Nov) for ginkgo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648456"/>
            <a:ext cx="73152" cy="73152"/>
          </a:xfrm>
          <a:prstGeom prst="roundRect">
            <a:avLst>
              <a:gd name="adj" fmla="val 800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3538728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Mild, near-snowless winters; add Xiling Snow Mountain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306824"/>
            <a:ext cx="73152" cy="73152"/>
          </a:xfrm>
          <a:prstGeom prst="roundRect">
            <a:avLst>
              <a:gd name="adj" fmla="val 800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4197096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Skip muggy midsummer and holiday peaks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73551" y="1828800"/>
            <a:ext cx="2596896" cy="281178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547871" y="2103120"/>
            <a:ext cx="530352" cy="530352"/>
          </a:xfrm>
          <a:prstGeom prst="roundRect">
            <a:avLst>
              <a:gd name="adj" fmla="val 24000"/>
            </a:avLst>
          </a:prstGeom>
          <a:solidFill>
            <a:srgbClr val="F3E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hosphor_map-pin_B986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5763" y="2241011"/>
            <a:ext cx="254568" cy="25456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206240" y="2212848"/>
            <a:ext cx="149961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5201A"/>
                </a:solidFill>
                <a:latin typeface="Songti SC"/>
                <a:ea typeface="Songti SC"/>
              </a:rPr>
              <a:t>What to see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66159" y="2990088"/>
            <a:ext cx="73152" cy="73152"/>
          </a:xfrm>
          <a:prstGeom prst="roundRect">
            <a:avLst>
              <a:gd name="adj" fmla="val 8000"/>
            </a:avLst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49039" y="2880360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Panda Base · meet the national treasure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66159" y="3648456"/>
            <a:ext cx="73152" cy="73152"/>
          </a:xfrm>
          <a:prstGeom prst="roundRect">
            <a:avLst>
              <a:gd name="adj" fmla="val 8000"/>
            </a:avLst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49039" y="3538728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Kuanzhai Alleys · Jinli · Wuhou Shrine · Du Fu Cottage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566159" y="4306824"/>
            <a:ext cx="73152" cy="73152"/>
          </a:xfrm>
          <a:prstGeom prst="roundRect">
            <a:avLst>
              <a:gd name="adj" fmla="val 8000"/>
            </a:avLst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49039" y="4197096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Dujiangyan–Qingcheng · Chunxi Rd &amp; Taikoo Li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81344" y="1828800"/>
            <a:ext cx="2596896" cy="281178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55664" y="2103120"/>
            <a:ext cx="530352" cy="530352"/>
          </a:xfrm>
          <a:prstGeom prst="roundRect">
            <a:avLst>
              <a:gd name="adj" fmla="val 24000"/>
            </a:avLst>
          </a:prstGeom>
          <a:solidFill>
            <a:srgbClr val="DD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phosphor_train_2E5A6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3555" y="2241011"/>
            <a:ext cx="254568" cy="25456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114031" y="2212848"/>
            <a:ext cx="149961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5201A"/>
                </a:solidFill>
                <a:latin typeface="Songti SC"/>
                <a:ea typeface="Songti SC"/>
              </a:rPr>
              <a:t>Getting around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73952" y="2990088"/>
            <a:ext cx="73152" cy="73152"/>
          </a:xfrm>
          <a:prstGeom prst="roundRect">
            <a:avLst>
              <a:gd name="adj" fmla="val 8000"/>
            </a:avLst>
          </a:prstGeom>
          <a:solidFill>
            <a:srgbClr val="2E5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56831" y="2880360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Two international airports; high-speed rail nationwide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73952" y="3648456"/>
            <a:ext cx="73152" cy="73152"/>
          </a:xfrm>
          <a:prstGeom prst="roundRect">
            <a:avLst>
              <a:gd name="adj" fmla="val 8000"/>
            </a:avLst>
          </a:prstGeom>
          <a:solidFill>
            <a:srgbClr val="2E5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56831" y="3538728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600+ km of metro reaches most sights directly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73952" y="4306824"/>
            <a:ext cx="73152" cy="73152"/>
          </a:xfrm>
          <a:prstGeom prst="roundRect">
            <a:avLst>
              <a:gd name="adj" fmla="val 8000"/>
            </a:avLst>
          </a:prstGeom>
          <a:solidFill>
            <a:srgbClr val="2E5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56831" y="4197096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Shared bikes plus walking are the sweetest way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13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E3A2C"/>
                </a:solidFill>
                <a:latin typeface="Songti SC"/>
                <a:ea typeface="Songti SC"/>
              </a:rPr>
              <a:t>VII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TRAVEL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Three Days in Chengdu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Go slow — it's the only way to match the city's pace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2596896" cy="235458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 Same Side Corner Rectangle 10"/>
          <p:cNvSpPr/>
          <p:nvPr/>
        </p:nvSpPr>
        <p:spPr>
          <a:xfrm>
            <a:off x="365760" y="1828800"/>
            <a:ext cx="2596896" cy="566928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1929384"/>
            <a:ext cx="21396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BF7EC"/>
                </a:solidFill>
                <a:latin typeface="Helvetica Neue"/>
                <a:ea typeface="Hiragino Sans GB"/>
              </a:rPr>
              <a:t>DAY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62455" y="1965960"/>
            <a:ext cx="13258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BF7EC"/>
                </a:solidFill>
                <a:latin typeface="Songti SC"/>
                <a:ea typeface="Songti SC"/>
              </a:rPr>
              <a:t>Cute &amp; Local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615184"/>
            <a:ext cx="6400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E3A2C"/>
                </a:solidFill>
                <a:latin typeface="Hiragino Sans GB"/>
                <a:ea typeface="Hiragino Sans GB"/>
              </a:rPr>
              <a:t>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596896"/>
            <a:ext cx="1426463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5201A"/>
                </a:solidFill>
                <a:latin typeface="Songti SC"/>
                <a:ea typeface="Songti SC"/>
              </a:rPr>
              <a:t>Giant Panda Base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6656" y="2999232"/>
            <a:ext cx="1993391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182112"/>
            <a:ext cx="6400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E3A2C"/>
                </a:solidFill>
                <a:latin typeface="Hiragino Sans GB"/>
                <a:ea typeface="Hiragino Sans GB"/>
              </a:rPr>
              <a:t>PM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3163824"/>
            <a:ext cx="1426463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5201A"/>
                </a:solidFill>
                <a:latin typeface="Songti SC"/>
                <a:ea typeface="Songti SC"/>
              </a:rPr>
              <a:t>Jinsha Site Museum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6656" y="3566160"/>
            <a:ext cx="1993391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749039"/>
            <a:ext cx="6400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E3A2C"/>
                </a:solidFill>
                <a:latin typeface="Hiragino Sans GB"/>
                <a:ea typeface="Hiragino Sans GB"/>
              </a:rPr>
              <a:t>EVE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3730752"/>
            <a:ext cx="1426463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5201A"/>
                </a:solidFill>
                <a:latin typeface="Songti SC"/>
                <a:ea typeface="Songti SC"/>
              </a:rPr>
              <a:t>Kuanzhai Alleys · tea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73551" y="1828800"/>
            <a:ext cx="2596896" cy="235458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 Same Side Corner Rectangle 22"/>
          <p:cNvSpPr/>
          <p:nvPr/>
        </p:nvSpPr>
        <p:spPr>
          <a:xfrm>
            <a:off x="3273551" y="1828800"/>
            <a:ext cx="2596896" cy="566928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29583" y="1929384"/>
            <a:ext cx="21396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BF7EC"/>
                </a:solidFill>
                <a:latin typeface="Helvetica Neue"/>
                <a:ea typeface="Hiragino Sans GB"/>
              </a:rPr>
              <a:t>DAY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1965960"/>
            <a:ext cx="13258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BF7EC"/>
                </a:solidFill>
                <a:latin typeface="Songti SC"/>
                <a:ea typeface="Songti SC"/>
              </a:rPr>
              <a:t>Old &amp; New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47871" y="2615184"/>
            <a:ext cx="6400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9863A"/>
                </a:solidFill>
                <a:latin typeface="Hiragino Sans GB"/>
                <a:ea typeface="Hiragino Sans GB"/>
              </a:rPr>
              <a:t>AM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87952" y="2596896"/>
            <a:ext cx="1426463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5201A"/>
                </a:solidFill>
                <a:latin typeface="Songti SC"/>
                <a:ea typeface="Songti SC"/>
              </a:rPr>
              <a:t>Wuhou Shrine · Jinli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84447" y="2999232"/>
            <a:ext cx="1993391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47871" y="3182112"/>
            <a:ext cx="6400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9863A"/>
                </a:solidFill>
                <a:latin typeface="Hiragino Sans GB"/>
                <a:ea typeface="Hiragino Sans GB"/>
              </a:rPr>
              <a:t>PM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87952" y="3163824"/>
            <a:ext cx="1426463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5201A"/>
                </a:solidFill>
                <a:latin typeface="Songti SC"/>
                <a:ea typeface="Songti SC"/>
              </a:rPr>
              <a:t>Du Fu Cottage · park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584447" y="3566160"/>
            <a:ext cx="1993391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47871" y="3749039"/>
            <a:ext cx="6400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9863A"/>
                </a:solidFill>
                <a:latin typeface="Hiragino Sans GB"/>
                <a:ea typeface="Hiragino Sans GB"/>
              </a:rPr>
              <a:t>EVE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87952" y="3730752"/>
            <a:ext cx="1426463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5201A"/>
                </a:solidFill>
                <a:latin typeface="Songti SC"/>
                <a:ea typeface="Songti SC"/>
              </a:rPr>
              <a:t>Chunxi Rd · Taikoo Li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81344" y="1828800"/>
            <a:ext cx="2596896" cy="235458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6181344" y="1828800"/>
            <a:ext cx="2596896" cy="566928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7376" y="1929384"/>
            <a:ext cx="21396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BF7EC"/>
                </a:solidFill>
                <a:latin typeface="Helvetica Neue"/>
                <a:ea typeface="Hiragino Sans GB"/>
              </a:rPr>
              <a:t>DAY 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78040" y="1965960"/>
            <a:ext cx="13258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BF7EC"/>
                </a:solidFill>
                <a:latin typeface="Songti SC"/>
                <a:ea typeface="Songti SC"/>
              </a:rPr>
              <a:t>Peaks &amp; Water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5664" y="2615184"/>
            <a:ext cx="6400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E6B52"/>
                </a:solidFill>
                <a:latin typeface="Hiragino Sans GB"/>
                <a:ea typeface="Hiragino Sans GB"/>
              </a:rPr>
              <a:t>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95744" y="2596896"/>
            <a:ext cx="1426463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5201A"/>
                </a:solidFill>
                <a:latin typeface="Songti SC"/>
                <a:ea typeface="Songti SC"/>
              </a:rPr>
              <a:t>Dujiangyan Waterworks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92240" y="2999232"/>
            <a:ext cx="1993391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55664" y="3182112"/>
            <a:ext cx="6400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E6B52"/>
                </a:solidFill>
                <a:latin typeface="Hiragino Sans GB"/>
                <a:ea typeface="Hiragino Sans GB"/>
              </a:rPr>
              <a:t>PM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95744" y="3163824"/>
            <a:ext cx="1426463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5201A"/>
                </a:solidFill>
                <a:latin typeface="Songti SC"/>
                <a:ea typeface="Songti SC"/>
              </a:rPr>
              <a:t>Mt. Qingcheng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92240" y="3566160"/>
            <a:ext cx="1993391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55664" y="3749039"/>
            <a:ext cx="6400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E6B52"/>
                </a:solidFill>
                <a:latin typeface="Hiragino Sans GB"/>
                <a:ea typeface="Hiragino Sans GB"/>
              </a:rPr>
              <a:t>EVE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95744" y="3730752"/>
            <a:ext cx="1426463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5201A"/>
                </a:solidFill>
                <a:latin typeface="Songti SC"/>
                <a:ea typeface="Songti SC"/>
              </a:rPr>
              <a:t>Home · pack peppercorns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221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Jinsha Sun Bird" title="Jinsha Sun Bir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822960"/>
            <a:ext cx="3383280" cy="338328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13232" y="640080"/>
            <a:ext cx="603504" cy="603504"/>
          </a:xfrm>
          <a:prstGeom prst="roundRect">
            <a:avLst>
              <a:gd name="adj" fmla="val 1000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3582" y="700430"/>
            <a:ext cx="482803" cy="482803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F3EC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40080"/>
            <a:ext cx="603504" cy="6035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3ECDD"/>
                </a:solidFill>
                <a:latin typeface="Songti SC"/>
                <a:ea typeface="Hiragino Sans GB"/>
              </a:rPr>
              <a:t>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810512"/>
            <a:ext cx="5852160" cy="15544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800" b="1" i="0">
                <a:solidFill>
                  <a:srgbClr val="F3ECDD"/>
                </a:solidFill>
                <a:latin typeface="Songti SC"/>
                <a:ea typeface="Songti SC"/>
              </a:rPr>
              <a:t>Easy to arrive,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800" b="1" i="0">
                <a:solidFill>
                  <a:srgbClr val="B9863A"/>
                </a:solidFill>
                <a:latin typeface="Songti SC"/>
                <a:ea typeface="Songti SC"/>
              </a:rPr>
              <a:t>hard to leave.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3493008"/>
            <a:ext cx="1097280" cy="54864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3675887"/>
            <a:ext cx="731520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6BCA6"/>
                </a:solidFill>
                <a:latin typeface="Hiragino Sans GB"/>
                <a:ea typeface="Hiragino Sans GB"/>
              </a:rPr>
              <a:t>Chengdu · a city that turns daily life into poetry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4357116"/>
            <a:ext cx="7863840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8C8474"/>
                </a:solidFill>
                <a:latin typeface="Hiragino Sans GB"/>
                <a:ea typeface="Hiragino Sans GB"/>
              </a:rPr>
              <a:t>Sources: Chengdu 2024 Statistical Communiqué on National Economic and Social Development, UNESCO, Chengdu Research Base of Giant Panda Breeding,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8C8474"/>
                </a:solidFill>
                <a:latin typeface="Hiragino Sans GB"/>
                <a:ea typeface="Hiragino Sans GB"/>
              </a:rPr>
              <a:t>Ministry of Transport, Xinhua, Sichuan Provincial Government and other public records; data as of 2024 (some updated to 2025) · compiled July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