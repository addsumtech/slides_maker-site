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Scale</c:v>
                </c:pt>
              </c:strCache>
            </c:strRef>
          </c:tx>
          <c:spPr>
            <a:solidFill>
              <a:srgbClr val="B9863A"/>
            </a:solidFill>
            <a:ln w="31750">
              <a:solidFill>
                <a:srgbClr val="B9863A"/>
              </a:solidFill>
            </a:ln>
          </c:spPr>
          <c:dPt>
            <c:idx val="0"/>
            <c:spPr>
              <a:solidFill>
                <a:srgbClr val="8A93A6"/>
              </a:solidFill>
            </c:spPr>
          </c:dPt>
          <c:dPt>
            <c:idx val="1"/>
            <c:spPr>
              <a:solidFill>
                <a:srgbClr val="8A93A6"/>
              </a:solidFill>
            </c:spPr>
          </c:dPt>
          <c:dPt>
            <c:idx val="2"/>
            <c:spPr>
              <a:solidFill>
                <a:srgbClr val="B9863A"/>
              </a:solidFill>
            </c:spPr>
          </c:dPt>
          <c:cat>
            <c:strRef>
              <c:f>Sheet1!$A$2:$A$4</c:f>
              <c:strCache>
                <c:ptCount val="3"/>
                <c:pt idx="0">
                  <c:v>2016</c:v>
                </c:pt>
                <c:pt idx="1">
                  <c:v>2020</c:v>
                </c:pt>
                <c:pt idx="2">
                  <c:v>2023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1.0</c:v>
                </c:pt>
                <c:pt idx="2">
                  <c:v>1.3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555"/>
            </a:solidFill>
          </a:ln>
        </c:spPr>
        <c:txPr>
          <a:bodyPr/>
          <a:lstStyle/>
          <a:p>
            <a:pPr>
              <a:defRPr sz="1000">
                <a:solidFill>
                  <a:srgbClr val="EAF2FF"/>
                </a:solidFill>
                <a:latin typeface="Hiragino Sans GB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2A3555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2A3555"/>
            </a:solidFill>
          </a:ln>
        </c:spPr>
        <c:txPr>
          <a:bodyPr/>
          <a:lstStyle/>
          <a:p>
            <a:pPr>
              <a:defRPr sz="1000">
                <a:solidFill>
                  <a:srgbClr val="EAF2FF"/>
                </a:solidFill>
                <a:latin typeface="Hiragino Sans GB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EAF2FF"/>
          </a:solidFill>
          <a:latin typeface="Hiragino Sans GB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1.xml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insha Sun Bird" title="Jinsha Sun Bi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685800"/>
            <a:ext cx="3657600" cy="3657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" y="603504"/>
            <a:ext cx="658368" cy="658368"/>
          </a:xfrm>
          <a:prstGeom prst="roundRect">
            <a:avLst>
              <a:gd name="adj" fmla="val 10000"/>
            </a:avLst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9068" y="669340"/>
            <a:ext cx="526694" cy="526694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F5E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58368" cy="65836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EFE2"/>
                </a:solidFill>
                <a:latin typeface="Songti SC"/>
                <a:ea typeface="Hiragino Sans GB"/>
              </a:rPr>
              <a:t>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676656"/>
            <a:ext cx="457200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B8271"/>
                </a:solidFill>
                <a:latin typeface="Helvetica Neue"/>
                <a:ea typeface="Hiragino Sans GB"/>
              </a:rPr>
              <a:t>C H É N G D 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932688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9863A"/>
                </a:solidFill>
                <a:latin typeface="Hiragino Sans GB"/>
                <a:ea typeface="Hiragino Sans GB"/>
              </a:rPr>
              <a:t>LAND OF ABUNDANCE · BROCADE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75104"/>
            <a:ext cx="5852160" cy="173736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25201A"/>
                </a:solidFill>
                <a:latin typeface="Songti SC"/>
                <a:ea typeface="Songti SC"/>
              </a:rPr>
              <a:t>Chengdu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584448"/>
            <a:ext cx="1097280" cy="54864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767328"/>
            <a:ext cx="7498079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4A4034"/>
                </a:solidFill>
                <a:latin typeface="Songti SC"/>
                <a:ea typeface="Songti SC"/>
              </a:rPr>
              <a:t>The city you never want to leave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576572"/>
            <a:ext cx="73152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271"/>
                </a:solidFill>
                <a:latin typeface="Helvetica Neue"/>
                <a:ea typeface="Hiragino Sans GB"/>
              </a:rPr>
              <a:t>CITY PROFILE · TRAVEL GUIDE　|　CHENGDU CITY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engdu · Jinsha Sun Bird city emblem" title="Chengdu · Jinsha Sun Bird city embl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02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E3A2C"/>
                </a:solidFill>
                <a:latin typeface="Songti SC"/>
                <a:ea typeface="Songti SC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C I T Y  P R O F I L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Twenty million, big ambition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Capital of Sichuan · a sub-provincial city · Chengdu–Chongqing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03120"/>
            <a:ext cx="1975104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5201A"/>
                </a:solidFill>
                <a:latin typeface="Helvetica Neue"/>
                <a:ea typeface="Hiragino Sans GB"/>
              </a:rPr>
              <a:t>21.47</a:t>
            </a:r>
            <a:r>
              <a:rPr sz="1350" b="1" i="0">
                <a:solidFill>
                  <a:srgbClr val="BE3A2C"/>
                </a:solidFill>
                <a:latin typeface="Helvetica Neue"/>
                <a:ea typeface="Hiragino Sans GB"/>
              </a:rPr>
              <a:t>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98063"/>
            <a:ext cx="16824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Hiragino Sans GB"/>
                <a:ea typeface="Hiragino Sans GB"/>
              </a:rPr>
              <a:t>Resident population ·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2103120"/>
            <a:ext cx="1975104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5201A"/>
                </a:solidFill>
                <a:latin typeface="Helvetica Neue"/>
                <a:ea typeface="Hiragino Sans GB"/>
              </a:rPr>
              <a:t>2.35</a:t>
            </a:r>
            <a:r>
              <a:rPr sz="1350" b="1" i="0">
                <a:solidFill>
                  <a:srgbClr val="BE3A2C"/>
                </a:solidFill>
                <a:latin typeface="Helvetica Neue"/>
                <a:ea typeface="Hiragino Sans GB"/>
              </a:rPr>
              <a:t> tn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2798063"/>
            <a:ext cx="16824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Hiragino Sans GB"/>
                <a:ea typeface="Hiragino Sans GB"/>
              </a:rPr>
              <a:t>Regional GDP · RMB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3744" y="2139696"/>
            <a:ext cx="11887" cy="896112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103120"/>
            <a:ext cx="1975104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5201A"/>
                </a:solidFill>
                <a:latin typeface="Helvetica Neue"/>
                <a:ea typeface="Hiragino Sans GB"/>
              </a:rPr>
              <a:t>14,335</a:t>
            </a:r>
            <a:r>
              <a:rPr sz="1350" b="1" i="0">
                <a:solidFill>
                  <a:srgbClr val="BE3A2C"/>
                </a:solidFill>
                <a:latin typeface="Helvetica Neue"/>
                <a:ea typeface="Hiragino Sans GB"/>
              </a:rPr>
              <a:t> km²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98063"/>
            <a:ext cx="16824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Hiragino Sans GB"/>
                <a:ea typeface="Hiragino Sans GB"/>
              </a:rPr>
              <a:t>Municipal area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139696"/>
            <a:ext cx="11887" cy="896112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3136" y="2103120"/>
            <a:ext cx="1975104" cy="54864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5201A"/>
                </a:solidFill>
                <a:latin typeface="Helvetica Neue"/>
                <a:ea typeface="Hiragino Sans GB"/>
              </a:rPr>
              <a:t>80.8</a:t>
            </a:r>
            <a:r>
              <a:rPr sz="1350" b="1" i="0">
                <a:solidFill>
                  <a:srgbClr val="BE3A2C"/>
                </a:solidFill>
                <a:latin typeface="Helvetica Neue"/>
                <a:ea typeface="Hiragino Sans GB"/>
              </a:rPr>
              <a:t>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6" y="2798063"/>
            <a:ext cx="16824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B8271"/>
                </a:solidFill>
                <a:latin typeface="Hiragino Sans GB"/>
                <a:ea typeface="Hiragino Sans GB"/>
              </a:rPr>
              <a:t>Urbanization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0256" y="2139696"/>
            <a:ext cx="11887" cy="896112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" y="3346704"/>
            <a:ext cx="7827264" cy="105156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29584"/>
            <a:ext cx="22555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863A"/>
                </a:solidFill>
                <a:latin typeface="Songti SC"/>
                <a:ea typeface="Songti SC"/>
              </a:rPr>
              <a:t>Hibiscus 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13632"/>
            <a:ext cx="2255519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034"/>
                </a:solidFill>
                <a:latin typeface="Hiragino Sans GB"/>
                <a:ea typeface="Hiragino Sans GB"/>
              </a:rPr>
              <a:t>Named for the hibiscus, the city flower planted everywhere under the Later Shu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4240" y="3529584"/>
            <a:ext cx="22555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863A"/>
                </a:solidFill>
                <a:latin typeface="Songti SC"/>
                <a:ea typeface="Songti SC"/>
              </a:rPr>
              <a:t>Brocade 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4240" y="3913632"/>
            <a:ext cx="2255519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034"/>
                </a:solidFill>
                <a:latin typeface="Hiragino Sans GB"/>
                <a:ea typeface="Hiragino Sans GB"/>
              </a:rPr>
              <a:t>Han-era Shu brocade won nationwide fame; a 'Brocade Officer' oversaw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1360" y="3511296"/>
            <a:ext cx="10972" cy="65836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19800" y="3529584"/>
            <a:ext cx="2255519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9863A"/>
                </a:solidFill>
                <a:latin typeface="Songti SC"/>
                <a:ea typeface="Songti SC"/>
              </a:rPr>
              <a:t>Land of Abundance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9800" y="3913632"/>
            <a:ext cx="2255519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034"/>
                </a:solidFill>
                <a:latin typeface="Hiragino Sans GB"/>
                <a:ea typeface="Hiragino Sans GB"/>
              </a:rPr>
              <a:t>Watered by Dujiangyan, fertile plains that defy drought and flood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36920" y="3511296"/>
            <a:ext cx="10972" cy="65836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engdu · Jinsha Sun Bird city emblem" title="Chengdu · Jinsha Sun Bird city embl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03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E3A2C"/>
                </a:solidFill>
                <a:latin typeface="Songti SC"/>
                <a:ea typeface="Songti SC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C I T Y  P R O F I L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A gentle basin, an easy way of life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On the Chengdu Plain in the western Sichuan Basin, by the Min River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783080"/>
            <a:ext cx="4121490" cy="285750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ity emblem" title="city embl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093976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3312" y="2148840"/>
            <a:ext cx="293277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201A"/>
                </a:solidFill>
                <a:latin typeface="Songti SC"/>
                <a:ea typeface="Songti SC"/>
              </a:rPr>
              <a:t>Location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953512"/>
            <a:ext cx="96012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9863A"/>
                </a:solidFill>
                <a:latin typeface="Hiragino Sans GB"/>
                <a:ea typeface="Hiragino Sans GB"/>
              </a:rPr>
              <a:t>Setting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2953512"/>
            <a:ext cx="261273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034"/>
                </a:solidFill>
                <a:latin typeface="Hiragino Sans GB"/>
                <a:ea typeface="Hiragino Sans GB"/>
              </a:rPr>
              <a:t>Western Sichuan Basin · heart of the Chengdu Plain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3410712"/>
            <a:ext cx="2292690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611880"/>
            <a:ext cx="96012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9863A"/>
                </a:solidFill>
                <a:latin typeface="Hiragino Sans GB"/>
                <a:ea typeface="Hiragino Sans GB"/>
              </a:rPr>
              <a:t>Elevation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3611880"/>
            <a:ext cx="261273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034"/>
                </a:solidFill>
                <a:latin typeface="Hiragino Sans GB"/>
                <a:ea typeface="Hiragino Sans GB"/>
              </a:rPr>
              <a:t>~500 m on the plain, sloping west to east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" y="4069080"/>
            <a:ext cx="2292690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4270248"/>
            <a:ext cx="96012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9863A"/>
                </a:solidFill>
                <a:latin typeface="Hiragino Sans GB"/>
                <a:ea typeface="Hiragino Sans GB"/>
              </a:rPr>
              <a:t>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4270248"/>
            <a:ext cx="261273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034"/>
                </a:solidFill>
                <a:latin typeface="Hiragino Sans GB"/>
                <a:ea typeface="Hiragino Sans GB"/>
              </a:rPr>
              <a:t>Min &amp; Tuo systems; the Jin runs through the city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53010" y="18288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3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hosphor_cloud-sun_B986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882" y="1947672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511378" y="1810512"/>
            <a:ext cx="326686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Humid subtropical climate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1378" y="2121408"/>
            <a:ext cx="3266861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Four distinct seasons and mild winters; often cloudy and misty, rarely harsh sun — gentle year-round.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53010" y="2889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3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hosphor_drop_2E5A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882" y="3008376"/>
            <a:ext cx="219456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11378" y="2871216"/>
            <a:ext cx="326686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A city of water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1378" y="3182112"/>
            <a:ext cx="3266861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Ringed by the Min, Fu and Jin rivers; Dujiangyan's damless intake frees the plain from drought and flood.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53010" y="395020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3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hosphor_flower-lotus_BE3A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1882" y="4069080"/>
            <a:ext cx="219456" cy="21945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11378" y="3931920"/>
            <a:ext cx="326686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Hibiscus flower · ginkgo tree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11378" y="4242816"/>
            <a:ext cx="3266861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Come late autumn, riverside hibiscus and city-wide ginkgo are Chengdu's two most photogenic colors.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engdu · Jinsha Sun Bird city emblem" title="Chengdu · Jinsha Sun Bird city embl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04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9863A"/>
                </a:solidFill>
                <a:latin typeface="Songti SC"/>
                <a:ea typeface="Songti SC"/>
              </a:rPr>
              <a:t>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H I S T O R Y  &amp;  C U L T U R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Same name, same site, 3,000 years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From the Sun Bird of Jinsha to the still-flowing Dujiangyan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7260" y="2412187"/>
            <a:ext cx="7269479" cy="21945"/>
          </a:xfrm>
          <a:prstGeom prst="rect">
            <a:avLst/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4964" y="23408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" y="2587752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9863A"/>
                </a:solidFill>
                <a:latin typeface="Helvetica Neue"/>
                <a:ea typeface="Hiragino Sans GB"/>
              </a:rPr>
              <a:t>c. 1200 BCE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" y="2880360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201A"/>
                </a:solidFill>
                <a:latin typeface="Helvetica Neue"/>
                <a:ea typeface="Hiragino Sans GB"/>
              </a:rPr>
              <a:t>Jinsha · Sun Bird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" y="3136392"/>
            <a:ext cx="19659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1"/>
                </a:solidFill>
                <a:latin typeface="Helvetica Neue"/>
                <a:ea typeface="Hiragino Sans GB"/>
              </a:rPr>
              <a:t>Ancient Shu capital, unearthed 2001; the gold disc is 94.2% pure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78124" y="23408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2587752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B8271"/>
                </a:solidFill>
                <a:latin typeface="Helvetica Neue"/>
                <a:ea typeface="Hiragino Sans GB"/>
              </a:rPr>
              <a:t>256 BCE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880360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201A"/>
                </a:solidFill>
                <a:latin typeface="Helvetica Neue"/>
                <a:ea typeface="Hiragino Sans GB"/>
              </a:rPr>
              <a:t>Dujiangyan · Li Bing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136392"/>
            <a:ext cx="19659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1"/>
                </a:solidFill>
                <a:latin typeface="Helvetica Neue"/>
                <a:ea typeface="Hiragino Sans GB"/>
              </a:rPr>
              <a:t>Damless irrigation, still in use; the Land of Abundance begins here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01283" y="23408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2587752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B8271"/>
                </a:solidFill>
                <a:latin typeface="Helvetica Neue"/>
                <a:ea typeface="Hiragino Sans GB"/>
              </a:rPr>
              <a:t>Qin · named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880360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201A"/>
                </a:solidFill>
                <a:latin typeface="Helvetica Neue"/>
                <a:ea typeface="Hiragino Sans GB"/>
              </a:rPr>
              <a:t>The name 'Chengdu'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599" y="3136392"/>
            <a:ext cx="19659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1"/>
                </a:solidFill>
                <a:latin typeface="Helvetica Neue"/>
                <a:ea typeface="Hiragino Sans GB"/>
              </a:rPr>
              <a:t>2,300+ years: the name unchanged, the site unmoved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4444" y="23408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2587752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B8271"/>
                </a:solidFill>
                <a:latin typeface="Helvetica Neue"/>
                <a:ea typeface="Hiragino Sans GB"/>
              </a:rPr>
              <a:t>2000 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80360"/>
            <a:ext cx="178308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201A"/>
                </a:solidFill>
                <a:latin typeface="Helvetica Neue"/>
                <a:ea typeface="Hiragino Sans GB"/>
              </a:rPr>
              <a:t>Qingcheng–Dujiangyan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136392"/>
            <a:ext cx="19659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B8271"/>
                </a:solidFill>
                <a:latin typeface="Helvetica Neue"/>
                <a:ea typeface="Hiragino Sans GB"/>
              </a:rPr>
              <a:t>Inscribed as World Heritage — and still at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229100"/>
            <a:ext cx="7827264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9863A"/>
                </a:solidFill>
                <a:latin typeface="Songti SC"/>
                <a:ea typeface="Songti SC"/>
              </a:rPr>
              <a:t>Sanxingdui and Jinsha are the twin stars of ancient Shu; Chengdu is an old city still alive, still growing.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engdu · Jinsha Sun Bird city emblem" title="Chengdu · Jinsha Sun Bird city embl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05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9863A"/>
                </a:solidFill>
                <a:latin typeface="Songti SC"/>
                <a:ea typeface="Songti SC"/>
              </a:rPr>
              <a:t>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H I S T O R Y  &amp;  C U L T U R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Three Kingdoms &amp; a poet's cottage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Half the Three Kingdoms saga plays out in Shu; one cottage holds the Tang's poetry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783080"/>
            <a:ext cx="4023359" cy="2125979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039112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F2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osphor_bank_B986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93" y="2186513"/>
            <a:ext cx="272125" cy="272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25880" y="2093976"/>
            <a:ext cx="28346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01A"/>
                </a:solidFill>
                <a:latin typeface="Songti SC"/>
                <a:ea typeface="Songti SC"/>
              </a:rPr>
              <a:t>Wuhou Shrine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3474719" cy="9372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034"/>
                </a:solidFill>
                <a:latin typeface="Hiragino Sans GB"/>
                <a:ea typeface="Hiragino Sans GB"/>
              </a:rPr>
              <a:t>China's only shrine to a ruler and his minister together — for Zhuge Liang and Liu Bei. Red walls, bamboo shade; next door, the folk street of Jinli, 'first street of West Shu,' never quiets down.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783080"/>
            <a:ext cx="4023359" cy="2125979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10912" y="2039112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F2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hosphor_pen-nib_B986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313" y="2186513"/>
            <a:ext cx="272125" cy="272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0" y="2093976"/>
            <a:ext cx="283463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01A"/>
                </a:solidFill>
                <a:latin typeface="Songti SC"/>
                <a:ea typeface="Songti SC"/>
              </a:rPr>
              <a:t>Du Fu's Cottage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807208"/>
            <a:ext cx="3474719" cy="93725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034"/>
                </a:solidFill>
                <a:latin typeface="Hiragino Sans GB"/>
                <a:ea typeface="Hiragino Sans GB"/>
              </a:rPr>
              <a:t>Fleeing the An Lushan rebellion, the poet Du Fu lived here nearly four years and left 240+ poems. 'A thatched hut west of Wanli Bridge' put Chengdu on the map of Tang poetry.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19372"/>
            <a:ext cx="7827264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BE3A2C"/>
                </a:solidFill>
                <a:latin typeface="Songti SC"/>
                <a:ea typeface="Songti SC"/>
              </a:rPr>
              <a:t>“Come dawn, the rain-washed reds — blossoms hang heavy on the Brocade City.”</a:t>
            </a:r>
            <a:r>
              <a:rPr sz="1200" b="0" i="0">
                <a:solidFill>
                  <a:srgbClr val="8B8271"/>
                </a:solidFill>
                <a:latin typeface="Songti SC"/>
                <a:ea typeface="Songti SC"/>
              </a:rPr>
              <a:t>   — Du Fu, 'Delighting in Rain on a Spring Night'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engdu · Jinsha Sun Bird city emblem" title="Chengdu · Jinsha Sun Bird city embl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06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9863A"/>
                </a:solidFill>
                <a:latin typeface="Songti SC"/>
                <a:ea typeface="Songti SC"/>
              </a:rPr>
              <a:t>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H I S T O R Y  &amp;  C U L T U R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Shu craft: a needle, a thread, a 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Turning daily life into craft is another of Chengdu's gifts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10512"/>
            <a:ext cx="2596896" cy="2372868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365760" y="1810512"/>
            <a:ext cx="2596896" cy="82296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" y="2121408"/>
            <a:ext cx="548640" cy="548640"/>
          </a:xfrm>
          <a:prstGeom prst="ellipse">
            <a:avLst/>
          </a:prstGeom>
          <a:solidFill>
            <a:srgbClr val="F4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hosphor_needle_BE3A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" y="2264054"/>
            <a:ext cx="263347" cy="2633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" y="2798064"/>
            <a:ext cx="2084831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5201A"/>
                </a:solidFill>
                <a:latin typeface="Songti SC"/>
                <a:ea typeface="Songti SC"/>
              </a:rPr>
              <a:t>Brocade, Embroidery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82112"/>
            <a:ext cx="457200" cy="27432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291840"/>
            <a:ext cx="2084831" cy="7269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Among China's four great brocades and embroideries — threads that wove the Brocade City's name.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3551" y="1810512"/>
            <a:ext cx="2596896" cy="2372868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3273551" y="1810512"/>
            <a:ext cx="2596896" cy="82296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29583" y="2121408"/>
            <a:ext cx="548640" cy="548640"/>
          </a:xfrm>
          <a:prstGeom prst="ellipse">
            <a:avLst/>
          </a:prstGeom>
          <a:solidFill>
            <a:srgbClr val="F3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hosphor_mask-happy_BE3A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2230" y="2264054"/>
            <a:ext cx="263347" cy="2633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29583" y="2798064"/>
            <a:ext cx="2084831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5201A"/>
                </a:solidFill>
                <a:latin typeface="Songti SC"/>
                <a:ea typeface="Songti SC"/>
              </a:rPr>
              <a:t>Sichuan Opera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47871" y="3182112"/>
            <a:ext cx="457200" cy="27432"/>
          </a:xfrm>
          <a:prstGeom prst="rect">
            <a:avLst/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3" y="3291840"/>
            <a:ext cx="2084831" cy="7269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Fire-spitting, face-changing, a new face in a blink — right in the teahouse, over a bowl of tea.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1810512"/>
            <a:ext cx="2596896" cy="2372868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>
            <a:off x="6181344" y="1810512"/>
            <a:ext cx="2596896" cy="82296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37376" y="2121408"/>
            <a:ext cx="548640" cy="548640"/>
          </a:xfrm>
          <a:prstGeom prst="ellipse">
            <a:avLst/>
          </a:prstGeom>
          <a:solidFill>
            <a:srgbClr val="E0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hosphor_storefront_B986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022" y="2264054"/>
            <a:ext cx="263347" cy="26334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37376" y="2798064"/>
            <a:ext cx="2084831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5201A"/>
                </a:solidFill>
                <a:latin typeface="Songti SC"/>
                <a:ea typeface="Songti SC"/>
              </a:rPr>
              <a:t>Kuanzhai &amp; Jinli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55664" y="3182112"/>
            <a:ext cx="457200" cy="27432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291840"/>
            <a:ext cx="2084831" cy="7269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Old Chengdu in miniature: sip tea, clean your ears, wander the lanes — the liveliest street life.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0A0"/>
                </a:solidFill>
                <a:latin typeface="Helvetica Neue"/>
                <a:ea typeface="Hiragino Sans GB"/>
              </a:rPr>
              <a:t>07</a:t>
            </a:r>
            <a:r>
              <a:rPr sz="900" b="0" i="0">
                <a:solidFill>
                  <a:srgbClr val="9AA0A0"/>
                </a:solidFill>
                <a:latin typeface="Helvetica Neue"/>
                <a:ea typeface="Hiragino Sans GB"/>
              </a:rPr>
              <a:t> / 14</a:t>
            </a:r>
          </a:p>
        </p:txBody>
      </p:sp>
      <p:pic>
        <p:nvPicPr>
          <p:cNvPr id="4" name="Picture 3" descr="Chengdu · Jinsha Sun Bird city emblem" title="Chengdu · Jinsha Sun Bird city embl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E3A2C"/>
                </a:solidFill>
                <a:latin typeface="Songti SC"/>
                <a:ea typeface="Songti SC"/>
              </a:rPr>
              <a:t>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7AE97"/>
                </a:solidFill>
                <a:latin typeface="Hiragino Sans GB"/>
                <a:ea typeface="Hiragino Sans GB"/>
              </a:rPr>
              <a:t>C U I S I N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ECDD"/>
                </a:solidFill>
                <a:latin typeface="Songti SC"/>
                <a:ea typeface="Songti SC"/>
              </a:rPr>
              <a:t>Eat in China, taste in Chengdu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6BCA6"/>
                </a:solidFill>
                <a:latin typeface="Hiragino Sans GB"/>
                <a:ea typeface="Hiragino Sans GB"/>
              </a:rPr>
              <a:t>In 2010, UNESCO named Chengdu Asia's first 'City of Gastronomy'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3291840" cy="137160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0" b="1" i="0">
                <a:solidFill>
                  <a:srgbClr val="B9863A"/>
                </a:solidFill>
                <a:latin typeface="Helvetica Neue"/>
                <a:ea typeface="Songti SC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17520"/>
            <a:ext cx="329184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0E4CC"/>
                </a:solidFill>
                <a:latin typeface="Hiragino Sans GB"/>
                <a:ea typeface="Hiragino Sans GB"/>
              </a:rPr>
              <a:t>Asia's first · City of Gastronomy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B7AE97"/>
                </a:solidFill>
                <a:latin typeface="Helvetica Neue"/>
                <a:ea typeface="Hiragino Sans GB"/>
              </a:rPr>
              <a:t>UNESCO Creative Cities Network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965960"/>
            <a:ext cx="12801" cy="2331720"/>
          </a:xfrm>
          <a:prstGeom prst="rect">
            <a:avLst/>
          </a:prstGeom>
          <a:solidFill>
            <a:srgbClr val="4A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4114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9863A"/>
                </a:solidFill>
                <a:latin typeface="Hiragino Sans GB"/>
                <a:ea typeface="Hiragino Sans GB"/>
              </a:rPr>
              <a:t>One of China's four great cuisines · every dish its own character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286000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286000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EEDB"/>
                </a:solidFill>
                <a:latin typeface="Songti SC"/>
                <a:ea typeface="Songti SC"/>
              </a:rPr>
              <a:t>Hotpot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7024" y="2286000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7024" y="2286000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EEDB"/>
                </a:solidFill>
                <a:latin typeface="Songti SC"/>
                <a:ea typeface="Songti SC"/>
              </a:rPr>
              <a:t>Skewers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87768" y="2286000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7768" y="2286000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EEDB"/>
                </a:solidFill>
                <a:latin typeface="Songti SC"/>
                <a:ea typeface="Songti SC"/>
              </a:rPr>
              <a:t>Mapo Tofu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2907791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907791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EEDB"/>
                </a:solidFill>
                <a:latin typeface="Songti SC"/>
                <a:ea typeface="Songti SC"/>
              </a:rPr>
              <a:t>Twice-cooked Pork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07024" y="2907791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07024" y="2907791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EEDB"/>
                </a:solidFill>
                <a:latin typeface="Songti SC"/>
                <a:ea typeface="Songti SC"/>
              </a:rPr>
              <a:t>Kung Pao Chicken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87768" y="2907791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87768" y="2907791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EEDB"/>
                </a:solidFill>
                <a:latin typeface="Songti SC"/>
                <a:ea typeface="Songti SC"/>
              </a:rPr>
              <a:t>Dan Dan Noodles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529584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529584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EEDB"/>
                </a:solidFill>
                <a:latin typeface="Songti SC"/>
                <a:ea typeface="Songti SC"/>
              </a:rPr>
              <a:t>Zhong Dumplings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07024" y="3529584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07024" y="3529584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EEDB"/>
                </a:solidFill>
                <a:latin typeface="Songti SC"/>
                <a:ea typeface="Songti SC"/>
              </a:rPr>
              <a:t>Wontons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87768" y="3529584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48332A"/>
          </a:solidFill>
          <a:ln w="12700">
            <a:solidFill>
              <a:srgbClr val="8A6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87768" y="3529584"/>
            <a:ext cx="123444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EEDB"/>
                </a:solidFill>
                <a:latin typeface="Songti SC"/>
                <a:ea typeface="Songti SC"/>
              </a:rPr>
              <a:t>Fuqi Feipian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187952"/>
            <a:ext cx="41148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FC1A6"/>
                </a:solidFill>
                <a:latin typeface="Hiragino Sans GB"/>
                <a:ea typeface="Hiragino Sans GB"/>
              </a:rPr>
              <a:t>Beyond numbing, spicy, fresh and fragrant lies a hidden sweetness and depth.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engdu · Jinsha Sun Bird city emblem" title="Chengdu · Jinsha Sun Bird city embl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08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E6B52"/>
                </a:solidFill>
                <a:latin typeface="Songti SC"/>
                <a:ea typeface="Songti SC"/>
              </a:rPr>
              <a:t>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G I A N T  P A N D A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The world's largest panda 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From 6 rescued animals to the world's largest ex-situ population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10512"/>
            <a:ext cx="3742660" cy="2784348"/>
          </a:xfrm>
          <a:prstGeom prst="roundRect">
            <a:avLst>
              <a:gd name="adj" fmla="val 8000"/>
            </a:avLst>
          </a:prstGeom>
          <a:solidFill>
            <a:srgbClr val="EBF0ED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103120"/>
            <a:ext cx="530352" cy="530352"/>
          </a:xfrm>
          <a:prstGeom prst="ellipse">
            <a:avLst/>
          </a:prstGeom>
          <a:solidFill>
            <a:srgbClr val="D8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hosphor_paw-print_3E6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1" y="2241011"/>
            <a:ext cx="254568" cy="254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8448" y="2194560"/>
            <a:ext cx="26453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B8271"/>
                </a:solidFill>
                <a:latin typeface="Hiragino Sans GB"/>
                <a:ea typeface="Hiragino Sans GB"/>
              </a:rPr>
              <a:t>Captive giant pandas · end of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871215"/>
            <a:ext cx="3194020" cy="1188720"/>
          </a:xfrm>
          <a:prstGeom prst="rect">
            <a:avLst/>
          </a:prstGeom>
          <a:noFill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 i="0">
                <a:solidFill>
                  <a:srgbClr val="3E6B52"/>
                </a:solidFill>
                <a:latin typeface="Helvetica Neue"/>
                <a:ea typeface="Songti SC"/>
              </a:rPr>
              <a:t>260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4027932"/>
            <a:ext cx="457200" cy="27432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137660"/>
            <a:ext cx="31025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B8271"/>
                </a:solidFill>
                <a:latin typeface="Hiragino Sans GB"/>
                <a:ea typeface="Hiragino Sans GB"/>
              </a:rPr>
              <a:t>From 6 to 260 — one city's patience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4180" y="1993392"/>
            <a:ext cx="2566699" cy="310896"/>
          </a:xfrm>
          <a:prstGeom prst="rect">
            <a:avLst/>
          </a:prstGeom>
          <a:noFill/>
          <a:ln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8B8271"/>
                </a:solidFill>
                <a:latin typeface="Hiragino Sans GB"/>
                <a:ea typeface="Hiragino Sans GB"/>
              </a:rPr>
              <a:t>Share of the world captive population (~757)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74180" y="2304288"/>
            <a:ext cx="2566699" cy="256032"/>
          </a:xfrm>
          <a:prstGeom prst="roundRect">
            <a:avLst>
              <a:gd name="adj" fmla="val 50000"/>
            </a:avLst>
          </a:prstGeom>
          <a:solidFill>
            <a:srgbClr val="EEE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74180" y="2304288"/>
            <a:ext cx="881561" cy="256032"/>
          </a:xfrm>
          <a:prstGeom prst="roundRect">
            <a:avLst>
              <a:gd name="adj" fmla="val 50000"/>
            </a:avLst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59" y="2304288"/>
            <a:ext cx="1371600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201A"/>
                </a:solidFill>
                <a:latin typeface="Hiragino Sans GB"/>
                <a:ea typeface="Hiragino Sans GB"/>
              </a:rPr>
              <a:t>~34%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4180" y="286207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0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hosphor_leaf_3E6B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052" y="2980944"/>
            <a:ext cx="219456" cy="2194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32548" y="2843784"/>
            <a:ext cx="364569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Largest ex-situ population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2548" y="3154679"/>
            <a:ext cx="3645691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Three decades of research breeding built the world's largest captive giant-panda population — and its largest captive red-panda population too.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74180" y="39593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0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hosphor_mountains_3E6B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3052" y="4078224"/>
            <a:ext cx="219456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132548" y="3941064"/>
            <a:ext cx="364569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From rescue to thriving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2548" y="4251960"/>
            <a:ext cx="3645691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Started in 1987 with 6 sick and starving animals; today the famed 'panda factory' is Chengdu's most heart-warming calling card.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engdu · Jinsha Sun Bird city emblem" title="Chengdu · Jinsha Sun Bird city embl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09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E6B52"/>
                </a:solidFill>
                <a:latin typeface="Songti SC"/>
                <a:ea typeface="Songti SC"/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P A C E  O F  L I F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Time, steeped in a bowl of tea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'Bāshì' and 'ānyì' — Chengdu's two words for the good life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10512"/>
            <a:ext cx="3657599" cy="2830068"/>
          </a:xfrm>
          <a:prstGeom prst="roundRect">
            <a:avLst>
              <a:gd name="adj" fmla="val 8000"/>
            </a:avLst>
          </a:prstGeom>
          <a:solidFill>
            <a:srgbClr val="EBF0ED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ity emblem" title="city embl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799" y="3589019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6656" y="2267712"/>
            <a:ext cx="3035807" cy="20116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5201A"/>
                </a:solidFill>
                <a:latin typeface="Songti SC"/>
                <a:ea typeface="Songti SC"/>
              </a:rPr>
              <a:t>In a teahouse,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5201A"/>
                </a:solidFill>
                <a:latin typeface="Songti SC"/>
                <a:ea typeface="Songti SC"/>
              </a:rPr>
              <a:t>one bowl of tea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BE3A2C"/>
                </a:solidFill>
                <a:latin typeface="Songti SC"/>
                <a:ea typeface="Songti SC"/>
              </a:rPr>
              <a:t>is an afternoon.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982211"/>
            <a:ext cx="3017519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Bamboo chairs, old tea, tall tales — slowness is a kind of productivity.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288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0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hosphor_coffee_3E6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947672"/>
            <a:ext cx="219456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47488" y="1810512"/>
            <a:ext cx="373075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The gaiwan trio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2121408"/>
            <a:ext cx="3730751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Lid, bowl and saucer: one covered-bowl set pours out a whole city's ease; the old teahouse is Chengdu at its truest.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8895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0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hosphor_cards_3E6B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3008376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47488" y="2871216"/>
            <a:ext cx="373075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Ear-cleaning · tall tales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3182112"/>
            <a:ext cx="3730751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The ear-cleaner's brass picks and the sidewalk gossip weave ease into the texture of every 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95020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0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hosphor_armchair_3E6B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4069080"/>
            <a:ext cx="219456" cy="2194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47488" y="3931920"/>
            <a:ext cx="3730751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5201A"/>
                </a:solidFill>
                <a:latin typeface="Songti SC"/>
                <a:ea typeface="Songti SC"/>
              </a:rPr>
              <a:t>Nightlife that never closes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4242816"/>
            <a:ext cx="3730751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From Jiuyanqiao to Yulin Road, hotpot and little bars hold up the most vibrant nights in China.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engdu · Jinsha Sun Bird city emblem" title="Chengdu · Jinsha Sun Bird city embl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10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E6B52"/>
                </a:solidFill>
                <a:latin typeface="Songti SC"/>
                <a:ea typeface="Songti SC"/>
              </a:rPr>
              <a:t>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P A C E  O F  L I F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A park city beneath the snow peaks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In 2018, the 'Park City' vision was first proposed in Chengdu's Tianfu New Area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74519"/>
            <a:ext cx="2596896" cy="2308860"/>
          </a:xfrm>
          <a:prstGeom prst="roundRect">
            <a:avLst>
              <a:gd name="adj" fmla="val 8000"/>
            </a:avLst>
          </a:prstGeom>
          <a:solidFill>
            <a:srgbClr val="EDF1EF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67127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D8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osphor_tree_3E6B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314529"/>
            <a:ext cx="272125" cy="272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2898648"/>
            <a:ext cx="2048255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5201A"/>
                </a:solidFill>
                <a:latin typeface="Songti SC"/>
                <a:ea typeface="Songti SC"/>
              </a:rPr>
              <a:t>Park City's origin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282696"/>
            <a:ext cx="457200" cy="27432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92424"/>
            <a:ext cx="2048255" cy="6172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First proposed in Tianfu New Area, 2018; a 'Park City demo zone' by 2022.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3551" y="1874519"/>
            <a:ext cx="2596896" cy="2308860"/>
          </a:xfrm>
          <a:prstGeom prst="roundRect">
            <a:avLst>
              <a:gd name="adj" fmla="val 8000"/>
            </a:avLst>
          </a:prstGeom>
          <a:solidFill>
            <a:srgbClr val="EDF1EF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47871" y="2167127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D8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hosphor_bicycle_3E6B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273" y="2314529"/>
            <a:ext cx="272125" cy="2721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47871" y="2898648"/>
            <a:ext cx="2048255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5201A"/>
                </a:solidFill>
                <a:latin typeface="Songti SC"/>
                <a:ea typeface="Songti SC"/>
              </a:rPr>
              <a:t>Green everywhere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59" y="3282696"/>
            <a:ext cx="457200" cy="27432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47871" y="3392424"/>
            <a:ext cx="2048255" cy="6172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The Xinglong Lake eco-ring and Tianfu Greenways lay parkland into the city's fabric.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1874519"/>
            <a:ext cx="2596896" cy="2308860"/>
          </a:xfrm>
          <a:prstGeom prst="roundRect">
            <a:avLst>
              <a:gd name="adj" fmla="val 8000"/>
            </a:avLst>
          </a:prstGeom>
          <a:solidFill>
            <a:srgbClr val="EDF1EF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55664" y="2167127"/>
            <a:ext cx="566928" cy="566928"/>
          </a:xfrm>
          <a:prstGeom prst="roundRect">
            <a:avLst>
              <a:gd name="adj" fmla="val 24000"/>
            </a:avLst>
          </a:prstGeom>
          <a:solidFill>
            <a:srgbClr val="D8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hosphor_mountains_3E6B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065" y="2314529"/>
            <a:ext cx="272125" cy="2721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55664" y="2898648"/>
            <a:ext cx="2048255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5201A"/>
                </a:solidFill>
                <a:latin typeface="Songti SC"/>
                <a:ea typeface="Songti SC"/>
              </a:rPr>
              <a:t>Snow peaks in sight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73952" y="3282696"/>
            <a:ext cx="457200" cy="27432"/>
          </a:xfrm>
          <a:prstGeom prst="rect">
            <a:avLst/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3392424"/>
            <a:ext cx="2048255" cy="6172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034"/>
                </a:solidFill>
                <a:latin typeface="Hiragino Sans GB"/>
                <a:ea typeface="Hiragino Sans GB"/>
              </a:rPr>
              <a:t>On clear days, spot Gongga or Siguniang from downtown, beneath the snow.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0A0"/>
                </a:solidFill>
                <a:latin typeface="Helvetica Neue"/>
                <a:ea typeface="Hiragino Sans GB"/>
              </a:rPr>
              <a:t>11</a:t>
            </a:r>
            <a:r>
              <a:rPr sz="900" b="0" i="0">
                <a:solidFill>
                  <a:srgbClr val="9AA0A0"/>
                </a:solidFill>
                <a:latin typeface="Helvetica Neue"/>
                <a:ea typeface="Hiragino Sans GB"/>
              </a:rPr>
              <a:t> / 14</a:t>
            </a:r>
          </a:p>
        </p:txBody>
      </p:sp>
      <p:pic>
        <p:nvPicPr>
          <p:cNvPr id="4" name="Picture 3" descr="Chengdu · Jinsha Sun Bird city emblem" title="Chengdu · Jinsha Sun Bird city embl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E5A69"/>
                </a:solidFill>
                <a:latin typeface="Songti SC"/>
                <a:ea typeface="Songti SC"/>
              </a:rPr>
              <a:t>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7AE97"/>
                </a:solidFill>
                <a:latin typeface="Hiragino Sans GB"/>
                <a:ea typeface="Hiragino Sans GB"/>
              </a:rPr>
              <a:t>I N D U S T R Y  &amp;  T E C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ECDD"/>
                </a:solidFill>
                <a:latin typeface="Songti SC"/>
                <a:ea typeface="Songti SC"/>
              </a:rPr>
              <a:t>Chengdu's hard-core side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2E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6BCA6"/>
                </a:solidFill>
                <a:latin typeface="Hiragino Sans GB"/>
                <a:ea typeface="Hiragino Sans GB"/>
              </a:rPr>
              <a:t>Long ranked first among China's 'new first-tier cities' — a city of leisure and of industry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40233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FB3BE"/>
                </a:solidFill>
                <a:latin typeface="Hiragino Sans GB"/>
                <a:ea typeface="Hiragino Sans GB"/>
              </a:rPr>
              <a:t>Electronic information industry (¥ trillion)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2148840"/>
          <a:ext cx="393192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8368" y="4526280"/>
            <a:ext cx="40233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AC4"/>
                </a:solidFill>
                <a:latin typeface="Hiragino Sans GB"/>
                <a:ea typeface="Hiragino Sans GB"/>
              </a:rPr>
              <a:t>Passed ¥1 trillion in 2020 — the first trillion-yuan industry in Chengdu and Sichuan.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847088"/>
            <a:ext cx="1993392" cy="1170432"/>
          </a:xfrm>
          <a:prstGeom prst="roundRect">
            <a:avLst>
              <a:gd name="adj" fmla="val 8000"/>
            </a:avLst>
          </a:prstGeom>
          <a:solidFill>
            <a:srgbClr val="1B3A45"/>
          </a:solidFill>
          <a:ln w="12700">
            <a:solidFill>
              <a:srgbClr val="35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09160" y="2029968"/>
            <a:ext cx="402336" cy="402336"/>
          </a:xfrm>
          <a:prstGeom prst="ellipse">
            <a:avLst/>
          </a:prstGeom>
          <a:solidFill>
            <a:srgbClr val="2B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hosphor_cpu_B986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767" y="2134575"/>
            <a:ext cx="193121" cy="1931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12080" y="2048256"/>
            <a:ext cx="1216152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E9DA"/>
                </a:solidFill>
                <a:latin typeface="Songti SC"/>
                <a:ea typeface="Songti SC"/>
              </a:rPr>
              <a:t>Twin trillion-yuan clusters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633472"/>
            <a:ext cx="1627632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AC4"/>
                </a:solidFill>
                <a:latin typeface="Hiragino Sans GB"/>
                <a:ea typeface="Hiragino Sans GB"/>
              </a:rPr>
              <a:t>Both sectors top ¥1 trillion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2552" y="1847088"/>
            <a:ext cx="1993392" cy="1170432"/>
          </a:xfrm>
          <a:prstGeom prst="roundRect">
            <a:avLst>
              <a:gd name="adj" fmla="val 8000"/>
            </a:avLst>
          </a:prstGeom>
          <a:solidFill>
            <a:srgbClr val="1B3A45"/>
          </a:solidFill>
          <a:ln w="12700">
            <a:solidFill>
              <a:srgbClr val="35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85432" y="2029968"/>
            <a:ext cx="402336" cy="402336"/>
          </a:xfrm>
          <a:prstGeom prst="ellipse">
            <a:avLst/>
          </a:prstGeom>
          <a:solidFill>
            <a:srgbClr val="2B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hosphor_airplane-tilt_B986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039" y="2134575"/>
            <a:ext cx="193121" cy="19312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88352" y="2048256"/>
            <a:ext cx="1216152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E9DA"/>
                </a:solidFill>
                <a:latin typeface="Songti SC"/>
                <a:ea typeface="Songti SC"/>
              </a:rPr>
              <a:t>China's 3rd dual-airport 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2633472"/>
            <a:ext cx="1627632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AC4"/>
                </a:solidFill>
                <a:latin typeface="Hiragino Sans GB"/>
                <a:ea typeface="Hiragino Sans GB"/>
              </a:rPr>
              <a:t>Tianfu International Airport opened in 2021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200400"/>
            <a:ext cx="1993392" cy="1170432"/>
          </a:xfrm>
          <a:prstGeom prst="roundRect">
            <a:avLst>
              <a:gd name="adj" fmla="val 8000"/>
            </a:avLst>
          </a:prstGeom>
          <a:solidFill>
            <a:srgbClr val="1B3A45"/>
          </a:solidFill>
          <a:ln w="12700">
            <a:solidFill>
              <a:srgbClr val="35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09160" y="3383280"/>
            <a:ext cx="402336" cy="402336"/>
          </a:xfrm>
          <a:prstGeom prst="ellipse">
            <a:avLst/>
          </a:prstGeom>
          <a:solidFill>
            <a:srgbClr val="2B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hosphor_train_B986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3767" y="3487887"/>
            <a:ext cx="193121" cy="19312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212080" y="3401568"/>
            <a:ext cx="1216152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E9DA"/>
                </a:solidFill>
                <a:latin typeface="Songti SC"/>
                <a:ea typeface="Songti SC"/>
              </a:rPr>
              <a:t>4th-longest metro 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986784"/>
            <a:ext cx="1627632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AC4"/>
                </a:solidFill>
                <a:latin typeface="Hiragino Sans GB"/>
                <a:ea typeface="Hiragino Sans GB"/>
              </a:rPr>
              <a:t>~673 km · end of 2024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02552" y="3200400"/>
            <a:ext cx="1993392" cy="1170432"/>
          </a:xfrm>
          <a:prstGeom prst="roundRect">
            <a:avLst>
              <a:gd name="adj" fmla="val 8000"/>
            </a:avLst>
          </a:prstGeom>
          <a:solidFill>
            <a:srgbClr val="1B3A45"/>
          </a:solidFill>
          <a:ln w="12700">
            <a:solidFill>
              <a:srgbClr val="35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85432" y="3383280"/>
            <a:ext cx="402336" cy="402336"/>
          </a:xfrm>
          <a:prstGeom prst="ellipse">
            <a:avLst/>
          </a:prstGeom>
          <a:solidFill>
            <a:srgbClr val="2B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hosphor_game-controller_B986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0039" y="3487887"/>
            <a:ext cx="193121" cy="19312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388352" y="3401568"/>
            <a:ext cx="1216152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E9DA"/>
                </a:solidFill>
                <a:latin typeface="Songti SC"/>
                <a:ea typeface="Songti SC"/>
              </a:rPr>
              <a:t>Home of a hit mobile game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3986784"/>
            <a:ext cx="1627632" cy="38404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AC4"/>
                </a:solidFill>
                <a:latin typeface="Hiragino Sans GB"/>
                <a:ea typeface="Hiragino Sans GB"/>
              </a:rPr>
              <a:t>'Honor of Kings' was built by a Chengdu team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engdu · Jinsha Sun Bird city emblem" title="Chengdu · Jinsha Sun Bird city embl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12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E3A2C"/>
                </a:solidFill>
                <a:latin typeface="Songti SC"/>
                <a:ea typeface="Songti SC"/>
              </a:rPr>
              <a:t>VII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T R A V E L  T I P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How to do Chengdu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Three things to know before you 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2596896" cy="281178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103120"/>
            <a:ext cx="530352" cy="530352"/>
          </a:xfrm>
          <a:prstGeom prst="roundRect">
            <a:avLst>
              <a:gd name="adj" fmla="val 24000"/>
            </a:avLst>
          </a:prstGeom>
          <a:solidFill>
            <a:srgbClr val="F4D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hosphor_calendar-dots_BE3A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1" y="2241011"/>
            <a:ext cx="254568" cy="254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98448" y="2212848"/>
            <a:ext cx="149961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201A"/>
                </a:solidFill>
                <a:latin typeface="Songti SC"/>
                <a:ea typeface="Songti SC"/>
              </a:rPr>
              <a:t>When to come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90088"/>
            <a:ext cx="73152" cy="73152"/>
          </a:xfrm>
          <a:prstGeom prst="roundRect">
            <a:avLst>
              <a:gd name="adj" fmla="val 8000"/>
            </a:avLst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880360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Spring (Mar–May) for blossoms, autumn (Sep–Nov) for ginkgo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48456"/>
            <a:ext cx="73152" cy="73152"/>
          </a:xfrm>
          <a:prstGeom prst="roundRect">
            <a:avLst>
              <a:gd name="adj" fmla="val 8000"/>
            </a:avLst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538728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Mild, near-snowless winters — pair with Xiling Snow Mountain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06824"/>
            <a:ext cx="73152" cy="73152"/>
          </a:xfrm>
          <a:prstGeom prst="roundRect">
            <a:avLst>
              <a:gd name="adj" fmla="val 8000"/>
            </a:avLst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197096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Avoid summer heat and holiday crowds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3551" y="1828800"/>
            <a:ext cx="2596896" cy="281178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47871" y="2103120"/>
            <a:ext cx="530352" cy="530352"/>
          </a:xfrm>
          <a:prstGeom prst="roundRect">
            <a:avLst>
              <a:gd name="adj" fmla="val 24000"/>
            </a:avLst>
          </a:prstGeom>
          <a:solidFill>
            <a:srgbClr val="F3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hosphor_map-pin_B986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763" y="2241011"/>
            <a:ext cx="254568" cy="2545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06240" y="2212848"/>
            <a:ext cx="149961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201A"/>
                </a:solidFill>
                <a:latin typeface="Songti SC"/>
                <a:ea typeface="Songti SC"/>
              </a:rPr>
              <a:t>What to see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59" y="2990088"/>
            <a:ext cx="73152" cy="73152"/>
          </a:xfrm>
          <a:prstGeom prst="roundRect">
            <a:avLst>
              <a:gd name="adj" fmla="val 8000"/>
            </a:avLst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2880360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Panda Base · the national treasure at its cutest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59" y="3648456"/>
            <a:ext cx="73152" cy="73152"/>
          </a:xfrm>
          <a:prstGeom prst="roundRect">
            <a:avLst>
              <a:gd name="adj" fmla="val 8000"/>
            </a:avLst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538728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Kuanzhai Alleys · Jinli · Wuhou Shrine · Du Fu's Cottage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59" y="4306824"/>
            <a:ext cx="73152" cy="73152"/>
          </a:xfrm>
          <a:prstGeom prst="roundRect">
            <a:avLst>
              <a:gd name="adj" fmla="val 8000"/>
            </a:avLst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4197096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Dujiangyan–Qingcheng · Chunxi &amp; Taikoo Li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1828800"/>
            <a:ext cx="2596896" cy="281178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55664" y="2103120"/>
            <a:ext cx="530352" cy="530352"/>
          </a:xfrm>
          <a:prstGeom prst="roundRect">
            <a:avLst>
              <a:gd name="adj" fmla="val 24000"/>
            </a:avLst>
          </a:prstGeom>
          <a:solidFill>
            <a:srgbClr val="DD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hosphor_train_2E5A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555" y="2241011"/>
            <a:ext cx="254568" cy="25456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114031" y="2212848"/>
            <a:ext cx="149961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201A"/>
                </a:solidFill>
                <a:latin typeface="Songti SC"/>
                <a:ea typeface="Songti SC"/>
              </a:rPr>
              <a:t>Getting around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73952" y="2990088"/>
            <a:ext cx="73152" cy="73152"/>
          </a:xfrm>
          <a:prstGeom prst="roundRect">
            <a:avLst>
              <a:gd name="adj" fmla="val 8000"/>
            </a:avLst>
          </a:prstGeom>
          <a:solidFill>
            <a:srgbClr val="2E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1" y="2880360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Two international airports; high-speed rail nationwide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73952" y="3648456"/>
            <a:ext cx="73152" cy="73152"/>
          </a:xfrm>
          <a:prstGeom prst="roundRect">
            <a:avLst>
              <a:gd name="adj" fmla="val 8000"/>
            </a:avLst>
          </a:prstGeom>
          <a:solidFill>
            <a:srgbClr val="2E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1" y="3538728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600+ km of metro reaches most sights directly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73952" y="4306824"/>
            <a:ext cx="73152" cy="73152"/>
          </a:xfrm>
          <a:prstGeom prst="roundRect">
            <a:avLst>
              <a:gd name="adj" fmla="val 8000"/>
            </a:avLst>
          </a:prstGeom>
          <a:solidFill>
            <a:srgbClr val="2E5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1" y="4197096"/>
            <a:ext cx="186537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034"/>
                </a:solidFill>
                <a:latin typeface="Hiragino Sans GB"/>
                <a:ea typeface="Hiragino Sans GB"/>
              </a:rPr>
              <a:t>In town, shared bikes and walking are the sweetest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hengdu · Jinsha Sun Bird city emblem" title="Chengdu · Jinsha Sun Bird city embl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16" y="27432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4759452"/>
            <a:ext cx="1005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27F"/>
                </a:solidFill>
                <a:latin typeface="Helvetica Neue"/>
                <a:ea typeface="Hiragino Sans GB"/>
              </a:rPr>
              <a:t>13</a:t>
            </a:r>
            <a:r>
              <a:rPr sz="900" b="0" i="0">
                <a:solidFill>
                  <a:srgbClr val="9A927F"/>
                </a:solidFill>
                <a:latin typeface="Helvetica Neue"/>
                <a:ea typeface="Hiragino Sans GB"/>
              </a:rPr>
              <a:t>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02336"/>
            <a:ext cx="109728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E3A2C"/>
                </a:solidFill>
                <a:latin typeface="Songti SC"/>
                <a:ea typeface="Songti SC"/>
              </a:rPr>
              <a:t>VII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57200"/>
            <a:ext cx="59436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79C86"/>
                </a:solidFill>
                <a:latin typeface="Hiragino Sans GB"/>
                <a:ea typeface="Hiragino Sans GB"/>
              </a:rPr>
              <a:t>T R A V E L  T I P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75895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201A"/>
                </a:solidFill>
                <a:latin typeface="Songti SC"/>
                <a:ea typeface="Songti SC"/>
              </a:rPr>
              <a:t>Three days, one classic route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98448"/>
            <a:ext cx="786384" cy="47548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7680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B8271"/>
                </a:solidFill>
                <a:latin typeface="Hiragino Sans GB"/>
                <a:ea typeface="Hiragino Sans GB"/>
              </a:rPr>
              <a:t>Go slow — it's the only way to match the city's 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2596896" cy="235458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365760" y="1828800"/>
            <a:ext cx="2596896" cy="56692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929384"/>
            <a:ext cx="21396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F7EC"/>
                </a:solidFill>
                <a:latin typeface="Helvetica Neue"/>
                <a:ea typeface="Hiragino Sans GB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5" y="1947672"/>
            <a:ext cx="12801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F7EC"/>
                </a:solidFill>
                <a:latin typeface="Songti SC"/>
                <a:ea typeface="Songti SC"/>
              </a:rPr>
              <a:t>Cute &amp;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15184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E3A2C"/>
                </a:solidFill>
                <a:latin typeface="Hiragino Sans GB"/>
                <a:ea typeface="Hiragino Sans GB"/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596896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Chengdu Giant Panda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" y="2999232"/>
            <a:ext cx="1993391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82112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E3A2C"/>
                </a:solidFill>
                <a:latin typeface="Hiragino Sans GB"/>
                <a:ea typeface="Hiragino Sans GB"/>
              </a:rPr>
              <a:t>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163824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Jinsha Site Museum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" y="3566160"/>
            <a:ext cx="1993391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E3A2C"/>
                </a:solidFill>
                <a:latin typeface="Hiragino Sans GB"/>
                <a:ea typeface="Hiragino Sans GB"/>
              </a:rPr>
              <a:t>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730752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Kuanzhai Alleys · gaiwan tea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73551" y="1828800"/>
            <a:ext cx="2596896" cy="235458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3273551" y="1828800"/>
            <a:ext cx="2596896" cy="56692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B9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3" y="1929384"/>
            <a:ext cx="21396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F7EC"/>
                </a:solidFill>
                <a:latin typeface="Helvetica Neue"/>
                <a:ea typeface="Hiragino Sans GB"/>
              </a:rPr>
              <a:t>DAY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1947672"/>
            <a:ext cx="12801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F7EC"/>
                </a:solidFill>
                <a:latin typeface="Songti SC"/>
                <a:ea typeface="Songti SC"/>
              </a:rPr>
              <a:t>Old &amp; New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1" y="2615184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9863A"/>
                </a:solidFill>
                <a:latin typeface="Hiragino Sans GB"/>
                <a:ea typeface="Hiragino Sans GB"/>
              </a:rPr>
              <a:t>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2596896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Wuhou Shrine · Jinli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84447" y="2999232"/>
            <a:ext cx="1993391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7871" y="3182112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9863A"/>
                </a:solidFill>
                <a:latin typeface="Hiragino Sans GB"/>
                <a:ea typeface="Hiragino Sans GB"/>
              </a:rPr>
              <a:t>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163824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Du Fu's Cottage · People's Park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84447" y="3566160"/>
            <a:ext cx="1993391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7871" y="3749039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9863A"/>
                </a:solidFill>
                <a:latin typeface="Hiragino Sans GB"/>
                <a:ea typeface="Hiragino Sans GB"/>
              </a:rPr>
              <a:t>Eve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730752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Chunxi Road · Taikoo Li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828800"/>
            <a:ext cx="2596896" cy="2354580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12700">
            <a:solidFill>
              <a:srgbClr val="D9D0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>
            <a:off x="6181344" y="1828800"/>
            <a:ext cx="2596896" cy="566928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3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1929384"/>
            <a:ext cx="213969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F7EC"/>
                </a:solidFill>
                <a:latin typeface="Helvetica Neue"/>
                <a:ea typeface="Hiragino Sans GB"/>
              </a:rPr>
              <a:t>DAY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59" y="1947672"/>
            <a:ext cx="12801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BF7EC"/>
                </a:solidFill>
                <a:latin typeface="Songti SC"/>
                <a:ea typeface="Songti SC"/>
              </a:rPr>
              <a:t>Peaks &amp; Tao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2615184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6B52"/>
                </a:solidFill>
                <a:latin typeface="Hiragino Sans GB"/>
                <a:ea typeface="Hiragino Sans GB"/>
              </a:rPr>
              <a:t>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1" y="2596896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Dujiangyan waterworks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2999232"/>
            <a:ext cx="1993391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5664" y="3182112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6B52"/>
                </a:solidFill>
                <a:latin typeface="Hiragino Sans GB"/>
                <a:ea typeface="Hiragino Sans GB"/>
              </a:rPr>
              <a:t>PM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1" y="3163824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Taoism on Qingcheng Mtn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566160"/>
            <a:ext cx="1993391" cy="10058"/>
          </a:xfrm>
          <a:prstGeom prst="rect">
            <a:avLst/>
          </a:prstGeom>
          <a:solidFill>
            <a:srgbClr val="D9D0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3749039"/>
            <a:ext cx="65836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6B52"/>
                </a:solidFill>
                <a:latin typeface="Hiragino Sans GB"/>
                <a:ea typeface="Hiragino Sans GB"/>
              </a:rPr>
              <a:t>Eve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4031" y="3730752"/>
            <a:ext cx="1408175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01A"/>
                </a:solidFill>
                <a:latin typeface="Songti SC"/>
                <a:ea typeface="Songti SC"/>
              </a:rPr>
              <a:t>Head home · a box of peppercorns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Jinsha Sun Bird" title="Jinsha Sun Bi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822960"/>
            <a:ext cx="3383280" cy="3383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" y="640080"/>
            <a:ext cx="603504" cy="603504"/>
          </a:xfrm>
          <a:prstGeom prst="roundRect">
            <a:avLst>
              <a:gd name="adj" fmla="val 10000"/>
            </a:avLst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3582" y="700430"/>
            <a:ext cx="482803" cy="482803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F3E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40080"/>
            <a:ext cx="603504" cy="60350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3ECDD"/>
                </a:solidFill>
                <a:latin typeface="Songti SC"/>
                <a:ea typeface="Hiragino Sans GB"/>
              </a:rPr>
              <a:t>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10512"/>
            <a:ext cx="5852160" cy="1554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F3ECDD"/>
                </a:solidFill>
                <a:latin typeface="Songti SC"/>
                <a:ea typeface="Songti SC"/>
              </a:rPr>
              <a:t>Come once,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B9863A"/>
                </a:solidFill>
                <a:latin typeface="Songti SC"/>
                <a:ea typeface="Songti SC"/>
              </a:rPr>
              <a:t>never leave.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3493008"/>
            <a:ext cx="1097280" cy="54864"/>
          </a:xfrm>
          <a:prstGeom prst="rect">
            <a:avLst/>
          </a:prstGeom>
          <a:solidFill>
            <a:srgbClr val="BE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675887"/>
            <a:ext cx="731520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6BCA6"/>
                </a:solidFill>
                <a:latin typeface="Hiragino Sans GB"/>
                <a:ea typeface="Hiragino Sans GB"/>
              </a:rPr>
              <a:t>Chengdu · a city that turns everyday life into poetry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35711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8C8474"/>
                </a:solidFill>
                <a:latin typeface="Hiragino Sans GB"/>
                <a:ea typeface="Hiragino Sans GB"/>
              </a:rPr>
              <a:t>Sources: Chengdu 2024 Statistical Communiqué on National Economic and Social Development, UNESCO, Chengdu Research Base of Giant Panda Breeding,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8C8474"/>
                </a:solidFill>
                <a:latin typeface="Hiragino Sans GB"/>
                <a:ea typeface="Hiragino Sans GB"/>
              </a:rPr>
              <a:t>Ministry of Transport, Xinhua, and the Sichuan Provincial Government, among other public records; data as of 2024 (some updated to 2025) · compiled July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